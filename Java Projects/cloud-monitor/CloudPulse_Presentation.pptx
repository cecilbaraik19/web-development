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7afb602-7b11-6f1a-7233-7270ab554b81}">
          <p14:sldIdLst>
            <p14:sldId id="256"/>
            <p14:sldId id="257"/>
            <p14:sldId id="258"/>
            <p14:sldId id="259"/>
          </p14:sldIdLst>
        </p14:section>
        <p14:section name="Design" id="{219fbdb5-65fb-8397-42fa-c6a5c700cebe}">
          <p14:sldIdLst>
            <p14:sldId id="260"/>
            <p14:sldId id="261"/>
            <p14:sldId id="262"/>
            <p14:sldId id="263"/>
          </p14:sldIdLst>
        </p14:section>
        <p14:section name="Features" id="{5ec8aeeb-9eef-7501-1f52-086c1103d39d}">
          <p14:sldIdLst>
            <p14:sldId id="264"/>
            <p14:sldId id="265"/>
            <p14:sldId id="266"/>
            <p14:sldId id="267"/>
          </p14:sldIdLst>
        </p14:section>
        <p14:section name="Results" id="{46d7b352-d3b7-ddae-b446-36565018c231}">
          <p14:sldIdLst>
            <p14:sldId id="268"/>
            <p14:sldId id="269"/>
          </p14:sldIdLst>
        </p14:section>
        <p14:section name="Close" id="{779e9f39-a247-8c16-d669-1de209e514d8}">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213D"/>
                </a:solidFill>
                <a:latin typeface="+mn-lt"/>
              </a:defRPr>
            </a:pPr>
            <a:r>
              <a:rPr sz="1300" b="0" i="0" u="none" strike="noStrike">
                <a:solidFill>
                  <a:srgbClr val="14213D"/>
                </a:solidFill>
                <a:latin typeface="+mn-lt"/>
              </a:rPr>
              <a:t>Daily load pattern of the simulation (example)</a:t>
            </a:r>
          </a:p>
        </c:rich>
      </c:tx>
      <c:layout/>
      <c:overlay val="0"/>
    </c:title>
    <c:autoTitleDeleted val="0"/>
    <c:plotArea>
      <c:layout/>
      <c:lineChart>
        <c:varyColors val="0"/>
        <c:ser>
          <c:idx val="0"/>
          <c:order val="0"/>
          <c:tx>
            <c:strRef>
              <c:f>Sheet1!$B$1</c:f>
              <c:strCache>
                <c:ptCount val="1"/>
                <c:pt idx="0">
                  <c:v>CPU %</c:v>
                </c:pt>
              </c:strCache>
            </c:strRef>
          </c:tx>
          <c:spPr>
            <a:solidFill>
              <a:srgbClr val="1F5FB5"/>
            </a:solidFill>
            <a:ln w="31750" cap="flat">
              <a:solidFill>
                <a:srgbClr val="1F5FB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F5FB5"/>
              </a:solidFill>
              <a:ln w="9525" cap="flat">
                <a:solidFill>
                  <a:srgbClr val="1F5FB5"/>
                </a:solidFill>
                <a:prstDash val="solid"/>
                <a:round/>
              </a:ln>
              <a:effectLst/>
            </c:spPr>
          </c:marker>
          <c:cat>
            <c:multiLvlStrRef>
              <c:f>Sheet1!$A$2:$A$25</c:f>
              <c:multiLvlStrCache>
                <c:ptCount val="24"/>
                <c:lvl>
                  <c:pt idx="0">
                    <c:v>00:00</c:v>
                  </c:pt>
                  <c:pt idx="1">
                    <c:v>1</c:v>
                  </c:pt>
                  <c:pt idx="2">
                    <c:v>2</c:v>
                  </c:pt>
                  <c:pt idx="3">
                    <c:v>03:00</c:v>
                  </c:pt>
                  <c:pt idx="4">
                    <c:v>4</c:v>
                  </c:pt>
                  <c:pt idx="5">
                    <c:v>5</c:v>
                  </c:pt>
                  <c:pt idx="6">
                    <c:v>06:00</c:v>
                  </c:pt>
                  <c:pt idx="7">
                    <c:v>7</c:v>
                  </c:pt>
                  <c:pt idx="8">
                    <c:v>8</c:v>
                  </c:pt>
                  <c:pt idx="9">
                    <c:v>09:00</c:v>
                  </c:pt>
                  <c:pt idx="10">
                    <c:v>10</c:v>
                  </c:pt>
                  <c:pt idx="11">
                    <c:v>11</c:v>
                  </c:pt>
                  <c:pt idx="12">
                    <c:v>12:00</c:v>
                  </c:pt>
                  <c:pt idx="13">
                    <c:v>13</c:v>
                  </c:pt>
                  <c:pt idx="14">
                    <c:v>14</c:v>
                  </c:pt>
                  <c:pt idx="15">
                    <c:v>15:00</c:v>
                  </c:pt>
                  <c:pt idx="16">
                    <c:v>16</c:v>
                  </c:pt>
                  <c:pt idx="17">
                    <c:v>17</c:v>
                  </c:pt>
                  <c:pt idx="18">
                    <c:v>18:00</c:v>
                  </c:pt>
                  <c:pt idx="19">
                    <c:v>19</c:v>
                  </c:pt>
                  <c:pt idx="20">
                    <c:v>20</c:v>
                  </c:pt>
                  <c:pt idx="21">
                    <c:v>21:00</c:v>
                  </c:pt>
                  <c:pt idx="22">
                    <c:v>22</c:v>
                  </c:pt>
                  <c:pt idx="23">
                    <c:v>23</c:v>
                  </c:pt>
                </c:lvl>
              </c:multiLvlStrCache>
            </c:multiLvlStrRef>
          </c:cat>
          <c:val>
            <c:numRef>
              <c:f>Sheet1!$B$2:$B$25</c:f>
              <c:numCache>
                <c:formatCode>General</c:formatCode>
                <c:ptCount val="24"/>
                <c:pt idx="0">
                  <c:v>25</c:v>
                </c:pt>
                <c:pt idx="1">
                  <c:v>24</c:v>
                </c:pt>
                <c:pt idx="2">
                  <c:v>23</c:v>
                </c:pt>
                <c:pt idx="3">
                  <c:v>22</c:v>
                </c:pt>
                <c:pt idx="4">
                  <c:v>23</c:v>
                </c:pt>
                <c:pt idx="5">
                  <c:v>24</c:v>
                </c:pt>
                <c:pt idx="6">
                  <c:v>25</c:v>
                </c:pt>
                <c:pt idx="7">
                  <c:v>27</c:v>
                </c:pt>
                <c:pt idx="8">
                  <c:v>30</c:v>
                </c:pt>
                <c:pt idx="9">
                  <c:v>32</c:v>
                </c:pt>
                <c:pt idx="10">
                  <c:v>34</c:v>
                </c:pt>
                <c:pt idx="11">
                  <c:v>37</c:v>
                </c:pt>
                <c:pt idx="12">
                  <c:v>39</c:v>
                </c:pt>
                <c:pt idx="13">
                  <c:v>40</c:v>
                </c:pt>
                <c:pt idx="14">
                  <c:v>41</c:v>
                </c:pt>
                <c:pt idx="15">
                  <c:v>42</c:v>
                </c:pt>
                <c:pt idx="16">
                  <c:v>41</c:v>
                </c:pt>
                <c:pt idx="17">
                  <c:v>40</c:v>
                </c:pt>
                <c:pt idx="18">
                  <c:v>39</c:v>
                </c:pt>
                <c:pt idx="19">
                  <c:v>37</c:v>
                </c:pt>
                <c:pt idx="20">
                  <c:v>34</c:v>
                </c:pt>
                <c:pt idx="21">
                  <c:v>32</c:v>
                </c:pt>
                <c:pt idx="22">
                  <c:v>30</c:v>
                </c:pt>
                <c:pt idx="23">
                  <c:v>27</c:v>
                </c:pt>
              </c:numCache>
            </c:numRef>
          </c:val>
          <c:smooth val="0"/>
        </c:ser>
        <c:ser>
          <c:idx val="1"/>
          <c:order val="1"/>
          <c:tx>
            <c:strRef>
              <c:f>Sheet1!$C$1</c:f>
              <c:strCache>
                <c:ptCount val="1"/>
                <c:pt idx="0">
                  <c:v>Memory %</c:v>
                </c:pt>
              </c:strCache>
            </c:strRef>
          </c:tx>
          <c:spPr>
            <a:solidFill>
              <a:srgbClr val="C2521C"/>
            </a:solidFill>
            <a:ln w="31750" cap="flat">
              <a:solidFill>
                <a:srgbClr val="C2521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2521C"/>
              </a:solidFill>
              <a:ln w="9525" cap="flat">
                <a:solidFill>
                  <a:srgbClr val="C2521C"/>
                </a:solidFill>
                <a:prstDash val="solid"/>
                <a:round/>
              </a:ln>
              <a:effectLst/>
            </c:spPr>
          </c:marker>
          <c:cat>
            <c:multiLvlStrRef>
              <c:f>Sheet1!$A$2:$A$25</c:f>
              <c:multiLvlStrCache>
                <c:ptCount val="24"/>
                <c:lvl>
                  <c:pt idx="0">
                    <c:v>00:00</c:v>
                  </c:pt>
                  <c:pt idx="1">
                    <c:v>1</c:v>
                  </c:pt>
                  <c:pt idx="2">
                    <c:v>2</c:v>
                  </c:pt>
                  <c:pt idx="3">
                    <c:v>03:00</c:v>
                  </c:pt>
                  <c:pt idx="4">
                    <c:v>4</c:v>
                  </c:pt>
                  <c:pt idx="5">
                    <c:v>5</c:v>
                  </c:pt>
                  <c:pt idx="6">
                    <c:v>06:00</c:v>
                  </c:pt>
                  <c:pt idx="7">
                    <c:v>7</c:v>
                  </c:pt>
                  <c:pt idx="8">
                    <c:v>8</c:v>
                  </c:pt>
                  <c:pt idx="9">
                    <c:v>09:00</c:v>
                  </c:pt>
                  <c:pt idx="10">
                    <c:v>10</c:v>
                  </c:pt>
                  <c:pt idx="11">
                    <c:v>11</c:v>
                  </c:pt>
                  <c:pt idx="12">
                    <c:v>12:00</c:v>
                  </c:pt>
                  <c:pt idx="13">
                    <c:v>13</c:v>
                  </c:pt>
                  <c:pt idx="14">
                    <c:v>14</c:v>
                  </c:pt>
                  <c:pt idx="15">
                    <c:v>15:00</c:v>
                  </c:pt>
                  <c:pt idx="16">
                    <c:v>16</c:v>
                  </c:pt>
                  <c:pt idx="17">
                    <c:v>17</c:v>
                  </c:pt>
                  <c:pt idx="18">
                    <c:v>18:00</c:v>
                  </c:pt>
                  <c:pt idx="19">
                    <c:v>19</c:v>
                  </c:pt>
                  <c:pt idx="20">
                    <c:v>20</c:v>
                  </c:pt>
                  <c:pt idx="21">
                    <c:v>21:00</c:v>
                  </c:pt>
                  <c:pt idx="22">
                    <c:v>22</c:v>
                  </c:pt>
                  <c:pt idx="23">
                    <c:v>23</c:v>
                  </c:pt>
                </c:lvl>
              </c:multiLvlStrCache>
            </c:multiLvlStrRef>
          </c:cat>
          <c:val>
            <c:numRef>
              <c:f>Sheet1!$C$2:$C$25</c:f>
              <c:numCache>
                <c:formatCode>General</c:formatCode>
                <c:ptCount val="24"/>
                <c:pt idx="0">
                  <c:v>56</c:v>
                </c:pt>
                <c:pt idx="1">
                  <c:v>55</c:v>
                </c:pt>
                <c:pt idx="2">
                  <c:v>55</c:v>
                </c:pt>
                <c:pt idx="3">
                  <c:v>55</c:v>
                </c:pt>
                <c:pt idx="4">
                  <c:v>55</c:v>
                </c:pt>
                <c:pt idx="5">
                  <c:v>55</c:v>
                </c:pt>
                <c:pt idx="6">
                  <c:v>56</c:v>
                </c:pt>
                <c:pt idx="7">
                  <c:v>57</c:v>
                </c:pt>
                <c:pt idx="8">
                  <c:v>57</c:v>
                </c:pt>
                <c:pt idx="9">
                  <c:v>58</c:v>
                </c:pt>
                <c:pt idx="10">
                  <c:v>59</c:v>
                </c:pt>
                <c:pt idx="11">
                  <c:v>59</c:v>
                </c:pt>
                <c:pt idx="12">
                  <c:v>60</c:v>
                </c:pt>
                <c:pt idx="13">
                  <c:v>61</c:v>
                </c:pt>
                <c:pt idx="14">
                  <c:v>61</c:v>
                </c:pt>
                <c:pt idx="15">
                  <c:v>61</c:v>
                </c:pt>
                <c:pt idx="16">
                  <c:v>61</c:v>
                </c:pt>
                <c:pt idx="17">
                  <c:v>61</c:v>
                </c:pt>
                <c:pt idx="18">
                  <c:v>60</c:v>
                </c:pt>
                <c:pt idx="19">
                  <c:v>59</c:v>
                </c:pt>
                <c:pt idx="20">
                  <c:v>59</c:v>
                </c:pt>
                <c:pt idx="21">
                  <c:v>58</c:v>
                </c:pt>
                <c:pt idx="22">
                  <c:v>57</c:v>
                </c:pt>
                <c:pt idx="23">
                  <c:v>57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A5568"/>
                </a:solidFill>
                <a:latin typeface="+mn-lt"/>
              </a:defRPr>
            </a:pPr>
            <a:endParaRPr lang="en-US"/>
          </a:p>
        </c:txPr>
        <c:crossAx val="2094734552"/>
        <c:crosses val="autoZero"/>
        <c:auto val="1"/>
        <c:lblAlgn val="ctr"/>
        <c:noMultiLvlLbl val="1"/>
        <c:tickLblSkip val="3"/>
      </c:catAx>
      <c:valAx>
        <c:axId val="2094734552"/>
        <c:scaling>
          <c:orientation val="minMax"/>
          <c:max val="100"/>
          <c:min val="0"/>
        </c:scaling>
        <c:delete val="0"/>
        <c:axPos val="l"/>
        <c:majorGridlines>
          <c:spPr>
            <a:ln w="6350" cap="flat">
              <a:solidFill>
                <a:srgbClr val="E1E5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5568"/>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4A5568"/>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 am Cecil Baraik, B.Sc. IT. My project is CloudPulse, a web dashboard that monitors cloud servers live: CPU, memory, disk and network every 3 seconds, with alerts, email notifications, cost tracking, logs and reports. The backend is Java Spring Boot, the frontend is React, and the data is stored in MySQL. Everything on this slide animates in by itself; the ring keeps spinning like the live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contents slide is clickable: click any topic title to jump to that part, and every slide has a "Contents" link at the top right to come back. Useful if the examiner asks to see a specific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to reveal each problem. Companies run many servers across AWS, Azure and Google Cloud. Each provider has its own console, people refresh pages by hand, and problems are often noticed only after users complain. Costs grow quietly. Last click: CloudPulse puts health, history, alerts and cost on one live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click shows goals 1 to 4, second click 5 to 8. All eight are implemented and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to show the table. Backend Java 21 with Spring Boot; live data over WebSocket; MySQL through Spring Data JPA; JWT and BCrypt for login; OSHI for real hardware; OpenPDF and Spring Mail. React for the interface because it gives smooth live charts in any browser, which is hard with JavaFX or Swing.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it up layer by layer. Click 1: the React app. Click 2: REST calls with JWT, WebSocket push every 3 seconds, and the server layers: security, controllers, services, repositories. Click 3: MySQL. Click 4: OSHI for my real hardware and Gmail SMTP for alert emails.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through one step at a time. Step 1: a scheduled job runs every 3 seconds. Step 2: new values from the simulation or OSHI. Step 3: saved in MySQL, with a history point every 15 seconds. Step 4: every alert rule is checked. Step 5: one message over WebSocket to every open browser, so the dashboard updates without refreshing.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1: cloud_resources, the centre table. Click 2: history and rules. Click 3: alerts, users and settings. Hibernate creates the tables from my Java entity classes. I moved from H2 in memory to MySQL so data is kept after a restart. A column called "value" broke table creation because it is a reserved word, so I renamed it metric_value.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1: the four numbers pop in. Click 2: the chart draws from left to right, showing the daily load pattern the simulation follows. Ten resources are simulated because real AWS or Azure accounts need paid subscriptions. The eleventh resource is real: my laptop, read through OSHI, checked against Task Manager.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1: example rule, CPU above 95 percent is critical. Then click through what happens: pop-up in every browser, saved in MySQL, written to the logs, email through Gmail if critical, and users acknowledge it. The Gmail App password is in environment variables, never in the code or on GitHub. Last click: the spam guards.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to reveal each feature. The cost page adds up the hourly price of every running server: in my demo about 3.64 dollars per hour, 2,659 dollars per month, compared with a budget the admin can change. The logs page streams log lines live. The export menu downloads a PDF report built in Java, or CSV files for Excel.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1: the roles. A viewer sees everything but cannot change anything. Click 2: how it is protected. Checks run on the server with Spring Security, so even a direct API call by a viewer gets a 403 error. Passwords are BCrypt hashes and every request carries a JWT token.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1: I tested every module by hand with 16 test cases, and all pass. Click 2: real bugs I found and fixed along the way. The full table of test cases is in my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1, honest limitations: simulated cloud servers, logs in memory, fixed prices, manual testing. Click 2, next steps: the simulation sits behind one service, so real APIs like AWS CloudWatch can replace it without changing the rest. Then storing logs, failure prediction, automated tests and Docker.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Now a short live demo: login, the live dashboard, my real PC compared with Task Manager, an alert and its email, the cost page, the logs and the PDF export. Then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4F6F9"/>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686800" cy="320040"/>
          </a:xfrm>
          <a:prstGeom prst="rect">
            <a:avLst/>
          </a:prstGeom>
          <a:noFill/>
          <a:ln/>
        </p:spPr>
        <p:txBody>
          <a:bodyPr wrap="square" rtlCol="0"/>
          <a:lstStyle>
            <a:lvl1pPr indent="0" marL="0">
              <a:buNone/>
              <a:defRPr lang="en-US" sz="1300" b="1" spc="200" kern="0" dirty="0">
                <a:solidFill>
                  <a:schemeClr val="accent1"/>
                </a:solidFill>
              </a:defRPr>
            </a:lvl1pPr>
          </a:lstStyle>
          <a:p>
            <a:pPr indent="0" marL="0">
              <a:buNone/>
            </a:pPr>
            <a:endParaRPr lang="en-US" sz="1300" dirty="0"/>
          </a:p>
        </p:txBody>
      </p:sp>
      <p:sp>
        <p:nvSpPr>
          <p:cNvPr id="3" name="Text 0"/>
          <p:cNvSpPr/>
          <p:nvPr>
            <p:ph idx="101" type="title" hasCustomPrompt="1"/>
          </p:nvPr>
        </p:nvSpPr>
        <p:spPr>
          <a:xfrm>
            <a:off x="548640" y="713232"/>
            <a:ext cx="11091672" cy="822960"/>
          </a:xfrm>
          <a:prstGeom prst="rect">
            <a:avLst/>
          </a:prstGeom>
          <a:noFill/>
          <a:ln/>
        </p:spPr>
        <p:txBody>
          <a:bodyPr wrap="square" rtlCol="0"/>
          <a:lstStyle>
            <a:lvl1pPr indent="0" marL="0">
              <a:buNone/>
              <a:defRPr lang="en-US" sz="3200" b="1" dirty="0">
                <a:solidFill>
                  <a:schemeClr val="tx1"/>
                </a:solidFill>
              </a:defRPr>
            </a:lvl1pPr>
          </a:lstStyle>
          <a:p>
            <a:pPr indent="0" marL="0">
              <a:buNone/>
            </a:pPr>
            <a:endParaRPr lang="en-US" sz="3200" dirty="0"/>
          </a:p>
        </p:txBody>
      </p:sp>
      <p:sp>
        <p:nvSpPr>
          <p:cNvPr id="4" name="Text 0"/>
          <p:cNvSpPr/>
          <p:nvPr/>
        </p:nvSpPr>
        <p:spPr>
          <a:xfrm>
            <a:off x="548640" y="6355080"/>
            <a:ext cx="7315200" cy="274320"/>
          </a:xfrm>
          <a:prstGeom prst="rect">
            <a:avLst/>
          </a:prstGeom>
          <a:noFill/>
          <a:ln/>
        </p:spPr>
        <p:txBody>
          <a:bodyPr wrap="square" lIns="0" tIns="0" rIns="0" bIns="0" rtlCol="0" anchor="ctr"/>
          <a:lstStyle/>
          <a:p>
            <a:pPr indent="0" marL="0">
              <a:buNone/>
            </a:pPr>
            <a:r>
              <a:rPr lang="en-US" sz="1100" dirty="0">
                <a:solidFill>
                  <a:schemeClr val="accent6"/>
                </a:solidFill>
              </a:rPr>
              <a:t>CloudPulse · Cloud Resource Monitoring Dashboard</a:t>
            </a:r>
            <a:endParaRPr lang="en-US" sz="11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5568"/>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E1A2B"/>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686800" cy="320040"/>
          </a:xfrm>
          <a:prstGeom prst="rect">
            <a:avLst/>
          </a:prstGeom>
          <a:noFill/>
          <a:ln/>
        </p:spPr>
        <p:txBody>
          <a:bodyPr wrap="square" rtlCol="0"/>
          <a:lstStyle>
            <a:lvl1pPr indent="0" marL="0">
              <a:buNone/>
              <a:defRPr lang="en-US" sz="1300" b="1" spc="200" kern="0" dirty="0">
                <a:solidFill>
                  <a:schemeClr val="accent3"/>
                </a:solidFill>
              </a:defRPr>
            </a:lvl1pPr>
          </a:lstStyle>
          <a:p>
            <a:pPr indent="0" marL="0">
              <a:buNone/>
            </a:pPr>
            <a:endParaRPr lang="en-US" sz="1300" dirty="0"/>
          </a:p>
        </p:txBody>
      </p:sp>
      <p:sp>
        <p:nvSpPr>
          <p:cNvPr id="3" name="Text 0"/>
          <p:cNvSpPr/>
          <p:nvPr>
            <p:ph idx="101" type="title" hasCustomPrompt="1"/>
          </p:nvPr>
        </p:nvSpPr>
        <p:spPr>
          <a:xfrm>
            <a:off x="548640" y="713232"/>
            <a:ext cx="11091672" cy="822960"/>
          </a:xfrm>
          <a:prstGeom prst="rect">
            <a:avLst/>
          </a:prstGeom>
          <a:noFill/>
          <a:ln/>
        </p:spPr>
        <p:txBody>
          <a:bodyPr wrap="square" rtlCol="0"/>
          <a:lstStyle>
            <a:lvl1pPr indent="0" marL="0">
              <a:buNone/>
              <a:defRPr lang="en-US" sz="3200" b="1" dirty="0">
                <a:solidFill>
                  <a:schemeClr val="bg2"/>
                </a:solidFill>
              </a:defRPr>
            </a:lvl1pPr>
          </a:lstStyle>
          <a:p>
            <a:pPr indent="0" marL="0">
              <a:buNone/>
            </a:pPr>
            <a:endParaRPr lang="en-US" sz="3200" dirty="0"/>
          </a:p>
        </p:txBody>
      </p:sp>
      <p:sp>
        <p:nvSpPr>
          <p:cNvPr id="4" name="Text 0"/>
          <p:cNvSpPr/>
          <p:nvPr/>
        </p:nvSpPr>
        <p:spPr>
          <a:xfrm>
            <a:off x="548640" y="6355080"/>
            <a:ext cx="7315200" cy="274320"/>
          </a:xfrm>
          <a:prstGeom prst="rect">
            <a:avLst/>
          </a:prstGeom>
          <a:noFill/>
          <a:ln/>
        </p:spPr>
        <p:txBody>
          <a:bodyPr wrap="square" lIns="0" tIns="0" rIns="0" bIns="0" rtlCol="0" anchor="ctr"/>
          <a:lstStyle/>
          <a:p>
            <a:pPr indent="0" marL="0">
              <a:buNone/>
            </a:pPr>
            <a:r>
              <a:rPr lang="en-US" sz="1100" dirty="0">
                <a:solidFill>
                  <a:schemeClr val="accent5"/>
                </a:solidFill>
              </a:rPr>
              <a:t>CloudPulse · Cloud Resource Monitoring Dashboard</a:t>
            </a:r>
            <a:endParaRPr lang="en-US" sz="11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9B8CA"/>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rgbClr val="0E1A2B"/>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
    <p:bg>
      <p:bgPr>
        <a:solidFill>
          <a:srgbClr val="1F5FB5"/>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556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3.xml"/><Relationship Id="rId4" Type="http://schemas.openxmlformats.org/officeDocument/2006/relationships/slide" Target="slide5.xml"/><Relationship Id="rId5" Type="http://schemas.openxmlformats.org/officeDocument/2006/relationships/slide" Target="slide5.xml"/><Relationship Id="rId6" Type="http://schemas.openxmlformats.org/officeDocument/2006/relationships/slide" Target="slide9.xml"/><Relationship Id="rId7" Type="http://schemas.openxmlformats.org/officeDocument/2006/relationships/slide" Target="slide9.xml"/><Relationship Id="rId8" Type="http://schemas.openxmlformats.org/officeDocument/2006/relationships/slide" Target="slide13.xml"/><Relationship Id="rId9" Type="http://schemas.openxmlformats.org/officeDocument/2006/relationships/slide" Target="slide13.xml"/><Relationship Id="rId10" Type="http://schemas.openxmlformats.org/officeDocument/2006/relationships/slide" Target="slide15.xml"/><Relationship Id="rId11" Type="http://schemas.openxmlformats.org/officeDocument/2006/relationships/slide" Target="slide15.xml"/><Relationship Id="rId12" Type="http://schemas.openxmlformats.org/officeDocument/2006/relationships/slideLayout" Target="../slideLayouts/slideLayout2.xml"/><Relationship Id="rId1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chart" Target="/ppt/charts/chart1.xml"/><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image" Target="../media/image-11-1.png"/><Relationship Id="rId3" Type="http://schemas.openxmlformats.org/officeDocument/2006/relationships/image" Target="../media/image-11-2.png"/><Relationship Id="rId4" Type="http://schemas.openxmlformats.org/officeDocument/2006/relationships/image" Target="../media/image-11-3.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5.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glow"/>
          <p:cNvSpPr/>
          <p:nvPr/>
        </p:nvSpPr>
        <p:spPr>
          <a:xfrm>
            <a:off x="7818120" y="1097280"/>
            <a:ext cx="3749040" cy="3749040"/>
          </a:xfrm>
          <a:prstGeom prst="ellipse">
            <a:avLst/>
          </a:prstGeom>
          <a:solidFill>
            <a:srgbClr val="17345C"/>
          </a:solidFill>
          <a:ln w="12700">
            <a:solidFill>
              <a:srgbClr val="17345C"/>
            </a:solidFill>
            <a:prstDash val="solid"/>
          </a:ln>
        </p:spPr>
      </p:sp>
      <p:sp>
        <p:nvSpPr>
          <p:cNvPr id="3" name="ring"/>
          <p:cNvSpPr/>
          <p:nvPr/>
        </p:nvSpPr>
        <p:spPr>
          <a:xfrm>
            <a:off x="8001000" y="1280160"/>
            <a:ext cx="3383280" cy="3383280"/>
          </a:xfrm>
          <a:prstGeom prst="ellipse">
            <a:avLst/>
          </a:prstGeom>
          <a:solidFill>
            <a:srgbClr val="0E1A2B"/>
          </a:solidFill>
          <a:ln w="25400">
            <a:solidFill>
              <a:srgbClr val="2A4566"/>
            </a:solidFill>
            <a:prstDash val="solid"/>
          </a:ln>
        </p:spPr>
      </p:sp>
      <p:sp>
        <p:nvSpPr>
          <p:cNvPr id="4" name="ring-spin"/>
          <p:cNvSpPr/>
          <p:nvPr/>
        </p:nvSpPr>
        <p:spPr>
          <a:xfrm>
            <a:off x="8001000" y="1280160"/>
            <a:ext cx="3383280" cy="3383280"/>
          </a:xfrm>
          <a:prstGeom prst="arc">
            <a:avLst>
              <a:gd name="adj1" fmla="val 16200000"/>
              <a:gd name="adj2" fmla="val 20700000"/>
            </a:avLst>
          </a:prstGeom>
          <a:noFill/>
          <a:ln w="50800">
            <a:solidFill>
              <a:srgbClr val="5EA2EF"/>
            </a:solidFill>
            <a:prstDash val="solid"/>
          </a:ln>
        </p:spPr>
      </p:sp>
      <p:sp>
        <p:nvSpPr>
          <p:cNvPr id="5" name="ecg"/>
          <p:cNvSpPr/>
          <p:nvPr/>
        </p:nvSpPr>
        <p:spPr>
          <a:xfrm>
            <a:off x="8366760" y="2240280"/>
            <a:ext cx="2651760" cy="1188720"/>
          </a:xfrm>
          <a:custGeom>
            <a:avLst/>
            <a:gdLst/>
            <a:ahLst/>
            <a:cxnLst/>
            <a:rect l="l" t="t" r="r" b="b"/>
            <a:pathLst>
              <a:path w="2651760" h="1188720">
                <a:moveTo>
                  <a:pt x="0" y="594360"/>
                </a:moveTo>
                <a:lnTo>
                  <a:pt x="685800" y="594360"/>
                </a:lnTo>
                <a:lnTo>
                  <a:pt x="868680" y="594360"/>
                </a:lnTo>
                <a:lnTo>
                  <a:pt x="1024128" y="228600"/>
                </a:lnTo>
                <a:lnTo>
                  <a:pt x="1207008" y="1005840"/>
                </a:lnTo>
                <a:lnTo>
                  <a:pt x="1417320" y="0"/>
                </a:lnTo>
                <a:lnTo>
                  <a:pt x="1600200" y="868680"/>
                </a:lnTo>
                <a:lnTo>
                  <a:pt x="1783080" y="594360"/>
                </a:lnTo>
                <a:lnTo>
                  <a:pt x="1965960" y="594360"/>
                </a:lnTo>
                <a:lnTo>
                  <a:pt x="2651760" y="594360"/>
                </a:lnTo>
              </a:path>
            </a:pathLst>
          </a:custGeom>
          <a:noFill/>
          <a:ln w="50800">
            <a:solidFill>
              <a:srgbClr val="5EA2EF"/>
            </a:solidFill>
            <a:prstDash val="solid"/>
          </a:ln>
        </p:spPr>
      </p:sp>
      <p:sp>
        <p:nvSpPr>
          <p:cNvPr id="6" name="live-dot"/>
          <p:cNvSpPr/>
          <p:nvPr/>
        </p:nvSpPr>
        <p:spPr>
          <a:xfrm>
            <a:off x="9189720" y="3685032"/>
            <a:ext cx="146304" cy="146304"/>
          </a:xfrm>
          <a:prstGeom prst="ellipse">
            <a:avLst/>
          </a:prstGeom>
          <a:solidFill>
            <a:srgbClr val="1E9E4A"/>
          </a:solidFill>
          <a:ln w="12700">
            <a:solidFill>
              <a:srgbClr val="1E9E4A"/>
            </a:solidFill>
            <a:prstDash val="solid"/>
          </a:ln>
        </p:spPr>
      </p:sp>
      <p:sp>
        <p:nvSpPr>
          <p:cNvPr id="7" name="live-text"/>
          <p:cNvSpPr txBox="1"/>
          <p:nvPr/>
        </p:nvSpPr>
        <p:spPr>
          <a:xfrm>
            <a:off x="9418320" y="3611880"/>
            <a:ext cx="914400" cy="292608"/>
          </a:xfrm>
          <a:prstGeom prst="rect">
            <a:avLst/>
          </a:prstGeom>
          <a:noFill/>
          <a:ln/>
        </p:spPr>
        <p:txBody>
          <a:bodyPr wrap="square" lIns="0" tIns="0" rIns="0" bIns="0" rtlCol="0" anchor="ctr"/>
          <a:lstStyle/>
          <a:p>
            <a:pPr indent="0" marL="0">
              <a:buNone/>
            </a:pPr>
            <a:r>
              <a:rPr lang="en-US" sz="1300" b="1" spc="300" kern="0" dirty="0">
                <a:solidFill>
                  <a:srgbClr val="A9B8CA"/>
                </a:solidFill>
              </a:rPr>
              <a:t>LIVE</a:t>
            </a:r>
            <a:endParaRPr lang="en-US" sz="1300" dirty="0"/>
          </a:p>
        </p:txBody>
      </p:sp>
      <p:sp>
        <p:nvSpPr>
          <p:cNvPr id="8" name="cv-eyebrow"/>
          <p:cNvSpPr txBox="1"/>
          <p:nvPr/>
        </p:nvSpPr>
        <p:spPr>
          <a:xfrm>
            <a:off x="548640" y="1417320"/>
            <a:ext cx="6949440" cy="365760"/>
          </a:xfrm>
          <a:prstGeom prst="rect">
            <a:avLst/>
          </a:prstGeom>
          <a:noFill/>
          <a:ln/>
        </p:spPr>
        <p:txBody>
          <a:bodyPr wrap="square" lIns="0" tIns="0" rIns="0" bIns="0" rtlCol="0" anchor="ctr"/>
          <a:lstStyle/>
          <a:p>
            <a:pPr indent="0" marL="0">
              <a:buNone/>
            </a:pPr>
            <a:r>
              <a:rPr lang="en-US" sz="1400" b="1" spc="200" kern="0" dirty="0">
                <a:solidFill>
                  <a:srgbClr val="5EA2EF"/>
                </a:solidFill>
              </a:rPr>
              <a:t>B.SC. IT PROJECT · AMITY UNIVERSITY JHARKHAND</a:t>
            </a:r>
            <a:endParaRPr lang="en-US" sz="1400" dirty="0"/>
          </a:p>
        </p:txBody>
      </p:sp>
      <p:sp>
        <p:nvSpPr>
          <p:cNvPr id="9" name="cv-title"/>
          <p:cNvSpPr txBox="1"/>
          <p:nvPr/>
        </p:nvSpPr>
        <p:spPr>
          <a:xfrm>
            <a:off x="548640" y="1828800"/>
            <a:ext cx="6949440" cy="1143000"/>
          </a:xfrm>
          <a:prstGeom prst="rect">
            <a:avLst/>
          </a:prstGeom>
          <a:noFill/>
          <a:ln/>
        </p:spPr>
        <p:txBody>
          <a:bodyPr wrap="square" lIns="0" tIns="0" rIns="0" bIns="0" rtlCol="0" anchor="ctr"/>
          <a:lstStyle/>
          <a:p>
            <a:pPr indent="0" marL="0">
              <a:buNone/>
            </a:pPr>
            <a:r>
              <a:rPr lang="en-US" sz="7200" b="1" dirty="0">
                <a:solidFill>
                  <a:srgbClr val="EEF2F6"/>
                </a:solidFill>
              </a:rPr>
              <a:t>CloudPulse</a:t>
            </a:r>
            <a:endParaRPr lang="en-US" sz="7200" dirty="0"/>
          </a:p>
        </p:txBody>
      </p:sp>
      <p:sp>
        <p:nvSpPr>
          <p:cNvPr id="10" name="cv-sub"/>
          <p:cNvSpPr txBox="1"/>
          <p:nvPr/>
        </p:nvSpPr>
        <p:spPr>
          <a:xfrm>
            <a:off x="548640" y="3017520"/>
            <a:ext cx="6949440" cy="548640"/>
          </a:xfrm>
          <a:prstGeom prst="rect">
            <a:avLst/>
          </a:prstGeom>
          <a:noFill/>
          <a:ln/>
        </p:spPr>
        <p:txBody>
          <a:bodyPr wrap="square" lIns="0" tIns="0" rIns="0" bIns="0" rtlCol="0" anchor="ctr"/>
          <a:lstStyle/>
          <a:p>
            <a:pPr indent="0" marL="0">
              <a:buNone/>
            </a:pPr>
            <a:r>
              <a:rPr lang="en-US" sz="2800" dirty="0">
                <a:solidFill>
                  <a:srgbClr val="EEF2F6"/>
                </a:solidFill>
              </a:rPr>
              <a:t>Cloud Resource Monitoring Dashboard</a:t>
            </a:r>
            <a:endParaRPr lang="en-US" sz="2800" dirty="0"/>
          </a:p>
        </p:txBody>
      </p:sp>
      <p:sp>
        <p:nvSpPr>
          <p:cNvPr id="11" name="cv-desc"/>
          <p:cNvSpPr txBox="1"/>
          <p:nvPr/>
        </p:nvSpPr>
        <p:spPr>
          <a:xfrm>
            <a:off x="548640" y="3657600"/>
            <a:ext cx="6400800" cy="731520"/>
          </a:xfrm>
          <a:prstGeom prst="rect">
            <a:avLst/>
          </a:prstGeom>
          <a:noFill/>
          <a:ln/>
        </p:spPr>
        <p:txBody>
          <a:bodyPr wrap="square" lIns="0" tIns="0" rIns="0" bIns="0" rtlCol="0" anchor="ctr"/>
          <a:lstStyle/>
          <a:p>
            <a:pPr indent="0" marL="0">
              <a:buNone/>
            </a:pPr>
            <a:r>
              <a:rPr lang="en-US" sz="1600" dirty="0">
                <a:solidFill>
                  <a:srgbClr val="A9B8CA"/>
                </a:solidFill>
              </a:rPr>
              <a:t>Live CPU, memory, disk and network monitoring with alerts, email, cost tracking, logs and reports</a:t>
            </a:r>
            <a:endParaRPr lang="en-US" sz="1600" dirty="0"/>
          </a:p>
        </p:txBody>
      </p:sp>
      <p:sp>
        <p:nvSpPr>
          <p:cNvPr id="12" name="cv-name"/>
          <p:cNvSpPr txBox="1"/>
          <p:nvPr/>
        </p:nvSpPr>
        <p:spPr>
          <a:xfrm>
            <a:off x="548640" y="5257800"/>
            <a:ext cx="7772400" cy="365760"/>
          </a:xfrm>
          <a:prstGeom prst="rect">
            <a:avLst/>
          </a:prstGeom>
          <a:noFill/>
          <a:ln/>
        </p:spPr>
        <p:txBody>
          <a:bodyPr wrap="square" lIns="0" tIns="0" rIns="0" bIns="0" rtlCol="0" anchor="ctr"/>
          <a:lstStyle/>
          <a:p>
            <a:pPr indent="0" marL="0">
              <a:buNone/>
            </a:pPr>
            <a:r>
              <a:rPr lang="en-US" sz="1600" dirty="0">
                <a:solidFill>
                  <a:srgbClr val="EEF2F6"/>
                </a:solidFill>
              </a:rPr>
              <a:t>Presented by Cecil Baraik · Roll 2025-BSCIT/004A</a:t>
            </a:r>
            <a:endParaRPr lang="en-US" sz="1600" dirty="0"/>
          </a:p>
        </p:txBody>
      </p:sp>
      <p:sp>
        <p:nvSpPr>
          <p:cNvPr id="13" name="cv-guide"/>
          <p:cNvSpPr txBox="1"/>
          <p:nvPr/>
        </p:nvSpPr>
        <p:spPr>
          <a:xfrm>
            <a:off x="548640" y="5623560"/>
            <a:ext cx="7772400" cy="365760"/>
          </a:xfrm>
          <a:prstGeom prst="rect">
            <a:avLst/>
          </a:prstGeom>
          <a:noFill/>
          <a:ln/>
        </p:spPr>
        <p:txBody>
          <a:bodyPr wrap="square" lIns="0" tIns="0" rIns="0" bIns="0" rtlCol="0" anchor="ctr"/>
          <a:lstStyle/>
          <a:p>
            <a:pPr indent="0" marL="0">
              <a:buNone/>
            </a:pPr>
            <a:r>
              <a:rPr lang="en-US" sz="1400" dirty="0">
                <a:solidFill>
                  <a:srgbClr val="A9B8CA"/>
                </a:solidFill>
              </a:rPr>
              <a:t>Guide: ____ · Department of Information Technology</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par>
                                <p:cTn id="10" presetID="10"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500"/>
                                        <p:tgtEl>
                                          <p:spTgt spid="3"/>
                                        </p:tgtEl>
                                      </p:cBhvr>
                                    </p:animEffect>
                                  </p:childTnLst>
                                </p:cTn>
                              </p:par>
                            </p:childTnLst>
                          </p:cTn>
                        </p:par>
                        <p:par>
                          <p:cTn id="11" fill="hold">
                            <p:stCondLst>
                              <p:cond delay="500"/>
                            </p:stCondLst>
                            <p:childTnLst>
                              <p:par>
                                <p:cTn id="14" presetID="10" presetClass="entr" presetSubtype="0"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par>
                          <p:cTn id="15" fill="hold">
                            <p:stCondLst>
                              <p:cond delay="1000"/>
                            </p:stCondLst>
                            <p:childTnLst>
                              <p:par>
                                <p:cTn id="20" presetID="42" presetClass="entr" presetSubtype="0" fill="hold" grpId="0" nodeType="after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600"/>
                                        <p:tgtEl>
                                          <p:spTgt spid="9"/>
                                        </p:tgtEl>
                                      </p:cBhvr>
                                    </p:animEffect>
                                    <p:anim calcmode="lin" valueType="num">
                                      <p:cBhvr additive="base">
                                        <p:cTn id="18" dur="600" fill="hold"/>
                                        <p:tgtEl>
                                          <p:spTgt spid="9"/>
                                        </p:tgtEl>
                                        <p:attrNameLst>
                                          <p:attrName>ppt_x</p:attrName>
                                        </p:attrNameLst>
                                      </p:cBhvr>
                                      <p:tavLst>
                                        <p:tav tm="0">
                                          <p:val>
                                            <p:strVal val="#ppt_x"/>
                                          </p:val>
                                        </p:tav>
                                        <p:tav tm="100000">
                                          <p:val>
                                            <p:strVal val="#ppt_x"/>
                                          </p:val>
                                        </p:tav>
                                      </p:tavLst>
                                    </p:anim>
                                    <p:anim calcmode="lin" valueType="num">
                                      <p:cBhvr additive="base">
                                        <p:cTn id="19" dur="600" fill="hold"/>
                                        <p:tgtEl>
                                          <p:spTgt spid="9"/>
                                        </p:tgtEl>
                                        <p:attrNameLst>
                                          <p:attrName>ppt_y</p:attrName>
                                        </p:attrNameLst>
                                      </p:cBhvr>
                                      <p:tavLst>
                                        <p:tav tm="0">
                                          <p:val>
                                            <p:strVal val="#ppt_y+.1"/>
                                          </p:val>
                                        </p:tav>
                                        <p:tav tm="100000">
                                          <p:val>
                                            <p:strVal val="#ppt_y"/>
                                          </p:val>
                                        </p:tav>
                                      </p:tavLst>
                                    </p:anim>
                                  </p:childTnLst>
                                </p:cTn>
                              </p:par>
                            </p:childTnLst>
                          </p:cTn>
                        </p:par>
                        <p:par>
                          <p:cTn id="21" fill="hold">
                            <p:stCondLst>
                              <p:cond delay="1600"/>
                            </p:stCondLst>
                            <p:childTnLst>
                              <p:par>
                                <p:cTn id="26" presetID="42" presetClass="entr" presetSubtype="0" fill="hold" grpId="0"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600"/>
                                        <p:tgtEl>
                                          <p:spTgt spid="10"/>
                                        </p:tgtEl>
                                      </p:cBhvr>
                                    </p:animEffect>
                                    <p:anim calcmode="lin" valueType="num">
                                      <p:cBhvr additive="base">
                                        <p:cTn id="24" dur="600" fill="hold"/>
                                        <p:tgtEl>
                                          <p:spTgt spid="10"/>
                                        </p:tgtEl>
                                        <p:attrNameLst>
                                          <p:attrName>ppt_x</p:attrName>
                                        </p:attrNameLst>
                                      </p:cBhvr>
                                      <p:tavLst>
                                        <p:tav tm="0">
                                          <p:val>
                                            <p:strVal val="#ppt_x"/>
                                          </p:val>
                                        </p:tav>
                                        <p:tav tm="100000">
                                          <p:val>
                                            <p:strVal val="#ppt_x"/>
                                          </p:val>
                                        </p:tav>
                                      </p:tavLst>
                                    </p:anim>
                                    <p:anim calcmode="lin" valueType="num">
                                      <p:cBhvr additive="base">
                                        <p:cTn id="25" dur="600" fill="hold"/>
                                        <p:tgtEl>
                                          <p:spTgt spid="10"/>
                                        </p:tgtEl>
                                        <p:attrNameLst>
                                          <p:attrName>ppt_y</p:attrName>
                                        </p:attrNameLst>
                                      </p:cBhvr>
                                      <p:tavLst>
                                        <p:tav tm="0">
                                          <p:val>
                                            <p:strVal val="#ppt_y+.1"/>
                                          </p:val>
                                        </p:tav>
                                        <p:tav tm="100000">
                                          <p:val>
                                            <p:strVal val="#ppt_y"/>
                                          </p:val>
                                        </p:tav>
                                      </p:tavLst>
                                    </p:anim>
                                  </p:childTnLst>
                                </p:cTn>
                              </p:par>
                              <p:par>
                                <p:cTn id="29" presetID="22" presetClass="entr" presetSubtype="8" fill="hold" grpId="0" nodeType="with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wipe(left)">
                                      <p:cBhvr>
                                        <p:cTn id="28" dur="1200"/>
                                        <p:tgtEl>
                                          <p:spTgt spid="5"/>
                                        </p:tgtEl>
                                      </p:cBhvr>
                                    </p:animEffect>
                                  </p:childTnLst>
                                </p:cTn>
                              </p:par>
                            </p:childTnLst>
                          </p:cTn>
                        </p:par>
                        <p:par>
                          <p:cTn id="30" fill="hold">
                            <p:stCondLst>
                              <p:cond delay="2800"/>
                            </p:stCondLst>
                            <p:childTnLst>
                              <p:par>
                                <p:cTn id="33" presetID="10" presetClass="entr" presetSubtype="0" fill="hold" grpId="0" nodeType="after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6" presetID="10" presetClass="entr" presetSubtype="0" fill="hold" grpId="0" nodeType="with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fade">
                                      <p:cBhvr>
                                        <p:cTn id="35" dur="500"/>
                                        <p:tgtEl>
                                          <p:spTgt spid="6"/>
                                        </p:tgtEl>
                                      </p:cBhvr>
                                    </p:animEffect>
                                  </p:childTnLst>
                                </p:cTn>
                              </p:par>
                              <p:par>
                                <p:cTn id="39" presetID="10" presetClass="entr" presetSubtype="0" fill="hold" grpId="0" nodeType="with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fade">
                                      <p:cBhvr>
                                        <p:cTn id="38" dur="500"/>
                                        <p:tgtEl>
                                          <p:spTgt spid="7"/>
                                        </p:tgtEl>
                                      </p:cBhvr>
                                    </p:animEffect>
                                  </p:childTnLst>
                                </p:cTn>
                              </p:par>
                              <p:par>
                                <p:cTn id="42" presetID="10" presetClass="entr" presetSubtype="0" fill="hold" grpId="0" nodeType="withEffect">
                                  <p:stCondLst>
                                    <p:cond delay="0"/>
                                  </p:stCondLst>
                                  <p:childTnLst>
                                    <p:set>
                                      <p:cBhvr>
                                        <p:cTn id="40" dur="1" fill="hold">
                                          <p:stCondLst>
                                            <p:cond delay="0"/>
                                          </p:stCondLst>
                                        </p:cTn>
                                        <p:tgtEl>
                                          <p:spTgt spid="4"/>
                                        </p:tgtEl>
                                        <p:attrNameLst>
                                          <p:attrName>style.visibility</p:attrName>
                                        </p:attrNameLst>
                                      </p:cBhvr>
                                      <p:to>
                                        <p:strVal val="visible"/>
                                      </p:to>
                                    </p:set>
                                    <p:animEffect transition="in" filter="fade">
                                      <p:cBhvr>
                                        <p:cTn id="41" dur="500"/>
                                        <p:tgtEl>
                                          <p:spTgt spid="4"/>
                                        </p:tgtEl>
                                      </p:cBhvr>
                                    </p:animEffect>
                                  </p:childTnLst>
                                </p:cTn>
                              </p:par>
                            </p:childTnLst>
                          </p:cTn>
                        </p:par>
                        <p:par>
                          <p:cTn id="43" fill="hold">
                            <p:stCondLst>
                              <p:cond delay="3300"/>
                            </p:stCondLst>
                            <p:childTnLst>
                              <p:par>
                                <p:cTn id="46" presetID="10" presetClass="entr" presetSubtype="0" fill="hold" grpId="0" nodeType="after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500"/>
                                        <p:tgtEl>
                                          <p:spTgt spid="12"/>
                                        </p:tgtEl>
                                      </p:cBhvr>
                                    </p:animEffect>
                                  </p:childTnLst>
                                </p:cTn>
                              </p:par>
                              <p:par>
                                <p:cTn id="49" presetID="10" presetClass="entr" presetSubtype="0" fill="hold" grpId="0" nodeType="with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500"/>
                                        <p:tgtEl>
                                          <p:spTgt spid="13"/>
                                        </p:tgtEl>
                                      </p:cBhvr>
                                    </p:animEffect>
                                  </p:childTnLst>
                                </p:cTn>
                              </p:par>
                              <p:par>
                                <p:cTn id="51" presetID="8" presetClass="emph" presetSubtype="0" repeatCount="indefinite" fill="hold" grpId="1" nodeType="withEffect">
                                  <p:stCondLst>
                                    <p:cond delay="0"/>
                                  </p:stCondLst>
                                  <p:childTnLst>
                                    <p:animRot by="21600000">
                                      <p:cBhvr>
                                        <p:cTn id="50" dur="4000" fill="hold"/>
                                        <p:tgtEl>
                                          <p:spTgt spid="4"/>
                                        </p:tgtEl>
                                        <p:attrNameLst>
                                          <p:attrName>r</p:attrName>
                                        </p:attrNameLst>
                                      </p:cBhvr>
                                    </p:animRot>
                                  </p:childTnLst>
                                </p:cTn>
                              </p:par>
                              <p:par>
                                <p:cTn id="53" presetID="9" presetClass="emph" presetSubtype="0" repeatCount="indefinite" fill="hold" grpId="1" nodeType="withEffect">
                                  <p:stCondLst>
                                    <p:cond delay="0"/>
                                  </p:stCondLst>
                                  <p:childTnLst>
                                    <p:set>
                                      <p:cBhvr>
                                        <p:cTn id="52" dur="600" autoRev="1" fill="hold"/>
                                        <p:tgtEl>
                                          <p:spTgt spid="6"/>
                                        </p:tgtEl>
                                        <p:attrNameLst>
                                          <p:attrName>style.opacity</p:attrName>
                                        </p:attrNameLst>
                                      </p:cBhvr>
                                      <p:to>
                                        <p:strVal val="0.2"/>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4" grpId="1" animBg="1"/>
      <p:bldP spid="5" grpId="0" animBg="1"/>
      <p:bldP spid="6" grpId="0" animBg="1"/>
      <p:bldP spid="6" grpId="1" animBg="1"/>
      <p:bldP spid="7" grpId="0" animBg="1"/>
      <p:bldP spid="8" grpId="0" animBg="1"/>
      <p:bldP spid="9" grpId="0" animBg="1"/>
      <p:bldP spid="10" grpId="0" animBg="1"/>
      <p:bldP spid="11" grpId="0" animBg="1"/>
      <p:bldP spid="12" grpId="0" animBg="1"/>
      <p:bldP spid="13"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686800" cy="320040"/>
          </a:xfrm>
          <a:prstGeom prst="rect">
            <a:avLst/>
          </a:prstGeom>
          <a:noFill/>
          <a:ln/>
        </p:spPr>
        <p:txBody>
          <a:bodyPr wrap="square" lIns="0" tIns="0" rIns="0" bIns="0" rtlCol="0" anchor="t"/>
          <a:lstStyle/>
          <a:p>
            <a:pPr indent="0" marL="0">
              <a:buNone/>
            </a:pPr>
            <a:r>
              <a:rPr lang="en-US" sz="1300" b="1" spc="200" kern="0" dirty="0">
                <a:solidFill>
                  <a:schemeClr val="accent1"/>
                </a:solidFill>
              </a:rPr>
              <a:t>CONTENTS</a:t>
            </a:r>
            <a:endParaRPr lang="en-US" sz="1300" dirty="0"/>
          </a:p>
        </p:txBody>
      </p:sp>
      <p:sp>
        <p:nvSpPr>
          <p:cNvPr id="3" name="Text 0"/>
          <p:cNvSpPr/>
          <p:nvPr>
            <p:ph idx="101" type="title" hasCustomPrompt="1"/>
          </p:nvPr>
        </p:nvSpPr>
        <p:spPr>
          <a:xfrm>
            <a:off x="548640" y="713232"/>
            <a:ext cx="11091672" cy="822960"/>
          </a:xfrm>
          <a:prstGeom prst="rect">
            <a:avLst/>
          </a:prstGeom>
          <a:noFill/>
          <a:ln/>
        </p:spPr>
        <p:txBody>
          <a:bodyPr wrap="square" lIns="0" tIns="0" rIns="0" bIns="0" rtlCol="0" anchor="t"/>
          <a:lstStyle/>
          <a:p>
            <a:pPr indent="0" marL="0">
              <a:buNone/>
            </a:pPr>
            <a:r>
              <a:rPr lang="en-US" sz="3200" b="1" dirty="0">
                <a:solidFill>
                  <a:schemeClr val="tx1"/>
                </a:solidFill>
              </a:rPr>
              <a:t>Click a topic to jump to it</a:t>
            </a:r>
            <a:endParaRPr lang="en-US" sz="3200" dirty="0"/>
          </a:p>
        </p:txBody>
      </p:sp>
      <p:sp>
        <p:nvSpPr>
          <p:cNvPr id="4" name="nav-contents"/>
          <p:cNvSpPr txBox="1"/>
          <p:nvPr/>
        </p:nvSpPr>
        <p:spPr>
          <a:xfrm>
            <a:off x="10451592" y="365760"/>
            <a:ext cx="1188720" cy="292608"/>
          </a:xfrm>
          <a:prstGeom prst="rect">
            <a:avLst/>
          </a:prstGeom>
          <a:noFill/>
          <a:ln/>
        </p:spPr>
        <p:txBody>
          <a:bodyPr wrap="square" lIns="0" tIns="0" rIns="0" bIns="0" rtlCol="0" anchor="ctr"/>
          <a:lstStyle/>
          <a:p>
            <a:pPr algn="r" indent="0" marL="0">
              <a:buNone/>
            </a:pPr>
            <a:r>
              <a:rPr lang="en-US" sz="1100" u="sng" dirty="0">
                <a:solidFill>
                  <a:schemeClr val="accent1"/>
                </a:solidFill>
                <a:hlinkClick r:id="rId1" action="ppaction://hlinksldjump" tooltip="Back to contents">
                  <a:extLst>
                    <a:ext uri="{A12FA001-AC4F-418D-AE19-62706E023703}">
                      <ahyp:hlinkClr xmlns:ahyp="http://schemas.microsoft.com/office/drawing/2018/hyperlinkcolor" val="tx"/>
                    </a:ext>
                  </a:extLst>
                </a:hlinkClick>
              </a:rPr>
              <a:t>Contents ↩</a:t>
            </a:r>
            <a:endParaRPr lang="en-US" sz="1100" dirty="0"/>
          </a:p>
        </p:txBody>
      </p:sp>
      <p:sp>
        <p:nvSpPr>
          <p:cNvPr id="5" name="toc0-box">
            <a:hlinkClick r:id="rId2" tooltip="Introduction" action="ppaction://hlinksldjump"/>
          </p:cNvPr>
          <p:cNvSpPr/>
          <p:nvPr/>
        </p:nvSpPr>
        <p:spPr>
          <a:xfrm>
            <a:off x="548640" y="1783080"/>
            <a:ext cx="11091672" cy="694944"/>
          </a:xfrm>
          <a:prstGeom prst="roundRect">
            <a:avLst>
              <a:gd name="adj" fmla="val 13158"/>
            </a:avLst>
          </a:prstGeom>
          <a:solidFill>
            <a:schemeClr val="bg1"/>
          </a:solidFill>
          <a:ln w="9525">
            <a:solidFill>
              <a:srgbClr val="D6DDE6"/>
            </a:solidFill>
            <a:prstDash val="solid"/>
          </a:ln>
        </p:spPr>
      </p:sp>
      <p:sp>
        <p:nvSpPr>
          <p:cNvPr id="6" name="toc0-n"/>
          <p:cNvSpPr txBox="1"/>
          <p:nvPr/>
        </p:nvSpPr>
        <p:spPr>
          <a:xfrm>
            <a:off x="822960" y="1938528"/>
            <a:ext cx="640080" cy="384048"/>
          </a:xfrm>
          <a:prstGeom prst="rect">
            <a:avLst/>
          </a:prstGeom>
          <a:noFill/>
          <a:ln/>
        </p:spPr>
        <p:txBody>
          <a:bodyPr wrap="square" lIns="0" tIns="0" rIns="0" bIns="0" rtlCol="0" anchor="ctr"/>
          <a:lstStyle/>
          <a:p>
            <a:pPr indent="0" marL="0">
              <a:buNone/>
            </a:pPr>
            <a:r>
              <a:rPr lang="en-US" sz="1800" b="1" dirty="0">
                <a:solidFill>
                  <a:schemeClr val="accent1"/>
                </a:solidFill>
                <a:latin typeface="Courier New" pitchFamily="34" charset="0"/>
                <a:ea typeface="Courier New" pitchFamily="34" charset="-122"/>
                <a:cs typeface="Courier New" pitchFamily="34" charset="-120"/>
              </a:rPr>
              <a:t>01</a:t>
            </a:r>
            <a:endParaRPr lang="en-US" sz="1800" dirty="0"/>
          </a:p>
        </p:txBody>
      </p:sp>
      <p:sp>
        <p:nvSpPr>
          <p:cNvPr id="7" name="toc0-t"/>
          <p:cNvSpPr txBox="1"/>
          <p:nvPr/>
        </p:nvSpPr>
        <p:spPr>
          <a:xfrm>
            <a:off x="1554480" y="1920240"/>
            <a:ext cx="3840480" cy="420624"/>
          </a:xfrm>
          <a:prstGeom prst="rect">
            <a:avLst/>
          </a:prstGeom>
          <a:noFill/>
          <a:ln/>
        </p:spPr>
        <p:txBody>
          <a:bodyPr wrap="square" lIns="0" tIns="0" rIns="0" bIns="0" rtlCol="0" anchor="ctr"/>
          <a:lstStyle/>
          <a:p>
            <a:pPr indent="0" marL="0">
              <a:buNone/>
            </a:pPr>
            <a:r>
              <a:rPr lang="en-US" sz="2000" b="1" u="sng" dirty="0">
                <a:solidFill>
                  <a:schemeClr val="tx1"/>
                </a:solidFill>
                <a:hlinkClick r:id="rId3" action="ppaction://hlinksldjump" tooltip="Go to Introduction">
                  <a:extLst>
                    <a:ext uri="{A12FA001-AC4F-418D-AE19-62706E023703}">
                      <ahyp:hlinkClr xmlns:ahyp="http://schemas.microsoft.com/office/drawing/2018/hyperlinkcolor" val="tx"/>
                    </a:ext>
                  </a:extLst>
                </a:hlinkClick>
              </a:rPr>
              <a:t>Introduction</a:t>
            </a:r>
            <a:endParaRPr lang="en-US" sz="2000" dirty="0"/>
          </a:p>
        </p:txBody>
      </p:sp>
      <p:sp>
        <p:nvSpPr>
          <p:cNvPr id="8" name="toc0-d"/>
          <p:cNvSpPr txBox="1"/>
          <p:nvPr/>
        </p:nvSpPr>
        <p:spPr>
          <a:xfrm>
            <a:off x="5486400" y="1947672"/>
            <a:ext cx="5852160" cy="365760"/>
          </a:xfrm>
          <a:prstGeom prst="rect">
            <a:avLst/>
          </a:prstGeom>
          <a:noFill/>
          <a:ln/>
        </p:spPr>
        <p:txBody>
          <a:bodyPr wrap="square" lIns="0" tIns="0" rIns="0" bIns="0" rtlCol="0" anchor="ctr"/>
          <a:lstStyle/>
          <a:p>
            <a:pPr indent="0" marL="0">
              <a:buNone/>
            </a:pPr>
            <a:r>
              <a:rPr lang="en-US" sz="1500" dirty="0">
                <a:solidFill>
                  <a:schemeClr val="accent6"/>
                </a:solidFill>
              </a:rPr>
              <a:t>The problem and the eight objectives</a:t>
            </a:r>
            <a:endParaRPr lang="en-US" sz="1500" dirty="0"/>
          </a:p>
        </p:txBody>
      </p:sp>
      <p:sp>
        <p:nvSpPr>
          <p:cNvPr id="9" name="toc1-box">
            <a:hlinkClick r:id="rId4" tooltip="Design" action="ppaction://hlinksldjump"/>
          </p:cNvPr>
          <p:cNvSpPr/>
          <p:nvPr/>
        </p:nvSpPr>
        <p:spPr>
          <a:xfrm>
            <a:off x="548640" y="2624328"/>
            <a:ext cx="11091672" cy="694944"/>
          </a:xfrm>
          <a:prstGeom prst="roundRect">
            <a:avLst>
              <a:gd name="adj" fmla="val 13158"/>
            </a:avLst>
          </a:prstGeom>
          <a:solidFill>
            <a:schemeClr val="bg1"/>
          </a:solidFill>
          <a:ln w="9525">
            <a:solidFill>
              <a:srgbClr val="D6DDE6"/>
            </a:solidFill>
            <a:prstDash val="solid"/>
          </a:ln>
        </p:spPr>
      </p:sp>
      <p:sp>
        <p:nvSpPr>
          <p:cNvPr id="10" name="toc1-n"/>
          <p:cNvSpPr txBox="1"/>
          <p:nvPr/>
        </p:nvSpPr>
        <p:spPr>
          <a:xfrm>
            <a:off x="822960" y="2779776"/>
            <a:ext cx="640080" cy="384048"/>
          </a:xfrm>
          <a:prstGeom prst="rect">
            <a:avLst/>
          </a:prstGeom>
          <a:noFill/>
          <a:ln/>
        </p:spPr>
        <p:txBody>
          <a:bodyPr wrap="square" lIns="0" tIns="0" rIns="0" bIns="0" rtlCol="0" anchor="ctr"/>
          <a:lstStyle/>
          <a:p>
            <a:pPr indent="0" marL="0">
              <a:buNone/>
            </a:pPr>
            <a:r>
              <a:rPr lang="en-US" sz="1800" b="1" dirty="0">
                <a:solidFill>
                  <a:schemeClr val="accent1"/>
                </a:solidFill>
                <a:latin typeface="Courier New" pitchFamily="34" charset="0"/>
                <a:ea typeface="Courier New" pitchFamily="34" charset="-122"/>
                <a:cs typeface="Courier New" pitchFamily="34" charset="-120"/>
              </a:rPr>
              <a:t>02</a:t>
            </a:r>
            <a:endParaRPr lang="en-US" sz="1800" dirty="0"/>
          </a:p>
        </p:txBody>
      </p:sp>
      <p:sp>
        <p:nvSpPr>
          <p:cNvPr id="11" name="toc1-t"/>
          <p:cNvSpPr txBox="1"/>
          <p:nvPr/>
        </p:nvSpPr>
        <p:spPr>
          <a:xfrm>
            <a:off x="1554480" y="2761488"/>
            <a:ext cx="3840480" cy="420624"/>
          </a:xfrm>
          <a:prstGeom prst="rect">
            <a:avLst/>
          </a:prstGeom>
          <a:noFill/>
          <a:ln/>
        </p:spPr>
        <p:txBody>
          <a:bodyPr wrap="square" lIns="0" tIns="0" rIns="0" bIns="0" rtlCol="0" anchor="ctr"/>
          <a:lstStyle/>
          <a:p>
            <a:pPr indent="0" marL="0">
              <a:buNone/>
            </a:pPr>
            <a:r>
              <a:rPr lang="en-US" sz="2000" b="1" u="sng" dirty="0">
                <a:solidFill>
                  <a:schemeClr val="tx1"/>
                </a:solidFill>
                <a:hlinkClick r:id="rId5" action="ppaction://hlinksldjump" tooltip="Go to Design">
                  <a:extLst>
                    <a:ext uri="{A12FA001-AC4F-418D-AE19-62706E023703}">
                      <ahyp:hlinkClr xmlns:ahyp="http://schemas.microsoft.com/office/drawing/2018/hyperlinkcolor" val="tx"/>
                    </a:ext>
                  </a:extLst>
                </a:hlinkClick>
              </a:rPr>
              <a:t>Design</a:t>
            </a:r>
            <a:endParaRPr lang="en-US" sz="2000" dirty="0"/>
          </a:p>
        </p:txBody>
      </p:sp>
      <p:sp>
        <p:nvSpPr>
          <p:cNvPr id="12" name="toc1-d"/>
          <p:cNvSpPr txBox="1"/>
          <p:nvPr/>
        </p:nvSpPr>
        <p:spPr>
          <a:xfrm>
            <a:off x="5486400" y="2788920"/>
            <a:ext cx="5852160" cy="365760"/>
          </a:xfrm>
          <a:prstGeom prst="rect">
            <a:avLst/>
          </a:prstGeom>
          <a:noFill/>
          <a:ln/>
        </p:spPr>
        <p:txBody>
          <a:bodyPr wrap="square" lIns="0" tIns="0" rIns="0" bIns="0" rtlCol="0" anchor="ctr"/>
          <a:lstStyle/>
          <a:p>
            <a:pPr indent="0" marL="0">
              <a:buNone/>
            </a:pPr>
            <a:r>
              <a:rPr lang="en-US" sz="1500" dirty="0">
                <a:solidFill>
                  <a:schemeClr val="accent6"/>
                </a:solidFill>
              </a:rPr>
              <a:t>Tech stack, architecture, live update flow, database</a:t>
            </a:r>
            <a:endParaRPr lang="en-US" sz="1500" dirty="0"/>
          </a:p>
        </p:txBody>
      </p:sp>
      <p:sp>
        <p:nvSpPr>
          <p:cNvPr id="13" name="toc2-box">
            <a:hlinkClick r:id="rId6" tooltip="Features" action="ppaction://hlinksldjump"/>
          </p:cNvPr>
          <p:cNvSpPr/>
          <p:nvPr/>
        </p:nvSpPr>
        <p:spPr>
          <a:xfrm>
            <a:off x="548640" y="3465576"/>
            <a:ext cx="11091672" cy="694944"/>
          </a:xfrm>
          <a:prstGeom prst="roundRect">
            <a:avLst>
              <a:gd name="adj" fmla="val 13158"/>
            </a:avLst>
          </a:prstGeom>
          <a:solidFill>
            <a:schemeClr val="bg1"/>
          </a:solidFill>
          <a:ln w="9525">
            <a:solidFill>
              <a:srgbClr val="D6DDE6"/>
            </a:solidFill>
            <a:prstDash val="solid"/>
          </a:ln>
        </p:spPr>
      </p:sp>
      <p:sp>
        <p:nvSpPr>
          <p:cNvPr id="14" name="toc2-n"/>
          <p:cNvSpPr txBox="1"/>
          <p:nvPr/>
        </p:nvSpPr>
        <p:spPr>
          <a:xfrm>
            <a:off x="822960" y="3621024"/>
            <a:ext cx="640080" cy="384048"/>
          </a:xfrm>
          <a:prstGeom prst="rect">
            <a:avLst/>
          </a:prstGeom>
          <a:noFill/>
          <a:ln/>
        </p:spPr>
        <p:txBody>
          <a:bodyPr wrap="square" lIns="0" tIns="0" rIns="0" bIns="0" rtlCol="0" anchor="ctr"/>
          <a:lstStyle/>
          <a:p>
            <a:pPr indent="0" marL="0">
              <a:buNone/>
            </a:pPr>
            <a:r>
              <a:rPr lang="en-US" sz="1800" b="1" dirty="0">
                <a:solidFill>
                  <a:schemeClr val="accent1"/>
                </a:solidFill>
                <a:latin typeface="Courier New" pitchFamily="34" charset="0"/>
                <a:ea typeface="Courier New" pitchFamily="34" charset="-122"/>
                <a:cs typeface="Courier New" pitchFamily="34" charset="-120"/>
              </a:rPr>
              <a:t>03</a:t>
            </a:r>
            <a:endParaRPr lang="en-US" sz="1800" dirty="0"/>
          </a:p>
        </p:txBody>
      </p:sp>
      <p:sp>
        <p:nvSpPr>
          <p:cNvPr id="15" name="toc2-t"/>
          <p:cNvSpPr txBox="1"/>
          <p:nvPr/>
        </p:nvSpPr>
        <p:spPr>
          <a:xfrm>
            <a:off x="1554480" y="3602736"/>
            <a:ext cx="3840480" cy="420624"/>
          </a:xfrm>
          <a:prstGeom prst="rect">
            <a:avLst/>
          </a:prstGeom>
          <a:noFill/>
          <a:ln/>
        </p:spPr>
        <p:txBody>
          <a:bodyPr wrap="square" lIns="0" tIns="0" rIns="0" bIns="0" rtlCol="0" anchor="ctr"/>
          <a:lstStyle/>
          <a:p>
            <a:pPr indent="0" marL="0">
              <a:buNone/>
            </a:pPr>
            <a:r>
              <a:rPr lang="en-US" sz="2000" b="1" u="sng" dirty="0">
                <a:solidFill>
                  <a:schemeClr val="tx1"/>
                </a:solidFill>
                <a:hlinkClick r:id="rId7" action="ppaction://hlinksldjump" tooltip="Go to Features">
                  <a:extLst>
                    <a:ext uri="{A12FA001-AC4F-418D-AE19-62706E023703}">
                      <ahyp:hlinkClr xmlns:ahyp="http://schemas.microsoft.com/office/drawing/2018/hyperlinkcolor" val="tx"/>
                    </a:ext>
                  </a:extLst>
                </a:hlinkClick>
              </a:rPr>
              <a:t>Features</a:t>
            </a:r>
            <a:endParaRPr lang="en-US" sz="2000" dirty="0"/>
          </a:p>
        </p:txBody>
      </p:sp>
      <p:sp>
        <p:nvSpPr>
          <p:cNvPr id="16" name="toc2-d"/>
          <p:cNvSpPr txBox="1"/>
          <p:nvPr/>
        </p:nvSpPr>
        <p:spPr>
          <a:xfrm>
            <a:off x="5486400" y="3630168"/>
            <a:ext cx="5852160" cy="365760"/>
          </a:xfrm>
          <a:prstGeom prst="rect">
            <a:avLst/>
          </a:prstGeom>
          <a:noFill/>
          <a:ln/>
        </p:spPr>
        <p:txBody>
          <a:bodyPr wrap="square" lIns="0" tIns="0" rIns="0" bIns="0" rtlCol="0" anchor="ctr"/>
          <a:lstStyle/>
          <a:p>
            <a:pPr indent="0" marL="0">
              <a:buNone/>
            </a:pPr>
            <a:r>
              <a:rPr lang="en-US" sz="1500" dirty="0">
                <a:solidFill>
                  <a:schemeClr val="accent6"/>
                </a:solidFill>
              </a:rPr>
              <a:t>Monitoring, alerts and email, costs, logs, security</a:t>
            </a:r>
            <a:endParaRPr lang="en-US" sz="1500" dirty="0"/>
          </a:p>
        </p:txBody>
      </p:sp>
      <p:sp>
        <p:nvSpPr>
          <p:cNvPr id="17" name="toc3-box">
            <a:hlinkClick r:id="rId8" tooltip="Results" action="ppaction://hlinksldjump"/>
          </p:cNvPr>
          <p:cNvSpPr/>
          <p:nvPr/>
        </p:nvSpPr>
        <p:spPr>
          <a:xfrm>
            <a:off x="548640" y="4306824"/>
            <a:ext cx="11091672" cy="694944"/>
          </a:xfrm>
          <a:prstGeom prst="roundRect">
            <a:avLst>
              <a:gd name="adj" fmla="val 13158"/>
            </a:avLst>
          </a:prstGeom>
          <a:solidFill>
            <a:schemeClr val="bg1"/>
          </a:solidFill>
          <a:ln w="9525">
            <a:solidFill>
              <a:srgbClr val="D6DDE6"/>
            </a:solidFill>
            <a:prstDash val="solid"/>
          </a:ln>
        </p:spPr>
      </p:sp>
      <p:sp>
        <p:nvSpPr>
          <p:cNvPr id="18" name="toc3-n"/>
          <p:cNvSpPr txBox="1"/>
          <p:nvPr/>
        </p:nvSpPr>
        <p:spPr>
          <a:xfrm>
            <a:off x="822960" y="4462272"/>
            <a:ext cx="640080" cy="384048"/>
          </a:xfrm>
          <a:prstGeom prst="rect">
            <a:avLst/>
          </a:prstGeom>
          <a:noFill/>
          <a:ln/>
        </p:spPr>
        <p:txBody>
          <a:bodyPr wrap="square" lIns="0" tIns="0" rIns="0" bIns="0" rtlCol="0" anchor="ctr"/>
          <a:lstStyle/>
          <a:p>
            <a:pPr indent="0" marL="0">
              <a:buNone/>
            </a:pPr>
            <a:r>
              <a:rPr lang="en-US" sz="1800" b="1" dirty="0">
                <a:solidFill>
                  <a:schemeClr val="accent1"/>
                </a:solidFill>
                <a:latin typeface="Courier New" pitchFamily="34" charset="0"/>
                <a:ea typeface="Courier New" pitchFamily="34" charset="-122"/>
                <a:cs typeface="Courier New" pitchFamily="34" charset="-120"/>
              </a:rPr>
              <a:t>04</a:t>
            </a:r>
            <a:endParaRPr lang="en-US" sz="1800" dirty="0"/>
          </a:p>
        </p:txBody>
      </p:sp>
      <p:sp>
        <p:nvSpPr>
          <p:cNvPr id="19" name="toc3-t"/>
          <p:cNvSpPr txBox="1"/>
          <p:nvPr/>
        </p:nvSpPr>
        <p:spPr>
          <a:xfrm>
            <a:off x="1554480" y="4443984"/>
            <a:ext cx="3840480" cy="420624"/>
          </a:xfrm>
          <a:prstGeom prst="rect">
            <a:avLst/>
          </a:prstGeom>
          <a:noFill/>
          <a:ln/>
        </p:spPr>
        <p:txBody>
          <a:bodyPr wrap="square" lIns="0" tIns="0" rIns="0" bIns="0" rtlCol="0" anchor="ctr"/>
          <a:lstStyle/>
          <a:p>
            <a:pPr indent="0" marL="0">
              <a:buNone/>
            </a:pPr>
            <a:r>
              <a:rPr lang="en-US" sz="2000" b="1" u="sng" dirty="0">
                <a:solidFill>
                  <a:schemeClr val="tx1"/>
                </a:solidFill>
                <a:hlinkClick r:id="rId9" action="ppaction://hlinksldjump" tooltip="Go to Results">
                  <a:extLst>
                    <a:ext uri="{A12FA001-AC4F-418D-AE19-62706E023703}">
                      <ahyp:hlinkClr xmlns:ahyp="http://schemas.microsoft.com/office/drawing/2018/hyperlinkcolor" val="tx"/>
                    </a:ext>
                  </a:extLst>
                </a:hlinkClick>
              </a:rPr>
              <a:t>Results</a:t>
            </a:r>
            <a:endParaRPr lang="en-US" sz="2000" dirty="0"/>
          </a:p>
        </p:txBody>
      </p:sp>
      <p:sp>
        <p:nvSpPr>
          <p:cNvPr id="20" name="toc3-d"/>
          <p:cNvSpPr txBox="1"/>
          <p:nvPr/>
        </p:nvSpPr>
        <p:spPr>
          <a:xfrm>
            <a:off x="5486400" y="4471416"/>
            <a:ext cx="5852160" cy="365760"/>
          </a:xfrm>
          <a:prstGeom prst="rect">
            <a:avLst/>
          </a:prstGeom>
          <a:noFill/>
          <a:ln/>
        </p:spPr>
        <p:txBody>
          <a:bodyPr wrap="square" lIns="0" tIns="0" rIns="0" bIns="0" rtlCol="0" anchor="ctr"/>
          <a:lstStyle/>
          <a:p>
            <a:pPr indent="0" marL="0">
              <a:buNone/>
            </a:pPr>
            <a:r>
              <a:rPr lang="en-US" sz="1500" dirty="0">
                <a:solidFill>
                  <a:schemeClr val="accent6"/>
                </a:solidFill>
              </a:rPr>
              <a:t>Testing, limitations and future scope</a:t>
            </a:r>
            <a:endParaRPr lang="en-US" sz="1500" dirty="0"/>
          </a:p>
        </p:txBody>
      </p:sp>
      <p:sp>
        <p:nvSpPr>
          <p:cNvPr id="21" name="toc4-box">
            <a:hlinkClick r:id="rId10" tooltip="Demo and questions" action="ppaction://hlinksldjump"/>
          </p:cNvPr>
          <p:cNvSpPr/>
          <p:nvPr/>
        </p:nvSpPr>
        <p:spPr>
          <a:xfrm>
            <a:off x="548640" y="5148072"/>
            <a:ext cx="11091672" cy="694944"/>
          </a:xfrm>
          <a:prstGeom prst="roundRect">
            <a:avLst>
              <a:gd name="adj" fmla="val 13158"/>
            </a:avLst>
          </a:prstGeom>
          <a:solidFill>
            <a:schemeClr val="bg1"/>
          </a:solidFill>
          <a:ln w="9525">
            <a:solidFill>
              <a:srgbClr val="D6DDE6"/>
            </a:solidFill>
            <a:prstDash val="solid"/>
          </a:ln>
        </p:spPr>
      </p:sp>
      <p:sp>
        <p:nvSpPr>
          <p:cNvPr id="22" name="toc4-n"/>
          <p:cNvSpPr txBox="1"/>
          <p:nvPr/>
        </p:nvSpPr>
        <p:spPr>
          <a:xfrm>
            <a:off x="822960" y="5303520"/>
            <a:ext cx="640080" cy="384048"/>
          </a:xfrm>
          <a:prstGeom prst="rect">
            <a:avLst/>
          </a:prstGeom>
          <a:noFill/>
          <a:ln/>
        </p:spPr>
        <p:txBody>
          <a:bodyPr wrap="square" lIns="0" tIns="0" rIns="0" bIns="0" rtlCol="0" anchor="ctr"/>
          <a:lstStyle/>
          <a:p>
            <a:pPr indent="0" marL="0">
              <a:buNone/>
            </a:pPr>
            <a:r>
              <a:rPr lang="en-US" sz="1800" b="1" dirty="0">
                <a:solidFill>
                  <a:schemeClr val="accent1"/>
                </a:solidFill>
                <a:latin typeface="Courier New" pitchFamily="34" charset="0"/>
                <a:ea typeface="Courier New" pitchFamily="34" charset="-122"/>
                <a:cs typeface="Courier New" pitchFamily="34" charset="-120"/>
              </a:rPr>
              <a:t>05</a:t>
            </a:r>
            <a:endParaRPr lang="en-US" sz="1800" dirty="0"/>
          </a:p>
        </p:txBody>
      </p:sp>
      <p:sp>
        <p:nvSpPr>
          <p:cNvPr id="23" name="toc4-t"/>
          <p:cNvSpPr txBox="1"/>
          <p:nvPr/>
        </p:nvSpPr>
        <p:spPr>
          <a:xfrm>
            <a:off x="1554480" y="5285232"/>
            <a:ext cx="3840480" cy="420624"/>
          </a:xfrm>
          <a:prstGeom prst="rect">
            <a:avLst/>
          </a:prstGeom>
          <a:noFill/>
          <a:ln/>
        </p:spPr>
        <p:txBody>
          <a:bodyPr wrap="square" lIns="0" tIns="0" rIns="0" bIns="0" rtlCol="0" anchor="ctr"/>
          <a:lstStyle/>
          <a:p>
            <a:pPr indent="0" marL="0">
              <a:buNone/>
            </a:pPr>
            <a:r>
              <a:rPr lang="en-US" sz="2000" b="1" u="sng" dirty="0">
                <a:solidFill>
                  <a:schemeClr val="tx1"/>
                </a:solidFill>
                <a:hlinkClick r:id="rId11" action="ppaction://hlinksldjump" tooltip="Go to Demo and questions">
                  <a:extLst>
                    <a:ext uri="{A12FA001-AC4F-418D-AE19-62706E023703}">
                      <ahyp:hlinkClr xmlns:ahyp="http://schemas.microsoft.com/office/drawing/2018/hyperlinkcolor" val="tx"/>
                    </a:ext>
                  </a:extLst>
                </a:hlinkClick>
              </a:rPr>
              <a:t>Demo and questions</a:t>
            </a:r>
            <a:endParaRPr lang="en-US" sz="2000" dirty="0"/>
          </a:p>
        </p:txBody>
      </p:sp>
      <p:sp>
        <p:nvSpPr>
          <p:cNvPr id="24" name="toc4-d"/>
          <p:cNvSpPr txBox="1"/>
          <p:nvPr/>
        </p:nvSpPr>
        <p:spPr>
          <a:xfrm>
            <a:off x="5486400" y="5312664"/>
            <a:ext cx="5852160" cy="365760"/>
          </a:xfrm>
          <a:prstGeom prst="rect">
            <a:avLst/>
          </a:prstGeom>
          <a:noFill/>
          <a:ln/>
        </p:spPr>
        <p:txBody>
          <a:bodyPr wrap="square" lIns="0" tIns="0" rIns="0" bIns="0" rtlCol="0" anchor="ctr"/>
          <a:lstStyle/>
          <a:p>
            <a:pPr indent="0" marL="0">
              <a:buNone/>
            </a:pPr>
            <a:r>
              <a:rPr lang="en-US" sz="1500" dirty="0">
                <a:solidFill>
                  <a:schemeClr val="accent6"/>
                </a:solidFill>
              </a:rPr>
              <a:t>Live demo, then Q&amp;A</a:t>
            </a:r>
            <a:endParaRPr lang="en-US" sz="15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5568"/>
                </a:solidFill>
              </a:defRPr>
            </a:lvl1pPr>
          </a:lstStyle>
          <a:p>
            <a:pPr algn="r"/>
            <a:fld id="{F7021451-1387-4CA6-816F-3879F97B5CBC}" type="slidenum">
              <a:rPr b="0" lang="en-US"/>
              <a:t>2</a:t>
            </a:fld>
            <a:endParaRPr lang="en-US"/>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9" presetID="42" presetClass="entr" presetSubtype="0" fill="hold" grpId="0" nodeType="after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400"/>
                                        <p:tgtEl>
                                          <p:spTgt spid="5"/>
                                        </p:tgtEl>
                                      </p:cBhvr>
                                    </p:animEffect>
                                    <p:anim calcmode="lin" valueType="num">
                                      <p:cBhvr additive="base">
                                        <p:cTn id="7" dur="400" fill="hold"/>
                                        <p:tgtEl>
                                          <p:spTgt spid="5"/>
                                        </p:tgtEl>
                                        <p:attrNameLst>
                                          <p:attrName>ppt_x</p:attrName>
                                        </p:attrNameLst>
                                      </p:cBhvr>
                                      <p:tavLst>
                                        <p:tav tm="0">
                                          <p:val>
                                            <p:strVal val="#ppt_x"/>
                                          </p:val>
                                        </p:tav>
                                        <p:tav tm="100000">
                                          <p:val>
                                            <p:strVal val="#ppt_x"/>
                                          </p:val>
                                        </p:tav>
                                      </p:tavLst>
                                    </p:anim>
                                    <p:anim calcmode="lin" valueType="num">
                                      <p:cBhvr additive="base">
                                        <p:cTn id="8" dur="400" fill="hold"/>
                                        <p:tgtEl>
                                          <p:spTgt spid="5"/>
                                        </p:tgtEl>
                                        <p:attrNameLst>
                                          <p:attrName>ppt_y</p:attrName>
                                        </p:attrNameLst>
                                      </p:cBhvr>
                                      <p:tavLst>
                                        <p:tav tm="0">
                                          <p:val>
                                            <p:strVal val="#ppt_y+.1"/>
                                          </p:val>
                                        </p:tav>
                                        <p:tav tm="100000">
                                          <p:val>
                                            <p:strVal val="#ppt_y"/>
                                          </p:val>
                                        </p:tav>
                                      </p:tavLst>
                                    </p:anim>
                                  </p:childTnLst>
                                </p:cTn>
                              </p:par>
                              <p:par>
                                <p:cTn id="14" presetID="42"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00"/>
                                        <p:tgtEl>
                                          <p:spTgt spid="6"/>
                                        </p:tgtEl>
                                      </p:cBhvr>
                                    </p:animEffect>
                                    <p:anim calcmode="lin" valueType="num">
                                      <p:cBhvr additive="base">
                                        <p:cTn id="12" dur="400" fill="hold"/>
                                        <p:tgtEl>
                                          <p:spTgt spid="6"/>
                                        </p:tgtEl>
                                        <p:attrNameLst>
                                          <p:attrName>ppt_x</p:attrName>
                                        </p:attrNameLst>
                                      </p:cBhvr>
                                      <p:tavLst>
                                        <p:tav tm="0">
                                          <p:val>
                                            <p:strVal val="#ppt_x"/>
                                          </p:val>
                                        </p:tav>
                                        <p:tav tm="100000">
                                          <p:val>
                                            <p:strVal val="#ppt_x"/>
                                          </p:val>
                                        </p:tav>
                                      </p:tavLst>
                                    </p:anim>
                                    <p:anim calcmode="lin" valueType="num">
                                      <p:cBhvr additive="base">
                                        <p:cTn id="13" dur="400" fill="hold"/>
                                        <p:tgtEl>
                                          <p:spTgt spid="6"/>
                                        </p:tgtEl>
                                        <p:attrNameLst>
                                          <p:attrName>ppt_y</p:attrName>
                                        </p:attrNameLst>
                                      </p:cBhvr>
                                      <p:tavLst>
                                        <p:tav tm="0">
                                          <p:val>
                                            <p:strVal val="#ppt_y+.1"/>
                                          </p:val>
                                        </p:tav>
                                        <p:tav tm="100000">
                                          <p:val>
                                            <p:strVal val="#ppt_y"/>
                                          </p:val>
                                        </p:tav>
                                      </p:tavLst>
                                    </p:anim>
                                  </p:childTnLst>
                                </p:cTn>
                              </p:par>
                              <p:par>
                                <p:cTn id="19" presetID="42"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anim calcmode="lin" valueType="num">
                                      <p:cBhvr additive="base">
                                        <p:cTn id="17" dur="400" fill="hold"/>
                                        <p:tgtEl>
                                          <p:spTgt spid="7"/>
                                        </p:tgtEl>
                                        <p:attrNameLst>
                                          <p:attrName>ppt_x</p:attrName>
                                        </p:attrNameLst>
                                      </p:cBhvr>
                                      <p:tavLst>
                                        <p:tav tm="0">
                                          <p:val>
                                            <p:strVal val="#ppt_x"/>
                                          </p:val>
                                        </p:tav>
                                        <p:tav tm="100000">
                                          <p:val>
                                            <p:strVal val="#ppt_x"/>
                                          </p:val>
                                        </p:tav>
                                      </p:tavLst>
                                    </p:anim>
                                    <p:anim calcmode="lin" valueType="num">
                                      <p:cBhvr additive="base">
                                        <p:cTn id="18" dur="400" fill="hold"/>
                                        <p:tgtEl>
                                          <p:spTgt spid="7"/>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400"/>
                                        <p:tgtEl>
                                          <p:spTgt spid="8"/>
                                        </p:tgtEl>
                                      </p:cBhvr>
                                    </p:animEffect>
                                    <p:anim calcmode="lin" valueType="num">
                                      <p:cBhvr additive="base">
                                        <p:cTn id="22" dur="400" fill="hold"/>
                                        <p:tgtEl>
                                          <p:spTgt spid="8"/>
                                        </p:tgtEl>
                                        <p:attrNameLst>
                                          <p:attrName>ppt_x</p:attrName>
                                        </p:attrNameLst>
                                      </p:cBhvr>
                                      <p:tavLst>
                                        <p:tav tm="0">
                                          <p:val>
                                            <p:strVal val="#ppt_x"/>
                                          </p:val>
                                        </p:tav>
                                        <p:tav tm="100000">
                                          <p:val>
                                            <p:strVal val="#ppt_x"/>
                                          </p:val>
                                        </p:tav>
                                      </p:tavLst>
                                    </p:anim>
                                    <p:anim calcmode="lin" valueType="num">
                                      <p:cBhvr additive="base">
                                        <p:cTn id="23" dur="400" fill="hold"/>
                                        <p:tgtEl>
                                          <p:spTgt spid="8"/>
                                        </p:tgtEl>
                                        <p:attrNameLst>
                                          <p:attrName>ppt_y</p:attrName>
                                        </p:attrNameLst>
                                      </p:cBhvr>
                                      <p:tavLst>
                                        <p:tav tm="0">
                                          <p:val>
                                            <p:strVal val="#ppt_y+.1"/>
                                          </p:val>
                                        </p:tav>
                                        <p:tav tm="100000">
                                          <p:val>
                                            <p:strVal val="#ppt_y"/>
                                          </p:val>
                                        </p:tav>
                                      </p:tavLst>
                                    </p:anim>
                                  </p:childTnLst>
                                </p:cTn>
                              </p:par>
                            </p:childTnLst>
                          </p:cTn>
                        </p:par>
                        <p:par>
                          <p:cTn id="25" fill="hold">
                            <p:stCondLst>
                              <p:cond delay="400"/>
                            </p:stCondLst>
                            <p:childTnLst>
                              <p:par>
                                <p:cTn id="30" presetID="42" presetClass="entr" presetSubtype="0" fill="hold" grpId="0" nodeType="after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400"/>
                                        <p:tgtEl>
                                          <p:spTgt spid="9"/>
                                        </p:tgtEl>
                                      </p:cBhvr>
                                    </p:animEffect>
                                    <p:anim calcmode="lin" valueType="num">
                                      <p:cBhvr additive="base">
                                        <p:cTn id="28" dur="400" fill="hold"/>
                                        <p:tgtEl>
                                          <p:spTgt spid="9"/>
                                        </p:tgtEl>
                                        <p:attrNameLst>
                                          <p:attrName>ppt_x</p:attrName>
                                        </p:attrNameLst>
                                      </p:cBhvr>
                                      <p:tavLst>
                                        <p:tav tm="0">
                                          <p:val>
                                            <p:strVal val="#ppt_x"/>
                                          </p:val>
                                        </p:tav>
                                        <p:tav tm="100000">
                                          <p:val>
                                            <p:strVal val="#ppt_x"/>
                                          </p:val>
                                        </p:tav>
                                      </p:tavLst>
                                    </p:anim>
                                    <p:anim calcmode="lin" valueType="num">
                                      <p:cBhvr additive="base">
                                        <p:cTn id="29" dur="400" fill="hold"/>
                                        <p:tgtEl>
                                          <p:spTgt spid="9"/>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400"/>
                                        <p:tgtEl>
                                          <p:spTgt spid="10"/>
                                        </p:tgtEl>
                                      </p:cBhvr>
                                    </p:animEffect>
                                    <p:anim calcmode="lin" valueType="num">
                                      <p:cBhvr additive="base">
                                        <p:cTn id="33" dur="400" fill="hold"/>
                                        <p:tgtEl>
                                          <p:spTgt spid="10"/>
                                        </p:tgtEl>
                                        <p:attrNameLst>
                                          <p:attrName>ppt_x</p:attrName>
                                        </p:attrNameLst>
                                      </p:cBhvr>
                                      <p:tavLst>
                                        <p:tav tm="0">
                                          <p:val>
                                            <p:strVal val="#ppt_x"/>
                                          </p:val>
                                        </p:tav>
                                        <p:tav tm="100000">
                                          <p:val>
                                            <p:strVal val="#ppt_x"/>
                                          </p:val>
                                        </p:tav>
                                      </p:tavLst>
                                    </p:anim>
                                    <p:anim calcmode="lin" valueType="num">
                                      <p:cBhvr additive="base">
                                        <p:cTn id="34" dur="400" fill="hold"/>
                                        <p:tgtEl>
                                          <p:spTgt spid="10"/>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400"/>
                                        <p:tgtEl>
                                          <p:spTgt spid="11"/>
                                        </p:tgtEl>
                                      </p:cBhvr>
                                    </p:animEffect>
                                    <p:anim calcmode="lin" valueType="num">
                                      <p:cBhvr additive="base">
                                        <p:cTn id="38" dur="400" fill="hold"/>
                                        <p:tgtEl>
                                          <p:spTgt spid="11"/>
                                        </p:tgtEl>
                                        <p:attrNameLst>
                                          <p:attrName>ppt_x</p:attrName>
                                        </p:attrNameLst>
                                      </p:cBhvr>
                                      <p:tavLst>
                                        <p:tav tm="0">
                                          <p:val>
                                            <p:strVal val="#ppt_x"/>
                                          </p:val>
                                        </p:tav>
                                        <p:tav tm="100000">
                                          <p:val>
                                            <p:strVal val="#ppt_x"/>
                                          </p:val>
                                        </p:tav>
                                      </p:tavLst>
                                    </p:anim>
                                    <p:anim calcmode="lin" valueType="num">
                                      <p:cBhvr additive="base">
                                        <p:cTn id="39" dur="400" fill="hold"/>
                                        <p:tgtEl>
                                          <p:spTgt spid="11"/>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400"/>
                                        <p:tgtEl>
                                          <p:spTgt spid="12"/>
                                        </p:tgtEl>
                                      </p:cBhvr>
                                    </p:animEffect>
                                    <p:anim calcmode="lin" valueType="num">
                                      <p:cBhvr additive="base">
                                        <p:cTn id="43" dur="400" fill="hold"/>
                                        <p:tgtEl>
                                          <p:spTgt spid="12"/>
                                        </p:tgtEl>
                                        <p:attrNameLst>
                                          <p:attrName>ppt_x</p:attrName>
                                        </p:attrNameLst>
                                      </p:cBhvr>
                                      <p:tavLst>
                                        <p:tav tm="0">
                                          <p:val>
                                            <p:strVal val="#ppt_x"/>
                                          </p:val>
                                        </p:tav>
                                        <p:tav tm="100000">
                                          <p:val>
                                            <p:strVal val="#ppt_x"/>
                                          </p:val>
                                        </p:tav>
                                      </p:tavLst>
                                    </p:anim>
                                    <p:anim calcmode="lin" valueType="num">
                                      <p:cBhvr additive="base">
                                        <p:cTn id="44" dur="400" fill="hold"/>
                                        <p:tgtEl>
                                          <p:spTgt spid="12"/>
                                        </p:tgtEl>
                                        <p:attrNameLst>
                                          <p:attrName>ppt_y</p:attrName>
                                        </p:attrNameLst>
                                      </p:cBhvr>
                                      <p:tavLst>
                                        <p:tav tm="0">
                                          <p:val>
                                            <p:strVal val="#ppt_y+.1"/>
                                          </p:val>
                                        </p:tav>
                                        <p:tav tm="100000">
                                          <p:val>
                                            <p:strVal val="#ppt_y"/>
                                          </p:val>
                                        </p:tav>
                                      </p:tavLst>
                                    </p:anim>
                                  </p:childTnLst>
                                </p:cTn>
                              </p:par>
                            </p:childTnLst>
                          </p:cTn>
                        </p:par>
                        <p:par>
                          <p:cTn id="46" fill="hold">
                            <p:stCondLst>
                              <p:cond delay="800"/>
                            </p:stCondLst>
                            <p:childTnLst>
                              <p:par>
                                <p:cTn id="51" presetID="42" presetClass="entr" presetSubtype="0" fill="hold" grpId="0" nodeType="after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400"/>
                                        <p:tgtEl>
                                          <p:spTgt spid="13"/>
                                        </p:tgtEl>
                                      </p:cBhvr>
                                    </p:animEffect>
                                    <p:anim calcmode="lin" valueType="num">
                                      <p:cBhvr additive="base">
                                        <p:cTn id="49" dur="400" fill="hold"/>
                                        <p:tgtEl>
                                          <p:spTgt spid="13"/>
                                        </p:tgtEl>
                                        <p:attrNameLst>
                                          <p:attrName>ppt_x</p:attrName>
                                        </p:attrNameLst>
                                      </p:cBhvr>
                                      <p:tavLst>
                                        <p:tav tm="0">
                                          <p:val>
                                            <p:strVal val="#ppt_x"/>
                                          </p:val>
                                        </p:tav>
                                        <p:tav tm="100000">
                                          <p:val>
                                            <p:strVal val="#ppt_x"/>
                                          </p:val>
                                        </p:tav>
                                      </p:tavLst>
                                    </p:anim>
                                    <p:anim calcmode="lin" valueType="num">
                                      <p:cBhvr additive="base">
                                        <p:cTn id="50" dur="400" fill="hold"/>
                                        <p:tgtEl>
                                          <p:spTgt spid="13"/>
                                        </p:tgtEl>
                                        <p:attrNameLst>
                                          <p:attrName>ppt_y</p:attrName>
                                        </p:attrNameLst>
                                      </p:cBhvr>
                                      <p:tavLst>
                                        <p:tav tm="0">
                                          <p:val>
                                            <p:strVal val="#ppt_y+.1"/>
                                          </p:val>
                                        </p:tav>
                                        <p:tav tm="100000">
                                          <p:val>
                                            <p:strVal val="#ppt_y"/>
                                          </p:val>
                                        </p:tav>
                                      </p:tavLst>
                                    </p:anim>
                                  </p:childTnLst>
                                </p:cTn>
                              </p:par>
                              <p:par>
                                <p:cTn id="56" presetID="42" presetClass="entr" presetSubtype="0" fill="hold" grpId="0" nodeType="withEffect">
                                  <p:stCondLst>
                                    <p:cond delay="0"/>
                                  </p:stCondLst>
                                  <p:childTnLst>
                                    <p:set>
                                      <p:cBhvr>
                                        <p:cTn id="52" dur="1" fill="hold">
                                          <p:stCondLst>
                                            <p:cond delay="0"/>
                                          </p:stCondLst>
                                        </p:cTn>
                                        <p:tgtEl>
                                          <p:spTgt spid="14"/>
                                        </p:tgtEl>
                                        <p:attrNameLst>
                                          <p:attrName>style.visibility</p:attrName>
                                        </p:attrNameLst>
                                      </p:cBhvr>
                                      <p:to>
                                        <p:strVal val="visible"/>
                                      </p:to>
                                    </p:set>
                                    <p:animEffect transition="in" filter="fade">
                                      <p:cBhvr>
                                        <p:cTn id="53" dur="400"/>
                                        <p:tgtEl>
                                          <p:spTgt spid="14"/>
                                        </p:tgtEl>
                                      </p:cBhvr>
                                    </p:animEffect>
                                    <p:anim calcmode="lin" valueType="num">
                                      <p:cBhvr additive="base">
                                        <p:cTn id="54" dur="400" fill="hold"/>
                                        <p:tgtEl>
                                          <p:spTgt spid="14"/>
                                        </p:tgtEl>
                                        <p:attrNameLst>
                                          <p:attrName>ppt_x</p:attrName>
                                        </p:attrNameLst>
                                      </p:cBhvr>
                                      <p:tavLst>
                                        <p:tav tm="0">
                                          <p:val>
                                            <p:strVal val="#ppt_x"/>
                                          </p:val>
                                        </p:tav>
                                        <p:tav tm="100000">
                                          <p:val>
                                            <p:strVal val="#ppt_x"/>
                                          </p:val>
                                        </p:tav>
                                      </p:tavLst>
                                    </p:anim>
                                    <p:anim calcmode="lin" valueType="num">
                                      <p:cBhvr additive="base">
                                        <p:cTn id="55" dur="400" fill="hold"/>
                                        <p:tgtEl>
                                          <p:spTgt spid="14"/>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400"/>
                                        <p:tgtEl>
                                          <p:spTgt spid="15"/>
                                        </p:tgtEl>
                                      </p:cBhvr>
                                    </p:animEffect>
                                    <p:anim calcmode="lin" valueType="num">
                                      <p:cBhvr additive="base">
                                        <p:cTn id="59" dur="400" fill="hold"/>
                                        <p:tgtEl>
                                          <p:spTgt spid="15"/>
                                        </p:tgtEl>
                                        <p:attrNameLst>
                                          <p:attrName>ppt_x</p:attrName>
                                        </p:attrNameLst>
                                      </p:cBhvr>
                                      <p:tavLst>
                                        <p:tav tm="0">
                                          <p:val>
                                            <p:strVal val="#ppt_x"/>
                                          </p:val>
                                        </p:tav>
                                        <p:tav tm="100000">
                                          <p:val>
                                            <p:strVal val="#ppt_x"/>
                                          </p:val>
                                        </p:tav>
                                      </p:tavLst>
                                    </p:anim>
                                    <p:anim calcmode="lin" valueType="num">
                                      <p:cBhvr additive="base">
                                        <p:cTn id="60" dur="400" fill="hold"/>
                                        <p:tgtEl>
                                          <p:spTgt spid="15"/>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400"/>
                                        <p:tgtEl>
                                          <p:spTgt spid="16"/>
                                        </p:tgtEl>
                                      </p:cBhvr>
                                    </p:animEffect>
                                    <p:anim calcmode="lin" valueType="num">
                                      <p:cBhvr additive="base">
                                        <p:cTn id="64" dur="400" fill="hold"/>
                                        <p:tgtEl>
                                          <p:spTgt spid="16"/>
                                        </p:tgtEl>
                                        <p:attrNameLst>
                                          <p:attrName>ppt_x</p:attrName>
                                        </p:attrNameLst>
                                      </p:cBhvr>
                                      <p:tavLst>
                                        <p:tav tm="0">
                                          <p:val>
                                            <p:strVal val="#ppt_x"/>
                                          </p:val>
                                        </p:tav>
                                        <p:tav tm="100000">
                                          <p:val>
                                            <p:strVal val="#ppt_x"/>
                                          </p:val>
                                        </p:tav>
                                      </p:tavLst>
                                    </p:anim>
                                    <p:anim calcmode="lin" valueType="num">
                                      <p:cBhvr additive="base">
                                        <p:cTn id="65" dur="400" fill="hold"/>
                                        <p:tgtEl>
                                          <p:spTgt spid="16"/>
                                        </p:tgtEl>
                                        <p:attrNameLst>
                                          <p:attrName>ppt_y</p:attrName>
                                        </p:attrNameLst>
                                      </p:cBhvr>
                                      <p:tavLst>
                                        <p:tav tm="0">
                                          <p:val>
                                            <p:strVal val="#ppt_y+.1"/>
                                          </p:val>
                                        </p:tav>
                                        <p:tav tm="100000">
                                          <p:val>
                                            <p:strVal val="#ppt_y"/>
                                          </p:val>
                                        </p:tav>
                                      </p:tavLst>
                                    </p:anim>
                                  </p:childTnLst>
                                </p:cTn>
                              </p:par>
                            </p:childTnLst>
                          </p:cTn>
                        </p:par>
                        <p:par>
                          <p:cTn id="67" fill="hold">
                            <p:stCondLst>
                              <p:cond delay="1200"/>
                            </p:stCondLst>
                            <p:childTnLst>
                              <p:par>
                                <p:cTn id="72" presetID="42" presetClass="entr" presetSubtype="0" fill="hold" grpId="0" nodeType="afterEffect">
                                  <p:stCondLst>
                                    <p:cond delay="0"/>
                                  </p:stCondLst>
                                  <p:childTnLst>
                                    <p:set>
                                      <p:cBhvr>
                                        <p:cTn id="68" dur="1" fill="hold">
                                          <p:stCondLst>
                                            <p:cond delay="0"/>
                                          </p:stCondLst>
                                        </p:cTn>
                                        <p:tgtEl>
                                          <p:spTgt spid="17"/>
                                        </p:tgtEl>
                                        <p:attrNameLst>
                                          <p:attrName>style.visibility</p:attrName>
                                        </p:attrNameLst>
                                      </p:cBhvr>
                                      <p:to>
                                        <p:strVal val="visible"/>
                                      </p:to>
                                    </p:set>
                                    <p:animEffect transition="in" filter="fade">
                                      <p:cBhvr>
                                        <p:cTn id="69" dur="400"/>
                                        <p:tgtEl>
                                          <p:spTgt spid="17"/>
                                        </p:tgtEl>
                                      </p:cBhvr>
                                    </p:animEffect>
                                    <p:anim calcmode="lin" valueType="num">
                                      <p:cBhvr additive="base">
                                        <p:cTn id="70" dur="400" fill="hold"/>
                                        <p:tgtEl>
                                          <p:spTgt spid="17"/>
                                        </p:tgtEl>
                                        <p:attrNameLst>
                                          <p:attrName>ppt_x</p:attrName>
                                        </p:attrNameLst>
                                      </p:cBhvr>
                                      <p:tavLst>
                                        <p:tav tm="0">
                                          <p:val>
                                            <p:strVal val="#ppt_x"/>
                                          </p:val>
                                        </p:tav>
                                        <p:tav tm="100000">
                                          <p:val>
                                            <p:strVal val="#ppt_x"/>
                                          </p:val>
                                        </p:tav>
                                      </p:tavLst>
                                    </p:anim>
                                    <p:anim calcmode="lin" valueType="num">
                                      <p:cBhvr additive="base">
                                        <p:cTn id="71" dur="400" fill="hold"/>
                                        <p:tgtEl>
                                          <p:spTgt spid="17"/>
                                        </p:tgtEl>
                                        <p:attrNameLst>
                                          <p:attrName>ppt_y</p:attrName>
                                        </p:attrNameLst>
                                      </p:cBhvr>
                                      <p:tavLst>
                                        <p:tav tm="0">
                                          <p:val>
                                            <p:strVal val="#ppt_y+.1"/>
                                          </p:val>
                                        </p:tav>
                                        <p:tav tm="100000">
                                          <p:val>
                                            <p:strVal val="#ppt_y"/>
                                          </p:val>
                                        </p:tav>
                                      </p:tavLst>
                                    </p:anim>
                                  </p:childTnLst>
                                </p:cTn>
                              </p:par>
                              <p:par>
                                <p:cTn id="77" presetID="42" presetClass="entr" presetSubtype="0" fill="hold" grpId="0" nodeType="withEffect">
                                  <p:stCondLst>
                                    <p:cond delay="0"/>
                                  </p:stCondLst>
                                  <p:childTnLst>
                                    <p:set>
                                      <p:cBhvr>
                                        <p:cTn id="73" dur="1" fill="hold">
                                          <p:stCondLst>
                                            <p:cond delay="0"/>
                                          </p:stCondLst>
                                        </p:cTn>
                                        <p:tgtEl>
                                          <p:spTgt spid="18"/>
                                        </p:tgtEl>
                                        <p:attrNameLst>
                                          <p:attrName>style.visibility</p:attrName>
                                        </p:attrNameLst>
                                      </p:cBhvr>
                                      <p:to>
                                        <p:strVal val="visible"/>
                                      </p:to>
                                    </p:set>
                                    <p:animEffect transition="in" filter="fade">
                                      <p:cBhvr>
                                        <p:cTn id="74" dur="400"/>
                                        <p:tgtEl>
                                          <p:spTgt spid="18"/>
                                        </p:tgtEl>
                                      </p:cBhvr>
                                    </p:animEffect>
                                    <p:anim calcmode="lin" valueType="num">
                                      <p:cBhvr additive="base">
                                        <p:cTn id="75" dur="400" fill="hold"/>
                                        <p:tgtEl>
                                          <p:spTgt spid="18"/>
                                        </p:tgtEl>
                                        <p:attrNameLst>
                                          <p:attrName>ppt_x</p:attrName>
                                        </p:attrNameLst>
                                      </p:cBhvr>
                                      <p:tavLst>
                                        <p:tav tm="0">
                                          <p:val>
                                            <p:strVal val="#ppt_x"/>
                                          </p:val>
                                        </p:tav>
                                        <p:tav tm="100000">
                                          <p:val>
                                            <p:strVal val="#ppt_x"/>
                                          </p:val>
                                        </p:tav>
                                      </p:tavLst>
                                    </p:anim>
                                    <p:anim calcmode="lin" valueType="num">
                                      <p:cBhvr additive="base">
                                        <p:cTn id="76" dur="400" fill="hold"/>
                                        <p:tgtEl>
                                          <p:spTgt spid="18"/>
                                        </p:tgtEl>
                                        <p:attrNameLst>
                                          <p:attrName>ppt_y</p:attrName>
                                        </p:attrNameLst>
                                      </p:cBhvr>
                                      <p:tavLst>
                                        <p:tav tm="0">
                                          <p:val>
                                            <p:strVal val="#ppt_y+.1"/>
                                          </p:val>
                                        </p:tav>
                                        <p:tav tm="100000">
                                          <p:val>
                                            <p:strVal val="#ppt_y"/>
                                          </p:val>
                                        </p:tav>
                                      </p:tavLst>
                                    </p:anim>
                                  </p:childTnLst>
                                </p:cTn>
                              </p:par>
                              <p:par>
                                <p:cTn id="82" presetID="42" presetClass="entr" presetSubtype="0" fill="hold" grpId="0" nodeType="withEffect">
                                  <p:stCondLst>
                                    <p:cond delay="0"/>
                                  </p:stCondLst>
                                  <p:childTnLst>
                                    <p:set>
                                      <p:cBhvr>
                                        <p:cTn id="78" dur="1" fill="hold">
                                          <p:stCondLst>
                                            <p:cond delay="0"/>
                                          </p:stCondLst>
                                        </p:cTn>
                                        <p:tgtEl>
                                          <p:spTgt spid="19"/>
                                        </p:tgtEl>
                                        <p:attrNameLst>
                                          <p:attrName>style.visibility</p:attrName>
                                        </p:attrNameLst>
                                      </p:cBhvr>
                                      <p:to>
                                        <p:strVal val="visible"/>
                                      </p:to>
                                    </p:set>
                                    <p:animEffect transition="in" filter="fade">
                                      <p:cBhvr>
                                        <p:cTn id="79" dur="400"/>
                                        <p:tgtEl>
                                          <p:spTgt spid="19"/>
                                        </p:tgtEl>
                                      </p:cBhvr>
                                    </p:animEffect>
                                    <p:anim calcmode="lin" valueType="num">
                                      <p:cBhvr additive="base">
                                        <p:cTn id="80" dur="400" fill="hold"/>
                                        <p:tgtEl>
                                          <p:spTgt spid="19"/>
                                        </p:tgtEl>
                                        <p:attrNameLst>
                                          <p:attrName>ppt_x</p:attrName>
                                        </p:attrNameLst>
                                      </p:cBhvr>
                                      <p:tavLst>
                                        <p:tav tm="0">
                                          <p:val>
                                            <p:strVal val="#ppt_x"/>
                                          </p:val>
                                        </p:tav>
                                        <p:tav tm="100000">
                                          <p:val>
                                            <p:strVal val="#ppt_x"/>
                                          </p:val>
                                        </p:tav>
                                      </p:tavLst>
                                    </p:anim>
                                    <p:anim calcmode="lin" valueType="num">
                                      <p:cBhvr additive="base">
                                        <p:cTn id="81" dur="400" fill="hold"/>
                                        <p:tgtEl>
                                          <p:spTgt spid="19"/>
                                        </p:tgtEl>
                                        <p:attrNameLst>
                                          <p:attrName>ppt_y</p:attrName>
                                        </p:attrNameLst>
                                      </p:cBhvr>
                                      <p:tavLst>
                                        <p:tav tm="0">
                                          <p:val>
                                            <p:strVal val="#ppt_y+.1"/>
                                          </p:val>
                                        </p:tav>
                                        <p:tav tm="100000">
                                          <p:val>
                                            <p:strVal val="#ppt_y"/>
                                          </p:val>
                                        </p:tav>
                                      </p:tavLst>
                                    </p:anim>
                                  </p:childTnLst>
                                </p:cTn>
                              </p:par>
                              <p:par>
                                <p:cTn id="87" presetID="42" presetClass="entr" presetSubtype="0" fill="hold" grpId="0" nodeType="withEffect">
                                  <p:stCondLst>
                                    <p:cond delay="0"/>
                                  </p:stCondLst>
                                  <p:childTnLst>
                                    <p:set>
                                      <p:cBhvr>
                                        <p:cTn id="83" dur="1" fill="hold">
                                          <p:stCondLst>
                                            <p:cond delay="0"/>
                                          </p:stCondLst>
                                        </p:cTn>
                                        <p:tgtEl>
                                          <p:spTgt spid="20"/>
                                        </p:tgtEl>
                                        <p:attrNameLst>
                                          <p:attrName>style.visibility</p:attrName>
                                        </p:attrNameLst>
                                      </p:cBhvr>
                                      <p:to>
                                        <p:strVal val="visible"/>
                                      </p:to>
                                    </p:set>
                                    <p:animEffect transition="in" filter="fade">
                                      <p:cBhvr>
                                        <p:cTn id="84" dur="400"/>
                                        <p:tgtEl>
                                          <p:spTgt spid="20"/>
                                        </p:tgtEl>
                                      </p:cBhvr>
                                    </p:animEffect>
                                    <p:anim calcmode="lin" valueType="num">
                                      <p:cBhvr additive="base">
                                        <p:cTn id="85" dur="400" fill="hold"/>
                                        <p:tgtEl>
                                          <p:spTgt spid="20"/>
                                        </p:tgtEl>
                                        <p:attrNameLst>
                                          <p:attrName>ppt_x</p:attrName>
                                        </p:attrNameLst>
                                      </p:cBhvr>
                                      <p:tavLst>
                                        <p:tav tm="0">
                                          <p:val>
                                            <p:strVal val="#ppt_x"/>
                                          </p:val>
                                        </p:tav>
                                        <p:tav tm="100000">
                                          <p:val>
                                            <p:strVal val="#ppt_x"/>
                                          </p:val>
                                        </p:tav>
                                      </p:tavLst>
                                    </p:anim>
                                    <p:anim calcmode="lin" valueType="num">
                                      <p:cBhvr additive="base">
                                        <p:cTn id="86" dur="400" fill="hold"/>
                                        <p:tgtEl>
                                          <p:spTgt spid="20"/>
                                        </p:tgtEl>
                                        <p:attrNameLst>
                                          <p:attrName>ppt_y</p:attrName>
                                        </p:attrNameLst>
                                      </p:cBhvr>
                                      <p:tavLst>
                                        <p:tav tm="0">
                                          <p:val>
                                            <p:strVal val="#ppt_y+.1"/>
                                          </p:val>
                                        </p:tav>
                                        <p:tav tm="100000">
                                          <p:val>
                                            <p:strVal val="#ppt_y"/>
                                          </p:val>
                                        </p:tav>
                                      </p:tavLst>
                                    </p:anim>
                                  </p:childTnLst>
                                </p:cTn>
                              </p:par>
                            </p:childTnLst>
                          </p:cTn>
                        </p:par>
                        <p:par>
                          <p:cTn id="88" fill="hold">
                            <p:stCondLst>
                              <p:cond delay="1600"/>
                            </p:stCondLst>
                            <p:childTnLst>
                              <p:par>
                                <p:cTn id="93" presetID="42" presetClass="entr" presetSubtype="0" fill="hold" grpId="0" nodeType="afterEffect">
                                  <p:stCondLst>
                                    <p:cond delay="0"/>
                                  </p:stCondLst>
                                  <p:childTnLst>
                                    <p:set>
                                      <p:cBhvr>
                                        <p:cTn id="89" dur="1" fill="hold">
                                          <p:stCondLst>
                                            <p:cond delay="0"/>
                                          </p:stCondLst>
                                        </p:cTn>
                                        <p:tgtEl>
                                          <p:spTgt spid="21"/>
                                        </p:tgtEl>
                                        <p:attrNameLst>
                                          <p:attrName>style.visibility</p:attrName>
                                        </p:attrNameLst>
                                      </p:cBhvr>
                                      <p:to>
                                        <p:strVal val="visible"/>
                                      </p:to>
                                    </p:set>
                                    <p:animEffect transition="in" filter="fade">
                                      <p:cBhvr>
                                        <p:cTn id="90" dur="400"/>
                                        <p:tgtEl>
                                          <p:spTgt spid="21"/>
                                        </p:tgtEl>
                                      </p:cBhvr>
                                    </p:animEffect>
                                    <p:anim calcmode="lin" valueType="num">
                                      <p:cBhvr additive="base">
                                        <p:cTn id="91" dur="400" fill="hold"/>
                                        <p:tgtEl>
                                          <p:spTgt spid="21"/>
                                        </p:tgtEl>
                                        <p:attrNameLst>
                                          <p:attrName>ppt_x</p:attrName>
                                        </p:attrNameLst>
                                      </p:cBhvr>
                                      <p:tavLst>
                                        <p:tav tm="0">
                                          <p:val>
                                            <p:strVal val="#ppt_x"/>
                                          </p:val>
                                        </p:tav>
                                        <p:tav tm="100000">
                                          <p:val>
                                            <p:strVal val="#ppt_x"/>
                                          </p:val>
                                        </p:tav>
                                      </p:tavLst>
                                    </p:anim>
                                    <p:anim calcmode="lin" valueType="num">
                                      <p:cBhvr additive="base">
                                        <p:cTn id="92" dur="400" fill="hold"/>
                                        <p:tgtEl>
                                          <p:spTgt spid="21"/>
                                        </p:tgtEl>
                                        <p:attrNameLst>
                                          <p:attrName>ppt_y</p:attrName>
                                        </p:attrNameLst>
                                      </p:cBhvr>
                                      <p:tavLst>
                                        <p:tav tm="0">
                                          <p:val>
                                            <p:strVal val="#ppt_y+.1"/>
                                          </p:val>
                                        </p:tav>
                                        <p:tav tm="100000">
                                          <p:val>
                                            <p:strVal val="#ppt_y"/>
                                          </p:val>
                                        </p:tav>
                                      </p:tavLst>
                                    </p:anim>
                                  </p:childTnLst>
                                </p:cTn>
                              </p:par>
                              <p:par>
                                <p:cTn id="98" presetID="42" presetClass="entr" presetSubtype="0" fill="hold" grpId="0" nodeType="withEffect">
                                  <p:stCondLst>
                                    <p:cond delay="0"/>
                                  </p:stCondLst>
                                  <p:childTnLst>
                                    <p:set>
                                      <p:cBhvr>
                                        <p:cTn id="94" dur="1" fill="hold">
                                          <p:stCondLst>
                                            <p:cond delay="0"/>
                                          </p:stCondLst>
                                        </p:cTn>
                                        <p:tgtEl>
                                          <p:spTgt spid="22"/>
                                        </p:tgtEl>
                                        <p:attrNameLst>
                                          <p:attrName>style.visibility</p:attrName>
                                        </p:attrNameLst>
                                      </p:cBhvr>
                                      <p:to>
                                        <p:strVal val="visible"/>
                                      </p:to>
                                    </p:set>
                                    <p:animEffect transition="in" filter="fade">
                                      <p:cBhvr>
                                        <p:cTn id="95" dur="400"/>
                                        <p:tgtEl>
                                          <p:spTgt spid="22"/>
                                        </p:tgtEl>
                                      </p:cBhvr>
                                    </p:animEffect>
                                    <p:anim calcmode="lin" valueType="num">
                                      <p:cBhvr additive="base">
                                        <p:cTn id="96" dur="400" fill="hold"/>
                                        <p:tgtEl>
                                          <p:spTgt spid="22"/>
                                        </p:tgtEl>
                                        <p:attrNameLst>
                                          <p:attrName>ppt_x</p:attrName>
                                        </p:attrNameLst>
                                      </p:cBhvr>
                                      <p:tavLst>
                                        <p:tav tm="0">
                                          <p:val>
                                            <p:strVal val="#ppt_x"/>
                                          </p:val>
                                        </p:tav>
                                        <p:tav tm="100000">
                                          <p:val>
                                            <p:strVal val="#ppt_x"/>
                                          </p:val>
                                        </p:tav>
                                      </p:tavLst>
                                    </p:anim>
                                    <p:anim calcmode="lin" valueType="num">
                                      <p:cBhvr additive="base">
                                        <p:cTn id="97" dur="400" fill="hold"/>
                                        <p:tgtEl>
                                          <p:spTgt spid="22"/>
                                        </p:tgtEl>
                                        <p:attrNameLst>
                                          <p:attrName>ppt_y</p:attrName>
                                        </p:attrNameLst>
                                      </p:cBhvr>
                                      <p:tavLst>
                                        <p:tav tm="0">
                                          <p:val>
                                            <p:strVal val="#ppt_y+.1"/>
                                          </p:val>
                                        </p:tav>
                                        <p:tav tm="100000">
                                          <p:val>
                                            <p:strVal val="#ppt_y"/>
                                          </p:val>
                                        </p:tav>
                                      </p:tavLst>
                                    </p:anim>
                                  </p:childTnLst>
                                </p:cTn>
                              </p:par>
                              <p:par>
                                <p:cTn id="103" presetID="42" presetClass="entr" presetSubtype="0" fill="hold" grpId="0" nodeType="withEffect">
                                  <p:stCondLst>
                                    <p:cond delay="0"/>
                                  </p:stCondLst>
                                  <p:childTnLst>
                                    <p:set>
                                      <p:cBhvr>
                                        <p:cTn id="99" dur="1" fill="hold">
                                          <p:stCondLst>
                                            <p:cond delay="0"/>
                                          </p:stCondLst>
                                        </p:cTn>
                                        <p:tgtEl>
                                          <p:spTgt spid="23"/>
                                        </p:tgtEl>
                                        <p:attrNameLst>
                                          <p:attrName>style.visibility</p:attrName>
                                        </p:attrNameLst>
                                      </p:cBhvr>
                                      <p:to>
                                        <p:strVal val="visible"/>
                                      </p:to>
                                    </p:set>
                                    <p:animEffect transition="in" filter="fade">
                                      <p:cBhvr>
                                        <p:cTn id="100" dur="400"/>
                                        <p:tgtEl>
                                          <p:spTgt spid="23"/>
                                        </p:tgtEl>
                                      </p:cBhvr>
                                    </p:animEffect>
                                    <p:anim calcmode="lin" valueType="num">
                                      <p:cBhvr additive="base">
                                        <p:cTn id="101" dur="400" fill="hold"/>
                                        <p:tgtEl>
                                          <p:spTgt spid="23"/>
                                        </p:tgtEl>
                                        <p:attrNameLst>
                                          <p:attrName>ppt_x</p:attrName>
                                        </p:attrNameLst>
                                      </p:cBhvr>
                                      <p:tavLst>
                                        <p:tav tm="0">
                                          <p:val>
                                            <p:strVal val="#ppt_x"/>
                                          </p:val>
                                        </p:tav>
                                        <p:tav tm="100000">
                                          <p:val>
                                            <p:strVal val="#ppt_x"/>
                                          </p:val>
                                        </p:tav>
                                      </p:tavLst>
                                    </p:anim>
                                    <p:anim calcmode="lin" valueType="num">
                                      <p:cBhvr additive="base">
                                        <p:cTn id="102" dur="400" fill="hold"/>
                                        <p:tgtEl>
                                          <p:spTgt spid="23"/>
                                        </p:tgtEl>
                                        <p:attrNameLst>
                                          <p:attrName>ppt_y</p:attrName>
                                        </p:attrNameLst>
                                      </p:cBhvr>
                                      <p:tavLst>
                                        <p:tav tm="0">
                                          <p:val>
                                            <p:strVal val="#ppt_y+.1"/>
                                          </p:val>
                                        </p:tav>
                                        <p:tav tm="100000">
                                          <p:val>
                                            <p:strVal val="#ppt_y"/>
                                          </p:val>
                                        </p:tav>
                                      </p:tavLst>
                                    </p:anim>
                                  </p:childTnLst>
                                </p:cTn>
                              </p:par>
                              <p:par>
                                <p:cTn id="108" presetID="42" presetClass="entr" presetSubtype="0" fill="hold" grpId="0" nodeType="withEffect">
                                  <p:stCondLst>
                                    <p:cond delay="0"/>
                                  </p:stCondLst>
                                  <p:childTnLst>
                                    <p:set>
                                      <p:cBhvr>
                                        <p:cTn id="104" dur="1" fill="hold">
                                          <p:stCondLst>
                                            <p:cond delay="0"/>
                                          </p:stCondLst>
                                        </p:cTn>
                                        <p:tgtEl>
                                          <p:spTgt spid="24"/>
                                        </p:tgtEl>
                                        <p:attrNameLst>
                                          <p:attrName>style.visibility</p:attrName>
                                        </p:attrNameLst>
                                      </p:cBhvr>
                                      <p:to>
                                        <p:strVal val="visible"/>
                                      </p:to>
                                    </p:set>
                                    <p:animEffect transition="in" filter="fade">
                                      <p:cBhvr>
                                        <p:cTn id="105" dur="400"/>
                                        <p:tgtEl>
                                          <p:spTgt spid="24"/>
                                        </p:tgtEl>
                                      </p:cBhvr>
                                    </p:animEffect>
                                    <p:anim calcmode="lin" valueType="num">
                                      <p:cBhvr additive="base">
                                        <p:cTn id="106" dur="400" fill="hold"/>
                                        <p:tgtEl>
                                          <p:spTgt spid="24"/>
                                        </p:tgtEl>
                                        <p:attrNameLst>
                                          <p:attrName>ppt_x</p:attrName>
                                        </p:attrNameLst>
                                      </p:cBhvr>
                                      <p:tavLst>
                                        <p:tav tm="0">
                                          <p:val>
                                            <p:strVal val="#ppt_x"/>
                                          </p:val>
                                        </p:tav>
                                        <p:tav tm="100000">
                                          <p:val>
                                            <p:strVal val="#ppt_x"/>
                                          </p:val>
                                        </p:tav>
                                      </p:tavLst>
                                    </p:anim>
                                    <p:anim calcmode="lin" valueType="num">
                                      <p:cBhvr additive="base">
                                        <p:cTn id="107" dur="4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686800" cy="320040"/>
          </a:xfrm>
          <a:prstGeom prst="rect">
            <a:avLst/>
          </a:prstGeom>
          <a:noFill/>
          <a:ln/>
        </p:spPr>
        <p:txBody>
          <a:bodyPr wrap="square" lIns="0" tIns="0" rIns="0" bIns="0" rtlCol="0" anchor="t"/>
          <a:lstStyle/>
          <a:p>
            <a:pPr indent="0" marL="0">
              <a:buNone/>
            </a:pPr>
            <a:r>
              <a:rPr lang="en-US" sz="1300" b="1" spc="200" kern="0" dirty="0">
                <a:solidFill>
                  <a:schemeClr val="accent1"/>
                </a:solidFill>
              </a:rPr>
              <a:t>THE PROBLEM</a:t>
            </a:r>
            <a:endParaRPr lang="en-US" sz="1300" dirty="0"/>
          </a:p>
        </p:txBody>
      </p:sp>
      <p:sp>
        <p:nvSpPr>
          <p:cNvPr id="3" name="Text 0"/>
          <p:cNvSpPr/>
          <p:nvPr>
            <p:ph idx="101" type="title" hasCustomPrompt="1"/>
          </p:nvPr>
        </p:nvSpPr>
        <p:spPr>
          <a:xfrm>
            <a:off x="548640" y="713232"/>
            <a:ext cx="11091672" cy="822960"/>
          </a:xfrm>
          <a:prstGeom prst="rect">
            <a:avLst/>
          </a:prstGeom>
          <a:noFill/>
          <a:ln/>
        </p:spPr>
        <p:txBody>
          <a:bodyPr wrap="square" lIns="0" tIns="0" rIns="0" bIns="0" rtlCol="0" anchor="t"/>
          <a:lstStyle/>
          <a:p>
            <a:pPr indent="0" marL="0">
              <a:buNone/>
            </a:pPr>
            <a:r>
              <a:rPr lang="en-US" sz="3200" b="1" dirty="0">
                <a:solidFill>
                  <a:schemeClr val="tx1"/>
                </a:solidFill>
              </a:rPr>
              <a:t>Cloud teams have no single, live view of their servers</a:t>
            </a:r>
            <a:endParaRPr lang="en-US" sz="3200" dirty="0"/>
          </a:p>
        </p:txBody>
      </p:sp>
      <p:sp>
        <p:nvSpPr>
          <p:cNvPr id="4" name="nav-contents"/>
          <p:cNvSpPr txBox="1"/>
          <p:nvPr/>
        </p:nvSpPr>
        <p:spPr>
          <a:xfrm>
            <a:off x="10451592" y="365760"/>
            <a:ext cx="1188720" cy="292608"/>
          </a:xfrm>
          <a:prstGeom prst="rect">
            <a:avLst/>
          </a:prstGeom>
          <a:noFill/>
          <a:ln/>
        </p:spPr>
        <p:txBody>
          <a:bodyPr wrap="square" lIns="0" tIns="0" rIns="0" bIns="0" rtlCol="0" anchor="ctr"/>
          <a:lstStyle/>
          <a:p>
            <a:pPr algn="r" indent="0" marL="0">
              <a:buNone/>
            </a:pPr>
            <a:r>
              <a:rPr lang="en-US" sz="1100" u="sng" dirty="0">
                <a:solidFill>
                  <a:schemeClr val="accent1"/>
                </a:solidFill>
                <a:hlinkClick r:id="rId1" action="ppaction://hlinksldjump" tooltip="Back to contents">
                  <a:extLst>
                    <a:ext uri="{A12FA001-AC4F-418D-AE19-62706E023703}">
                      <ahyp:hlinkClr xmlns:ahyp="http://schemas.microsoft.com/office/drawing/2018/hyperlinkcolor" val="tx"/>
                    </a:ext>
                  </a:extLst>
                </a:hlinkClick>
              </a:rPr>
              <a:t>Contents ↩</a:t>
            </a:r>
            <a:endParaRPr lang="en-US" sz="1100" dirty="0"/>
          </a:p>
        </p:txBody>
      </p:sp>
      <p:sp>
        <p:nvSpPr>
          <p:cNvPr id="5" name="p1-box"/>
          <p:cNvSpPr/>
          <p:nvPr/>
        </p:nvSpPr>
        <p:spPr>
          <a:xfrm>
            <a:off x="548640" y="1783080"/>
            <a:ext cx="3514039" cy="2697480"/>
          </a:xfrm>
          <a:prstGeom prst="roundRect">
            <a:avLst>
              <a:gd name="adj" fmla="val 4068"/>
            </a:avLst>
          </a:prstGeom>
          <a:solidFill>
            <a:schemeClr val="bg1"/>
          </a:solidFill>
          <a:ln w="9525">
            <a:solidFill>
              <a:schemeClr val="accent5"/>
            </a:solidFill>
            <a:prstDash val="solid"/>
          </a:ln>
        </p:spPr>
      </p:sp>
      <p:pic>
        <p:nvPicPr>
          <p:cNvPr id="6" name="p1-icon" descr="preencoded.png">    </p:cNvPr>
          <p:cNvPicPr>
            <a:picLocks noChangeAspect="1"/>
          </p:cNvPicPr>
          <p:nvPr/>
        </p:nvPicPr>
        <p:blipFill>
          <a:blip r:embed="rId2"/>
          <a:stretch>
            <a:fillRect/>
          </a:stretch>
        </p:blipFill>
        <p:spPr>
          <a:xfrm>
            <a:off x="822960" y="2057400"/>
            <a:ext cx="457200" cy="457200"/>
          </a:xfrm>
          <a:prstGeom prst="rect">
            <a:avLst/>
          </a:prstGeom>
        </p:spPr>
      </p:pic>
      <p:sp>
        <p:nvSpPr>
          <p:cNvPr id="7" name="p1-t0"/>
          <p:cNvSpPr txBox="1"/>
          <p:nvPr/>
        </p:nvSpPr>
        <p:spPr>
          <a:xfrm>
            <a:off x="822960" y="2651760"/>
            <a:ext cx="2965399" cy="411480"/>
          </a:xfrm>
          <a:prstGeom prst="rect">
            <a:avLst/>
          </a:prstGeom>
          <a:noFill/>
          <a:ln/>
        </p:spPr>
        <p:txBody>
          <a:bodyPr wrap="square" lIns="0" tIns="0" rIns="0" bIns="0" rtlCol="0" anchor="t"/>
          <a:lstStyle/>
          <a:p>
            <a:pPr indent="0" marL="0">
              <a:lnSpc>
                <a:spcPct val="105000"/>
              </a:lnSpc>
              <a:buNone/>
            </a:pPr>
            <a:r>
              <a:rPr lang="en-US" sz="2000" b="1" dirty="0">
                <a:solidFill>
                  <a:schemeClr val="tx1"/>
                </a:solidFill>
              </a:rPr>
              <a:t>Many consoles</a:t>
            </a:r>
            <a:endParaRPr lang="en-US" sz="2000" dirty="0"/>
          </a:p>
        </p:txBody>
      </p:sp>
      <p:sp>
        <p:nvSpPr>
          <p:cNvPr id="8" name="p1-t1"/>
          <p:cNvSpPr txBox="1"/>
          <p:nvPr/>
        </p:nvSpPr>
        <p:spPr>
          <a:xfrm>
            <a:off x="822960" y="3136392"/>
            <a:ext cx="2965399" cy="1005840"/>
          </a:xfrm>
          <a:prstGeom prst="rect">
            <a:avLst/>
          </a:prstGeom>
          <a:noFill/>
          <a:ln/>
        </p:spPr>
        <p:txBody>
          <a:bodyPr wrap="square" lIns="0" tIns="0" rIns="0" bIns="0" rtlCol="0" anchor="t"/>
          <a:lstStyle/>
          <a:p>
            <a:pPr indent="0" marL="0">
              <a:lnSpc>
                <a:spcPct val="105000"/>
              </a:lnSpc>
              <a:buNone/>
            </a:pPr>
            <a:r>
              <a:rPr lang="en-US" sz="1500" dirty="0">
                <a:solidFill>
                  <a:schemeClr val="accent6"/>
                </a:solidFill>
              </a:rPr>
              <a:t>AWS, Azure and Google Cloud each have their own dashboard.</a:t>
            </a:r>
            <a:endParaRPr lang="en-US" sz="1500" dirty="0"/>
          </a:p>
        </p:txBody>
      </p:sp>
      <p:sp>
        <p:nvSpPr>
          <p:cNvPr id="9" name="p2-box"/>
          <p:cNvSpPr/>
          <p:nvPr/>
        </p:nvSpPr>
        <p:spPr>
          <a:xfrm>
            <a:off x="4336999" y="1783080"/>
            <a:ext cx="3514039" cy="2697480"/>
          </a:xfrm>
          <a:prstGeom prst="roundRect">
            <a:avLst>
              <a:gd name="adj" fmla="val 4068"/>
            </a:avLst>
          </a:prstGeom>
          <a:solidFill>
            <a:schemeClr val="bg1"/>
          </a:solidFill>
          <a:ln w="9525">
            <a:solidFill>
              <a:schemeClr val="accent5"/>
            </a:solidFill>
            <a:prstDash val="solid"/>
          </a:ln>
        </p:spPr>
      </p:sp>
      <p:pic>
        <p:nvPicPr>
          <p:cNvPr id="10" name="p2-icon" descr="preencoded.png">    </p:cNvPr>
          <p:cNvPicPr>
            <a:picLocks noChangeAspect="1"/>
          </p:cNvPicPr>
          <p:nvPr/>
        </p:nvPicPr>
        <p:blipFill>
          <a:blip r:embed="rId3"/>
          <a:stretch>
            <a:fillRect/>
          </a:stretch>
        </p:blipFill>
        <p:spPr>
          <a:xfrm>
            <a:off x="4611319" y="2057400"/>
            <a:ext cx="457200" cy="457200"/>
          </a:xfrm>
          <a:prstGeom prst="rect">
            <a:avLst/>
          </a:prstGeom>
        </p:spPr>
      </p:pic>
      <p:sp>
        <p:nvSpPr>
          <p:cNvPr id="11" name="p2-t0"/>
          <p:cNvSpPr txBox="1"/>
          <p:nvPr/>
        </p:nvSpPr>
        <p:spPr>
          <a:xfrm>
            <a:off x="4611319" y="2651760"/>
            <a:ext cx="2965399" cy="411480"/>
          </a:xfrm>
          <a:prstGeom prst="rect">
            <a:avLst/>
          </a:prstGeom>
          <a:noFill/>
          <a:ln/>
        </p:spPr>
        <p:txBody>
          <a:bodyPr wrap="square" lIns="0" tIns="0" rIns="0" bIns="0" rtlCol="0" anchor="t"/>
          <a:lstStyle/>
          <a:p>
            <a:pPr indent="0" marL="0">
              <a:lnSpc>
                <a:spcPct val="105000"/>
              </a:lnSpc>
              <a:buNone/>
            </a:pPr>
            <a:r>
              <a:rPr lang="en-US" sz="2000" b="1" dirty="0">
                <a:solidFill>
                  <a:schemeClr val="tx1"/>
                </a:solidFill>
              </a:rPr>
              <a:t>Found too late</a:t>
            </a:r>
            <a:endParaRPr lang="en-US" sz="2000" dirty="0"/>
          </a:p>
        </p:txBody>
      </p:sp>
      <p:sp>
        <p:nvSpPr>
          <p:cNvPr id="12" name="p2-t1"/>
          <p:cNvSpPr txBox="1"/>
          <p:nvPr/>
        </p:nvSpPr>
        <p:spPr>
          <a:xfrm>
            <a:off x="4611319" y="3136392"/>
            <a:ext cx="2965399" cy="1005840"/>
          </a:xfrm>
          <a:prstGeom prst="rect">
            <a:avLst/>
          </a:prstGeom>
          <a:noFill/>
          <a:ln/>
        </p:spPr>
        <p:txBody>
          <a:bodyPr wrap="square" lIns="0" tIns="0" rIns="0" bIns="0" rtlCol="0" anchor="t"/>
          <a:lstStyle/>
          <a:p>
            <a:pPr indent="0" marL="0">
              <a:lnSpc>
                <a:spcPct val="105000"/>
              </a:lnSpc>
              <a:buNone/>
            </a:pPr>
            <a:r>
              <a:rPr lang="en-US" sz="1500" dirty="0">
                <a:solidFill>
                  <a:schemeClr val="accent6"/>
                </a:solidFill>
              </a:rPr>
              <a:t>Pages are refreshed by hand, so failures are noticed after users complain.</a:t>
            </a:r>
            <a:endParaRPr lang="en-US" sz="1500" dirty="0"/>
          </a:p>
        </p:txBody>
      </p:sp>
      <p:sp>
        <p:nvSpPr>
          <p:cNvPr id="13" name="p3-box"/>
          <p:cNvSpPr/>
          <p:nvPr/>
        </p:nvSpPr>
        <p:spPr>
          <a:xfrm>
            <a:off x="8125358" y="1783080"/>
            <a:ext cx="3514039" cy="2697480"/>
          </a:xfrm>
          <a:prstGeom prst="roundRect">
            <a:avLst>
              <a:gd name="adj" fmla="val 4068"/>
            </a:avLst>
          </a:prstGeom>
          <a:solidFill>
            <a:schemeClr val="bg1"/>
          </a:solidFill>
          <a:ln w="9525">
            <a:solidFill>
              <a:schemeClr val="accent5"/>
            </a:solidFill>
            <a:prstDash val="solid"/>
          </a:ln>
        </p:spPr>
      </p:sp>
      <p:pic>
        <p:nvPicPr>
          <p:cNvPr id="14" name="p3-icon" descr="preencoded.png">    </p:cNvPr>
          <p:cNvPicPr>
            <a:picLocks noChangeAspect="1"/>
          </p:cNvPicPr>
          <p:nvPr/>
        </p:nvPicPr>
        <p:blipFill>
          <a:blip r:embed="rId4"/>
          <a:stretch>
            <a:fillRect/>
          </a:stretch>
        </p:blipFill>
        <p:spPr>
          <a:xfrm>
            <a:off x="8399678" y="2057400"/>
            <a:ext cx="457200" cy="457200"/>
          </a:xfrm>
          <a:prstGeom prst="rect">
            <a:avLst/>
          </a:prstGeom>
        </p:spPr>
      </p:pic>
      <p:sp>
        <p:nvSpPr>
          <p:cNvPr id="15" name="p3-t0"/>
          <p:cNvSpPr txBox="1"/>
          <p:nvPr/>
        </p:nvSpPr>
        <p:spPr>
          <a:xfrm>
            <a:off x="8399678" y="2651760"/>
            <a:ext cx="2965399" cy="411480"/>
          </a:xfrm>
          <a:prstGeom prst="rect">
            <a:avLst/>
          </a:prstGeom>
          <a:noFill/>
          <a:ln/>
        </p:spPr>
        <p:txBody>
          <a:bodyPr wrap="square" lIns="0" tIns="0" rIns="0" bIns="0" rtlCol="0" anchor="t"/>
          <a:lstStyle/>
          <a:p>
            <a:pPr indent="0" marL="0">
              <a:lnSpc>
                <a:spcPct val="105000"/>
              </a:lnSpc>
              <a:buNone/>
            </a:pPr>
            <a:r>
              <a:rPr lang="en-US" sz="2000" b="1" dirty="0">
                <a:solidFill>
                  <a:schemeClr val="tx1"/>
                </a:solidFill>
              </a:rPr>
              <a:t>Costs out of sight</a:t>
            </a:r>
            <a:endParaRPr lang="en-US" sz="2000" dirty="0"/>
          </a:p>
        </p:txBody>
      </p:sp>
      <p:sp>
        <p:nvSpPr>
          <p:cNvPr id="16" name="p3-t1"/>
          <p:cNvSpPr txBox="1"/>
          <p:nvPr/>
        </p:nvSpPr>
        <p:spPr>
          <a:xfrm>
            <a:off x="8399678" y="3136392"/>
            <a:ext cx="2965399" cy="1005840"/>
          </a:xfrm>
          <a:prstGeom prst="rect">
            <a:avLst/>
          </a:prstGeom>
          <a:noFill/>
          <a:ln/>
        </p:spPr>
        <p:txBody>
          <a:bodyPr wrap="square" lIns="0" tIns="0" rIns="0" bIns="0" rtlCol="0" anchor="t"/>
          <a:lstStyle/>
          <a:p>
            <a:pPr indent="0" marL="0">
              <a:lnSpc>
                <a:spcPct val="105000"/>
              </a:lnSpc>
              <a:buNone/>
            </a:pPr>
            <a:r>
              <a:rPr lang="en-US" sz="1500" dirty="0">
                <a:solidFill>
                  <a:schemeClr val="accent6"/>
                </a:solidFill>
              </a:rPr>
              <a:t>Every running hour costs money, but nobody sees the total.</a:t>
            </a:r>
            <a:endParaRPr lang="en-US" sz="1500" dirty="0"/>
          </a:p>
        </p:txBody>
      </p:sp>
      <p:sp>
        <p:nvSpPr>
          <p:cNvPr id="17" name="p-answer"/>
          <p:cNvSpPr txBox="1"/>
          <p:nvPr/>
        </p:nvSpPr>
        <p:spPr>
          <a:xfrm>
            <a:off x="548640" y="4800600"/>
            <a:ext cx="11091672" cy="822960"/>
          </a:xfrm>
          <a:prstGeom prst="rect">
            <a:avLst/>
          </a:prstGeom>
          <a:noFill/>
          <a:ln/>
        </p:spPr>
        <p:txBody>
          <a:bodyPr wrap="square" lIns="0" tIns="0" rIns="0" bIns="0" rtlCol="0" anchor="t"/>
          <a:lstStyle/>
          <a:p>
            <a:pPr indent="0" marL="0">
              <a:buNone/>
            </a:pPr>
            <a:r>
              <a:rPr lang="en-US" sz="1800" b="1" dirty="0">
                <a:solidFill>
                  <a:schemeClr val="tx1"/>
                </a:solidFill>
              </a:rPr>
              <a:t>CloudPulse answers four questions on one screen: </a:t>
            </a:r>
            <a:pPr indent="0" marL="0">
              <a:buNone/>
            </a:pPr>
            <a:r>
              <a:rPr lang="en-US" sz="1800" dirty="0">
                <a:solidFill>
                  <a:schemeClr val="tx1"/>
                </a:solidFill>
              </a:rPr>
              <a:t>Is everything healthy? What happened? What is about to fail? What does it cost?</a:t>
            </a:r>
            <a:endParaRPr lang="en-US" sz="18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5568"/>
                </a:solidFill>
              </a:defRPr>
            </a:lvl1pPr>
          </a:lstStyle>
          <a:p>
            <a:pPr algn="r"/>
            <a:fld id="{F7021451-1387-4CA6-816F-3879F97B5CBC}" type="slidenum">
              <a:rPr b="0" lang="en-US"/>
              <a:t>3</a:t>
            </a:fld>
            <a:endParaRPr lang="en-US"/>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600"/>
                                        <p:tgtEl>
                                          <p:spTgt spid="5"/>
                                        </p:tgtEl>
                                      </p:cBhvr>
                                    </p:animEffect>
                                    <p:anim calcmode="lin" valueType="num">
                                      <p:cBhvr additive="base">
                                        <p:cTn id="7" dur="600" fill="hold"/>
                                        <p:tgtEl>
                                          <p:spTgt spid="5"/>
                                        </p:tgtEl>
                                        <p:attrNameLst>
                                          <p:attrName>ppt_x</p:attrName>
                                        </p:attrNameLst>
                                      </p:cBhvr>
                                      <p:tavLst>
                                        <p:tav tm="0">
                                          <p:val>
                                            <p:strVal val="#ppt_x"/>
                                          </p:val>
                                        </p:tav>
                                        <p:tav tm="100000">
                                          <p:val>
                                            <p:strVal val="#ppt_x"/>
                                          </p:val>
                                        </p:tav>
                                      </p:tavLst>
                                    </p:anim>
                                    <p:anim calcmode="lin" valueType="num">
                                      <p:cBhvr additive="base">
                                        <p:cTn id="8" dur="600" fill="hold"/>
                                        <p:tgtEl>
                                          <p:spTgt spid="5"/>
                                        </p:tgtEl>
                                        <p:attrNameLst>
                                          <p:attrName>ppt_y</p:attrName>
                                        </p:attrNameLst>
                                      </p:cBhvr>
                                      <p:tavLst>
                                        <p:tav tm="0">
                                          <p:val>
                                            <p:strVal val="#ppt_y+.1"/>
                                          </p:val>
                                        </p:tav>
                                        <p:tav tm="100000">
                                          <p:val>
                                            <p:strVal val="#ppt_y"/>
                                          </p:val>
                                        </p:tav>
                                      </p:tavLst>
                                    </p:anim>
                                  </p:childTnLst>
                                </p:cTn>
                              </p:par>
                              <p:par>
                                <p:cTn id="14" presetID="42"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600"/>
                                        <p:tgtEl>
                                          <p:spTgt spid="6"/>
                                        </p:tgtEl>
                                      </p:cBhvr>
                                    </p:animEffect>
                                    <p:anim calcmode="lin" valueType="num">
                                      <p:cBhvr additive="base">
                                        <p:cTn id="12" dur="600" fill="hold"/>
                                        <p:tgtEl>
                                          <p:spTgt spid="6"/>
                                        </p:tgtEl>
                                        <p:attrNameLst>
                                          <p:attrName>ppt_x</p:attrName>
                                        </p:attrNameLst>
                                      </p:cBhvr>
                                      <p:tavLst>
                                        <p:tav tm="0">
                                          <p:val>
                                            <p:strVal val="#ppt_x"/>
                                          </p:val>
                                        </p:tav>
                                        <p:tav tm="100000">
                                          <p:val>
                                            <p:strVal val="#ppt_x"/>
                                          </p:val>
                                        </p:tav>
                                      </p:tavLst>
                                    </p:anim>
                                    <p:anim calcmode="lin" valueType="num">
                                      <p:cBhvr additive="base">
                                        <p:cTn id="13" dur="600" fill="hold"/>
                                        <p:tgtEl>
                                          <p:spTgt spid="6"/>
                                        </p:tgtEl>
                                        <p:attrNameLst>
                                          <p:attrName>ppt_y</p:attrName>
                                        </p:attrNameLst>
                                      </p:cBhvr>
                                      <p:tavLst>
                                        <p:tav tm="0">
                                          <p:val>
                                            <p:strVal val="#ppt_y+.1"/>
                                          </p:val>
                                        </p:tav>
                                        <p:tav tm="100000">
                                          <p:val>
                                            <p:strVal val="#ppt_y"/>
                                          </p:val>
                                        </p:tav>
                                      </p:tavLst>
                                    </p:anim>
                                  </p:childTnLst>
                                </p:cTn>
                              </p:par>
                              <p:par>
                                <p:cTn id="19" presetID="42"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600"/>
                                        <p:tgtEl>
                                          <p:spTgt spid="7"/>
                                        </p:tgtEl>
                                      </p:cBhvr>
                                    </p:animEffect>
                                    <p:anim calcmode="lin" valueType="num">
                                      <p:cBhvr additive="base">
                                        <p:cTn id="17" dur="600" fill="hold"/>
                                        <p:tgtEl>
                                          <p:spTgt spid="7"/>
                                        </p:tgtEl>
                                        <p:attrNameLst>
                                          <p:attrName>ppt_x</p:attrName>
                                        </p:attrNameLst>
                                      </p:cBhvr>
                                      <p:tavLst>
                                        <p:tav tm="0">
                                          <p:val>
                                            <p:strVal val="#ppt_x"/>
                                          </p:val>
                                        </p:tav>
                                        <p:tav tm="100000">
                                          <p:val>
                                            <p:strVal val="#ppt_x"/>
                                          </p:val>
                                        </p:tav>
                                      </p:tavLst>
                                    </p:anim>
                                    <p:anim calcmode="lin" valueType="num">
                                      <p:cBhvr additive="base">
                                        <p:cTn id="18" dur="600" fill="hold"/>
                                        <p:tgtEl>
                                          <p:spTgt spid="7"/>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600"/>
                                        <p:tgtEl>
                                          <p:spTgt spid="8"/>
                                        </p:tgtEl>
                                      </p:cBhvr>
                                    </p:animEffect>
                                    <p:anim calcmode="lin" valueType="num">
                                      <p:cBhvr additive="base">
                                        <p:cTn id="22" dur="600" fill="hold"/>
                                        <p:tgtEl>
                                          <p:spTgt spid="8"/>
                                        </p:tgtEl>
                                        <p:attrNameLst>
                                          <p:attrName>ppt_x</p:attrName>
                                        </p:attrNameLst>
                                      </p:cBhvr>
                                      <p:tavLst>
                                        <p:tav tm="0">
                                          <p:val>
                                            <p:strVal val="#ppt_x"/>
                                          </p:val>
                                        </p:tav>
                                        <p:tav tm="100000">
                                          <p:val>
                                            <p:strVal val="#ppt_x"/>
                                          </p:val>
                                        </p:tav>
                                      </p:tavLst>
                                    </p:anim>
                                    <p:anim calcmode="lin" valueType="num">
                                      <p:cBhvr additive="base">
                                        <p:cTn id="23" dur="6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31" presetID="42"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600"/>
                                        <p:tgtEl>
                                          <p:spTgt spid="9"/>
                                        </p:tgtEl>
                                      </p:cBhvr>
                                    </p:animEffect>
                                    <p:anim calcmode="lin" valueType="num">
                                      <p:cBhvr additive="base">
                                        <p:cTn id="29" dur="600" fill="hold"/>
                                        <p:tgtEl>
                                          <p:spTgt spid="9"/>
                                        </p:tgtEl>
                                        <p:attrNameLst>
                                          <p:attrName>ppt_x</p:attrName>
                                        </p:attrNameLst>
                                      </p:cBhvr>
                                      <p:tavLst>
                                        <p:tav tm="0">
                                          <p:val>
                                            <p:strVal val="#ppt_x"/>
                                          </p:val>
                                        </p:tav>
                                        <p:tav tm="100000">
                                          <p:val>
                                            <p:strVal val="#ppt_x"/>
                                          </p:val>
                                        </p:tav>
                                      </p:tavLst>
                                    </p:anim>
                                    <p:anim calcmode="lin" valueType="num">
                                      <p:cBhvr additive="base">
                                        <p:cTn id="30" dur="600" fill="hold"/>
                                        <p:tgtEl>
                                          <p:spTgt spid="9"/>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600"/>
                                        <p:tgtEl>
                                          <p:spTgt spid="10"/>
                                        </p:tgtEl>
                                      </p:cBhvr>
                                    </p:animEffect>
                                    <p:anim calcmode="lin" valueType="num">
                                      <p:cBhvr additive="base">
                                        <p:cTn id="34" dur="600" fill="hold"/>
                                        <p:tgtEl>
                                          <p:spTgt spid="10"/>
                                        </p:tgtEl>
                                        <p:attrNameLst>
                                          <p:attrName>ppt_x</p:attrName>
                                        </p:attrNameLst>
                                      </p:cBhvr>
                                      <p:tavLst>
                                        <p:tav tm="0">
                                          <p:val>
                                            <p:strVal val="#ppt_x"/>
                                          </p:val>
                                        </p:tav>
                                        <p:tav tm="100000">
                                          <p:val>
                                            <p:strVal val="#ppt_x"/>
                                          </p:val>
                                        </p:tav>
                                      </p:tavLst>
                                    </p:anim>
                                    <p:anim calcmode="lin" valueType="num">
                                      <p:cBhvr additive="base">
                                        <p:cTn id="35" dur="600" fill="hold"/>
                                        <p:tgtEl>
                                          <p:spTgt spid="10"/>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600"/>
                                        <p:tgtEl>
                                          <p:spTgt spid="11"/>
                                        </p:tgtEl>
                                      </p:cBhvr>
                                    </p:animEffect>
                                    <p:anim calcmode="lin" valueType="num">
                                      <p:cBhvr additive="base">
                                        <p:cTn id="39" dur="600" fill="hold"/>
                                        <p:tgtEl>
                                          <p:spTgt spid="11"/>
                                        </p:tgtEl>
                                        <p:attrNameLst>
                                          <p:attrName>ppt_x</p:attrName>
                                        </p:attrNameLst>
                                      </p:cBhvr>
                                      <p:tavLst>
                                        <p:tav tm="0">
                                          <p:val>
                                            <p:strVal val="#ppt_x"/>
                                          </p:val>
                                        </p:tav>
                                        <p:tav tm="100000">
                                          <p:val>
                                            <p:strVal val="#ppt_x"/>
                                          </p:val>
                                        </p:tav>
                                      </p:tavLst>
                                    </p:anim>
                                    <p:anim calcmode="lin" valueType="num">
                                      <p:cBhvr additive="base">
                                        <p:cTn id="40" dur="600" fill="hold"/>
                                        <p:tgtEl>
                                          <p:spTgt spid="11"/>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600"/>
                                        <p:tgtEl>
                                          <p:spTgt spid="12"/>
                                        </p:tgtEl>
                                      </p:cBhvr>
                                    </p:animEffect>
                                    <p:anim calcmode="lin" valueType="num">
                                      <p:cBhvr additive="base">
                                        <p:cTn id="44" dur="600" fill="hold"/>
                                        <p:tgtEl>
                                          <p:spTgt spid="12"/>
                                        </p:tgtEl>
                                        <p:attrNameLst>
                                          <p:attrName>ppt_x</p:attrName>
                                        </p:attrNameLst>
                                      </p:cBhvr>
                                      <p:tavLst>
                                        <p:tav tm="0">
                                          <p:val>
                                            <p:strVal val="#ppt_x"/>
                                          </p:val>
                                        </p:tav>
                                        <p:tav tm="100000">
                                          <p:val>
                                            <p:strVal val="#ppt_x"/>
                                          </p:val>
                                        </p:tav>
                                      </p:tavLst>
                                    </p:anim>
                                    <p:anim calcmode="lin" valueType="num">
                                      <p:cBhvr additive="base">
                                        <p:cTn id="45" dur="6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53" presetID="42" presetClass="entr" presetSubtype="0" fill="hold" grpId="0" nodeType="click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600"/>
                                        <p:tgtEl>
                                          <p:spTgt spid="13"/>
                                        </p:tgtEl>
                                      </p:cBhvr>
                                    </p:animEffect>
                                    <p:anim calcmode="lin" valueType="num">
                                      <p:cBhvr additive="base">
                                        <p:cTn id="51" dur="600" fill="hold"/>
                                        <p:tgtEl>
                                          <p:spTgt spid="13"/>
                                        </p:tgtEl>
                                        <p:attrNameLst>
                                          <p:attrName>ppt_x</p:attrName>
                                        </p:attrNameLst>
                                      </p:cBhvr>
                                      <p:tavLst>
                                        <p:tav tm="0">
                                          <p:val>
                                            <p:strVal val="#ppt_x"/>
                                          </p:val>
                                        </p:tav>
                                        <p:tav tm="100000">
                                          <p:val>
                                            <p:strVal val="#ppt_x"/>
                                          </p:val>
                                        </p:tav>
                                      </p:tavLst>
                                    </p:anim>
                                    <p:anim calcmode="lin" valueType="num">
                                      <p:cBhvr additive="base">
                                        <p:cTn id="52" dur="600" fill="hold"/>
                                        <p:tgtEl>
                                          <p:spTgt spid="13"/>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600"/>
                                        <p:tgtEl>
                                          <p:spTgt spid="14"/>
                                        </p:tgtEl>
                                      </p:cBhvr>
                                    </p:animEffect>
                                    <p:anim calcmode="lin" valueType="num">
                                      <p:cBhvr additive="base">
                                        <p:cTn id="56" dur="600" fill="hold"/>
                                        <p:tgtEl>
                                          <p:spTgt spid="14"/>
                                        </p:tgtEl>
                                        <p:attrNameLst>
                                          <p:attrName>ppt_x</p:attrName>
                                        </p:attrNameLst>
                                      </p:cBhvr>
                                      <p:tavLst>
                                        <p:tav tm="0">
                                          <p:val>
                                            <p:strVal val="#ppt_x"/>
                                          </p:val>
                                        </p:tav>
                                        <p:tav tm="100000">
                                          <p:val>
                                            <p:strVal val="#ppt_x"/>
                                          </p:val>
                                        </p:tav>
                                      </p:tavLst>
                                    </p:anim>
                                    <p:anim calcmode="lin" valueType="num">
                                      <p:cBhvr additive="base">
                                        <p:cTn id="57" dur="600" fill="hold"/>
                                        <p:tgtEl>
                                          <p:spTgt spid="14"/>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600"/>
                                        <p:tgtEl>
                                          <p:spTgt spid="15"/>
                                        </p:tgtEl>
                                      </p:cBhvr>
                                    </p:animEffect>
                                    <p:anim calcmode="lin" valueType="num">
                                      <p:cBhvr additive="base">
                                        <p:cTn id="61" dur="600" fill="hold"/>
                                        <p:tgtEl>
                                          <p:spTgt spid="15"/>
                                        </p:tgtEl>
                                        <p:attrNameLst>
                                          <p:attrName>ppt_x</p:attrName>
                                        </p:attrNameLst>
                                      </p:cBhvr>
                                      <p:tavLst>
                                        <p:tav tm="0">
                                          <p:val>
                                            <p:strVal val="#ppt_x"/>
                                          </p:val>
                                        </p:tav>
                                        <p:tav tm="100000">
                                          <p:val>
                                            <p:strVal val="#ppt_x"/>
                                          </p:val>
                                        </p:tav>
                                      </p:tavLst>
                                    </p:anim>
                                    <p:anim calcmode="lin" valueType="num">
                                      <p:cBhvr additive="base">
                                        <p:cTn id="62" dur="600" fill="hold"/>
                                        <p:tgtEl>
                                          <p:spTgt spid="15"/>
                                        </p:tgtEl>
                                        <p:attrNameLst>
                                          <p:attrName>ppt_y</p:attrName>
                                        </p:attrNameLst>
                                      </p:cBhvr>
                                      <p:tavLst>
                                        <p:tav tm="0">
                                          <p:val>
                                            <p:strVal val="#ppt_y+.1"/>
                                          </p:val>
                                        </p:tav>
                                        <p:tav tm="100000">
                                          <p:val>
                                            <p:strVal val="#ppt_y"/>
                                          </p:val>
                                        </p:tav>
                                      </p:tavLst>
                                    </p:anim>
                                  </p:childTnLst>
                                </p:cTn>
                              </p:par>
                              <p:par>
                                <p:cTn id="68" presetID="42" presetClass="entr" presetSubtype="0" fill="hold" grpId="0" nodeType="withEffect">
                                  <p:stCondLst>
                                    <p:cond delay="0"/>
                                  </p:stCondLst>
                                  <p:childTnLst>
                                    <p:set>
                                      <p:cBhvr>
                                        <p:cTn id="64" dur="1" fill="hold">
                                          <p:stCondLst>
                                            <p:cond delay="0"/>
                                          </p:stCondLst>
                                        </p:cTn>
                                        <p:tgtEl>
                                          <p:spTgt spid="16"/>
                                        </p:tgtEl>
                                        <p:attrNameLst>
                                          <p:attrName>style.visibility</p:attrName>
                                        </p:attrNameLst>
                                      </p:cBhvr>
                                      <p:to>
                                        <p:strVal val="visible"/>
                                      </p:to>
                                    </p:set>
                                    <p:animEffect transition="in" filter="fade">
                                      <p:cBhvr>
                                        <p:cTn id="65" dur="600"/>
                                        <p:tgtEl>
                                          <p:spTgt spid="16"/>
                                        </p:tgtEl>
                                      </p:cBhvr>
                                    </p:animEffect>
                                    <p:anim calcmode="lin" valueType="num">
                                      <p:cBhvr additive="base">
                                        <p:cTn id="66" dur="600" fill="hold"/>
                                        <p:tgtEl>
                                          <p:spTgt spid="16"/>
                                        </p:tgtEl>
                                        <p:attrNameLst>
                                          <p:attrName>ppt_x</p:attrName>
                                        </p:attrNameLst>
                                      </p:cBhvr>
                                      <p:tavLst>
                                        <p:tav tm="0">
                                          <p:val>
                                            <p:strVal val="#ppt_x"/>
                                          </p:val>
                                        </p:tav>
                                        <p:tav tm="100000">
                                          <p:val>
                                            <p:strVal val="#ppt_x"/>
                                          </p:val>
                                        </p:tav>
                                      </p:tavLst>
                                    </p:anim>
                                    <p:anim calcmode="lin" valueType="num">
                                      <p:cBhvr additive="base">
                                        <p:cTn id="67" dur="6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3" presetID="10" presetClass="entr" presetSubtype="0" fill="hold" grpId="0" nodeType="clickEffect">
                                  <p:stCondLst>
                                    <p:cond delay="0"/>
                                  </p:stCondLst>
                                  <p:childTnLst>
                                    <p:set>
                                      <p:cBhvr>
                                        <p:cTn id="71" dur="1" fill="hold">
                                          <p:stCondLst>
                                            <p:cond delay="0"/>
                                          </p:stCondLst>
                                        </p:cTn>
                                        <p:tgtEl>
                                          <p:spTgt spid="17"/>
                                        </p:tgtEl>
                                        <p:attrNameLst>
                                          <p:attrName>style.visibility</p:attrName>
                                        </p:attrNameLst>
                                      </p:cBhvr>
                                      <p:to>
                                        <p:strVal val="visible"/>
                                      </p:to>
                                    </p:set>
                                    <p:animEffect transition="in" filter="fade">
                                      <p:cBhvr>
                                        <p:cTn id="7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686800" cy="320040"/>
          </a:xfrm>
          <a:prstGeom prst="rect">
            <a:avLst/>
          </a:prstGeom>
          <a:noFill/>
          <a:ln/>
        </p:spPr>
        <p:txBody>
          <a:bodyPr wrap="square" lIns="0" tIns="0" rIns="0" bIns="0" rtlCol="0" anchor="t"/>
          <a:lstStyle/>
          <a:p>
            <a:pPr indent="0" marL="0">
              <a:buNone/>
            </a:pPr>
            <a:r>
              <a:rPr lang="en-US" sz="1300" b="1" spc="200" kern="0" dirty="0">
                <a:solidFill>
                  <a:schemeClr val="accent1"/>
                </a:solidFill>
              </a:rPr>
              <a:t>OBJECTIVES</a:t>
            </a:r>
            <a:endParaRPr lang="en-US" sz="1300" dirty="0"/>
          </a:p>
        </p:txBody>
      </p:sp>
      <p:sp>
        <p:nvSpPr>
          <p:cNvPr id="3" name="Text 0"/>
          <p:cNvSpPr/>
          <p:nvPr>
            <p:ph idx="101" type="title" hasCustomPrompt="1"/>
          </p:nvPr>
        </p:nvSpPr>
        <p:spPr>
          <a:xfrm>
            <a:off x="548640" y="713232"/>
            <a:ext cx="11091672" cy="822960"/>
          </a:xfrm>
          <a:prstGeom prst="rect">
            <a:avLst/>
          </a:prstGeom>
          <a:noFill/>
          <a:ln/>
        </p:spPr>
        <p:txBody>
          <a:bodyPr wrap="square" lIns="0" tIns="0" rIns="0" bIns="0" rtlCol="0" anchor="t"/>
          <a:lstStyle/>
          <a:p>
            <a:pPr indent="0" marL="0">
              <a:buNone/>
            </a:pPr>
            <a:r>
              <a:rPr lang="en-US" sz="3200" b="1" dirty="0">
                <a:solidFill>
                  <a:schemeClr val="tx1"/>
                </a:solidFill>
              </a:rPr>
              <a:t>Eight goals, all delivered</a:t>
            </a:r>
            <a:endParaRPr lang="en-US" sz="3200" dirty="0"/>
          </a:p>
        </p:txBody>
      </p:sp>
      <p:sp>
        <p:nvSpPr>
          <p:cNvPr id="4" name="nav-contents"/>
          <p:cNvSpPr txBox="1"/>
          <p:nvPr/>
        </p:nvSpPr>
        <p:spPr>
          <a:xfrm>
            <a:off x="10451592" y="365760"/>
            <a:ext cx="1188720" cy="292608"/>
          </a:xfrm>
          <a:prstGeom prst="rect">
            <a:avLst/>
          </a:prstGeom>
          <a:noFill/>
          <a:ln/>
        </p:spPr>
        <p:txBody>
          <a:bodyPr wrap="square" lIns="0" tIns="0" rIns="0" bIns="0" rtlCol="0" anchor="ctr"/>
          <a:lstStyle/>
          <a:p>
            <a:pPr algn="r" indent="0" marL="0">
              <a:buNone/>
            </a:pPr>
            <a:r>
              <a:rPr lang="en-US" sz="1100" u="sng" dirty="0">
                <a:solidFill>
                  <a:schemeClr val="accent1"/>
                </a:solidFill>
                <a:hlinkClick r:id="rId1" action="ppaction://hlinksldjump" tooltip="Back to contents">
                  <a:extLst>
                    <a:ext uri="{A12FA001-AC4F-418D-AE19-62706E023703}">
                      <ahyp:hlinkClr xmlns:ahyp="http://schemas.microsoft.com/office/drawing/2018/hyperlinkcolor" val="tx"/>
                    </a:ext>
                  </a:extLst>
                </a:hlinkClick>
              </a:rPr>
              <a:t>Contents ↩</a:t>
            </a:r>
            <a:endParaRPr lang="en-US" sz="1100" dirty="0"/>
          </a:p>
        </p:txBody>
      </p:sp>
      <p:sp>
        <p:nvSpPr>
          <p:cNvPr id="5" name="o0-box"/>
          <p:cNvSpPr/>
          <p:nvPr/>
        </p:nvSpPr>
        <p:spPr>
          <a:xfrm>
            <a:off x="548640" y="1783080"/>
            <a:ext cx="2602382" cy="1645920"/>
          </a:xfrm>
          <a:prstGeom prst="roundRect">
            <a:avLst>
              <a:gd name="adj" fmla="val 6667"/>
            </a:avLst>
          </a:prstGeom>
          <a:solidFill>
            <a:schemeClr val="bg1"/>
          </a:solidFill>
          <a:ln w="9525">
            <a:solidFill>
              <a:schemeClr val="accent5"/>
            </a:solidFill>
            <a:prstDash val="solid"/>
          </a:ln>
        </p:spPr>
      </p:sp>
      <p:sp>
        <p:nvSpPr>
          <p:cNvPr id="6" name="o0-t0"/>
          <p:cNvSpPr txBox="1"/>
          <p:nvPr/>
        </p:nvSpPr>
        <p:spPr>
          <a:xfrm>
            <a:off x="822960" y="2057400"/>
            <a:ext cx="2053742" cy="320040"/>
          </a:xfrm>
          <a:prstGeom prst="rect">
            <a:avLst/>
          </a:prstGeom>
          <a:noFill/>
          <a:ln/>
        </p:spPr>
        <p:txBody>
          <a:bodyPr wrap="square" lIns="0" tIns="0" rIns="0" bIns="0" rtlCol="0" anchor="t"/>
          <a:lstStyle/>
          <a:p>
            <a:pPr indent="0" marL="0">
              <a:lnSpc>
                <a:spcPct val="105000"/>
              </a:lnSpc>
              <a:buNone/>
            </a:pPr>
            <a:r>
              <a:rPr lang="en-US" sz="1600" b="1" dirty="0">
                <a:solidFill>
                  <a:schemeClr val="accent1"/>
                </a:solidFill>
                <a:latin typeface="Courier New" pitchFamily="34" charset="0"/>
                <a:ea typeface="Courier New" pitchFamily="34" charset="-122"/>
                <a:cs typeface="Courier New" pitchFamily="34" charset="-120"/>
              </a:rPr>
              <a:t>01</a:t>
            </a:r>
            <a:endParaRPr lang="en-US" sz="1600" dirty="0"/>
          </a:p>
        </p:txBody>
      </p:sp>
      <p:sp>
        <p:nvSpPr>
          <p:cNvPr id="7" name="o0-t1"/>
          <p:cNvSpPr txBox="1"/>
          <p:nvPr/>
        </p:nvSpPr>
        <p:spPr>
          <a:xfrm>
            <a:off x="822960" y="2487168"/>
            <a:ext cx="2053742" cy="822960"/>
          </a:xfrm>
          <a:prstGeom prst="rect">
            <a:avLst/>
          </a:prstGeom>
          <a:noFill/>
          <a:ln/>
        </p:spPr>
        <p:txBody>
          <a:bodyPr wrap="square" lIns="0" tIns="0" rIns="0" bIns="0" rtlCol="0" anchor="t"/>
          <a:lstStyle/>
          <a:p>
            <a:pPr indent="0" marL="0">
              <a:lnSpc>
                <a:spcPct val="105000"/>
              </a:lnSpc>
              <a:buNone/>
            </a:pPr>
            <a:r>
              <a:rPr lang="en-US" sz="1800" dirty="0">
                <a:solidFill>
                  <a:schemeClr val="tx1"/>
                </a:solidFill>
              </a:rPr>
              <a:t>Live metrics every 3 seconds</a:t>
            </a:r>
            <a:endParaRPr lang="en-US" sz="1800" dirty="0"/>
          </a:p>
        </p:txBody>
      </p:sp>
      <p:sp>
        <p:nvSpPr>
          <p:cNvPr id="8" name="o1-box"/>
          <p:cNvSpPr/>
          <p:nvPr/>
        </p:nvSpPr>
        <p:spPr>
          <a:xfrm>
            <a:off x="3379622" y="1783080"/>
            <a:ext cx="2602382" cy="1645920"/>
          </a:xfrm>
          <a:prstGeom prst="roundRect">
            <a:avLst>
              <a:gd name="adj" fmla="val 6667"/>
            </a:avLst>
          </a:prstGeom>
          <a:solidFill>
            <a:schemeClr val="bg1"/>
          </a:solidFill>
          <a:ln w="9525">
            <a:solidFill>
              <a:schemeClr val="accent5"/>
            </a:solidFill>
            <a:prstDash val="solid"/>
          </a:ln>
        </p:spPr>
      </p:sp>
      <p:sp>
        <p:nvSpPr>
          <p:cNvPr id="9" name="o1-t0"/>
          <p:cNvSpPr txBox="1"/>
          <p:nvPr/>
        </p:nvSpPr>
        <p:spPr>
          <a:xfrm>
            <a:off x="3653942" y="2057400"/>
            <a:ext cx="2053742" cy="320040"/>
          </a:xfrm>
          <a:prstGeom prst="rect">
            <a:avLst/>
          </a:prstGeom>
          <a:noFill/>
          <a:ln/>
        </p:spPr>
        <p:txBody>
          <a:bodyPr wrap="square" lIns="0" tIns="0" rIns="0" bIns="0" rtlCol="0" anchor="t"/>
          <a:lstStyle/>
          <a:p>
            <a:pPr indent="0" marL="0">
              <a:lnSpc>
                <a:spcPct val="105000"/>
              </a:lnSpc>
              <a:buNone/>
            </a:pPr>
            <a:r>
              <a:rPr lang="en-US" sz="1600" b="1" dirty="0">
                <a:solidFill>
                  <a:schemeClr val="accent1"/>
                </a:solidFill>
                <a:latin typeface="Courier New" pitchFamily="34" charset="0"/>
                <a:ea typeface="Courier New" pitchFamily="34" charset="-122"/>
                <a:cs typeface="Courier New" pitchFamily="34" charset="-120"/>
              </a:rPr>
              <a:t>02</a:t>
            </a:r>
            <a:endParaRPr lang="en-US" sz="1600" dirty="0"/>
          </a:p>
        </p:txBody>
      </p:sp>
      <p:sp>
        <p:nvSpPr>
          <p:cNvPr id="10" name="o1-t1"/>
          <p:cNvSpPr txBox="1"/>
          <p:nvPr/>
        </p:nvSpPr>
        <p:spPr>
          <a:xfrm>
            <a:off x="3653942" y="2487168"/>
            <a:ext cx="2053742" cy="822960"/>
          </a:xfrm>
          <a:prstGeom prst="rect">
            <a:avLst/>
          </a:prstGeom>
          <a:noFill/>
          <a:ln/>
        </p:spPr>
        <p:txBody>
          <a:bodyPr wrap="square" lIns="0" tIns="0" rIns="0" bIns="0" rtlCol="0" anchor="t"/>
          <a:lstStyle/>
          <a:p>
            <a:pPr indent="0" marL="0">
              <a:lnSpc>
                <a:spcPct val="105000"/>
              </a:lnSpc>
              <a:buNone/>
            </a:pPr>
            <a:r>
              <a:rPr lang="en-US" sz="1800" dirty="0">
                <a:solidFill>
                  <a:schemeClr val="tx1"/>
                </a:solidFill>
              </a:rPr>
              <a:t>24 hours of history as charts</a:t>
            </a:r>
            <a:endParaRPr lang="en-US" sz="1800" dirty="0"/>
          </a:p>
        </p:txBody>
      </p:sp>
      <p:sp>
        <p:nvSpPr>
          <p:cNvPr id="11" name="o2-box"/>
          <p:cNvSpPr/>
          <p:nvPr/>
        </p:nvSpPr>
        <p:spPr>
          <a:xfrm>
            <a:off x="6210605" y="1783080"/>
            <a:ext cx="2602382" cy="1645920"/>
          </a:xfrm>
          <a:prstGeom prst="roundRect">
            <a:avLst>
              <a:gd name="adj" fmla="val 6667"/>
            </a:avLst>
          </a:prstGeom>
          <a:solidFill>
            <a:schemeClr val="bg1"/>
          </a:solidFill>
          <a:ln w="9525">
            <a:solidFill>
              <a:schemeClr val="accent5"/>
            </a:solidFill>
            <a:prstDash val="solid"/>
          </a:ln>
        </p:spPr>
      </p:sp>
      <p:sp>
        <p:nvSpPr>
          <p:cNvPr id="12" name="o2-t0"/>
          <p:cNvSpPr txBox="1"/>
          <p:nvPr/>
        </p:nvSpPr>
        <p:spPr>
          <a:xfrm>
            <a:off x="6484925" y="2057400"/>
            <a:ext cx="2053742" cy="320040"/>
          </a:xfrm>
          <a:prstGeom prst="rect">
            <a:avLst/>
          </a:prstGeom>
          <a:noFill/>
          <a:ln/>
        </p:spPr>
        <p:txBody>
          <a:bodyPr wrap="square" lIns="0" tIns="0" rIns="0" bIns="0" rtlCol="0" anchor="t"/>
          <a:lstStyle/>
          <a:p>
            <a:pPr indent="0" marL="0">
              <a:lnSpc>
                <a:spcPct val="105000"/>
              </a:lnSpc>
              <a:buNone/>
            </a:pPr>
            <a:r>
              <a:rPr lang="en-US" sz="1600" b="1" dirty="0">
                <a:solidFill>
                  <a:schemeClr val="accent1"/>
                </a:solidFill>
                <a:latin typeface="Courier New" pitchFamily="34" charset="0"/>
                <a:ea typeface="Courier New" pitchFamily="34" charset="-122"/>
                <a:cs typeface="Courier New" pitchFamily="34" charset="-120"/>
              </a:rPr>
              <a:t>03</a:t>
            </a:r>
            <a:endParaRPr lang="en-US" sz="1600" dirty="0"/>
          </a:p>
        </p:txBody>
      </p:sp>
      <p:sp>
        <p:nvSpPr>
          <p:cNvPr id="13" name="o2-t1"/>
          <p:cNvSpPr txBox="1"/>
          <p:nvPr/>
        </p:nvSpPr>
        <p:spPr>
          <a:xfrm>
            <a:off x="6484925" y="2487168"/>
            <a:ext cx="2053742" cy="822960"/>
          </a:xfrm>
          <a:prstGeom prst="rect">
            <a:avLst/>
          </a:prstGeom>
          <a:noFill/>
          <a:ln/>
        </p:spPr>
        <p:txBody>
          <a:bodyPr wrap="square" lIns="0" tIns="0" rIns="0" bIns="0" rtlCol="0" anchor="t"/>
          <a:lstStyle/>
          <a:p>
            <a:pPr indent="0" marL="0">
              <a:lnSpc>
                <a:spcPct val="105000"/>
              </a:lnSpc>
              <a:buNone/>
            </a:pPr>
            <a:r>
              <a:rPr lang="en-US" sz="1800" dirty="0">
                <a:solidFill>
                  <a:schemeClr val="tx1"/>
                </a:solidFill>
              </a:rPr>
              <a:t>Automatic alerts from rules</a:t>
            </a:r>
            <a:endParaRPr lang="en-US" sz="1800" dirty="0"/>
          </a:p>
        </p:txBody>
      </p:sp>
      <p:sp>
        <p:nvSpPr>
          <p:cNvPr id="14" name="o3-box"/>
          <p:cNvSpPr/>
          <p:nvPr/>
        </p:nvSpPr>
        <p:spPr>
          <a:xfrm>
            <a:off x="9041587" y="1783080"/>
            <a:ext cx="2602382" cy="1645920"/>
          </a:xfrm>
          <a:prstGeom prst="roundRect">
            <a:avLst>
              <a:gd name="adj" fmla="val 6667"/>
            </a:avLst>
          </a:prstGeom>
          <a:solidFill>
            <a:schemeClr val="bg1"/>
          </a:solidFill>
          <a:ln w="9525">
            <a:solidFill>
              <a:schemeClr val="accent5"/>
            </a:solidFill>
            <a:prstDash val="solid"/>
          </a:ln>
        </p:spPr>
      </p:sp>
      <p:sp>
        <p:nvSpPr>
          <p:cNvPr id="15" name="o3-t0"/>
          <p:cNvSpPr txBox="1"/>
          <p:nvPr/>
        </p:nvSpPr>
        <p:spPr>
          <a:xfrm>
            <a:off x="9315907" y="2057400"/>
            <a:ext cx="2053742" cy="320040"/>
          </a:xfrm>
          <a:prstGeom prst="rect">
            <a:avLst/>
          </a:prstGeom>
          <a:noFill/>
          <a:ln/>
        </p:spPr>
        <p:txBody>
          <a:bodyPr wrap="square" lIns="0" tIns="0" rIns="0" bIns="0" rtlCol="0" anchor="t"/>
          <a:lstStyle/>
          <a:p>
            <a:pPr indent="0" marL="0">
              <a:lnSpc>
                <a:spcPct val="105000"/>
              </a:lnSpc>
              <a:buNone/>
            </a:pPr>
            <a:r>
              <a:rPr lang="en-US" sz="1600" b="1" dirty="0">
                <a:solidFill>
                  <a:schemeClr val="accent1"/>
                </a:solidFill>
                <a:latin typeface="Courier New" pitchFamily="34" charset="0"/>
                <a:ea typeface="Courier New" pitchFamily="34" charset="-122"/>
                <a:cs typeface="Courier New" pitchFamily="34" charset="-120"/>
              </a:rPr>
              <a:t>04</a:t>
            </a:r>
            <a:endParaRPr lang="en-US" sz="1600" dirty="0"/>
          </a:p>
        </p:txBody>
      </p:sp>
      <p:sp>
        <p:nvSpPr>
          <p:cNvPr id="16" name="o3-t1"/>
          <p:cNvSpPr txBox="1"/>
          <p:nvPr/>
        </p:nvSpPr>
        <p:spPr>
          <a:xfrm>
            <a:off x="9315907" y="2487168"/>
            <a:ext cx="2053742" cy="822960"/>
          </a:xfrm>
          <a:prstGeom prst="rect">
            <a:avLst/>
          </a:prstGeom>
          <a:noFill/>
          <a:ln/>
        </p:spPr>
        <p:txBody>
          <a:bodyPr wrap="square" lIns="0" tIns="0" rIns="0" bIns="0" rtlCol="0" anchor="t"/>
          <a:lstStyle/>
          <a:p>
            <a:pPr indent="0" marL="0">
              <a:lnSpc>
                <a:spcPct val="105000"/>
              </a:lnSpc>
              <a:buNone/>
            </a:pPr>
            <a:r>
              <a:rPr lang="en-US" sz="1800" dirty="0">
                <a:solidFill>
                  <a:schemeClr val="tx1"/>
                </a:solidFill>
              </a:rPr>
              <a:t>Email for critical alerts</a:t>
            </a:r>
            <a:endParaRPr lang="en-US" sz="1800" dirty="0"/>
          </a:p>
        </p:txBody>
      </p:sp>
      <p:sp>
        <p:nvSpPr>
          <p:cNvPr id="17" name="o4-box"/>
          <p:cNvSpPr/>
          <p:nvPr/>
        </p:nvSpPr>
        <p:spPr>
          <a:xfrm>
            <a:off x="548640" y="3657600"/>
            <a:ext cx="2602382" cy="1645920"/>
          </a:xfrm>
          <a:prstGeom prst="roundRect">
            <a:avLst>
              <a:gd name="adj" fmla="val 6667"/>
            </a:avLst>
          </a:prstGeom>
          <a:solidFill>
            <a:schemeClr val="bg1"/>
          </a:solidFill>
          <a:ln w="9525">
            <a:solidFill>
              <a:schemeClr val="accent5"/>
            </a:solidFill>
            <a:prstDash val="solid"/>
          </a:ln>
        </p:spPr>
      </p:sp>
      <p:sp>
        <p:nvSpPr>
          <p:cNvPr id="18" name="o4-t0"/>
          <p:cNvSpPr txBox="1"/>
          <p:nvPr/>
        </p:nvSpPr>
        <p:spPr>
          <a:xfrm>
            <a:off x="822960" y="3931920"/>
            <a:ext cx="2053742" cy="320040"/>
          </a:xfrm>
          <a:prstGeom prst="rect">
            <a:avLst/>
          </a:prstGeom>
          <a:noFill/>
          <a:ln/>
        </p:spPr>
        <p:txBody>
          <a:bodyPr wrap="square" lIns="0" tIns="0" rIns="0" bIns="0" rtlCol="0" anchor="t"/>
          <a:lstStyle/>
          <a:p>
            <a:pPr indent="0" marL="0">
              <a:lnSpc>
                <a:spcPct val="105000"/>
              </a:lnSpc>
              <a:buNone/>
            </a:pPr>
            <a:r>
              <a:rPr lang="en-US" sz="1600" b="1" dirty="0">
                <a:solidFill>
                  <a:schemeClr val="accent1"/>
                </a:solidFill>
                <a:latin typeface="Courier New" pitchFamily="34" charset="0"/>
                <a:ea typeface="Courier New" pitchFamily="34" charset="-122"/>
                <a:cs typeface="Courier New" pitchFamily="34" charset="-120"/>
              </a:rPr>
              <a:t>05</a:t>
            </a:r>
            <a:endParaRPr lang="en-US" sz="1600" dirty="0"/>
          </a:p>
        </p:txBody>
      </p:sp>
      <p:sp>
        <p:nvSpPr>
          <p:cNvPr id="19" name="o4-t1"/>
          <p:cNvSpPr txBox="1"/>
          <p:nvPr/>
        </p:nvSpPr>
        <p:spPr>
          <a:xfrm>
            <a:off x="822960" y="4361688"/>
            <a:ext cx="2053742" cy="822960"/>
          </a:xfrm>
          <a:prstGeom prst="rect">
            <a:avLst/>
          </a:prstGeom>
          <a:noFill/>
          <a:ln/>
        </p:spPr>
        <p:txBody>
          <a:bodyPr wrap="square" lIns="0" tIns="0" rIns="0" bIns="0" rtlCol="0" anchor="t"/>
          <a:lstStyle/>
          <a:p>
            <a:pPr indent="0" marL="0">
              <a:lnSpc>
                <a:spcPct val="105000"/>
              </a:lnSpc>
              <a:buNone/>
            </a:pPr>
            <a:r>
              <a:rPr lang="en-US" sz="1800" dirty="0">
                <a:solidFill>
                  <a:schemeClr val="tx1"/>
                </a:solidFill>
              </a:rPr>
              <a:t>Start and stop servers by role</a:t>
            </a:r>
            <a:endParaRPr lang="en-US" sz="1800" dirty="0"/>
          </a:p>
        </p:txBody>
      </p:sp>
      <p:sp>
        <p:nvSpPr>
          <p:cNvPr id="20" name="o5-box"/>
          <p:cNvSpPr/>
          <p:nvPr/>
        </p:nvSpPr>
        <p:spPr>
          <a:xfrm>
            <a:off x="3379622" y="3657600"/>
            <a:ext cx="2602382" cy="1645920"/>
          </a:xfrm>
          <a:prstGeom prst="roundRect">
            <a:avLst>
              <a:gd name="adj" fmla="val 6667"/>
            </a:avLst>
          </a:prstGeom>
          <a:solidFill>
            <a:schemeClr val="bg1"/>
          </a:solidFill>
          <a:ln w="9525">
            <a:solidFill>
              <a:schemeClr val="accent5"/>
            </a:solidFill>
            <a:prstDash val="solid"/>
          </a:ln>
        </p:spPr>
      </p:sp>
      <p:sp>
        <p:nvSpPr>
          <p:cNvPr id="21" name="o5-t0"/>
          <p:cNvSpPr txBox="1"/>
          <p:nvPr/>
        </p:nvSpPr>
        <p:spPr>
          <a:xfrm>
            <a:off x="3653942" y="3931920"/>
            <a:ext cx="2053742" cy="320040"/>
          </a:xfrm>
          <a:prstGeom prst="rect">
            <a:avLst/>
          </a:prstGeom>
          <a:noFill/>
          <a:ln/>
        </p:spPr>
        <p:txBody>
          <a:bodyPr wrap="square" lIns="0" tIns="0" rIns="0" bIns="0" rtlCol="0" anchor="t"/>
          <a:lstStyle/>
          <a:p>
            <a:pPr indent="0" marL="0">
              <a:lnSpc>
                <a:spcPct val="105000"/>
              </a:lnSpc>
              <a:buNone/>
            </a:pPr>
            <a:r>
              <a:rPr lang="en-US" sz="1600" b="1" dirty="0">
                <a:solidFill>
                  <a:schemeClr val="accent1"/>
                </a:solidFill>
                <a:latin typeface="Courier New" pitchFamily="34" charset="0"/>
                <a:ea typeface="Courier New" pitchFamily="34" charset="-122"/>
                <a:cs typeface="Courier New" pitchFamily="34" charset="-120"/>
              </a:rPr>
              <a:t>06</a:t>
            </a:r>
            <a:endParaRPr lang="en-US" sz="1600" dirty="0"/>
          </a:p>
        </p:txBody>
      </p:sp>
      <p:sp>
        <p:nvSpPr>
          <p:cNvPr id="22" name="o5-t1"/>
          <p:cNvSpPr txBox="1"/>
          <p:nvPr/>
        </p:nvSpPr>
        <p:spPr>
          <a:xfrm>
            <a:off x="3653942" y="4361688"/>
            <a:ext cx="2053742" cy="822960"/>
          </a:xfrm>
          <a:prstGeom prst="rect">
            <a:avLst/>
          </a:prstGeom>
          <a:noFill/>
          <a:ln/>
        </p:spPr>
        <p:txBody>
          <a:bodyPr wrap="square" lIns="0" tIns="0" rIns="0" bIns="0" rtlCol="0" anchor="t"/>
          <a:lstStyle/>
          <a:p>
            <a:pPr indent="0" marL="0">
              <a:lnSpc>
                <a:spcPct val="105000"/>
              </a:lnSpc>
              <a:buNone/>
            </a:pPr>
            <a:r>
              <a:rPr lang="en-US" sz="1800" dirty="0">
                <a:solidFill>
                  <a:schemeClr val="tx1"/>
                </a:solidFill>
              </a:rPr>
              <a:t>Costs against a monthly budget</a:t>
            </a:r>
            <a:endParaRPr lang="en-US" sz="1800" dirty="0"/>
          </a:p>
        </p:txBody>
      </p:sp>
      <p:sp>
        <p:nvSpPr>
          <p:cNvPr id="23" name="o6-box"/>
          <p:cNvSpPr/>
          <p:nvPr/>
        </p:nvSpPr>
        <p:spPr>
          <a:xfrm>
            <a:off x="6210605" y="3657600"/>
            <a:ext cx="2602382" cy="1645920"/>
          </a:xfrm>
          <a:prstGeom prst="roundRect">
            <a:avLst>
              <a:gd name="adj" fmla="val 6667"/>
            </a:avLst>
          </a:prstGeom>
          <a:solidFill>
            <a:schemeClr val="bg1"/>
          </a:solidFill>
          <a:ln w="9525">
            <a:solidFill>
              <a:schemeClr val="accent5"/>
            </a:solidFill>
            <a:prstDash val="solid"/>
          </a:ln>
        </p:spPr>
      </p:sp>
      <p:sp>
        <p:nvSpPr>
          <p:cNvPr id="24" name="o6-t0"/>
          <p:cNvSpPr txBox="1"/>
          <p:nvPr/>
        </p:nvSpPr>
        <p:spPr>
          <a:xfrm>
            <a:off x="6484925" y="3931920"/>
            <a:ext cx="2053742" cy="320040"/>
          </a:xfrm>
          <a:prstGeom prst="rect">
            <a:avLst/>
          </a:prstGeom>
          <a:noFill/>
          <a:ln/>
        </p:spPr>
        <p:txBody>
          <a:bodyPr wrap="square" lIns="0" tIns="0" rIns="0" bIns="0" rtlCol="0" anchor="t"/>
          <a:lstStyle/>
          <a:p>
            <a:pPr indent="0" marL="0">
              <a:lnSpc>
                <a:spcPct val="105000"/>
              </a:lnSpc>
              <a:buNone/>
            </a:pPr>
            <a:r>
              <a:rPr lang="en-US" sz="1600" b="1" dirty="0">
                <a:solidFill>
                  <a:schemeClr val="accent1"/>
                </a:solidFill>
                <a:latin typeface="Courier New" pitchFamily="34" charset="0"/>
                <a:ea typeface="Courier New" pitchFamily="34" charset="-122"/>
                <a:cs typeface="Courier New" pitchFamily="34" charset="-120"/>
              </a:rPr>
              <a:t>07</a:t>
            </a:r>
            <a:endParaRPr lang="en-US" sz="1600" dirty="0"/>
          </a:p>
        </p:txBody>
      </p:sp>
      <p:sp>
        <p:nvSpPr>
          <p:cNvPr id="25" name="o6-t1"/>
          <p:cNvSpPr txBox="1"/>
          <p:nvPr/>
        </p:nvSpPr>
        <p:spPr>
          <a:xfrm>
            <a:off x="6484925" y="4361688"/>
            <a:ext cx="2053742" cy="822960"/>
          </a:xfrm>
          <a:prstGeom prst="rect">
            <a:avLst/>
          </a:prstGeom>
          <a:noFill/>
          <a:ln/>
        </p:spPr>
        <p:txBody>
          <a:bodyPr wrap="square" lIns="0" tIns="0" rIns="0" bIns="0" rtlCol="0" anchor="t"/>
          <a:lstStyle/>
          <a:p>
            <a:pPr indent="0" marL="0">
              <a:lnSpc>
                <a:spcPct val="105000"/>
              </a:lnSpc>
              <a:buNone/>
            </a:pPr>
            <a:r>
              <a:rPr lang="en-US" sz="1800" dirty="0">
                <a:solidFill>
                  <a:schemeClr val="tx1"/>
                </a:solidFill>
              </a:rPr>
              <a:t>Live logs with search</a:t>
            </a:r>
            <a:endParaRPr lang="en-US" sz="1800" dirty="0"/>
          </a:p>
        </p:txBody>
      </p:sp>
      <p:sp>
        <p:nvSpPr>
          <p:cNvPr id="26" name="o7-box"/>
          <p:cNvSpPr/>
          <p:nvPr/>
        </p:nvSpPr>
        <p:spPr>
          <a:xfrm>
            <a:off x="9041587" y="3657600"/>
            <a:ext cx="2602382" cy="1645920"/>
          </a:xfrm>
          <a:prstGeom prst="roundRect">
            <a:avLst>
              <a:gd name="adj" fmla="val 6667"/>
            </a:avLst>
          </a:prstGeom>
          <a:solidFill>
            <a:schemeClr val="bg1"/>
          </a:solidFill>
          <a:ln w="9525">
            <a:solidFill>
              <a:schemeClr val="accent5"/>
            </a:solidFill>
            <a:prstDash val="solid"/>
          </a:ln>
        </p:spPr>
      </p:sp>
      <p:sp>
        <p:nvSpPr>
          <p:cNvPr id="27" name="o7-t0"/>
          <p:cNvSpPr txBox="1"/>
          <p:nvPr/>
        </p:nvSpPr>
        <p:spPr>
          <a:xfrm>
            <a:off x="9315907" y="3931920"/>
            <a:ext cx="2053742" cy="320040"/>
          </a:xfrm>
          <a:prstGeom prst="rect">
            <a:avLst/>
          </a:prstGeom>
          <a:noFill/>
          <a:ln/>
        </p:spPr>
        <p:txBody>
          <a:bodyPr wrap="square" lIns="0" tIns="0" rIns="0" bIns="0" rtlCol="0" anchor="t"/>
          <a:lstStyle/>
          <a:p>
            <a:pPr indent="0" marL="0">
              <a:lnSpc>
                <a:spcPct val="105000"/>
              </a:lnSpc>
              <a:buNone/>
            </a:pPr>
            <a:r>
              <a:rPr lang="en-US" sz="1600" b="1" dirty="0">
                <a:solidFill>
                  <a:schemeClr val="accent1"/>
                </a:solidFill>
                <a:latin typeface="Courier New" pitchFamily="34" charset="0"/>
                <a:ea typeface="Courier New" pitchFamily="34" charset="-122"/>
                <a:cs typeface="Courier New" pitchFamily="34" charset="-120"/>
              </a:rPr>
              <a:t>08</a:t>
            </a:r>
            <a:endParaRPr lang="en-US" sz="1600" dirty="0"/>
          </a:p>
        </p:txBody>
      </p:sp>
      <p:sp>
        <p:nvSpPr>
          <p:cNvPr id="28" name="o7-t1"/>
          <p:cNvSpPr txBox="1"/>
          <p:nvPr/>
        </p:nvSpPr>
        <p:spPr>
          <a:xfrm>
            <a:off x="9315907" y="4361688"/>
            <a:ext cx="2053742" cy="822960"/>
          </a:xfrm>
          <a:prstGeom prst="rect">
            <a:avLst/>
          </a:prstGeom>
          <a:noFill/>
          <a:ln/>
        </p:spPr>
        <p:txBody>
          <a:bodyPr wrap="square" lIns="0" tIns="0" rIns="0" bIns="0" rtlCol="0" anchor="t"/>
          <a:lstStyle/>
          <a:p>
            <a:pPr indent="0" marL="0">
              <a:lnSpc>
                <a:spcPct val="105000"/>
              </a:lnSpc>
              <a:buNone/>
            </a:pPr>
            <a:r>
              <a:rPr lang="en-US" sz="1800" dirty="0">
                <a:solidFill>
                  <a:schemeClr val="tx1"/>
                </a:solidFill>
              </a:rPr>
              <a:t>PDF report and CSV export</a:t>
            </a:r>
            <a:endParaRPr lang="en-US" sz="1800" dirty="0"/>
          </a:p>
        </p:txBody>
      </p:sp>
      <p:sp>
        <p:nvSpPr>
          <p:cNvPr id="29"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5568"/>
                </a:solidFill>
              </a:defRPr>
            </a:lvl1pPr>
          </a:lstStyle>
          <a:p>
            <a:pPr algn="r"/>
            <a:fld id="{F7021451-1387-4CA6-816F-3879F97B5CBC}" type="slidenum">
              <a:rPr b="0" lang="en-US"/>
              <a:t>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additive="base">
                                        <p:cTn id="6" dur="500" fill="hold"/>
                                        <p:tgtEl>
                                          <p:spTgt spid="5"/>
                                        </p:tgtEl>
                                        <p:attrNameLst>
                                          <p:attrName>ppt_w</p:attrName>
                                        </p:attrNameLst>
                                      </p:cBhvr>
                                      <p:tavLst>
                                        <p:tav tm="0">
                                          <p:val>
                                            <p:strVal val="0"/>
                                          </p:val>
                                        </p:tav>
                                        <p:tav tm="100000">
                                          <p:val>
                                            <p:strVal val="#ppt_w"/>
                                          </p:val>
                                        </p:tav>
                                      </p:tavLst>
                                    </p:anim>
                                    <p:anim calcmode="lin" valueType="num">
                                      <p:cBhvr additive="base">
                                        <p:cTn id="7" dur="500" fill="hold"/>
                                        <p:tgtEl>
                                          <p:spTgt spid="5"/>
                                        </p:tgtEl>
                                        <p:attrNameLst>
                                          <p:attrName>ppt_h</p:attrName>
                                        </p:attrNameLst>
                                      </p:cBhvr>
                                      <p:tavLst>
                                        <p:tav tm="0">
                                          <p:val>
                                            <p:strVal val="0"/>
                                          </p:val>
                                        </p:tav>
                                        <p:tav tm="100000">
                                          <p:val>
                                            <p:strVal val="#ppt_h"/>
                                          </p:val>
                                        </p:tav>
                                      </p:tavLst>
                                    </p:anim>
                                    <p:animEffect transition="in" filter="fade">
                                      <p:cBhvr>
                                        <p:cTn id="8" dur="500"/>
                                        <p:tgtEl>
                                          <p:spTgt spid="5"/>
                                        </p:tgtEl>
                                      </p:cBhvr>
                                    </p:animEffect>
                                  </p:childTnLst>
                                </p:cTn>
                              </p:par>
                              <p:par>
                                <p:cTn id="14" presetID="53" presetClass="entr" presetSubtype="16"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ppt_w</p:attrName>
                                        </p:attrNameLst>
                                      </p:cBhvr>
                                      <p:tavLst>
                                        <p:tav tm="0">
                                          <p:val>
                                            <p:strVal val="0"/>
                                          </p:val>
                                        </p:tav>
                                        <p:tav tm="100000">
                                          <p:val>
                                            <p:strVal val="#ppt_w"/>
                                          </p:val>
                                        </p:tav>
                                      </p:tavLst>
                                    </p:anim>
                                    <p:anim calcmode="lin" valueType="num">
                                      <p:cBhvr additive="base">
                                        <p:cTn id="12" dur="500" fill="hold"/>
                                        <p:tgtEl>
                                          <p:spTgt spid="6"/>
                                        </p:tgtEl>
                                        <p:attrNameLst>
                                          <p:attrName>ppt_h</p:attrName>
                                        </p:attrNameLst>
                                      </p:cBhvr>
                                      <p:tavLst>
                                        <p:tav tm="0">
                                          <p:val>
                                            <p:strVal val="0"/>
                                          </p:val>
                                        </p:tav>
                                        <p:tav tm="100000">
                                          <p:val>
                                            <p:strVal val="#ppt_h"/>
                                          </p:val>
                                        </p:tav>
                                      </p:tavLst>
                                    </p:anim>
                                    <p:animEffect transition="in" filter="fade">
                                      <p:cBhvr>
                                        <p:cTn id="13" dur="500"/>
                                        <p:tgtEl>
                                          <p:spTgt spid="6"/>
                                        </p:tgtEl>
                                      </p:cBhvr>
                                    </p:animEffect>
                                  </p:childTnLst>
                                </p:cTn>
                              </p:par>
                              <p:par>
                                <p:cTn id="19" presetID="53" presetClass="entr" presetSubtype="16"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additive="base">
                                        <p:cTn id="16" dur="500" fill="hold"/>
                                        <p:tgtEl>
                                          <p:spTgt spid="7"/>
                                        </p:tgtEl>
                                        <p:attrNameLst>
                                          <p:attrName>ppt_w</p:attrName>
                                        </p:attrNameLst>
                                      </p:cBhvr>
                                      <p:tavLst>
                                        <p:tav tm="0">
                                          <p:val>
                                            <p:strVal val="0"/>
                                          </p:val>
                                        </p:tav>
                                        <p:tav tm="100000">
                                          <p:val>
                                            <p:strVal val="#ppt_w"/>
                                          </p:val>
                                        </p:tav>
                                      </p:tavLst>
                                    </p:anim>
                                    <p:anim calcmode="lin" valueType="num">
                                      <p:cBhvr additive="base">
                                        <p:cTn id="17" dur="500" fill="hold"/>
                                        <p:tgtEl>
                                          <p:spTgt spid="7"/>
                                        </p:tgtEl>
                                        <p:attrNameLst>
                                          <p:attrName>ppt_h</p:attrName>
                                        </p:attrNameLst>
                                      </p:cBhvr>
                                      <p:tavLst>
                                        <p:tav tm="0">
                                          <p:val>
                                            <p:strVal val="0"/>
                                          </p:val>
                                        </p:tav>
                                        <p:tav tm="100000">
                                          <p:val>
                                            <p:strVal val="#ppt_h"/>
                                          </p:val>
                                        </p:tav>
                                      </p:tavLst>
                                    </p:anim>
                                    <p:animEffect transition="in" filter="fade">
                                      <p:cBhvr>
                                        <p:cTn id="18" dur="500"/>
                                        <p:tgtEl>
                                          <p:spTgt spid="7"/>
                                        </p:tgtEl>
                                      </p:cBhvr>
                                    </p:animEffect>
                                  </p:childTnLst>
                                </p:cTn>
                              </p:par>
                              <p:par>
                                <p:cTn id="24" presetID="53" presetClass="entr" presetSubtype="16"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fill="hold"/>
                                        <p:tgtEl>
                                          <p:spTgt spid="8"/>
                                        </p:tgtEl>
                                        <p:attrNameLst>
                                          <p:attrName>ppt_w</p:attrName>
                                        </p:attrNameLst>
                                      </p:cBhvr>
                                      <p:tavLst>
                                        <p:tav tm="0">
                                          <p:val>
                                            <p:strVal val="0"/>
                                          </p:val>
                                        </p:tav>
                                        <p:tav tm="100000">
                                          <p:val>
                                            <p:strVal val="#ppt_w"/>
                                          </p:val>
                                        </p:tav>
                                      </p:tavLst>
                                    </p:anim>
                                    <p:anim calcmode="lin" valueType="num">
                                      <p:cBhvr additive="base">
                                        <p:cTn id="22" dur="500" fill="hold"/>
                                        <p:tgtEl>
                                          <p:spTgt spid="8"/>
                                        </p:tgtEl>
                                        <p:attrNameLst>
                                          <p:attrName>ppt_h</p:attrName>
                                        </p:attrNameLst>
                                      </p:cBhvr>
                                      <p:tavLst>
                                        <p:tav tm="0">
                                          <p:val>
                                            <p:strVal val="0"/>
                                          </p:val>
                                        </p:tav>
                                        <p:tav tm="100000">
                                          <p:val>
                                            <p:strVal val="#ppt_h"/>
                                          </p:val>
                                        </p:tav>
                                      </p:tavLst>
                                    </p:anim>
                                    <p:animEffect transition="in" filter="fade">
                                      <p:cBhvr>
                                        <p:cTn id="23" dur="500"/>
                                        <p:tgtEl>
                                          <p:spTgt spid="8"/>
                                        </p:tgtEl>
                                      </p:cBhvr>
                                    </p:animEffect>
                                  </p:childTnLst>
                                </p:cTn>
                              </p:par>
                              <p:par>
                                <p:cTn id="29" presetID="53" presetClass="entr" presetSubtype="16"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 calcmode="lin" valueType="num">
                                      <p:cBhvr additive="base">
                                        <p:cTn id="26" dur="500" fill="hold"/>
                                        <p:tgtEl>
                                          <p:spTgt spid="9"/>
                                        </p:tgtEl>
                                        <p:attrNameLst>
                                          <p:attrName>ppt_w</p:attrName>
                                        </p:attrNameLst>
                                      </p:cBhvr>
                                      <p:tavLst>
                                        <p:tav tm="0">
                                          <p:val>
                                            <p:strVal val="0"/>
                                          </p:val>
                                        </p:tav>
                                        <p:tav tm="100000">
                                          <p:val>
                                            <p:strVal val="#ppt_w"/>
                                          </p:val>
                                        </p:tav>
                                      </p:tavLst>
                                    </p:anim>
                                    <p:anim calcmode="lin" valueType="num">
                                      <p:cBhvr additive="base">
                                        <p:cTn id="27" dur="500" fill="hold"/>
                                        <p:tgtEl>
                                          <p:spTgt spid="9"/>
                                        </p:tgtEl>
                                        <p:attrNameLst>
                                          <p:attrName>ppt_h</p:attrName>
                                        </p:attrNameLst>
                                      </p:cBhvr>
                                      <p:tavLst>
                                        <p:tav tm="0">
                                          <p:val>
                                            <p:strVal val="0"/>
                                          </p:val>
                                        </p:tav>
                                        <p:tav tm="100000">
                                          <p:val>
                                            <p:strVal val="#ppt_h"/>
                                          </p:val>
                                        </p:tav>
                                      </p:tavLst>
                                    </p:anim>
                                    <p:animEffect transition="in" filter="fade">
                                      <p:cBhvr>
                                        <p:cTn id="28" dur="500"/>
                                        <p:tgtEl>
                                          <p:spTgt spid="9"/>
                                        </p:tgtEl>
                                      </p:cBhvr>
                                    </p:animEffect>
                                  </p:childTnLst>
                                </p:cTn>
                              </p:par>
                              <p:par>
                                <p:cTn id="34" presetID="53" presetClass="entr" presetSubtype="16"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ppt_w</p:attrName>
                                        </p:attrNameLst>
                                      </p:cBhvr>
                                      <p:tavLst>
                                        <p:tav tm="0">
                                          <p:val>
                                            <p:strVal val="0"/>
                                          </p:val>
                                        </p:tav>
                                        <p:tav tm="100000">
                                          <p:val>
                                            <p:strVal val="#ppt_w"/>
                                          </p:val>
                                        </p:tav>
                                      </p:tavLst>
                                    </p:anim>
                                    <p:anim calcmode="lin" valueType="num">
                                      <p:cBhvr additive="base">
                                        <p:cTn id="32" dur="500" fill="hold"/>
                                        <p:tgtEl>
                                          <p:spTgt spid="10"/>
                                        </p:tgtEl>
                                        <p:attrNameLst>
                                          <p:attrName>ppt_h</p:attrName>
                                        </p:attrNameLst>
                                      </p:cBhvr>
                                      <p:tavLst>
                                        <p:tav tm="0">
                                          <p:val>
                                            <p:strVal val="0"/>
                                          </p:val>
                                        </p:tav>
                                        <p:tav tm="100000">
                                          <p:val>
                                            <p:strVal val="#ppt_h"/>
                                          </p:val>
                                        </p:tav>
                                      </p:tavLst>
                                    </p:anim>
                                    <p:animEffect transition="in" filter="fade">
                                      <p:cBhvr>
                                        <p:cTn id="33" dur="500"/>
                                        <p:tgtEl>
                                          <p:spTgt spid="10"/>
                                        </p:tgtEl>
                                      </p:cBhvr>
                                    </p:animEffect>
                                  </p:childTnLst>
                                </p:cTn>
                              </p:par>
                              <p:par>
                                <p:cTn id="39" presetID="53" presetClass="entr" presetSubtype="16" fill="hold" grpId="0" nodeType="withEffect">
                                  <p:stCondLst>
                                    <p:cond delay="0"/>
                                  </p:stCondLst>
                                  <p:childTnLst>
                                    <p:set>
                                      <p:cBhvr>
                                        <p:cTn id="35" dur="1" fill="hold">
                                          <p:stCondLst>
                                            <p:cond delay="0"/>
                                          </p:stCondLst>
                                        </p:cTn>
                                        <p:tgtEl>
                                          <p:spTgt spid="11"/>
                                        </p:tgtEl>
                                        <p:attrNameLst>
                                          <p:attrName>style.visibility</p:attrName>
                                        </p:attrNameLst>
                                      </p:cBhvr>
                                      <p:to>
                                        <p:strVal val="visible"/>
                                      </p:to>
                                    </p:set>
                                    <p:anim calcmode="lin" valueType="num">
                                      <p:cBhvr additive="base">
                                        <p:cTn id="36" dur="500" fill="hold"/>
                                        <p:tgtEl>
                                          <p:spTgt spid="11"/>
                                        </p:tgtEl>
                                        <p:attrNameLst>
                                          <p:attrName>ppt_w</p:attrName>
                                        </p:attrNameLst>
                                      </p:cBhvr>
                                      <p:tavLst>
                                        <p:tav tm="0">
                                          <p:val>
                                            <p:strVal val="0"/>
                                          </p:val>
                                        </p:tav>
                                        <p:tav tm="100000">
                                          <p:val>
                                            <p:strVal val="#ppt_w"/>
                                          </p:val>
                                        </p:tav>
                                      </p:tavLst>
                                    </p:anim>
                                    <p:anim calcmode="lin" valueType="num">
                                      <p:cBhvr additive="base">
                                        <p:cTn id="37" dur="500" fill="hold"/>
                                        <p:tgtEl>
                                          <p:spTgt spid="11"/>
                                        </p:tgtEl>
                                        <p:attrNameLst>
                                          <p:attrName>ppt_h</p:attrName>
                                        </p:attrNameLst>
                                      </p:cBhvr>
                                      <p:tavLst>
                                        <p:tav tm="0">
                                          <p:val>
                                            <p:strVal val="0"/>
                                          </p:val>
                                        </p:tav>
                                        <p:tav tm="100000">
                                          <p:val>
                                            <p:strVal val="#ppt_h"/>
                                          </p:val>
                                        </p:tav>
                                      </p:tavLst>
                                    </p:anim>
                                    <p:animEffect transition="in" filter="fade">
                                      <p:cBhvr>
                                        <p:cTn id="38" dur="500"/>
                                        <p:tgtEl>
                                          <p:spTgt spid="11"/>
                                        </p:tgtEl>
                                      </p:cBhvr>
                                    </p:animEffect>
                                  </p:childTnLst>
                                </p:cTn>
                              </p:par>
                              <p:par>
                                <p:cTn id="44" presetID="53" presetClass="entr" presetSubtype="16"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anim calcmode="lin" valueType="num">
                                      <p:cBhvr additive="base">
                                        <p:cTn id="41" dur="500" fill="hold"/>
                                        <p:tgtEl>
                                          <p:spTgt spid="12"/>
                                        </p:tgtEl>
                                        <p:attrNameLst>
                                          <p:attrName>ppt_w</p:attrName>
                                        </p:attrNameLst>
                                      </p:cBhvr>
                                      <p:tavLst>
                                        <p:tav tm="0">
                                          <p:val>
                                            <p:strVal val="0"/>
                                          </p:val>
                                        </p:tav>
                                        <p:tav tm="100000">
                                          <p:val>
                                            <p:strVal val="#ppt_w"/>
                                          </p:val>
                                        </p:tav>
                                      </p:tavLst>
                                    </p:anim>
                                    <p:anim calcmode="lin" valueType="num">
                                      <p:cBhvr additive="base">
                                        <p:cTn id="42" dur="500" fill="hold"/>
                                        <p:tgtEl>
                                          <p:spTgt spid="12"/>
                                        </p:tgtEl>
                                        <p:attrNameLst>
                                          <p:attrName>ppt_h</p:attrName>
                                        </p:attrNameLst>
                                      </p:cBhvr>
                                      <p:tavLst>
                                        <p:tav tm="0">
                                          <p:val>
                                            <p:strVal val="0"/>
                                          </p:val>
                                        </p:tav>
                                        <p:tav tm="100000">
                                          <p:val>
                                            <p:strVal val="#ppt_h"/>
                                          </p:val>
                                        </p:tav>
                                      </p:tavLst>
                                    </p:anim>
                                    <p:animEffect transition="in" filter="fade">
                                      <p:cBhvr>
                                        <p:cTn id="43" dur="500"/>
                                        <p:tgtEl>
                                          <p:spTgt spid="12"/>
                                        </p:tgtEl>
                                      </p:cBhvr>
                                    </p:animEffect>
                                  </p:childTnLst>
                                </p:cTn>
                              </p:par>
                              <p:par>
                                <p:cTn id="49" presetID="53" presetClass="entr" presetSubtype="16" fill="hold" grpId="0" nodeType="withEffect">
                                  <p:stCondLst>
                                    <p:cond delay="0"/>
                                  </p:stCondLst>
                                  <p:childTnLst>
                                    <p:set>
                                      <p:cBhvr>
                                        <p:cTn id="45" dur="1" fill="hold">
                                          <p:stCondLst>
                                            <p:cond delay="0"/>
                                          </p:stCondLst>
                                        </p:cTn>
                                        <p:tgtEl>
                                          <p:spTgt spid="13"/>
                                        </p:tgtEl>
                                        <p:attrNameLst>
                                          <p:attrName>style.visibility</p:attrName>
                                        </p:attrNameLst>
                                      </p:cBhvr>
                                      <p:to>
                                        <p:strVal val="visible"/>
                                      </p:to>
                                    </p:set>
                                    <p:anim calcmode="lin" valueType="num">
                                      <p:cBhvr additive="base">
                                        <p:cTn id="46" dur="500" fill="hold"/>
                                        <p:tgtEl>
                                          <p:spTgt spid="13"/>
                                        </p:tgtEl>
                                        <p:attrNameLst>
                                          <p:attrName>ppt_w</p:attrName>
                                        </p:attrNameLst>
                                      </p:cBhvr>
                                      <p:tavLst>
                                        <p:tav tm="0">
                                          <p:val>
                                            <p:strVal val="0"/>
                                          </p:val>
                                        </p:tav>
                                        <p:tav tm="100000">
                                          <p:val>
                                            <p:strVal val="#ppt_w"/>
                                          </p:val>
                                        </p:tav>
                                      </p:tavLst>
                                    </p:anim>
                                    <p:anim calcmode="lin" valueType="num">
                                      <p:cBhvr additive="base">
                                        <p:cTn id="47" dur="500" fill="hold"/>
                                        <p:tgtEl>
                                          <p:spTgt spid="13"/>
                                        </p:tgtEl>
                                        <p:attrNameLst>
                                          <p:attrName>ppt_h</p:attrName>
                                        </p:attrNameLst>
                                      </p:cBhvr>
                                      <p:tavLst>
                                        <p:tav tm="0">
                                          <p:val>
                                            <p:strVal val="0"/>
                                          </p:val>
                                        </p:tav>
                                        <p:tav tm="100000">
                                          <p:val>
                                            <p:strVal val="#ppt_h"/>
                                          </p:val>
                                        </p:tav>
                                      </p:tavLst>
                                    </p:anim>
                                    <p:animEffect transition="in" filter="fade">
                                      <p:cBhvr>
                                        <p:cTn id="48" dur="500"/>
                                        <p:tgtEl>
                                          <p:spTgt spid="13"/>
                                        </p:tgtEl>
                                      </p:cBhvr>
                                    </p:animEffect>
                                  </p:childTnLst>
                                </p:cTn>
                              </p:par>
                              <p:par>
                                <p:cTn id="54" presetID="53" presetClass="entr" presetSubtype="16" fill="hold" grpId="0" nodeType="withEffect">
                                  <p:stCondLst>
                                    <p:cond delay="0"/>
                                  </p:stCondLst>
                                  <p:childTnLst>
                                    <p:set>
                                      <p:cBhvr>
                                        <p:cTn id="50" dur="1" fill="hold">
                                          <p:stCondLst>
                                            <p:cond delay="0"/>
                                          </p:stCondLst>
                                        </p:cTn>
                                        <p:tgtEl>
                                          <p:spTgt spid="14"/>
                                        </p:tgtEl>
                                        <p:attrNameLst>
                                          <p:attrName>style.visibility</p:attrName>
                                        </p:attrNameLst>
                                      </p:cBhvr>
                                      <p:to>
                                        <p:strVal val="visible"/>
                                      </p:to>
                                    </p:set>
                                    <p:anim calcmode="lin" valueType="num">
                                      <p:cBhvr additive="base">
                                        <p:cTn id="51" dur="500" fill="hold"/>
                                        <p:tgtEl>
                                          <p:spTgt spid="14"/>
                                        </p:tgtEl>
                                        <p:attrNameLst>
                                          <p:attrName>ppt_w</p:attrName>
                                        </p:attrNameLst>
                                      </p:cBhvr>
                                      <p:tavLst>
                                        <p:tav tm="0">
                                          <p:val>
                                            <p:strVal val="0"/>
                                          </p:val>
                                        </p:tav>
                                        <p:tav tm="100000">
                                          <p:val>
                                            <p:strVal val="#ppt_w"/>
                                          </p:val>
                                        </p:tav>
                                      </p:tavLst>
                                    </p:anim>
                                    <p:anim calcmode="lin" valueType="num">
                                      <p:cBhvr additive="base">
                                        <p:cTn id="52" dur="500" fill="hold"/>
                                        <p:tgtEl>
                                          <p:spTgt spid="14"/>
                                        </p:tgtEl>
                                        <p:attrNameLst>
                                          <p:attrName>ppt_h</p:attrName>
                                        </p:attrNameLst>
                                      </p:cBhvr>
                                      <p:tavLst>
                                        <p:tav tm="0">
                                          <p:val>
                                            <p:strVal val="0"/>
                                          </p:val>
                                        </p:tav>
                                        <p:tav tm="100000">
                                          <p:val>
                                            <p:strVal val="#ppt_h"/>
                                          </p:val>
                                        </p:tav>
                                      </p:tavLst>
                                    </p:anim>
                                    <p:animEffect transition="in" filter="fade">
                                      <p:cBhvr>
                                        <p:cTn id="53" dur="500"/>
                                        <p:tgtEl>
                                          <p:spTgt spid="14"/>
                                        </p:tgtEl>
                                      </p:cBhvr>
                                    </p:animEffect>
                                  </p:childTnLst>
                                </p:cTn>
                              </p:par>
                              <p:par>
                                <p:cTn id="59" presetID="53" presetClass="entr" presetSubtype="16" fill="hold" grpId="0" nodeType="withEffect">
                                  <p:stCondLst>
                                    <p:cond delay="0"/>
                                  </p:stCondLst>
                                  <p:childTnLst>
                                    <p:set>
                                      <p:cBhvr>
                                        <p:cTn id="55" dur="1" fill="hold">
                                          <p:stCondLst>
                                            <p:cond delay="0"/>
                                          </p:stCondLst>
                                        </p:cTn>
                                        <p:tgtEl>
                                          <p:spTgt spid="15"/>
                                        </p:tgtEl>
                                        <p:attrNameLst>
                                          <p:attrName>style.visibility</p:attrName>
                                        </p:attrNameLst>
                                      </p:cBhvr>
                                      <p:to>
                                        <p:strVal val="visible"/>
                                      </p:to>
                                    </p:set>
                                    <p:anim calcmode="lin" valueType="num">
                                      <p:cBhvr additive="base">
                                        <p:cTn id="56" dur="500" fill="hold"/>
                                        <p:tgtEl>
                                          <p:spTgt spid="15"/>
                                        </p:tgtEl>
                                        <p:attrNameLst>
                                          <p:attrName>ppt_w</p:attrName>
                                        </p:attrNameLst>
                                      </p:cBhvr>
                                      <p:tavLst>
                                        <p:tav tm="0">
                                          <p:val>
                                            <p:strVal val="0"/>
                                          </p:val>
                                        </p:tav>
                                        <p:tav tm="100000">
                                          <p:val>
                                            <p:strVal val="#ppt_w"/>
                                          </p:val>
                                        </p:tav>
                                      </p:tavLst>
                                    </p:anim>
                                    <p:anim calcmode="lin" valueType="num">
                                      <p:cBhvr additive="base">
                                        <p:cTn id="57" dur="500" fill="hold"/>
                                        <p:tgtEl>
                                          <p:spTgt spid="15"/>
                                        </p:tgtEl>
                                        <p:attrNameLst>
                                          <p:attrName>ppt_h</p:attrName>
                                        </p:attrNameLst>
                                      </p:cBhvr>
                                      <p:tavLst>
                                        <p:tav tm="0">
                                          <p:val>
                                            <p:strVal val="0"/>
                                          </p:val>
                                        </p:tav>
                                        <p:tav tm="100000">
                                          <p:val>
                                            <p:strVal val="#ppt_h"/>
                                          </p:val>
                                        </p:tav>
                                      </p:tavLst>
                                    </p:anim>
                                    <p:animEffect transition="in" filter="fade">
                                      <p:cBhvr>
                                        <p:cTn id="58" dur="500"/>
                                        <p:tgtEl>
                                          <p:spTgt spid="15"/>
                                        </p:tgtEl>
                                      </p:cBhvr>
                                    </p:animEffect>
                                  </p:childTnLst>
                                </p:cTn>
                              </p:par>
                              <p:par>
                                <p:cTn id="64" presetID="53" presetClass="entr" presetSubtype="16" fill="hold" grpId="0" nodeType="withEffect">
                                  <p:stCondLst>
                                    <p:cond delay="0"/>
                                  </p:stCondLst>
                                  <p:childTnLst>
                                    <p:set>
                                      <p:cBhvr>
                                        <p:cTn id="60" dur="1" fill="hold">
                                          <p:stCondLst>
                                            <p:cond delay="0"/>
                                          </p:stCondLst>
                                        </p:cTn>
                                        <p:tgtEl>
                                          <p:spTgt spid="16"/>
                                        </p:tgtEl>
                                        <p:attrNameLst>
                                          <p:attrName>style.visibility</p:attrName>
                                        </p:attrNameLst>
                                      </p:cBhvr>
                                      <p:to>
                                        <p:strVal val="visible"/>
                                      </p:to>
                                    </p:set>
                                    <p:anim calcmode="lin" valueType="num">
                                      <p:cBhvr additive="base">
                                        <p:cTn id="61" dur="500" fill="hold"/>
                                        <p:tgtEl>
                                          <p:spTgt spid="16"/>
                                        </p:tgtEl>
                                        <p:attrNameLst>
                                          <p:attrName>ppt_w</p:attrName>
                                        </p:attrNameLst>
                                      </p:cBhvr>
                                      <p:tavLst>
                                        <p:tav tm="0">
                                          <p:val>
                                            <p:strVal val="0"/>
                                          </p:val>
                                        </p:tav>
                                        <p:tav tm="100000">
                                          <p:val>
                                            <p:strVal val="#ppt_w"/>
                                          </p:val>
                                        </p:tav>
                                      </p:tavLst>
                                    </p:anim>
                                    <p:anim calcmode="lin" valueType="num">
                                      <p:cBhvr additive="base">
                                        <p:cTn id="62" dur="500" fill="hold"/>
                                        <p:tgtEl>
                                          <p:spTgt spid="16"/>
                                        </p:tgtEl>
                                        <p:attrNameLst>
                                          <p:attrName>ppt_h</p:attrName>
                                        </p:attrNameLst>
                                      </p:cBhvr>
                                      <p:tavLst>
                                        <p:tav tm="0">
                                          <p:val>
                                            <p:strVal val="0"/>
                                          </p:val>
                                        </p:tav>
                                        <p:tav tm="100000">
                                          <p:val>
                                            <p:strVal val="#ppt_h"/>
                                          </p:val>
                                        </p:tav>
                                      </p:tavLst>
                                    </p:anim>
                                    <p:animEffect transition="in" filter="fade">
                                      <p:cBhvr>
                                        <p:cTn id="63" dur="500"/>
                                        <p:tgtEl>
                                          <p:spTgt spid="16"/>
                                        </p:tgtEl>
                                      </p:cBhvr>
                                    </p:animEffect>
                                  </p:childTnLst>
                                </p:cTn>
                              </p:par>
                            </p:childTnLst>
                          </p:cTn>
                        </p:par>
                      </p:childTnLst>
                    </p:cTn>
                  </p:par>
                  <p:par>
                    <p:cTn id="65" fill="hold">
                      <p:stCondLst>
                        <p:cond delay="indefinite"/>
                      </p:stCondLst>
                      <p:childTnLst>
                        <p:par>
                          <p:cTn id="66" fill="hold">
                            <p:stCondLst>
                              <p:cond delay="0"/>
                            </p:stCondLst>
                            <p:childTnLst>
                              <p:par>
                                <p:cTn id="71" presetID="53" presetClass="entr" presetSubtype="16" fill="hold" grpId="0" nodeType="clickEffect">
                                  <p:stCondLst>
                                    <p:cond delay="0"/>
                                  </p:stCondLst>
                                  <p:childTnLst>
                                    <p:set>
                                      <p:cBhvr>
                                        <p:cTn id="67" dur="1" fill="hold">
                                          <p:stCondLst>
                                            <p:cond delay="0"/>
                                          </p:stCondLst>
                                        </p:cTn>
                                        <p:tgtEl>
                                          <p:spTgt spid="17"/>
                                        </p:tgtEl>
                                        <p:attrNameLst>
                                          <p:attrName>style.visibility</p:attrName>
                                        </p:attrNameLst>
                                      </p:cBhvr>
                                      <p:to>
                                        <p:strVal val="visible"/>
                                      </p:to>
                                    </p:set>
                                    <p:anim calcmode="lin" valueType="num">
                                      <p:cBhvr additive="base">
                                        <p:cTn id="68" dur="500" fill="hold"/>
                                        <p:tgtEl>
                                          <p:spTgt spid="17"/>
                                        </p:tgtEl>
                                        <p:attrNameLst>
                                          <p:attrName>ppt_w</p:attrName>
                                        </p:attrNameLst>
                                      </p:cBhvr>
                                      <p:tavLst>
                                        <p:tav tm="0">
                                          <p:val>
                                            <p:strVal val="0"/>
                                          </p:val>
                                        </p:tav>
                                        <p:tav tm="100000">
                                          <p:val>
                                            <p:strVal val="#ppt_w"/>
                                          </p:val>
                                        </p:tav>
                                      </p:tavLst>
                                    </p:anim>
                                    <p:anim calcmode="lin" valueType="num">
                                      <p:cBhvr additive="base">
                                        <p:cTn id="69" dur="500" fill="hold"/>
                                        <p:tgtEl>
                                          <p:spTgt spid="17"/>
                                        </p:tgtEl>
                                        <p:attrNameLst>
                                          <p:attrName>ppt_h</p:attrName>
                                        </p:attrNameLst>
                                      </p:cBhvr>
                                      <p:tavLst>
                                        <p:tav tm="0">
                                          <p:val>
                                            <p:strVal val="0"/>
                                          </p:val>
                                        </p:tav>
                                        <p:tav tm="100000">
                                          <p:val>
                                            <p:strVal val="#ppt_h"/>
                                          </p:val>
                                        </p:tav>
                                      </p:tavLst>
                                    </p:anim>
                                    <p:animEffect transition="in" filter="fade">
                                      <p:cBhvr>
                                        <p:cTn id="70" dur="500"/>
                                        <p:tgtEl>
                                          <p:spTgt spid="17"/>
                                        </p:tgtEl>
                                      </p:cBhvr>
                                    </p:animEffect>
                                  </p:childTnLst>
                                </p:cTn>
                              </p:par>
                              <p:par>
                                <p:cTn id="76" presetID="53" presetClass="entr" presetSubtype="16" fill="hold" grpId="0" nodeType="withEffect">
                                  <p:stCondLst>
                                    <p:cond delay="0"/>
                                  </p:stCondLst>
                                  <p:childTnLst>
                                    <p:set>
                                      <p:cBhvr>
                                        <p:cTn id="72" dur="1" fill="hold">
                                          <p:stCondLst>
                                            <p:cond delay="0"/>
                                          </p:stCondLst>
                                        </p:cTn>
                                        <p:tgtEl>
                                          <p:spTgt spid="18"/>
                                        </p:tgtEl>
                                        <p:attrNameLst>
                                          <p:attrName>style.visibility</p:attrName>
                                        </p:attrNameLst>
                                      </p:cBhvr>
                                      <p:to>
                                        <p:strVal val="visible"/>
                                      </p:to>
                                    </p:set>
                                    <p:anim calcmode="lin" valueType="num">
                                      <p:cBhvr additive="base">
                                        <p:cTn id="73" dur="500" fill="hold"/>
                                        <p:tgtEl>
                                          <p:spTgt spid="18"/>
                                        </p:tgtEl>
                                        <p:attrNameLst>
                                          <p:attrName>ppt_w</p:attrName>
                                        </p:attrNameLst>
                                      </p:cBhvr>
                                      <p:tavLst>
                                        <p:tav tm="0">
                                          <p:val>
                                            <p:strVal val="0"/>
                                          </p:val>
                                        </p:tav>
                                        <p:tav tm="100000">
                                          <p:val>
                                            <p:strVal val="#ppt_w"/>
                                          </p:val>
                                        </p:tav>
                                      </p:tavLst>
                                    </p:anim>
                                    <p:anim calcmode="lin" valueType="num">
                                      <p:cBhvr additive="base">
                                        <p:cTn id="74" dur="500" fill="hold"/>
                                        <p:tgtEl>
                                          <p:spTgt spid="18"/>
                                        </p:tgtEl>
                                        <p:attrNameLst>
                                          <p:attrName>ppt_h</p:attrName>
                                        </p:attrNameLst>
                                      </p:cBhvr>
                                      <p:tavLst>
                                        <p:tav tm="0">
                                          <p:val>
                                            <p:strVal val="0"/>
                                          </p:val>
                                        </p:tav>
                                        <p:tav tm="100000">
                                          <p:val>
                                            <p:strVal val="#ppt_h"/>
                                          </p:val>
                                        </p:tav>
                                      </p:tavLst>
                                    </p:anim>
                                    <p:animEffect transition="in" filter="fade">
                                      <p:cBhvr>
                                        <p:cTn id="75" dur="500"/>
                                        <p:tgtEl>
                                          <p:spTgt spid="18"/>
                                        </p:tgtEl>
                                      </p:cBhvr>
                                    </p:animEffect>
                                  </p:childTnLst>
                                </p:cTn>
                              </p:par>
                              <p:par>
                                <p:cTn id="81" presetID="53" presetClass="entr" presetSubtype="16" fill="hold" grpId="0" nodeType="withEffect">
                                  <p:stCondLst>
                                    <p:cond delay="0"/>
                                  </p:stCondLst>
                                  <p:childTnLst>
                                    <p:set>
                                      <p:cBhvr>
                                        <p:cTn id="77" dur="1" fill="hold">
                                          <p:stCondLst>
                                            <p:cond delay="0"/>
                                          </p:stCondLst>
                                        </p:cTn>
                                        <p:tgtEl>
                                          <p:spTgt spid="19"/>
                                        </p:tgtEl>
                                        <p:attrNameLst>
                                          <p:attrName>style.visibility</p:attrName>
                                        </p:attrNameLst>
                                      </p:cBhvr>
                                      <p:to>
                                        <p:strVal val="visible"/>
                                      </p:to>
                                    </p:set>
                                    <p:anim calcmode="lin" valueType="num">
                                      <p:cBhvr additive="base">
                                        <p:cTn id="78" dur="500" fill="hold"/>
                                        <p:tgtEl>
                                          <p:spTgt spid="19"/>
                                        </p:tgtEl>
                                        <p:attrNameLst>
                                          <p:attrName>ppt_w</p:attrName>
                                        </p:attrNameLst>
                                      </p:cBhvr>
                                      <p:tavLst>
                                        <p:tav tm="0">
                                          <p:val>
                                            <p:strVal val="0"/>
                                          </p:val>
                                        </p:tav>
                                        <p:tav tm="100000">
                                          <p:val>
                                            <p:strVal val="#ppt_w"/>
                                          </p:val>
                                        </p:tav>
                                      </p:tavLst>
                                    </p:anim>
                                    <p:anim calcmode="lin" valueType="num">
                                      <p:cBhvr additive="base">
                                        <p:cTn id="79" dur="500" fill="hold"/>
                                        <p:tgtEl>
                                          <p:spTgt spid="19"/>
                                        </p:tgtEl>
                                        <p:attrNameLst>
                                          <p:attrName>ppt_h</p:attrName>
                                        </p:attrNameLst>
                                      </p:cBhvr>
                                      <p:tavLst>
                                        <p:tav tm="0">
                                          <p:val>
                                            <p:strVal val="0"/>
                                          </p:val>
                                        </p:tav>
                                        <p:tav tm="100000">
                                          <p:val>
                                            <p:strVal val="#ppt_h"/>
                                          </p:val>
                                        </p:tav>
                                      </p:tavLst>
                                    </p:anim>
                                    <p:animEffect transition="in" filter="fade">
                                      <p:cBhvr>
                                        <p:cTn id="80" dur="500"/>
                                        <p:tgtEl>
                                          <p:spTgt spid="19"/>
                                        </p:tgtEl>
                                      </p:cBhvr>
                                    </p:animEffect>
                                  </p:childTnLst>
                                </p:cTn>
                              </p:par>
                              <p:par>
                                <p:cTn id="86" presetID="53" presetClass="entr" presetSubtype="16" fill="hold" grpId="0" nodeType="withEffect">
                                  <p:stCondLst>
                                    <p:cond delay="0"/>
                                  </p:stCondLst>
                                  <p:childTnLst>
                                    <p:set>
                                      <p:cBhvr>
                                        <p:cTn id="82" dur="1" fill="hold">
                                          <p:stCondLst>
                                            <p:cond delay="0"/>
                                          </p:stCondLst>
                                        </p:cTn>
                                        <p:tgtEl>
                                          <p:spTgt spid="20"/>
                                        </p:tgtEl>
                                        <p:attrNameLst>
                                          <p:attrName>style.visibility</p:attrName>
                                        </p:attrNameLst>
                                      </p:cBhvr>
                                      <p:to>
                                        <p:strVal val="visible"/>
                                      </p:to>
                                    </p:set>
                                    <p:anim calcmode="lin" valueType="num">
                                      <p:cBhvr additive="base">
                                        <p:cTn id="83" dur="500" fill="hold"/>
                                        <p:tgtEl>
                                          <p:spTgt spid="20"/>
                                        </p:tgtEl>
                                        <p:attrNameLst>
                                          <p:attrName>ppt_w</p:attrName>
                                        </p:attrNameLst>
                                      </p:cBhvr>
                                      <p:tavLst>
                                        <p:tav tm="0">
                                          <p:val>
                                            <p:strVal val="0"/>
                                          </p:val>
                                        </p:tav>
                                        <p:tav tm="100000">
                                          <p:val>
                                            <p:strVal val="#ppt_w"/>
                                          </p:val>
                                        </p:tav>
                                      </p:tavLst>
                                    </p:anim>
                                    <p:anim calcmode="lin" valueType="num">
                                      <p:cBhvr additive="base">
                                        <p:cTn id="84" dur="500" fill="hold"/>
                                        <p:tgtEl>
                                          <p:spTgt spid="20"/>
                                        </p:tgtEl>
                                        <p:attrNameLst>
                                          <p:attrName>ppt_h</p:attrName>
                                        </p:attrNameLst>
                                      </p:cBhvr>
                                      <p:tavLst>
                                        <p:tav tm="0">
                                          <p:val>
                                            <p:strVal val="0"/>
                                          </p:val>
                                        </p:tav>
                                        <p:tav tm="100000">
                                          <p:val>
                                            <p:strVal val="#ppt_h"/>
                                          </p:val>
                                        </p:tav>
                                      </p:tavLst>
                                    </p:anim>
                                    <p:animEffect transition="in" filter="fade">
                                      <p:cBhvr>
                                        <p:cTn id="85" dur="500"/>
                                        <p:tgtEl>
                                          <p:spTgt spid="20"/>
                                        </p:tgtEl>
                                      </p:cBhvr>
                                    </p:animEffect>
                                  </p:childTnLst>
                                </p:cTn>
                              </p:par>
                              <p:par>
                                <p:cTn id="91" presetID="53" presetClass="entr" presetSubtype="16" fill="hold" grpId="0" nodeType="withEffect">
                                  <p:stCondLst>
                                    <p:cond delay="0"/>
                                  </p:stCondLst>
                                  <p:childTnLst>
                                    <p:set>
                                      <p:cBhvr>
                                        <p:cTn id="87" dur="1" fill="hold">
                                          <p:stCondLst>
                                            <p:cond delay="0"/>
                                          </p:stCondLst>
                                        </p:cTn>
                                        <p:tgtEl>
                                          <p:spTgt spid="21"/>
                                        </p:tgtEl>
                                        <p:attrNameLst>
                                          <p:attrName>style.visibility</p:attrName>
                                        </p:attrNameLst>
                                      </p:cBhvr>
                                      <p:to>
                                        <p:strVal val="visible"/>
                                      </p:to>
                                    </p:set>
                                    <p:anim calcmode="lin" valueType="num">
                                      <p:cBhvr additive="base">
                                        <p:cTn id="88" dur="500" fill="hold"/>
                                        <p:tgtEl>
                                          <p:spTgt spid="21"/>
                                        </p:tgtEl>
                                        <p:attrNameLst>
                                          <p:attrName>ppt_w</p:attrName>
                                        </p:attrNameLst>
                                      </p:cBhvr>
                                      <p:tavLst>
                                        <p:tav tm="0">
                                          <p:val>
                                            <p:strVal val="0"/>
                                          </p:val>
                                        </p:tav>
                                        <p:tav tm="100000">
                                          <p:val>
                                            <p:strVal val="#ppt_w"/>
                                          </p:val>
                                        </p:tav>
                                      </p:tavLst>
                                    </p:anim>
                                    <p:anim calcmode="lin" valueType="num">
                                      <p:cBhvr additive="base">
                                        <p:cTn id="89" dur="500" fill="hold"/>
                                        <p:tgtEl>
                                          <p:spTgt spid="21"/>
                                        </p:tgtEl>
                                        <p:attrNameLst>
                                          <p:attrName>ppt_h</p:attrName>
                                        </p:attrNameLst>
                                      </p:cBhvr>
                                      <p:tavLst>
                                        <p:tav tm="0">
                                          <p:val>
                                            <p:strVal val="0"/>
                                          </p:val>
                                        </p:tav>
                                        <p:tav tm="100000">
                                          <p:val>
                                            <p:strVal val="#ppt_h"/>
                                          </p:val>
                                        </p:tav>
                                      </p:tavLst>
                                    </p:anim>
                                    <p:animEffect transition="in" filter="fade">
                                      <p:cBhvr>
                                        <p:cTn id="90" dur="500"/>
                                        <p:tgtEl>
                                          <p:spTgt spid="21"/>
                                        </p:tgtEl>
                                      </p:cBhvr>
                                    </p:animEffect>
                                  </p:childTnLst>
                                </p:cTn>
                              </p:par>
                              <p:par>
                                <p:cTn id="96" presetID="53" presetClass="entr" presetSubtype="16" fill="hold" grpId="0" nodeType="withEffect">
                                  <p:stCondLst>
                                    <p:cond delay="0"/>
                                  </p:stCondLst>
                                  <p:childTnLst>
                                    <p:set>
                                      <p:cBhvr>
                                        <p:cTn id="92" dur="1" fill="hold">
                                          <p:stCondLst>
                                            <p:cond delay="0"/>
                                          </p:stCondLst>
                                        </p:cTn>
                                        <p:tgtEl>
                                          <p:spTgt spid="22"/>
                                        </p:tgtEl>
                                        <p:attrNameLst>
                                          <p:attrName>style.visibility</p:attrName>
                                        </p:attrNameLst>
                                      </p:cBhvr>
                                      <p:to>
                                        <p:strVal val="visible"/>
                                      </p:to>
                                    </p:set>
                                    <p:anim calcmode="lin" valueType="num">
                                      <p:cBhvr additive="base">
                                        <p:cTn id="93" dur="500" fill="hold"/>
                                        <p:tgtEl>
                                          <p:spTgt spid="22"/>
                                        </p:tgtEl>
                                        <p:attrNameLst>
                                          <p:attrName>ppt_w</p:attrName>
                                        </p:attrNameLst>
                                      </p:cBhvr>
                                      <p:tavLst>
                                        <p:tav tm="0">
                                          <p:val>
                                            <p:strVal val="0"/>
                                          </p:val>
                                        </p:tav>
                                        <p:tav tm="100000">
                                          <p:val>
                                            <p:strVal val="#ppt_w"/>
                                          </p:val>
                                        </p:tav>
                                      </p:tavLst>
                                    </p:anim>
                                    <p:anim calcmode="lin" valueType="num">
                                      <p:cBhvr additive="base">
                                        <p:cTn id="94" dur="500" fill="hold"/>
                                        <p:tgtEl>
                                          <p:spTgt spid="22"/>
                                        </p:tgtEl>
                                        <p:attrNameLst>
                                          <p:attrName>ppt_h</p:attrName>
                                        </p:attrNameLst>
                                      </p:cBhvr>
                                      <p:tavLst>
                                        <p:tav tm="0">
                                          <p:val>
                                            <p:strVal val="0"/>
                                          </p:val>
                                        </p:tav>
                                        <p:tav tm="100000">
                                          <p:val>
                                            <p:strVal val="#ppt_h"/>
                                          </p:val>
                                        </p:tav>
                                      </p:tavLst>
                                    </p:anim>
                                    <p:animEffect transition="in" filter="fade">
                                      <p:cBhvr>
                                        <p:cTn id="95" dur="500"/>
                                        <p:tgtEl>
                                          <p:spTgt spid="22"/>
                                        </p:tgtEl>
                                      </p:cBhvr>
                                    </p:animEffect>
                                  </p:childTnLst>
                                </p:cTn>
                              </p:par>
                              <p:par>
                                <p:cTn id="101" presetID="53" presetClass="entr" presetSubtype="16" fill="hold" grpId="0" nodeType="withEffect">
                                  <p:stCondLst>
                                    <p:cond delay="0"/>
                                  </p:stCondLst>
                                  <p:childTnLst>
                                    <p:set>
                                      <p:cBhvr>
                                        <p:cTn id="97" dur="1" fill="hold">
                                          <p:stCondLst>
                                            <p:cond delay="0"/>
                                          </p:stCondLst>
                                        </p:cTn>
                                        <p:tgtEl>
                                          <p:spTgt spid="23"/>
                                        </p:tgtEl>
                                        <p:attrNameLst>
                                          <p:attrName>style.visibility</p:attrName>
                                        </p:attrNameLst>
                                      </p:cBhvr>
                                      <p:to>
                                        <p:strVal val="visible"/>
                                      </p:to>
                                    </p:set>
                                    <p:anim calcmode="lin" valueType="num">
                                      <p:cBhvr additive="base">
                                        <p:cTn id="98" dur="500" fill="hold"/>
                                        <p:tgtEl>
                                          <p:spTgt spid="23"/>
                                        </p:tgtEl>
                                        <p:attrNameLst>
                                          <p:attrName>ppt_w</p:attrName>
                                        </p:attrNameLst>
                                      </p:cBhvr>
                                      <p:tavLst>
                                        <p:tav tm="0">
                                          <p:val>
                                            <p:strVal val="0"/>
                                          </p:val>
                                        </p:tav>
                                        <p:tav tm="100000">
                                          <p:val>
                                            <p:strVal val="#ppt_w"/>
                                          </p:val>
                                        </p:tav>
                                      </p:tavLst>
                                    </p:anim>
                                    <p:anim calcmode="lin" valueType="num">
                                      <p:cBhvr additive="base">
                                        <p:cTn id="99" dur="500" fill="hold"/>
                                        <p:tgtEl>
                                          <p:spTgt spid="23"/>
                                        </p:tgtEl>
                                        <p:attrNameLst>
                                          <p:attrName>ppt_h</p:attrName>
                                        </p:attrNameLst>
                                      </p:cBhvr>
                                      <p:tavLst>
                                        <p:tav tm="0">
                                          <p:val>
                                            <p:strVal val="0"/>
                                          </p:val>
                                        </p:tav>
                                        <p:tav tm="100000">
                                          <p:val>
                                            <p:strVal val="#ppt_h"/>
                                          </p:val>
                                        </p:tav>
                                      </p:tavLst>
                                    </p:anim>
                                    <p:animEffect transition="in" filter="fade">
                                      <p:cBhvr>
                                        <p:cTn id="100" dur="500"/>
                                        <p:tgtEl>
                                          <p:spTgt spid="23"/>
                                        </p:tgtEl>
                                      </p:cBhvr>
                                    </p:animEffect>
                                  </p:childTnLst>
                                </p:cTn>
                              </p:par>
                              <p:par>
                                <p:cTn id="106" presetID="53" presetClass="entr" presetSubtype="16" fill="hold" grpId="0" nodeType="withEffect">
                                  <p:stCondLst>
                                    <p:cond delay="0"/>
                                  </p:stCondLst>
                                  <p:childTnLst>
                                    <p:set>
                                      <p:cBhvr>
                                        <p:cTn id="102" dur="1" fill="hold">
                                          <p:stCondLst>
                                            <p:cond delay="0"/>
                                          </p:stCondLst>
                                        </p:cTn>
                                        <p:tgtEl>
                                          <p:spTgt spid="24"/>
                                        </p:tgtEl>
                                        <p:attrNameLst>
                                          <p:attrName>style.visibility</p:attrName>
                                        </p:attrNameLst>
                                      </p:cBhvr>
                                      <p:to>
                                        <p:strVal val="visible"/>
                                      </p:to>
                                    </p:set>
                                    <p:anim calcmode="lin" valueType="num">
                                      <p:cBhvr additive="base">
                                        <p:cTn id="103" dur="500" fill="hold"/>
                                        <p:tgtEl>
                                          <p:spTgt spid="24"/>
                                        </p:tgtEl>
                                        <p:attrNameLst>
                                          <p:attrName>ppt_w</p:attrName>
                                        </p:attrNameLst>
                                      </p:cBhvr>
                                      <p:tavLst>
                                        <p:tav tm="0">
                                          <p:val>
                                            <p:strVal val="0"/>
                                          </p:val>
                                        </p:tav>
                                        <p:tav tm="100000">
                                          <p:val>
                                            <p:strVal val="#ppt_w"/>
                                          </p:val>
                                        </p:tav>
                                      </p:tavLst>
                                    </p:anim>
                                    <p:anim calcmode="lin" valueType="num">
                                      <p:cBhvr additive="base">
                                        <p:cTn id="104" dur="500" fill="hold"/>
                                        <p:tgtEl>
                                          <p:spTgt spid="24"/>
                                        </p:tgtEl>
                                        <p:attrNameLst>
                                          <p:attrName>ppt_h</p:attrName>
                                        </p:attrNameLst>
                                      </p:cBhvr>
                                      <p:tavLst>
                                        <p:tav tm="0">
                                          <p:val>
                                            <p:strVal val="0"/>
                                          </p:val>
                                        </p:tav>
                                        <p:tav tm="100000">
                                          <p:val>
                                            <p:strVal val="#ppt_h"/>
                                          </p:val>
                                        </p:tav>
                                      </p:tavLst>
                                    </p:anim>
                                    <p:animEffect transition="in" filter="fade">
                                      <p:cBhvr>
                                        <p:cTn id="105" dur="500"/>
                                        <p:tgtEl>
                                          <p:spTgt spid="24"/>
                                        </p:tgtEl>
                                      </p:cBhvr>
                                    </p:animEffect>
                                  </p:childTnLst>
                                </p:cTn>
                              </p:par>
                              <p:par>
                                <p:cTn id="111" presetID="53" presetClass="entr" presetSubtype="16" fill="hold" grpId="0" nodeType="withEffect">
                                  <p:stCondLst>
                                    <p:cond delay="0"/>
                                  </p:stCondLst>
                                  <p:childTnLst>
                                    <p:set>
                                      <p:cBhvr>
                                        <p:cTn id="107" dur="1" fill="hold">
                                          <p:stCondLst>
                                            <p:cond delay="0"/>
                                          </p:stCondLst>
                                        </p:cTn>
                                        <p:tgtEl>
                                          <p:spTgt spid="25"/>
                                        </p:tgtEl>
                                        <p:attrNameLst>
                                          <p:attrName>style.visibility</p:attrName>
                                        </p:attrNameLst>
                                      </p:cBhvr>
                                      <p:to>
                                        <p:strVal val="visible"/>
                                      </p:to>
                                    </p:set>
                                    <p:anim calcmode="lin" valueType="num">
                                      <p:cBhvr additive="base">
                                        <p:cTn id="108" dur="500" fill="hold"/>
                                        <p:tgtEl>
                                          <p:spTgt spid="25"/>
                                        </p:tgtEl>
                                        <p:attrNameLst>
                                          <p:attrName>ppt_w</p:attrName>
                                        </p:attrNameLst>
                                      </p:cBhvr>
                                      <p:tavLst>
                                        <p:tav tm="0">
                                          <p:val>
                                            <p:strVal val="0"/>
                                          </p:val>
                                        </p:tav>
                                        <p:tav tm="100000">
                                          <p:val>
                                            <p:strVal val="#ppt_w"/>
                                          </p:val>
                                        </p:tav>
                                      </p:tavLst>
                                    </p:anim>
                                    <p:anim calcmode="lin" valueType="num">
                                      <p:cBhvr additive="base">
                                        <p:cTn id="109" dur="500" fill="hold"/>
                                        <p:tgtEl>
                                          <p:spTgt spid="25"/>
                                        </p:tgtEl>
                                        <p:attrNameLst>
                                          <p:attrName>ppt_h</p:attrName>
                                        </p:attrNameLst>
                                      </p:cBhvr>
                                      <p:tavLst>
                                        <p:tav tm="0">
                                          <p:val>
                                            <p:strVal val="0"/>
                                          </p:val>
                                        </p:tav>
                                        <p:tav tm="100000">
                                          <p:val>
                                            <p:strVal val="#ppt_h"/>
                                          </p:val>
                                        </p:tav>
                                      </p:tavLst>
                                    </p:anim>
                                    <p:animEffect transition="in" filter="fade">
                                      <p:cBhvr>
                                        <p:cTn id="110" dur="500"/>
                                        <p:tgtEl>
                                          <p:spTgt spid="25"/>
                                        </p:tgtEl>
                                      </p:cBhvr>
                                    </p:animEffect>
                                  </p:childTnLst>
                                </p:cTn>
                              </p:par>
                              <p:par>
                                <p:cTn id="116" presetID="53" presetClass="entr" presetSubtype="16" fill="hold" grpId="0" nodeType="withEffect">
                                  <p:stCondLst>
                                    <p:cond delay="0"/>
                                  </p:stCondLst>
                                  <p:childTnLst>
                                    <p:set>
                                      <p:cBhvr>
                                        <p:cTn id="112" dur="1" fill="hold">
                                          <p:stCondLst>
                                            <p:cond delay="0"/>
                                          </p:stCondLst>
                                        </p:cTn>
                                        <p:tgtEl>
                                          <p:spTgt spid="26"/>
                                        </p:tgtEl>
                                        <p:attrNameLst>
                                          <p:attrName>style.visibility</p:attrName>
                                        </p:attrNameLst>
                                      </p:cBhvr>
                                      <p:to>
                                        <p:strVal val="visible"/>
                                      </p:to>
                                    </p:set>
                                    <p:anim calcmode="lin" valueType="num">
                                      <p:cBhvr additive="base">
                                        <p:cTn id="113" dur="500" fill="hold"/>
                                        <p:tgtEl>
                                          <p:spTgt spid="26"/>
                                        </p:tgtEl>
                                        <p:attrNameLst>
                                          <p:attrName>ppt_w</p:attrName>
                                        </p:attrNameLst>
                                      </p:cBhvr>
                                      <p:tavLst>
                                        <p:tav tm="0">
                                          <p:val>
                                            <p:strVal val="0"/>
                                          </p:val>
                                        </p:tav>
                                        <p:tav tm="100000">
                                          <p:val>
                                            <p:strVal val="#ppt_w"/>
                                          </p:val>
                                        </p:tav>
                                      </p:tavLst>
                                    </p:anim>
                                    <p:anim calcmode="lin" valueType="num">
                                      <p:cBhvr additive="base">
                                        <p:cTn id="114" dur="500" fill="hold"/>
                                        <p:tgtEl>
                                          <p:spTgt spid="26"/>
                                        </p:tgtEl>
                                        <p:attrNameLst>
                                          <p:attrName>ppt_h</p:attrName>
                                        </p:attrNameLst>
                                      </p:cBhvr>
                                      <p:tavLst>
                                        <p:tav tm="0">
                                          <p:val>
                                            <p:strVal val="0"/>
                                          </p:val>
                                        </p:tav>
                                        <p:tav tm="100000">
                                          <p:val>
                                            <p:strVal val="#ppt_h"/>
                                          </p:val>
                                        </p:tav>
                                      </p:tavLst>
                                    </p:anim>
                                    <p:animEffect transition="in" filter="fade">
                                      <p:cBhvr>
                                        <p:cTn id="115" dur="500"/>
                                        <p:tgtEl>
                                          <p:spTgt spid="26"/>
                                        </p:tgtEl>
                                      </p:cBhvr>
                                    </p:animEffect>
                                  </p:childTnLst>
                                </p:cTn>
                              </p:par>
                              <p:par>
                                <p:cTn id="121" presetID="53" presetClass="entr" presetSubtype="16" fill="hold" grpId="0" nodeType="withEffect">
                                  <p:stCondLst>
                                    <p:cond delay="0"/>
                                  </p:stCondLst>
                                  <p:childTnLst>
                                    <p:set>
                                      <p:cBhvr>
                                        <p:cTn id="117" dur="1" fill="hold">
                                          <p:stCondLst>
                                            <p:cond delay="0"/>
                                          </p:stCondLst>
                                        </p:cTn>
                                        <p:tgtEl>
                                          <p:spTgt spid="27"/>
                                        </p:tgtEl>
                                        <p:attrNameLst>
                                          <p:attrName>style.visibility</p:attrName>
                                        </p:attrNameLst>
                                      </p:cBhvr>
                                      <p:to>
                                        <p:strVal val="visible"/>
                                      </p:to>
                                    </p:set>
                                    <p:anim calcmode="lin" valueType="num">
                                      <p:cBhvr additive="base">
                                        <p:cTn id="118" dur="500" fill="hold"/>
                                        <p:tgtEl>
                                          <p:spTgt spid="27"/>
                                        </p:tgtEl>
                                        <p:attrNameLst>
                                          <p:attrName>ppt_w</p:attrName>
                                        </p:attrNameLst>
                                      </p:cBhvr>
                                      <p:tavLst>
                                        <p:tav tm="0">
                                          <p:val>
                                            <p:strVal val="0"/>
                                          </p:val>
                                        </p:tav>
                                        <p:tav tm="100000">
                                          <p:val>
                                            <p:strVal val="#ppt_w"/>
                                          </p:val>
                                        </p:tav>
                                      </p:tavLst>
                                    </p:anim>
                                    <p:anim calcmode="lin" valueType="num">
                                      <p:cBhvr additive="base">
                                        <p:cTn id="119" dur="500" fill="hold"/>
                                        <p:tgtEl>
                                          <p:spTgt spid="27"/>
                                        </p:tgtEl>
                                        <p:attrNameLst>
                                          <p:attrName>ppt_h</p:attrName>
                                        </p:attrNameLst>
                                      </p:cBhvr>
                                      <p:tavLst>
                                        <p:tav tm="0">
                                          <p:val>
                                            <p:strVal val="0"/>
                                          </p:val>
                                        </p:tav>
                                        <p:tav tm="100000">
                                          <p:val>
                                            <p:strVal val="#ppt_h"/>
                                          </p:val>
                                        </p:tav>
                                      </p:tavLst>
                                    </p:anim>
                                    <p:animEffect transition="in" filter="fade">
                                      <p:cBhvr>
                                        <p:cTn id="120" dur="500"/>
                                        <p:tgtEl>
                                          <p:spTgt spid="27"/>
                                        </p:tgtEl>
                                      </p:cBhvr>
                                    </p:animEffect>
                                  </p:childTnLst>
                                </p:cTn>
                              </p:par>
                              <p:par>
                                <p:cTn id="126" presetID="53" presetClass="entr" presetSubtype="16" fill="hold" grpId="0" nodeType="withEffect">
                                  <p:stCondLst>
                                    <p:cond delay="0"/>
                                  </p:stCondLst>
                                  <p:childTnLst>
                                    <p:set>
                                      <p:cBhvr>
                                        <p:cTn id="122" dur="1" fill="hold">
                                          <p:stCondLst>
                                            <p:cond delay="0"/>
                                          </p:stCondLst>
                                        </p:cTn>
                                        <p:tgtEl>
                                          <p:spTgt spid="28"/>
                                        </p:tgtEl>
                                        <p:attrNameLst>
                                          <p:attrName>style.visibility</p:attrName>
                                        </p:attrNameLst>
                                      </p:cBhvr>
                                      <p:to>
                                        <p:strVal val="visible"/>
                                      </p:to>
                                    </p:set>
                                    <p:anim calcmode="lin" valueType="num">
                                      <p:cBhvr additive="base">
                                        <p:cTn id="123" dur="500" fill="hold"/>
                                        <p:tgtEl>
                                          <p:spTgt spid="28"/>
                                        </p:tgtEl>
                                        <p:attrNameLst>
                                          <p:attrName>ppt_w</p:attrName>
                                        </p:attrNameLst>
                                      </p:cBhvr>
                                      <p:tavLst>
                                        <p:tav tm="0">
                                          <p:val>
                                            <p:strVal val="0"/>
                                          </p:val>
                                        </p:tav>
                                        <p:tav tm="100000">
                                          <p:val>
                                            <p:strVal val="#ppt_w"/>
                                          </p:val>
                                        </p:tav>
                                      </p:tavLst>
                                    </p:anim>
                                    <p:anim calcmode="lin" valueType="num">
                                      <p:cBhvr additive="base">
                                        <p:cTn id="124" dur="500" fill="hold"/>
                                        <p:tgtEl>
                                          <p:spTgt spid="28"/>
                                        </p:tgtEl>
                                        <p:attrNameLst>
                                          <p:attrName>ppt_h</p:attrName>
                                        </p:attrNameLst>
                                      </p:cBhvr>
                                      <p:tavLst>
                                        <p:tav tm="0">
                                          <p:val>
                                            <p:strVal val="0"/>
                                          </p:val>
                                        </p:tav>
                                        <p:tav tm="100000">
                                          <p:val>
                                            <p:strVal val="#ppt_h"/>
                                          </p:val>
                                        </p:tav>
                                      </p:tavLst>
                                    </p:anim>
                                    <p:animEffect transition="in" filter="fade">
                                      <p:cBhvr>
                                        <p:cTn id="125"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686800" cy="320040"/>
          </a:xfrm>
          <a:prstGeom prst="rect">
            <a:avLst/>
          </a:prstGeom>
          <a:noFill/>
          <a:ln/>
        </p:spPr>
        <p:txBody>
          <a:bodyPr wrap="square" lIns="0" tIns="0" rIns="0" bIns="0" rtlCol="0" anchor="t"/>
          <a:lstStyle/>
          <a:p>
            <a:pPr indent="0" marL="0">
              <a:buNone/>
            </a:pPr>
            <a:r>
              <a:rPr lang="en-US" sz="1300" b="1" spc="200" kern="0" dirty="0">
                <a:solidFill>
                  <a:schemeClr val="accent3"/>
                </a:solidFill>
              </a:rPr>
              <a:t>TECHNOLOGY STACK</a:t>
            </a:r>
            <a:endParaRPr lang="en-US" sz="1300" dirty="0"/>
          </a:p>
        </p:txBody>
      </p:sp>
      <p:sp>
        <p:nvSpPr>
          <p:cNvPr id="3" name="Text 0"/>
          <p:cNvSpPr/>
          <p:nvPr>
            <p:ph idx="101" type="title" hasCustomPrompt="1"/>
          </p:nvPr>
        </p:nvSpPr>
        <p:spPr>
          <a:xfrm>
            <a:off x="548640" y="713232"/>
            <a:ext cx="11091672" cy="822960"/>
          </a:xfrm>
          <a:prstGeom prst="rect">
            <a:avLst/>
          </a:prstGeom>
          <a:noFill/>
          <a:ln/>
        </p:spPr>
        <p:txBody>
          <a:bodyPr wrap="square" lIns="0" tIns="0" rIns="0" bIns="0" rtlCol="0" anchor="t"/>
          <a:lstStyle/>
          <a:p>
            <a:pPr indent="0" marL="0">
              <a:buNone/>
            </a:pPr>
            <a:r>
              <a:rPr lang="en-US" sz="3200" b="1" dirty="0">
                <a:solidFill>
                  <a:schemeClr val="bg2"/>
                </a:solidFill>
              </a:rPr>
              <a:t>Java on the server, React in the browser</a:t>
            </a:r>
            <a:endParaRPr lang="en-US" sz="3200" dirty="0"/>
          </a:p>
        </p:txBody>
      </p:sp>
      <p:sp>
        <p:nvSpPr>
          <p:cNvPr id="4" name="nav-contents"/>
          <p:cNvSpPr txBox="1"/>
          <p:nvPr/>
        </p:nvSpPr>
        <p:spPr>
          <a:xfrm>
            <a:off x="10451592" y="365760"/>
            <a:ext cx="1188720" cy="292608"/>
          </a:xfrm>
          <a:prstGeom prst="rect">
            <a:avLst/>
          </a:prstGeom>
          <a:noFill/>
          <a:ln/>
        </p:spPr>
        <p:txBody>
          <a:bodyPr wrap="square" lIns="0" tIns="0" rIns="0" bIns="0" rtlCol="0" anchor="ctr"/>
          <a:lstStyle/>
          <a:p>
            <a:pPr algn="r" indent="0" marL="0">
              <a:buNone/>
            </a:pPr>
            <a:r>
              <a:rPr lang="en-US" sz="1100" u="sng" dirty="0">
                <a:solidFill>
                  <a:schemeClr val="accent3"/>
                </a:solidFill>
                <a:hlinkClick r:id="rId1" action="ppaction://hlinksldjump" tooltip="Back to contents">
                  <a:extLst>
                    <a:ext uri="{A12FA001-AC4F-418D-AE19-62706E023703}">
                      <ahyp:hlinkClr xmlns:ahyp="http://schemas.microsoft.com/office/drawing/2018/hyperlinkcolor" val="tx"/>
                    </a:ext>
                  </a:extLst>
                </a:hlinkClick>
              </a:rPr>
              <a:t>Contents ↩</a:t>
            </a:r>
            <a:endParaRPr lang="en-US" sz="1100" dirty="0"/>
          </a:p>
        </p:txBody>
      </p:sp>
      <p:graphicFrame>
        <p:nvGraphicFramePr>
          <p:cNvPr id="6" name="stack-table"/>
          <p:cNvGraphicFramePr>
            <a:graphicFrameLocks noGrp="1"/>
          </p:cNvGraphicFramePr>
          <p:nvPr>
            <p:extLst>
              <p:ext uri="{D42A27DB-BD31-4B8C-83A1-F6EECF244321}">
                <p14:modId xmlns:p14="http://schemas.microsoft.com/office/powerpoint/2010/main" val="1579011935"/>
              </p:ext>
            </p:extLst>
          </p:nvPr>
        </p:nvGraphicFramePr>
        <p:xfrm>
          <a:off x="548640" y="1737360"/>
          <a:ext cx="11091672" cy="914400"/>
        </p:xfrm>
        <a:graphic>
          <a:graphicData uri="http://schemas.openxmlformats.org/drawingml/2006/table">
            <a:tbl>
              <a:tblPr/>
              <a:tblGrid>
                <a:gridCol w="3108960"/>
                <a:gridCol w="7982712"/>
              </a:tblGrid>
              <a:tr h="438912">
                <a:tc>
                  <a:txBody>
                    <a:bodyPr/>
                    <a:lstStyle/>
                    <a:p>
                      <a:pPr indent="0" marL="0">
                        <a:buNone/>
                      </a:pPr>
                      <a:r>
                        <a:rPr lang="en-US" sz="1600" b="1" dirty="0">
                          <a:solidFill>
                            <a:srgbClr val="5EA2EF"/>
                          </a:solidFill>
                          <a:latin typeface="Calibri" pitchFamily="34" charset="0"/>
                          <a:ea typeface="Calibri" pitchFamily="34" charset="-122"/>
                          <a:cs typeface="Calibri" pitchFamily="34" charset="-120"/>
                        </a:rPr>
                        <a:t>Layer</a:t>
                      </a:r>
                      <a:endParaRPr lang="en-US" sz="1600" dirty="0">
                        <a:latin typeface="Calibri" charset="0"/>
                        <a:ea typeface="Calibri" charset="0"/>
                        <a:cs typeface="Calibri" charset="0"/>
                      </a:endParaRPr>
                    </a:p>
                  </a:txBody>
                  <a:tcPr marL="109728" marR="109728" marT="54864" marB="54864">
                    <a:lnL w="0" cap="flat" cmpd="sng" algn="ctr">
                      <a:noFill/>
                    </a:lnL>
                    <a:lnR w="0" cap="flat" cmpd="sng" algn="ctr">
                      <a:noFill/>
                    </a:lnR>
                    <a:lnT w="0" cap="flat" cmpd="sng" algn="ctr">
                      <a:noFill/>
                    </a:lnT>
                    <a:lnB w="12700" cap="flat" cmpd="sng" algn="ctr">
                      <a:solidFill>
                        <a:srgbClr val="5EA2EF"/>
                      </a:solidFill>
                      <a:prstDash val="solid"/>
                      <a:round/>
                      <a:headEnd type="none" w="med" len="med"/>
                      <a:tailEnd type="none" w="med" len="med"/>
                    </a:lnB>
                  </a:tcPr>
                </a:tc>
                <a:tc>
                  <a:txBody>
                    <a:bodyPr/>
                    <a:lstStyle/>
                    <a:p>
                      <a:pPr indent="0" marL="0">
                        <a:buNone/>
                      </a:pPr>
                      <a:r>
                        <a:rPr lang="en-US" sz="1600" b="1" dirty="0">
                          <a:solidFill>
                            <a:srgbClr val="5EA2EF"/>
                          </a:solidFill>
                          <a:latin typeface="Calibri" pitchFamily="34" charset="0"/>
                          <a:ea typeface="Calibri" pitchFamily="34" charset="-122"/>
                          <a:cs typeface="Calibri" pitchFamily="34" charset="-120"/>
                        </a:rPr>
                        <a:t>Technology</a:t>
                      </a:r>
                      <a:endParaRPr lang="en-US" sz="1600" dirty="0">
                        <a:latin typeface="Calibri" charset="0"/>
                        <a:ea typeface="Calibri" charset="0"/>
                        <a:cs typeface="Calibri" charset="0"/>
                      </a:endParaRPr>
                    </a:p>
                  </a:txBody>
                  <a:tcPr marL="109728" marR="109728" marT="54864" marB="54864">
                    <a:lnL w="0" cap="flat" cmpd="sng" algn="ctr">
                      <a:noFill/>
                    </a:lnL>
                    <a:lnR w="0" cap="flat" cmpd="sng" algn="ctr">
                      <a:noFill/>
                    </a:lnR>
                    <a:lnT w="0" cap="flat" cmpd="sng" algn="ctr">
                      <a:noFill/>
                    </a:lnT>
                    <a:lnB w="12700" cap="flat" cmpd="sng" algn="ctr">
                      <a:solidFill>
                        <a:srgbClr val="5EA2EF"/>
                      </a:solidFill>
                      <a:prstDash val="solid"/>
                      <a:round/>
                      <a:headEnd type="none" w="med" len="med"/>
                      <a:tailEnd type="none" w="med" len="med"/>
                    </a:lnB>
                  </a:tcPr>
                </a:tc>
              </a:tr>
              <a:tr h="438912">
                <a:tc>
                  <a:txBody>
                    <a:bodyPr/>
                    <a:lstStyle/>
                    <a:p>
                      <a:pPr indent="0" marL="0">
                        <a:buNone/>
                      </a:pPr>
                      <a:r>
                        <a:rPr lang="en-US" sz="1600" b="1" dirty="0">
                          <a:solidFill>
                            <a:srgbClr val="EEF2F6"/>
                          </a:solidFill>
                          <a:latin typeface="Calibri" pitchFamily="34" charset="0"/>
                          <a:ea typeface="Calibri" pitchFamily="34" charset="-122"/>
                          <a:cs typeface="Calibri" pitchFamily="34" charset="-120"/>
                        </a:rPr>
                        <a:t>Backend</a:t>
                      </a:r>
                      <a:endParaRPr lang="en-US" sz="1600" dirty="0">
                        <a:latin typeface="Calibri" charset="0"/>
                        <a:ea typeface="Calibri" charset="0"/>
                        <a:cs typeface="Calibri" charset="0"/>
                      </a:endParaRPr>
                    </a:p>
                  </a:txBody>
                  <a:tcPr marL="109728" marR="109728" marT="54864" marB="54864">
                    <a:lnL w="0" cap="flat" cmpd="sng" algn="ctr">
                      <a:noFill/>
                    </a:lnL>
                    <a:lnR w="0" cap="flat" cmpd="sng" algn="ctr">
                      <a:noFill/>
                    </a:lnR>
                    <a:lnT w="0" cap="flat" cmpd="sng" algn="ctr">
                      <a:noFill/>
                    </a:lnT>
                    <a:lnB w="9525" cap="flat" cmpd="sng" algn="ctr">
                      <a:solidFill>
                        <a:srgbClr val="2A4566"/>
                      </a:solidFill>
                      <a:prstDash val="solid"/>
                      <a:round/>
                      <a:headEnd type="none" w="med" len="med"/>
                      <a:tailEnd type="none" w="med" len="med"/>
                    </a:lnB>
                  </a:tcPr>
                </a:tc>
                <a:tc>
                  <a:txBody>
                    <a:bodyPr/>
                    <a:lstStyle/>
                    <a:p>
                      <a:pPr indent="0" marL="0">
                        <a:buNone/>
                      </a:pPr>
                      <a:r>
                        <a:rPr lang="en-US" sz="1600" dirty="0">
                          <a:solidFill>
                            <a:srgbClr val="EEF2F6"/>
                          </a:solidFill>
                          <a:latin typeface="Calibri" pitchFamily="34" charset="0"/>
                          <a:ea typeface="Calibri" pitchFamily="34" charset="-122"/>
                          <a:cs typeface="Calibri" pitchFamily="34" charset="-120"/>
                        </a:rPr>
                        <a:t>Java 21, Spring Boot 3.5, Maven</a:t>
                      </a:r>
                      <a:endParaRPr lang="en-US" sz="1600" dirty="0">
                        <a:latin typeface="Calibri" charset="0"/>
                        <a:ea typeface="Calibri" charset="0"/>
                        <a:cs typeface="Calibri" charset="0"/>
                      </a:endParaRPr>
                    </a:p>
                  </a:txBody>
                  <a:tcPr marL="109728" marR="109728" marT="54864" marB="54864">
                    <a:lnL w="0" cap="flat" cmpd="sng" algn="ctr">
                      <a:noFill/>
                    </a:lnL>
                    <a:lnR w="0" cap="flat" cmpd="sng" algn="ctr">
                      <a:noFill/>
                    </a:lnR>
                    <a:lnT w="0" cap="flat" cmpd="sng" algn="ctr">
                      <a:noFill/>
                    </a:lnT>
                    <a:lnB w="9525" cap="flat" cmpd="sng" algn="ctr">
                      <a:solidFill>
                        <a:srgbClr val="2A4566"/>
                      </a:solidFill>
                      <a:prstDash val="solid"/>
                      <a:round/>
                      <a:headEnd type="none" w="med" len="med"/>
                      <a:tailEnd type="none" w="med" len="med"/>
                    </a:lnB>
                  </a:tcPr>
                </a:tc>
              </a:tr>
              <a:tr h="438912">
                <a:tc>
                  <a:txBody>
                    <a:bodyPr/>
                    <a:lstStyle/>
                    <a:p>
                      <a:pPr indent="0" marL="0">
                        <a:buNone/>
                      </a:pPr>
                      <a:r>
                        <a:rPr lang="en-US" sz="1600" b="1" dirty="0">
                          <a:solidFill>
                            <a:srgbClr val="EEF2F6"/>
                          </a:solidFill>
                          <a:latin typeface="Calibri" pitchFamily="34" charset="0"/>
                          <a:ea typeface="Calibri" pitchFamily="34" charset="-122"/>
                          <a:cs typeface="Calibri" pitchFamily="34" charset="-120"/>
                        </a:rPr>
                        <a:t>Live updates</a:t>
                      </a:r>
                      <a:endParaRPr lang="en-US" sz="1600" dirty="0">
                        <a:latin typeface="Calibri" charset="0"/>
                        <a:ea typeface="Calibri" charset="0"/>
                        <a:cs typeface="Calibri" charset="0"/>
                      </a:endParaRPr>
                    </a:p>
                  </a:txBody>
                  <a:tcPr marL="109728" marR="109728" marT="54864" marB="54864">
                    <a:lnL w="0" cap="flat" cmpd="sng" algn="ctr">
                      <a:noFill/>
                    </a:lnL>
                    <a:lnR w="0" cap="flat" cmpd="sng" algn="ctr">
                      <a:noFill/>
                    </a:lnR>
                    <a:lnT w="0" cap="flat" cmpd="sng" algn="ctr">
                      <a:noFill/>
                    </a:lnT>
                    <a:lnB w="9525" cap="flat" cmpd="sng" algn="ctr">
                      <a:solidFill>
                        <a:srgbClr val="2A4566"/>
                      </a:solidFill>
                      <a:prstDash val="solid"/>
                      <a:round/>
                      <a:headEnd type="none" w="med" len="med"/>
                      <a:tailEnd type="none" w="med" len="med"/>
                    </a:lnB>
                  </a:tcPr>
                </a:tc>
                <a:tc>
                  <a:txBody>
                    <a:bodyPr/>
                    <a:lstStyle/>
                    <a:p>
                      <a:pPr indent="0" marL="0">
                        <a:buNone/>
                      </a:pPr>
                      <a:r>
                        <a:rPr lang="en-US" sz="1600" dirty="0">
                          <a:solidFill>
                            <a:srgbClr val="EEF2F6"/>
                          </a:solidFill>
                          <a:latin typeface="Calibri" pitchFamily="34" charset="0"/>
                          <a:ea typeface="Calibri" pitchFamily="34" charset="-122"/>
                          <a:cs typeface="Calibri" pitchFamily="34" charset="-120"/>
                        </a:rPr>
                        <a:t>WebSocket with STOMP, pushed every 3 seconds</a:t>
                      </a:r>
                      <a:endParaRPr lang="en-US" sz="1600" dirty="0">
                        <a:latin typeface="Calibri" charset="0"/>
                        <a:ea typeface="Calibri" charset="0"/>
                        <a:cs typeface="Calibri" charset="0"/>
                      </a:endParaRPr>
                    </a:p>
                  </a:txBody>
                  <a:tcPr marL="109728" marR="109728" marT="54864" marB="54864">
                    <a:lnL w="0" cap="flat" cmpd="sng" algn="ctr">
                      <a:noFill/>
                    </a:lnL>
                    <a:lnR w="0" cap="flat" cmpd="sng" algn="ctr">
                      <a:noFill/>
                    </a:lnR>
                    <a:lnT w="0" cap="flat" cmpd="sng" algn="ctr">
                      <a:noFill/>
                    </a:lnT>
                    <a:lnB w="9525" cap="flat" cmpd="sng" algn="ctr">
                      <a:solidFill>
                        <a:srgbClr val="2A4566"/>
                      </a:solidFill>
                      <a:prstDash val="solid"/>
                      <a:round/>
                      <a:headEnd type="none" w="med" len="med"/>
                      <a:tailEnd type="none" w="med" len="med"/>
                    </a:lnB>
                  </a:tcPr>
                </a:tc>
              </a:tr>
              <a:tr h="438912">
                <a:tc>
                  <a:txBody>
                    <a:bodyPr/>
                    <a:lstStyle/>
                    <a:p>
                      <a:pPr indent="0" marL="0">
                        <a:buNone/>
                      </a:pPr>
                      <a:r>
                        <a:rPr lang="en-US" sz="1600" b="1" dirty="0">
                          <a:solidFill>
                            <a:srgbClr val="EEF2F6"/>
                          </a:solidFill>
                          <a:latin typeface="Calibri" pitchFamily="34" charset="0"/>
                          <a:ea typeface="Calibri" pitchFamily="34" charset="-122"/>
                          <a:cs typeface="Calibri" pitchFamily="34" charset="-120"/>
                        </a:rPr>
                        <a:t>Database</a:t>
                      </a:r>
                      <a:endParaRPr lang="en-US" sz="1600" dirty="0">
                        <a:latin typeface="Calibri" charset="0"/>
                        <a:ea typeface="Calibri" charset="0"/>
                        <a:cs typeface="Calibri" charset="0"/>
                      </a:endParaRPr>
                    </a:p>
                  </a:txBody>
                  <a:tcPr marL="109728" marR="109728" marT="54864" marB="54864">
                    <a:lnL w="0" cap="flat" cmpd="sng" algn="ctr">
                      <a:noFill/>
                    </a:lnL>
                    <a:lnR w="0" cap="flat" cmpd="sng" algn="ctr">
                      <a:noFill/>
                    </a:lnR>
                    <a:lnT w="0" cap="flat" cmpd="sng" algn="ctr">
                      <a:noFill/>
                    </a:lnT>
                    <a:lnB w="9525" cap="flat" cmpd="sng" algn="ctr">
                      <a:solidFill>
                        <a:srgbClr val="2A4566"/>
                      </a:solidFill>
                      <a:prstDash val="solid"/>
                      <a:round/>
                      <a:headEnd type="none" w="med" len="med"/>
                      <a:tailEnd type="none" w="med" len="med"/>
                    </a:lnB>
                  </a:tcPr>
                </a:tc>
                <a:tc>
                  <a:txBody>
                    <a:bodyPr/>
                    <a:lstStyle/>
                    <a:p>
                      <a:pPr indent="0" marL="0">
                        <a:buNone/>
                      </a:pPr>
                      <a:r>
                        <a:rPr lang="en-US" sz="1600" dirty="0">
                          <a:solidFill>
                            <a:srgbClr val="EEF2F6"/>
                          </a:solidFill>
                          <a:latin typeface="Calibri" pitchFamily="34" charset="0"/>
                          <a:ea typeface="Calibri" pitchFamily="34" charset="-122"/>
                          <a:cs typeface="Calibri" pitchFamily="34" charset="-120"/>
                        </a:rPr>
                        <a:t>MySQL 8, Spring Data JPA, Hibernate</a:t>
                      </a:r>
                      <a:endParaRPr lang="en-US" sz="1600" dirty="0">
                        <a:latin typeface="Calibri" charset="0"/>
                        <a:ea typeface="Calibri" charset="0"/>
                        <a:cs typeface="Calibri" charset="0"/>
                      </a:endParaRPr>
                    </a:p>
                  </a:txBody>
                  <a:tcPr marL="109728" marR="109728" marT="54864" marB="54864">
                    <a:lnL w="0" cap="flat" cmpd="sng" algn="ctr">
                      <a:noFill/>
                    </a:lnL>
                    <a:lnR w="0" cap="flat" cmpd="sng" algn="ctr">
                      <a:noFill/>
                    </a:lnR>
                    <a:lnT w="0" cap="flat" cmpd="sng" algn="ctr">
                      <a:noFill/>
                    </a:lnT>
                    <a:lnB w="9525" cap="flat" cmpd="sng" algn="ctr">
                      <a:solidFill>
                        <a:srgbClr val="2A4566"/>
                      </a:solidFill>
                      <a:prstDash val="solid"/>
                      <a:round/>
                      <a:headEnd type="none" w="med" len="med"/>
                      <a:tailEnd type="none" w="med" len="med"/>
                    </a:lnB>
                  </a:tcPr>
                </a:tc>
              </a:tr>
              <a:tr h="438912">
                <a:tc>
                  <a:txBody>
                    <a:bodyPr/>
                    <a:lstStyle/>
                    <a:p>
                      <a:pPr indent="0" marL="0">
                        <a:buNone/>
                      </a:pPr>
                      <a:r>
                        <a:rPr lang="en-US" sz="1600" b="1" dirty="0">
                          <a:solidFill>
                            <a:srgbClr val="EEF2F6"/>
                          </a:solidFill>
                          <a:latin typeface="Calibri" pitchFamily="34" charset="0"/>
                          <a:ea typeface="Calibri" pitchFamily="34" charset="-122"/>
                          <a:cs typeface="Calibri" pitchFamily="34" charset="-120"/>
                        </a:rPr>
                        <a:t>Security</a:t>
                      </a:r>
                      <a:endParaRPr lang="en-US" sz="1600" dirty="0">
                        <a:latin typeface="Calibri" charset="0"/>
                        <a:ea typeface="Calibri" charset="0"/>
                        <a:cs typeface="Calibri" charset="0"/>
                      </a:endParaRPr>
                    </a:p>
                  </a:txBody>
                  <a:tcPr marL="109728" marR="109728" marT="54864" marB="54864">
                    <a:lnL w="0" cap="flat" cmpd="sng" algn="ctr">
                      <a:noFill/>
                    </a:lnL>
                    <a:lnR w="0" cap="flat" cmpd="sng" algn="ctr">
                      <a:noFill/>
                    </a:lnR>
                    <a:lnT w="0" cap="flat" cmpd="sng" algn="ctr">
                      <a:noFill/>
                    </a:lnT>
                    <a:lnB w="9525" cap="flat" cmpd="sng" algn="ctr">
                      <a:solidFill>
                        <a:srgbClr val="2A4566"/>
                      </a:solidFill>
                      <a:prstDash val="solid"/>
                      <a:round/>
                      <a:headEnd type="none" w="med" len="med"/>
                      <a:tailEnd type="none" w="med" len="med"/>
                    </a:lnB>
                  </a:tcPr>
                </a:tc>
                <a:tc>
                  <a:txBody>
                    <a:bodyPr/>
                    <a:lstStyle/>
                    <a:p>
                      <a:pPr indent="0" marL="0">
                        <a:buNone/>
                      </a:pPr>
                      <a:r>
                        <a:rPr lang="en-US" sz="1600" dirty="0">
                          <a:solidFill>
                            <a:srgbClr val="EEF2F6"/>
                          </a:solidFill>
                          <a:latin typeface="Calibri" pitchFamily="34" charset="0"/>
                          <a:ea typeface="Calibri" pitchFamily="34" charset="-122"/>
                          <a:cs typeface="Calibri" pitchFamily="34" charset="-120"/>
                        </a:rPr>
                        <a:t>Spring Security, JWT tokens, BCrypt passwords</a:t>
                      </a:r>
                      <a:endParaRPr lang="en-US" sz="1600" dirty="0">
                        <a:latin typeface="Calibri" charset="0"/>
                        <a:ea typeface="Calibri" charset="0"/>
                        <a:cs typeface="Calibri" charset="0"/>
                      </a:endParaRPr>
                    </a:p>
                  </a:txBody>
                  <a:tcPr marL="109728" marR="109728" marT="54864" marB="54864">
                    <a:lnL w="0" cap="flat" cmpd="sng" algn="ctr">
                      <a:noFill/>
                    </a:lnL>
                    <a:lnR w="0" cap="flat" cmpd="sng" algn="ctr">
                      <a:noFill/>
                    </a:lnR>
                    <a:lnT w="0" cap="flat" cmpd="sng" algn="ctr">
                      <a:noFill/>
                    </a:lnT>
                    <a:lnB w="9525" cap="flat" cmpd="sng" algn="ctr">
                      <a:solidFill>
                        <a:srgbClr val="2A4566"/>
                      </a:solidFill>
                      <a:prstDash val="solid"/>
                      <a:round/>
                      <a:headEnd type="none" w="med" len="med"/>
                      <a:tailEnd type="none" w="med" len="med"/>
                    </a:lnB>
                  </a:tcPr>
                </a:tc>
              </a:tr>
              <a:tr h="438912">
                <a:tc>
                  <a:txBody>
                    <a:bodyPr/>
                    <a:lstStyle/>
                    <a:p>
                      <a:pPr indent="0" marL="0">
                        <a:buNone/>
                      </a:pPr>
                      <a:r>
                        <a:rPr lang="en-US" sz="1600" b="1" dirty="0">
                          <a:solidFill>
                            <a:srgbClr val="EEF2F6"/>
                          </a:solidFill>
                          <a:latin typeface="Calibri" pitchFamily="34" charset="0"/>
                          <a:ea typeface="Calibri" pitchFamily="34" charset="-122"/>
                          <a:cs typeface="Calibri" pitchFamily="34" charset="-120"/>
                        </a:rPr>
                        <a:t>Real metrics</a:t>
                      </a:r>
                      <a:endParaRPr lang="en-US" sz="1600" dirty="0">
                        <a:latin typeface="Calibri" charset="0"/>
                        <a:ea typeface="Calibri" charset="0"/>
                        <a:cs typeface="Calibri" charset="0"/>
                      </a:endParaRPr>
                    </a:p>
                  </a:txBody>
                  <a:tcPr marL="109728" marR="109728" marT="54864" marB="54864">
                    <a:lnL w="0" cap="flat" cmpd="sng" algn="ctr">
                      <a:noFill/>
                    </a:lnL>
                    <a:lnR w="0" cap="flat" cmpd="sng" algn="ctr">
                      <a:noFill/>
                    </a:lnR>
                    <a:lnT w="0" cap="flat" cmpd="sng" algn="ctr">
                      <a:noFill/>
                    </a:lnT>
                    <a:lnB w="9525" cap="flat" cmpd="sng" algn="ctr">
                      <a:solidFill>
                        <a:srgbClr val="2A4566"/>
                      </a:solidFill>
                      <a:prstDash val="solid"/>
                      <a:round/>
                      <a:headEnd type="none" w="med" len="med"/>
                      <a:tailEnd type="none" w="med" len="med"/>
                    </a:lnB>
                  </a:tcPr>
                </a:tc>
                <a:tc>
                  <a:txBody>
                    <a:bodyPr/>
                    <a:lstStyle/>
                    <a:p>
                      <a:pPr indent="0" marL="0">
                        <a:buNone/>
                      </a:pPr>
                      <a:r>
                        <a:rPr lang="en-US" sz="1600" dirty="0">
                          <a:solidFill>
                            <a:srgbClr val="EEF2F6"/>
                          </a:solidFill>
                          <a:latin typeface="Calibri" pitchFamily="34" charset="0"/>
                          <a:ea typeface="Calibri" pitchFamily="34" charset="-122"/>
                          <a:cs typeface="Calibri" pitchFamily="34" charset="-120"/>
                        </a:rPr>
                        <a:t>OSHI library (CPU, RAM, disk, network, uptime)</a:t>
                      </a:r>
                      <a:endParaRPr lang="en-US" sz="1600" dirty="0">
                        <a:latin typeface="Calibri" charset="0"/>
                        <a:ea typeface="Calibri" charset="0"/>
                        <a:cs typeface="Calibri" charset="0"/>
                      </a:endParaRPr>
                    </a:p>
                  </a:txBody>
                  <a:tcPr marL="109728" marR="109728" marT="54864" marB="54864">
                    <a:lnL w="0" cap="flat" cmpd="sng" algn="ctr">
                      <a:noFill/>
                    </a:lnL>
                    <a:lnR w="0" cap="flat" cmpd="sng" algn="ctr">
                      <a:noFill/>
                    </a:lnR>
                    <a:lnT w="0" cap="flat" cmpd="sng" algn="ctr">
                      <a:noFill/>
                    </a:lnT>
                    <a:lnB w="9525" cap="flat" cmpd="sng" algn="ctr">
                      <a:solidFill>
                        <a:srgbClr val="2A4566"/>
                      </a:solidFill>
                      <a:prstDash val="solid"/>
                      <a:round/>
                      <a:headEnd type="none" w="med" len="med"/>
                      <a:tailEnd type="none" w="med" len="med"/>
                    </a:lnB>
                  </a:tcPr>
                </a:tc>
              </a:tr>
              <a:tr h="438912">
                <a:tc>
                  <a:txBody>
                    <a:bodyPr/>
                    <a:lstStyle/>
                    <a:p>
                      <a:pPr indent="0" marL="0">
                        <a:buNone/>
                      </a:pPr>
                      <a:r>
                        <a:rPr lang="en-US" sz="1600" b="1" dirty="0">
                          <a:solidFill>
                            <a:srgbClr val="EEF2F6"/>
                          </a:solidFill>
                          <a:latin typeface="Calibri" pitchFamily="34" charset="0"/>
                          <a:ea typeface="Calibri" pitchFamily="34" charset="-122"/>
                          <a:cs typeface="Calibri" pitchFamily="34" charset="-120"/>
                        </a:rPr>
                        <a:t>Reports and email</a:t>
                      </a:r>
                      <a:endParaRPr lang="en-US" sz="1600" dirty="0">
                        <a:latin typeface="Calibri" charset="0"/>
                        <a:ea typeface="Calibri" charset="0"/>
                        <a:cs typeface="Calibri" charset="0"/>
                      </a:endParaRPr>
                    </a:p>
                  </a:txBody>
                  <a:tcPr marL="109728" marR="109728" marT="54864" marB="54864">
                    <a:lnL w="0" cap="flat" cmpd="sng" algn="ctr">
                      <a:noFill/>
                    </a:lnL>
                    <a:lnR w="0" cap="flat" cmpd="sng" algn="ctr">
                      <a:noFill/>
                    </a:lnR>
                    <a:lnT w="0" cap="flat" cmpd="sng" algn="ctr">
                      <a:noFill/>
                    </a:lnT>
                    <a:lnB w="9525" cap="flat" cmpd="sng" algn="ctr">
                      <a:solidFill>
                        <a:srgbClr val="2A4566"/>
                      </a:solidFill>
                      <a:prstDash val="solid"/>
                      <a:round/>
                      <a:headEnd type="none" w="med" len="med"/>
                      <a:tailEnd type="none" w="med" len="med"/>
                    </a:lnB>
                  </a:tcPr>
                </a:tc>
                <a:tc>
                  <a:txBody>
                    <a:bodyPr/>
                    <a:lstStyle/>
                    <a:p>
                      <a:pPr indent="0" marL="0">
                        <a:buNone/>
                      </a:pPr>
                      <a:r>
                        <a:rPr lang="en-US" sz="1600" dirty="0">
                          <a:solidFill>
                            <a:srgbClr val="EEF2F6"/>
                          </a:solidFill>
                          <a:latin typeface="Calibri" pitchFamily="34" charset="0"/>
                          <a:ea typeface="Calibri" pitchFamily="34" charset="-122"/>
                          <a:cs typeface="Calibri" pitchFamily="34" charset="-120"/>
                        </a:rPr>
                        <a:t>OpenPDF, Spring Mail with Gmail SMTP</a:t>
                      </a:r>
                      <a:endParaRPr lang="en-US" sz="1600" dirty="0">
                        <a:latin typeface="Calibri" charset="0"/>
                        <a:ea typeface="Calibri" charset="0"/>
                        <a:cs typeface="Calibri" charset="0"/>
                      </a:endParaRPr>
                    </a:p>
                  </a:txBody>
                  <a:tcPr marL="109728" marR="109728" marT="54864" marB="54864">
                    <a:lnL w="0" cap="flat" cmpd="sng" algn="ctr">
                      <a:noFill/>
                    </a:lnL>
                    <a:lnR w="0" cap="flat" cmpd="sng" algn="ctr">
                      <a:noFill/>
                    </a:lnR>
                    <a:lnT w="0" cap="flat" cmpd="sng" algn="ctr">
                      <a:noFill/>
                    </a:lnT>
                    <a:lnB w="9525" cap="flat" cmpd="sng" algn="ctr">
                      <a:solidFill>
                        <a:srgbClr val="2A4566"/>
                      </a:solidFill>
                      <a:prstDash val="solid"/>
                      <a:round/>
                      <a:headEnd type="none" w="med" len="med"/>
                      <a:tailEnd type="none" w="med" len="med"/>
                    </a:lnB>
                  </a:tcPr>
                </a:tc>
              </a:tr>
              <a:tr h="438912">
                <a:tc>
                  <a:txBody>
                    <a:bodyPr/>
                    <a:lstStyle/>
                    <a:p>
                      <a:pPr indent="0" marL="0">
                        <a:buNone/>
                      </a:pPr>
                      <a:r>
                        <a:rPr lang="en-US" sz="1600" b="1" dirty="0">
                          <a:solidFill>
                            <a:srgbClr val="EEF2F6"/>
                          </a:solidFill>
                          <a:latin typeface="Calibri" pitchFamily="34" charset="0"/>
                          <a:ea typeface="Calibri" pitchFamily="34" charset="-122"/>
                          <a:cs typeface="Calibri" pitchFamily="34" charset="-120"/>
                        </a:rPr>
                        <a:t>Frontend</a:t>
                      </a:r>
                      <a:endParaRPr lang="en-US" sz="1600" dirty="0">
                        <a:latin typeface="Calibri" charset="0"/>
                        <a:ea typeface="Calibri" charset="0"/>
                        <a:cs typeface="Calibri" charset="0"/>
                      </a:endParaRPr>
                    </a:p>
                  </a:txBody>
                  <a:tcPr marL="109728" marR="109728" marT="54864" marB="54864">
                    <a:lnL w="0" cap="flat" cmpd="sng" algn="ctr">
                      <a:noFill/>
                    </a:lnL>
                    <a:lnR w="0" cap="flat" cmpd="sng" algn="ctr">
                      <a:noFill/>
                    </a:lnR>
                    <a:lnT w="0" cap="flat" cmpd="sng" algn="ctr">
                      <a:noFill/>
                    </a:lnT>
                    <a:lnB w="9525" cap="flat" cmpd="sng" algn="ctr">
                      <a:solidFill>
                        <a:srgbClr val="2A4566"/>
                      </a:solidFill>
                      <a:prstDash val="solid"/>
                      <a:round/>
                      <a:headEnd type="none" w="med" len="med"/>
                      <a:tailEnd type="none" w="med" len="med"/>
                    </a:lnB>
                  </a:tcPr>
                </a:tc>
                <a:tc>
                  <a:txBody>
                    <a:bodyPr/>
                    <a:lstStyle/>
                    <a:p>
                      <a:pPr indent="0" marL="0">
                        <a:buNone/>
                      </a:pPr>
                      <a:r>
                        <a:rPr lang="en-US" sz="1600" dirty="0">
                          <a:solidFill>
                            <a:srgbClr val="EEF2F6"/>
                          </a:solidFill>
                          <a:latin typeface="Calibri" pitchFamily="34" charset="0"/>
                          <a:ea typeface="Calibri" pitchFamily="34" charset="-122"/>
                          <a:cs typeface="Calibri" pitchFamily="34" charset="-120"/>
                        </a:rPr>
                        <a:t>React 19, Vite, Tailwind CSS, Recharts, framer-motion</a:t>
                      </a:r>
                      <a:endParaRPr lang="en-US" sz="1600" dirty="0">
                        <a:latin typeface="Calibri" charset="0"/>
                        <a:ea typeface="Calibri" charset="0"/>
                        <a:cs typeface="Calibri" charset="0"/>
                      </a:endParaRPr>
                    </a:p>
                  </a:txBody>
                  <a:tcPr marL="109728" marR="109728" marT="54864" marB="54864">
                    <a:lnL w="0" cap="flat" cmpd="sng" algn="ctr">
                      <a:noFill/>
                    </a:lnL>
                    <a:lnR w="0" cap="flat" cmpd="sng" algn="ctr">
                      <a:noFill/>
                    </a:lnR>
                    <a:lnT w="0" cap="flat" cmpd="sng" algn="ctr">
                      <a:noFill/>
                    </a:lnT>
                    <a:lnB w="9525" cap="flat" cmpd="sng" algn="ctr">
                      <a:solidFill>
                        <a:srgbClr val="2A4566"/>
                      </a:solidFill>
                      <a:prstDash val="solid"/>
                      <a:round/>
                      <a:headEnd type="none" w="med" len="med"/>
                      <a:tailEnd type="none" w="med" len="med"/>
                    </a:lnB>
                  </a:tcPr>
                </a:tc>
              </a:tr>
              <a:tr h="438912">
                <a:tc>
                  <a:txBody>
                    <a:bodyPr/>
                    <a:lstStyle/>
                    <a:p>
                      <a:pPr indent="0" marL="0">
                        <a:buNone/>
                      </a:pPr>
                      <a:r>
                        <a:rPr lang="en-US" sz="1600" b="1" dirty="0">
                          <a:solidFill>
                            <a:srgbClr val="EEF2F6"/>
                          </a:solidFill>
                          <a:latin typeface="Calibri" pitchFamily="34" charset="0"/>
                          <a:ea typeface="Calibri" pitchFamily="34" charset="-122"/>
                          <a:cs typeface="Calibri" pitchFamily="34" charset="-120"/>
                        </a:rPr>
                        <a:t>Tools</a:t>
                      </a:r>
                      <a:endParaRPr lang="en-US" sz="1600" dirty="0">
                        <a:latin typeface="Calibri" charset="0"/>
                        <a:ea typeface="Calibri" charset="0"/>
                        <a:cs typeface="Calibri" charset="0"/>
                      </a:endParaRPr>
                    </a:p>
                  </a:txBody>
                  <a:tcPr marL="109728" marR="109728" marT="54864" marB="54864">
                    <a:lnL w="0" cap="flat" cmpd="sng" algn="ctr">
                      <a:noFill/>
                    </a:lnL>
                    <a:lnR w="0" cap="flat" cmpd="sng" algn="ctr">
                      <a:noFill/>
                    </a:lnR>
                    <a:lnT w="0" cap="flat" cmpd="sng" algn="ctr">
                      <a:noFill/>
                    </a:lnT>
                    <a:lnB w="9525" cap="flat" cmpd="sng" algn="ctr">
                      <a:solidFill>
                        <a:srgbClr val="2A4566"/>
                      </a:solidFill>
                      <a:prstDash val="solid"/>
                      <a:round/>
                      <a:headEnd type="none" w="med" len="med"/>
                      <a:tailEnd type="none" w="med" len="med"/>
                    </a:lnB>
                  </a:tcPr>
                </a:tc>
                <a:tc>
                  <a:txBody>
                    <a:bodyPr/>
                    <a:lstStyle/>
                    <a:p>
                      <a:pPr indent="0" marL="0">
                        <a:buNone/>
                      </a:pPr>
                      <a:r>
                        <a:rPr lang="en-US" sz="1600" dirty="0">
                          <a:solidFill>
                            <a:srgbClr val="EEF2F6"/>
                          </a:solidFill>
                          <a:latin typeface="Calibri" pitchFamily="34" charset="0"/>
                          <a:ea typeface="Calibri" pitchFamily="34" charset="-122"/>
                          <a:cs typeface="Calibri" pitchFamily="34" charset="-120"/>
                        </a:rPr>
                        <a:t>IntelliJ IDEA, Git and GitHub, Chrome</a:t>
                      </a:r>
                      <a:endParaRPr lang="en-US" sz="1600" dirty="0">
                        <a:latin typeface="Calibri" charset="0"/>
                        <a:ea typeface="Calibri" charset="0"/>
                        <a:cs typeface="Calibri" charset="0"/>
                      </a:endParaRPr>
                    </a:p>
                  </a:txBody>
                  <a:tcPr marL="109728" marR="109728" marT="54864" marB="54864">
                    <a:lnL w="0" cap="flat" cmpd="sng" algn="ctr">
                      <a:noFill/>
                    </a:lnL>
                    <a:lnR w="0" cap="flat" cmpd="sng" algn="ctr">
                      <a:noFill/>
                    </a:lnR>
                    <a:lnT w="0" cap="flat" cmpd="sng" algn="ctr">
                      <a:noFill/>
                    </a:lnT>
                    <a:lnB w="9525" cap="flat" cmpd="sng" algn="ctr">
                      <a:solidFill>
                        <a:srgbClr val="2A456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9B8CA"/>
                </a:solidFill>
              </a:defRPr>
            </a:lvl1pPr>
          </a:lstStyle>
          <a:p>
            <a:pPr algn="r"/>
            <a:fld id="{F7021451-1387-4CA6-816F-3879F97B5CBC}" type="slidenum">
              <a:rPr b="0" lang="en-US"/>
              <a:t>5</a:t>
            </a:fld>
            <a:endParaRPr lang="en-US"/>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22" presetClass="entr" presetSubtype="1" fill="hold" grpId="0" nodeType="click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wipe(down)">
                                      <p:cBhvr>
                                        <p:cTn id="6" dur="9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686800" cy="320040"/>
          </a:xfrm>
          <a:prstGeom prst="rect">
            <a:avLst/>
          </a:prstGeom>
          <a:noFill/>
          <a:ln/>
        </p:spPr>
        <p:txBody>
          <a:bodyPr wrap="square" lIns="0" tIns="0" rIns="0" bIns="0" rtlCol="0" anchor="t"/>
          <a:lstStyle/>
          <a:p>
            <a:pPr indent="0" marL="0">
              <a:buNone/>
            </a:pPr>
            <a:r>
              <a:rPr lang="en-US" sz="1300" b="1" spc="200" kern="0" dirty="0">
                <a:solidFill>
                  <a:schemeClr val="accent1"/>
                </a:solidFill>
              </a:rPr>
              <a:t>ARCHITECTURE</a:t>
            </a:r>
            <a:endParaRPr lang="en-US" sz="1300" dirty="0"/>
          </a:p>
        </p:txBody>
      </p:sp>
      <p:sp>
        <p:nvSpPr>
          <p:cNvPr id="3" name="Text 0"/>
          <p:cNvSpPr/>
          <p:nvPr>
            <p:ph idx="101" type="title" hasCustomPrompt="1"/>
          </p:nvPr>
        </p:nvSpPr>
        <p:spPr>
          <a:xfrm>
            <a:off x="548640" y="713232"/>
            <a:ext cx="11091672" cy="822960"/>
          </a:xfrm>
          <a:prstGeom prst="rect">
            <a:avLst/>
          </a:prstGeom>
          <a:noFill/>
          <a:ln/>
        </p:spPr>
        <p:txBody>
          <a:bodyPr wrap="square" lIns="0" tIns="0" rIns="0" bIns="0" rtlCol="0" anchor="t"/>
          <a:lstStyle/>
          <a:p>
            <a:pPr indent="0" marL="0">
              <a:buNone/>
            </a:pPr>
            <a:r>
              <a:rPr lang="en-US" sz="3200" b="1" dirty="0">
                <a:solidFill>
                  <a:schemeClr val="tx1"/>
                </a:solidFill>
              </a:rPr>
              <a:t>Three tiers: browser, Spring Boot server, MySQL</a:t>
            </a:r>
            <a:endParaRPr lang="en-US" sz="3200" dirty="0"/>
          </a:p>
        </p:txBody>
      </p:sp>
      <p:sp>
        <p:nvSpPr>
          <p:cNvPr id="4" name="nav-contents"/>
          <p:cNvSpPr txBox="1"/>
          <p:nvPr/>
        </p:nvSpPr>
        <p:spPr>
          <a:xfrm>
            <a:off x="10451592" y="365760"/>
            <a:ext cx="1188720" cy="292608"/>
          </a:xfrm>
          <a:prstGeom prst="rect">
            <a:avLst/>
          </a:prstGeom>
          <a:noFill/>
          <a:ln/>
        </p:spPr>
        <p:txBody>
          <a:bodyPr wrap="square" lIns="0" tIns="0" rIns="0" bIns="0" rtlCol="0" anchor="ctr"/>
          <a:lstStyle/>
          <a:p>
            <a:pPr algn="r" indent="0" marL="0">
              <a:buNone/>
            </a:pPr>
            <a:r>
              <a:rPr lang="en-US" sz="1100" u="sng" dirty="0">
                <a:solidFill>
                  <a:schemeClr val="accent1"/>
                </a:solidFill>
                <a:hlinkClick r:id="rId1" action="ppaction://hlinksldjump" tooltip="Back to contents">
                  <a:extLst>
                    <a:ext uri="{A12FA001-AC4F-418D-AE19-62706E023703}">
                      <ahyp:hlinkClr xmlns:ahyp="http://schemas.microsoft.com/office/drawing/2018/hyperlinkcolor" val="tx"/>
                    </a:ext>
                  </a:extLst>
                </a:hlinkClick>
              </a:rPr>
              <a:t>Contents ↩</a:t>
            </a:r>
            <a:endParaRPr lang="en-US" sz="1100" dirty="0"/>
          </a:p>
        </p:txBody>
      </p:sp>
      <p:sp>
        <p:nvSpPr>
          <p:cNvPr id="5" name="a-browser"/>
          <p:cNvSpPr/>
          <p:nvPr/>
        </p:nvSpPr>
        <p:spPr>
          <a:xfrm>
            <a:off x="548640" y="1737360"/>
            <a:ext cx="7498080" cy="713232"/>
          </a:xfrm>
          <a:prstGeom prst="roundRect">
            <a:avLst>
              <a:gd name="adj" fmla="val 12821"/>
            </a:avLst>
          </a:prstGeom>
          <a:solidFill>
            <a:srgbClr val="FFFFFF"/>
          </a:solidFill>
          <a:ln w="22225">
            <a:solidFill>
              <a:srgbClr val="1F5FB5"/>
            </a:solidFill>
            <a:prstDash val="solid"/>
          </a:ln>
        </p:spPr>
      </p:sp>
      <p:sp>
        <p:nvSpPr>
          <p:cNvPr id="6" name="a-browser-t"/>
          <p:cNvSpPr txBox="1"/>
          <p:nvPr/>
        </p:nvSpPr>
        <p:spPr>
          <a:xfrm>
            <a:off x="822960" y="1783080"/>
            <a:ext cx="3200400" cy="365760"/>
          </a:xfrm>
          <a:prstGeom prst="rect">
            <a:avLst/>
          </a:prstGeom>
          <a:noFill/>
          <a:ln/>
        </p:spPr>
        <p:txBody>
          <a:bodyPr wrap="square" lIns="0" tIns="0" rIns="0" bIns="0" rtlCol="0" anchor="ctr"/>
          <a:lstStyle/>
          <a:p>
            <a:pPr algn="l" indent="0" marL="0">
              <a:buNone/>
            </a:pPr>
            <a:r>
              <a:rPr lang="en-US" sz="1700" b="1" dirty="0">
                <a:solidFill>
                  <a:schemeClr val="tx1"/>
                </a:solidFill>
              </a:rPr>
              <a:t>Browser: React app</a:t>
            </a:r>
            <a:endParaRPr lang="en-US" sz="1700" dirty="0"/>
          </a:p>
        </p:txBody>
      </p:sp>
      <p:sp>
        <p:nvSpPr>
          <p:cNvPr id="7" name="a-browser-d"/>
          <p:cNvSpPr txBox="1"/>
          <p:nvPr/>
        </p:nvSpPr>
        <p:spPr>
          <a:xfrm>
            <a:off x="822960" y="2103120"/>
            <a:ext cx="6949440" cy="292608"/>
          </a:xfrm>
          <a:prstGeom prst="rect">
            <a:avLst/>
          </a:prstGeom>
          <a:noFill/>
          <a:ln/>
        </p:spPr>
        <p:txBody>
          <a:bodyPr wrap="square" lIns="0" tIns="0" rIns="0" bIns="0" rtlCol="0" anchor="ctr"/>
          <a:lstStyle/>
          <a:p>
            <a:pPr algn="l" indent="0" marL="0">
              <a:buNone/>
            </a:pPr>
            <a:r>
              <a:rPr lang="en-US" sz="1300" dirty="0">
                <a:solidFill>
                  <a:schemeClr val="accent6"/>
                </a:solidFill>
              </a:rPr>
              <a:t>Dashboard, Resources, Alerts, Logs, Costs, Export</a:t>
            </a:r>
            <a:endParaRPr lang="en-US" sz="1300" dirty="0"/>
          </a:p>
        </p:txBody>
      </p:sp>
      <p:sp>
        <p:nvSpPr>
          <p:cNvPr id="8" name="a-l1"/>
          <p:cNvSpPr/>
          <p:nvPr/>
        </p:nvSpPr>
        <p:spPr>
          <a:xfrm>
            <a:off x="1828800" y="2468880"/>
            <a:ext cx="0" cy="384048"/>
          </a:xfrm>
          <a:prstGeom prst="line">
            <a:avLst/>
          </a:prstGeom>
          <a:noFill/>
          <a:ln w="19050">
            <a:solidFill>
              <a:srgbClr val="4A5568"/>
            </a:solidFill>
            <a:prstDash val="solid"/>
            <a:headEnd type="triangle"/>
            <a:tailEnd type="triangle"/>
          </a:ln>
        </p:spPr>
      </p:sp>
      <p:sp>
        <p:nvSpPr>
          <p:cNvPr id="9" name="a-l1-t"/>
          <p:cNvSpPr txBox="1"/>
          <p:nvPr/>
        </p:nvSpPr>
        <p:spPr>
          <a:xfrm>
            <a:off x="2011680" y="2505456"/>
            <a:ext cx="5852160" cy="310896"/>
          </a:xfrm>
          <a:prstGeom prst="rect">
            <a:avLst/>
          </a:prstGeom>
          <a:noFill/>
          <a:ln/>
        </p:spPr>
        <p:txBody>
          <a:bodyPr wrap="square" lIns="0" tIns="0" rIns="0" bIns="0" rtlCol="0" anchor="ctr"/>
          <a:lstStyle/>
          <a:p>
            <a:pPr algn="l" indent="0" marL="0">
              <a:buNone/>
            </a:pPr>
            <a:r>
              <a:rPr lang="en-US" sz="1300" dirty="0">
                <a:solidFill>
                  <a:schemeClr val="accent6"/>
                </a:solidFill>
              </a:rPr>
              <a:t>REST /api with JWT  ·  WebSocket push every 3 s</a:t>
            </a:r>
            <a:endParaRPr lang="en-US" sz="1300" dirty="0"/>
          </a:p>
        </p:txBody>
      </p:sp>
      <p:sp>
        <p:nvSpPr>
          <p:cNvPr id="10" name="a-server"/>
          <p:cNvSpPr/>
          <p:nvPr/>
        </p:nvSpPr>
        <p:spPr>
          <a:xfrm>
            <a:off x="548640" y="2871216"/>
            <a:ext cx="7498080" cy="2121408"/>
          </a:xfrm>
          <a:prstGeom prst="roundRect">
            <a:avLst>
              <a:gd name="adj" fmla="val 4310"/>
            </a:avLst>
          </a:prstGeom>
          <a:solidFill>
            <a:srgbClr val="E2E9F2"/>
          </a:solidFill>
          <a:ln w="9525">
            <a:solidFill>
              <a:srgbClr val="C5CFDB"/>
            </a:solidFill>
            <a:prstDash val="solid"/>
          </a:ln>
        </p:spPr>
      </p:sp>
      <p:sp>
        <p:nvSpPr>
          <p:cNvPr id="11" name="a-server-t"/>
          <p:cNvSpPr txBox="1"/>
          <p:nvPr/>
        </p:nvSpPr>
        <p:spPr>
          <a:xfrm>
            <a:off x="822960" y="2926080"/>
            <a:ext cx="5486400" cy="365760"/>
          </a:xfrm>
          <a:prstGeom prst="rect">
            <a:avLst/>
          </a:prstGeom>
          <a:noFill/>
          <a:ln/>
        </p:spPr>
        <p:txBody>
          <a:bodyPr wrap="square" lIns="0" tIns="0" rIns="0" bIns="0" rtlCol="0" anchor="ctr"/>
          <a:lstStyle/>
          <a:p>
            <a:pPr algn="l" indent="0" marL="0">
              <a:buNone/>
            </a:pPr>
            <a:r>
              <a:rPr lang="en-US" sz="1600" b="1" dirty="0">
                <a:solidFill>
                  <a:schemeClr val="tx1"/>
                </a:solidFill>
              </a:rPr>
              <a:t>Spring Boot server (Java 21)</a:t>
            </a:r>
            <a:endParaRPr lang="en-US" sz="1600" dirty="0"/>
          </a:p>
        </p:txBody>
      </p:sp>
      <p:sp>
        <p:nvSpPr>
          <p:cNvPr id="12" name="a-layer0"/>
          <p:cNvSpPr/>
          <p:nvPr/>
        </p:nvSpPr>
        <p:spPr>
          <a:xfrm>
            <a:off x="777240" y="3337560"/>
            <a:ext cx="7040880" cy="329184"/>
          </a:xfrm>
          <a:prstGeom prst="roundRect">
            <a:avLst>
              <a:gd name="adj" fmla="val 27778"/>
            </a:avLst>
          </a:prstGeom>
          <a:solidFill>
            <a:srgbClr val="FFFFFF"/>
          </a:solidFill>
          <a:ln w="9525">
            <a:solidFill>
              <a:srgbClr val="FFFFFF"/>
            </a:solidFill>
            <a:prstDash val="solid"/>
          </a:ln>
        </p:spPr>
      </p:sp>
      <p:sp>
        <p:nvSpPr>
          <p:cNvPr id="13" name="a-layer0-t"/>
          <p:cNvSpPr txBox="1"/>
          <p:nvPr/>
        </p:nvSpPr>
        <p:spPr>
          <a:xfrm>
            <a:off x="960120" y="3337560"/>
            <a:ext cx="6675120" cy="329184"/>
          </a:xfrm>
          <a:prstGeom prst="rect">
            <a:avLst/>
          </a:prstGeom>
          <a:noFill/>
          <a:ln/>
        </p:spPr>
        <p:txBody>
          <a:bodyPr wrap="square" lIns="0" tIns="0" rIns="0" bIns="0" rtlCol="0" anchor="ctr"/>
          <a:lstStyle/>
          <a:p>
            <a:pPr algn="l" indent="0" marL="0">
              <a:buNone/>
            </a:pPr>
            <a:r>
              <a:rPr lang="en-US" sz="1300" dirty="0">
                <a:solidFill>
                  <a:schemeClr val="tx1"/>
                </a:solidFill>
              </a:rPr>
              <a:t>Security: JWT filter, roles</a:t>
            </a:r>
            <a:endParaRPr lang="en-US" sz="1300" dirty="0"/>
          </a:p>
        </p:txBody>
      </p:sp>
      <p:sp>
        <p:nvSpPr>
          <p:cNvPr id="14" name="a-layer1"/>
          <p:cNvSpPr/>
          <p:nvPr/>
        </p:nvSpPr>
        <p:spPr>
          <a:xfrm>
            <a:off x="777240" y="3739896"/>
            <a:ext cx="7040880" cy="329184"/>
          </a:xfrm>
          <a:prstGeom prst="roundRect">
            <a:avLst>
              <a:gd name="adj" fmla="val 27778"/>
            </a:avLst>
          </a:prstGeom>
          <a:solidFill>
            <a:srgbClr val="FFFFFF"/>
          </a:solidFill>
          <a:ln w="9525">
            <a:solidFill>
              <a:srgbClr val="FFFFFF"/>
            </a:solidFill>
            <a:prstDash val="solid"/>
          </a:ln>
        </p:spPr>
      </p:sp>
      <p:sp>
        <p:nvSpPr>
          <p:cNvPr id="15" name="a-layer1-t"/>
          <p:cNvSpPr txBox="1"/>
          <p:nvPr/>
        </p:nvSpPr>
        <p:spPr>
          <a:xfrm>
            <a:off x="960120" y="3739896"/>
            <a:ext cx="6675120" cy="329184"/>
          </a:xfrm>
          <a:prstGeom prst="rect">
            <a:avLst/>
          </a:prstGeom>
          <a:noFill/>
          <a:ln/>
        </p:spPr>
        <p:txBody>
          <a:bodyPr wrap="square" lIns="0" tIns="0" rIns="0" bIns="0" rtlCol="0" anchor="ctr"/>
          <a:lstStyle/>
          <a:p>
            <a:pPr algn="l" indent="0" marL="0">
              <a:buNone/>
            </a:pPr>
            <a:r>
              <a:rPr lang="en-US" sz="1300" dirty="0">
                <a:solidFill>
                  <a:schemeClr val="tx1"/>
                </a:solidFill>
              </a:rPr>
              <a:t>REST controllers</a:t>
            </a:r>
            <a:endParaRPr lang="en-US" sz="1300" dirty="0"/>
          </a:p>
        </p:txBody>
      </p:sp>
      <p:sp>
        <p:nvSpPr>
          <p:cNvPr id="16" name="a-layer2"/>
          <p:cNvSpPr/>
          <p:nvPr/>
        </p:nvSpPr>
        <p:spPr>
          <a:xfrm>
            <a:off x="777240" y="4142232"/>
            <a:ext cx="7040880" cy="329184"/>
          </a:xfrm>
          <a:prstGeom prst="roundRect">
            <a:avLst>
              <a:gd name="adj" fmla="val 27778"/>
            </a:avLst>
          </a:prstGeom>
          <a:solidFill>
            <a:srgbClr val="FFFFFF"/>
          </a:solidFill>
          <a:ln w="9525">
            <a:solidFill>
              <a:srgbClr val="FFFFFF"/>
            </a:solidFill>
            <a:prstDash val="solid"/>
          </a:ln>
        </p:spPr>
      </p:sp>
      <p:sp>
        <p:nvSpPr>
          <p:cNvPr id="17" name="a-layer2-t"/>
          <p:cNvSpPr txBox="1"/>
          <p:nvPr/>
        </p:nvSpPr>
        <p:spPr>
          <a:xfrm>
            <a:off x="960120" y="4142232"/>
            <a:ext cx="6675120" cy="329184"/>
          </a:xfrm>
          <a:prstGeom prst="rect">
            <a:avLst/>
          </a:prstGeom>
          <a:noFill/>
          <a:ln/>
        </p:spPr>
        <p:txBody>
          <a:bodyPr wrap="square" lIns="0" tIns="0" rIns="0" bIns="0" rtlCol="0" anchor="ctr"/>
          <a:lstStyle/>
          <a:p>
            <a:pPr algn="l" indent="0" marL="0">
              <a:buNone/>
            </a:pPr>
            <a:r>
              <a:rPr lang="en-US" sz="1300" dirty="0">
                <a:solidFill>
                  <a:schemeClr val="tx1"/>
                </a:solidFill>
              </a:rPr>
              <a:t>Services: Monitoring, Alert, Email, Cost, Log, Report</a:t>
            </a:r>
            <a:endParaRPr lang="en-US" sz="1300" dirty="0"/>
          </a:p>
        </p:txBody>
      </p:sp>
      <p:sp>
        <p:nvSpPr>
          <p:cNvPr id="18" name="a-layer3"/>
          <p:cNvSpPr/>
          <p:nvPr/>
        </p:nvSpPr>
        <p:spPr>
          <a:xfrm>
            <a:off x="777240" y="4544568"/>
            <a:ext cx="7040880" cy="329184"/>
          </a:xfrm>
          <a:prstGeom prst="roundRect">
            <a:avLst>
              <a:gd name="adj" fmla="val 27778"/>
            </a:avLst>
          </a:prstGeom>
          <a:solidFill>
            <a:srgbClr val="FFFFFF"/>
          </a:solidFill>
          <a:ln w="9525">
            <a:solidFill>
              <a:srgbClr val="FFFFFF"/>
            </a:solidFill>
            <a:prstDash val="solid"/>
          </a:ln>
        </p:spPr>
      </p:sp>
      <p:sp>
        <p:nvSpPr>
          <p:cNvPr id="19" name="a-layer3-t"/>
          <p:cNvSpPr txBox="1"/>
          <p:nvPr/>
        </p:nvSpPr>
        <p:spPr>
          <a:xfrm>
            <a:off x="960120" y="4544568"/>
            <a:ext cx="6675120" cy="329184"/>
          </a:xfrm>
          <a:prstGeom prst="rect">
            <a:avLst/>
          </a:prstGeom>
          <a:noFill/>
          <a:ln/>
        </p:spPr>
        <p:txBody>
          <a:bodyPr wrap="square" lIns="0" tIns="0" rIns="0" bIns="0" rtlCol="0" anchor="ctr"/>
          <a:lstStyle/>
          <a:p>
            <a:pPr algn="l" indent="0" marL="0">
              <a:buNone/>
            </a:pPr>
            <a:r>
              <a:rPr lang="en-US" sz="1300" dirty="0">
                <a:solidFill>
                  <a:schemeClr val="tx1"/>
                </a:solidFill>
              </a:rPr>
              <a:t>JPA repositories</a:t>
            </a:r>
            <a:endParaRPr lang="en-US" sz="1300" dirty="0"/>
          </a:p>
        </p:txBody>
      </p:sp>
      <p:sp>
        <p:nvSpPr>
          <p:cNvPr id="20" name="a-l2"/>
          <p:cNvSpPr/>
          <p:nvPr/>
        </p:nvSpPr>
        <p:spPr>
          <a:xfrm>
            <a:off x="1828800" y="5010912"/>
            <a:ext cx="0" cy="365760"/>
          </a:xfrm>
          <a:prstGeom prst="line">
            <a:avLst/>
          </a:prstGeom>
          <a:noFill/>
          <a:ln w="19050">
            <a:solidFill>
              <a:srgbClr val="4A5568"/>
            </a:solidFill>
            <a:prstDash val="solid"/>
            <a:headEnd type="triangle"/>
            <a:tailEnd type="triangle"/>
          </a:ln>
        </p:spPr>
      </p:sp>
      <p:sp>
        <p:nvSpPr>
          <p:cNvPr id="21" name="a-l2-t"/>
          <p:cNvSpPr txBox="1"/>
          <p:nvPr/>
        </p:nvSpPr>
        <p:spPr>
          <a:xfrm>
            <a:off x="2011680" y="5029200"/>
            <a:ext cx="2743200" cy="310896"/>
          </a:xfrm>
          <a:prstGeom prst="rect">
            <a:avLst/>
          </a:prstGeom>
          <a:noFill/>
          <a:ln/>
        </p:spPr>
        <p:txBody>
          <a:bodyPr wrap="square" lIns="0" tIns="0" rIns="0" bIns="0" rtlCol="0" anchor="ctr"/>
          <a:lstStyle/>
          <a:p>
            <a:pPr algn="l" indent="0" marL="0">
              <a:buNone/>
            </a:pPr>
            <a:r>
              <a:rPr lang="en-US" sz="1300" dirty="0">
                <a:solidFill>
                  <a:schemeClr val="accent6"/>
                </a:solidFill>
              </a:rPr>
              <a:t>JPA / JDBC</a:t>
            </a:r>
            <a:endParaRPr lang="en-US" sz="1300" dirty="0"/>
          </a:p>
        </p:txBody>
      </p:sp>
      <p:sp>
        <p:nvSpPr>
          <p:cNvPr id="22" name="a-mysql"/>
          <p:cNvSpPr/>
          <p:nvPr/>
        </p:nvSpPr>
        <p:spPr>
          <a:xfrm>
            <a:off x="548640" y="5394960"/>
            <a:ext cx="7498080" cy="548640"/>
          </a:xfrm>
          <a:prstGeom prst="roundRect">
            <a:avLst>
              <a:gd name="adj" fmla="val 16667"/>
            </a:avLst>
          </a:prstGeom>
          <a:solidFill>
            <a:srgbClr val="FFFFFF"/>
          </a:solidFill>
          <a:ln w="9525">
            <a:solidFill>
              <a:srgbClr val="C5CFDB"/>
            </a:solidFill>
            <a:prstDash val="solid"/>
          </a:ln>
        </p:spPr>
      </p:sp>
      <p:sp>
        <p:nvSpPr>
          <p:cNvPr id="23" name="a-mysql-t"/>
          <p:cNvSpPr txBox="1"/>
          <p:nvPr/>
        </p:nvSpPr>
        <p:spPr>
          <a:xfrm>
            <a:off x="822960" y="5394960"/>
            <a:ext cx="6949440" cy="548640"/>
          </a:xfrm>
          <a:prstGeom prst="rect">
            <a:avLst/>
          </a:prstGeom>
          <a:noFill/>
          <a:ln/>
        </p:spPr>
        <p:txBody>
          <a:bodyPr wrap="square" lIns="0" tIns="0" rIns="0" bIns="0" rtlCol="0" anchor="ctr"/>
          <a:lstStyle/>
          <a:p>
            <a:pPr algn="l" indent="0" marL="0">
              <a:buNone/>
            </a:pPr>
            <a:r>
              <a:rPr lang="en-US" sz="1600" b="1" dirty="0">
                <a:solidFill>
                  <a:schemeClr val="tx1"/>
                </a:solidFill>
              </a:rPr>
              <a:t>MySQL 8 · database cloudmonitor · 6 tables</a:t>
            </a:r>
            <a:endParaRPr lang="en-US" sz="1600" dirty="0"/>
          </a:p>
        </p:txBody>
      </p:sp>
      <p:sp>
        <p:nvSpPr>
          <p:cNvPr id="24" name="a-oshi"/>
          <p:cNvSpPr/>
          <p:nvPr/>
        </p:nvSpPr>
        <p:spPr>
          <a:xfrm>
            <a:off x="8458200" y="2871216"/>
            <a:ext cx="3182112" cy="960120"/>
          </a:xfrm>
          <a:prstGeom prst="roundRect">
            <a:avLst>
              <a:gd name="adj" fmla="val 9524"/>
            </a:avLst>
          </a:prstGeom>
          <a:solidFill>
            <a:srgbClr val="FFFFFF"/>
          </a:solidFill>
          <a:ln w="9525">
            <a:solidFill>
              <a:srgbClr val="C5CFDB"/>
            </a:solidFill>
            <a:prstDash val="solid"/>
          </a:ln>
        </p:spPr>
      </p:sp>
      <p:pic>
        <p:nvPicPr>
          <p:cNvPr id="25" name="a-oshi-i" descr="activity icon">    </p:cNvPr>
          <p:cNvPicPr>
            <a:picLocks noChangeAspect="1"/>
          </p:cNvPicPr>
          <p:nvPr/>
        </p:nvPicPr>
        <p:blipFill>
          <a:blip r:embed="rId2"/>
          <a:stretch>
            <a:fillRect/>
          </a:stretch>
        </p:blipFill>
        <p:spPr>
          <a:xfrm>
            <a:off x="8641080" y="3017520"/>
            <a:ext cx="329184" cy="329184"/>
          </a:xfrm>
          <a:prstGeom prst="rect">
            <a:avLst/>
          </a:prstGeom>
        </p:spPr>
      </p:pic>
      <p:sp>
        <p:nvSpPr>
          <p:cNvPr id="26" name="a-oshi-t"/>
          <p:cNvSpPr txBox="1"/>
          <p:nvPr/>
        </p:nvSpPr>
        <p:spPr>
          <a:xfrm>
            <a:off x="9098280" y="2990088"/>
            <a:ext cx="2286000" cy="329184"/>
          </a:xfrm>
          <a:prstGeom prst="rect">
            <a:avLst/>
          </a:prstGeom>
          <a:noFill/>
          <a:ln/>
        </p:spPr>
        <p:txBody>
          <a:bodyPr wrap="square" lIns="0" tIns="0" rIns="0" bIns="0" rtlCol="0" anchor="ctr"/>
          <a:lstStyle/>
          <a:p>
            <a:pPr algn="l" indent="0" marL="0">
              <a:buNone/>
            </a:pPr>
            <a:r>
              <a:rPr lang="en-US" sz="1600" b="1" dirty="0">
                <a:solidFill>
                  <a:schemeClr val="tx1"/>
                </a:solidFill>
              </a:rPr>
              <a:t>OSHI</a:t>
            </a:r>
            <a:endParaRPr lang="en-US" sz="1600" dirty="0"/>
          </a:p>
        </p:txBody>
      </p:sp>
      <p:sp>
        <p:nvSpPr>
          <p:cNvPr id="27" name="a-oshi-d"/>
          <p:cNvSpPr txBox="1"/>
          <p:nvPr/>
        </p:nvSpPr>
        <p:spPr>
          <a:xfrm>
            <a:off x="8641080" y="3364992"/>
            <a:ext cx="2834640" cy="411480"/>
          </a:xfrm>
          <a:prstGeom prst="rect">
            <a:avLst/>
          </a:prstGeom>
          <a:noFill/>
          <a:ln/>
        </p:spPr>
        <p:txBody>
          <a:bodyPr wrap="square" lIns="0" tIns="0" rIns="0" bIns="0" rtlCol="0" anchor="ctr"/>
          <a:lstStyle/>
          <a:p>
            <a:pPr algn="l" indent="0" marL="0">
              <a:buNone/>
            </a:pPr>
            <a:r>
              <a:rPr lang="en-US" sz="1150" dirty="0">
                <a:solidFill>
                  <a:schemeClr val="accent6"/>
                </a:solidFill>
              </a:rPr>
              <a:t>Reads the real CPU, memory, disk, network of this PC</a:t>
            </a:r>
            <a:endParaRPr lang="en-US" sz="1150" dirty="0"/>
          </a:p>
        </p:txBody>
      </p:sp>
      <p:sp>
        <p:nvSpPr>
          <p:cNvPr id="28" name="a-gmail"/>
          <p:cNvSpPr/>
          <p:nvPr/>
        </p:nvSpPr>
        <p:spPr>
          <a:xfrm>
            <a:off x="8458200" y="4032504"/>
            <a:ext cx="3182112" cy="960120"/>
          </a:xfrm>
          <a:prstGeom prst="roundRect">
            <a:avLst>
              <a:gd name="adj" fmla="val 9524"/>
            </a:avLst>
          </a:prstGeom>
          <a:solidFill>
            <a:srgbClr val="FFFFFF"/>
          </a:solidFill>
          <a:ln w="9525">
            <a:solidFill>
              <a:srgbClr val="C5CFDB"/>
            </a:solidFill>
            <a:prstDash val="solid"/>
          </a:ln>
        </p:spPr>
      </p:sp>
      <p:pic>
        <p:nvPicPr>
          <p:cNvPr id="29" name="a-gmail-i" descr="send icon">    </p:cNvPr>
          <p:cNvPicPr>
            <a:picLocks noChangeAspect="1"/>
          </p:cNvPicPr>
          <p:nvPr/>
        </p:nvPicPr>
        <p:blipFill>
          <a:blip r:embed="rId3"/>
          <a:stretch>
            <a:fillRect/>
          </a:stretch>
        </p:blipFill>
        <p:spPr>
          <a:xfrm>
            <a:off x="8641080" y="4178808"/>
            <a:ext cx="329184" cy="329184"/>
          </a:xfrm>
          <a:prstGeom prst="rect">
            <a:avLst/>
          </a:prstGeom>
        </p:spPr>
      </p:pic>
      <p:sp>
        <p:nvSpPr>
          <p:cNvPr id="30" name="a-gmail-t"/>
          <p:cNvSpPr txBox="1"/>
          <p:nvPr/>
        </p:nvSpPr>
        <p:spPr>
          <a:xfrm>
            <a:off x="9098280" y="4151376"/>
            <a:ext cx="2286000" cy="329184"/>
          </a:xfrm>
          <a:prstGeom prst="rect">
            <a:avLst/>
          </a:prstGeom>
          <a:noFill/>
          <a:ln/>
        </p:spPr>
        <p:txBody>
          <a:bodyPr wrap="square" lIns="0" tIns="0" rIns="0" bIns="0" rtlCol="0" anchor="ctr"/>
          <a:lstStyle/>
          <a:p>
            <a:pPr algn="l" indent="0" marL="0">
              <a:buNone/>
            </a:pPr>
            <a:r>
              <a:rPr lang="en-US" sz="1600" b="1" dirty="0">
                <a:solidFill>
                  <a:schemeClr val="tx1"/>
                </a:solidFill>
              </a:rPr>
              <a:t>Gmail SMTP</a:t>
            </a:r>
            <a:endParaRPr lang="en-US" sz="1600" dirty="0"/>
          </a:p>
        </p:txBody>
      </p:sp>
      <p:sp>
        <p:nvSpPr>
          <p:cNvPr id="31" name="a-gmail-d"/>
          <p:cNvSpPr txBox="1"/>
          <p:nvPr/>
        </p:nvSpPr>
        <p:spPr>
          <a:xfrm>
            <a:off x="8641080" y="4526280"/>
            <a:ext cx="2834640" cy="411480"/>
          </a:xfrm>
          <a:prstGeom prst="rect">
            <a:avLst/>
          </a:prstGeom>
          <a:noFill/>
          <a:ln/>
        </p:spPr>
        <p:txBody>
          <a:bodyPr wrap="square" lIns="0" tIns="0" rIns="0" bIns="0" rtlCol="0" anchor="ctr"/>
          <a:lstStyle/>
          <a:p>
            <a:pPr algn="l" indent="0" marL="0">
              <a:buNone/>
            </a:pPr>
            <a:r>
              <a:rPr lang="en-US" sz="1150" dirty="0">
                <a:solidFill>
                  <a:schemeClr val="accent6"/>
                </a:solidFill>
              </a:rPr>
              <a:t>Sends critical alert emails in the background</a:t>
            </a:r>
            <a:endParaRPr lang="en-US" sz="1150" dirty="0"/>
          </a:p>
        </p:txBody>
      </p:sp>
      <p:sp>
        <p:nvSpPr>
          <p:cNvPr id="32" name="a-l3"/>
          <p:cNvSpPr/>
          <p:nvPr/>
        </p:nvSpPr>
        <p:spPr>
          <a:xfrm>
            <a:off x="8065008" y="3346704"/>
            <a:ext cx="374904" cy="0"/>
          </a:xfrm>
          <a:prstGeom prst="line">
            <a:avLst/>
          </a:prstGeom>
          <a:noFill/>
          <a:ln w="19050">
            <a:solidFill>
              <a:srgbClr val="4A5568"/>
            </a:solidFill>
            <a:prstDash val="solid"/>
            <a:headEnd type="triangle"/>
          </a:ln>
        </p:spPr>
      </p:sp>
      <p:sp>
        <p:nvSpPr>
          <p:cNvPr id="33" name="a-l4"/>
          <p:cNvSpPr/>
          <p:nvPr/>
        </p:nvSpPr>
        <p:spPr>
          <a:xfrm>
            <a:off x="8065008" y="4507992"/>
            <a:ext cx="374904" cy="0"/>
          </a:xfrm>
          <a:prstGeom prst="line">
            <a:avLst/>
          </a:prstGeom>
          <a:noFill/>
          <a:ln w="19050">
            <a:solidFill>
              <a:srgbClr val="4A5568"/>
            </a:solidFill>
            <a:prstDash val="solid"/>
            <a:tailEnd type="triangle"/>
          </a:ln>
        </p:spPr>
      </p:sp>
      <p:sp>
        <p:nvSpPr>
          <p:cNvPr id="34"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5568"/>
                </a:solidFill>
              </a:defRPr>
            </a:lvl1pPr>
          </a:lstStyle>
          <a:p>
            <a:pPr algn="r"/>
            <a:fld id="{F7021451-1387-4CA6-816F-3879F97B5CBC}" type="slidenum">
              <a:rPr b="0" lang="en-US"/>
              <a:t>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600"/>
                                        <p:tgtEl>
                                          <p:spTgt spid="5"/>
                                        </p:tgtEl>
                                      </p:cBhvr>
                                    </p:animEffect>
                                    <p:anim calcmode="lin" valueType="num">
                                      <p:cBhvr additive="base">
                                        <p:cTn id="7" dur="600" fill="hold"/>
                                        <p:tgtEl>
                                          <p:spTgt spid="5"/>
                                        </p:tgtEl>
                                        <p:attrNameLst>
                                          <p:attrName>ppt_x</p:attrName>
                                        </p:attrNameLst>
                                      </p:cBhvr>
                                      <p:tavLst>
                                        <p:tav tm="0">
                                          <p:val>
                                            <p:strVal val="#ppt_x"/>
                                          </p:val>
                                        </p:tav>
                                        <p:tav tm="100000">
                                          <p:val>
                                            <p:strVal val="#ppt_x"/>
                                          </p:val>
                                        </p:tav>
                                      </p:tavLst>
                                    </p:anim>
                                    <p:anim calcmode="lin" valueType="num">
                                      <p:cBhvr additive="base">
                                        <p:cTn id="8" dur="600" fill="hold"/>
                                        <p:tgtEl>
                                          <p:spTgt spid="5"/>
                                        </p:tgtEl>
                                        <p:attrNameLst>
                                          <p:attrName>ppt_y</p:attrName>
                                        </p:attrNameLst>
                                      </p:cBhvr>
                                      <p:tavLst>
                                        <p:tav tm="0">
                                          <p:val>
                                            <p:strVal val="#ppt_y+.1"/>
                                          </p:val>
                                        </p:tav>
                                        <p:tav tm="100000">
                                          <p:val>
                                            <p:strVal val="#ppt_y"/>
                                          </p:val>
                                        </p:tav>
                                      </p:tavLst>
                                    </p:anim>
                                  </p:childTnLst>
                                </p:cTn>
                              </p:par>
                              <p:par>
                                <p:cTn id="14" presetID="42"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600"/>
                                        <p:tgtEl>
                                          <p:spTgt spid="6"/>
                                        </p:tgtEl>
                                      </p:cBhvr>
                                    </p:animEffect>
                                    <p:anim calcmode="lin" valueType="num">
                                      <p:cBhvr additive="base">
                                        <p:cTn id="12" dur="600" fill="hold"/>
                                        <p:tgtEl>
                                          <p:spTgt spid="6"/>
                                        </p:tgtEl>
                                        <p:attrNameLst>
                                          <p:attrName>ppt_x</p:attrName>
                                        </p:attrNameLst>
                                      </p:cBhvr>
                                      <p:tavLst>
                                        <p:tav tm="0">
                                          <p:val>
                                            <p:strVal val="#ppt_x"/>
                                          </p:val>
                                        </p:tav>
                                        <p:tav tm="100000">
                                          <p:val>
                                            <p:strVal val="#ppt_x"/>
                                          </p:val>
                                        </p:tav>
                                      </p:tavLst>
                                    </p:anim>
                                    <p:anim calcmode="lin" valueType="num">
                                      <p:cBhvr additive="base">
                                        <p:cTn id="13" dur="600" fill="hold"/>
                                        <p:tgtEl>
                                          <p:spTgt spid="6"/>
                                        </p:tgtEl>
                                        <p:attrNameLst>
                                          <p:attrName>ppt_y</p:attrName>
                                        </p:attrNameLst>
                                      </p:cBhvr>
                                      <p:tavLst>
                                        <p:tav tm="0">
                                          <p:val>
                                            <p:strVal val="#ppt_y+.1"/>
                                          </p:val>
                                        </p:tav>
                                        <p:tav tm="100000">
                                          <p:val>
                                            <p:strVal val="#ppt_y"/>
                                          </p:val>
                                        </p:tav>
                                      </p:tavLst>
                                    </p:anim>
                                  </p:childTnLst>
                                </p:cTn>
                              </p:par>
                              <p:par>
                                <p:cTn id="19" presetID="42"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600"/>
                                        <p:tgtEl>
                                          <p:spTgt spid="7"/>
                                        </p:tgtEl>
                                      </p:cBhvr>
                                    </p:animEffect>
                                    <p:anim calcmode="lin" valueType="num">
                                      <p:cBhvr additive="base">
                                        <p:cTn id="17" dur="600" fill="hold"/>
                                        <p:tgtEl>
                                          <p:spTgt spid="7"/>
                                        </p:tgtEl>
                                        <p:attrNameLst>
                                          <p:attrName>ppt_x</p:attrName>
                                        </p:attrNameLst>
                                      </p:cBhvr>
                                      <p:tavLst>
                                        <p:tav tm="0">
                                          <p:val>
                                            <p:strVal val="#ppt_x"/>
                                          </p:val>
                                        </p:tav>
                                        <p:tav tm="100000">
                                          <p:val>
                                            <p:strVal val="#ppt_x"/>
                                          </p:val>
                                        </p:tav>
                                      </p:tavLst>
                                    </p:anim>
                                    <p:anim calcmode="lin" valueType="num">
                                      <p:cBhvr additive="base">
                                        <p:cTn id="18" dur="6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6" presetID="42"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600"/>
                                        <p:tgtEl>
                                          <p:spTgt spid="8"/>
                                        </p:tgtEl>
                                      </p:cBhvr>
                                    </p:animEffect>
                                    <p:anim calcmode="lin" valueType="num">
                                      <p:cBhvr additive="base">
                                        <p:cTn id="24" dur="600" fill="hold"/>
                                        <p:tgtEl>
                                          <p:spTgt spid="8"/>
                                        </p:tgtEl>
                                        <p:attrNameLst>
                                          <p:attrName>ppt_x</p:attrName>
                                        </p:attrNameLst>
                                      </p:cBhvr>
                                      <p:tavLst>
                                        <p:tav tm="0">
                                          <p:val>
                                            <p:strVal val="#ppt_x"/>
                                          </p:val>
                                        </p:tav>
                                        <p:tav tm="100000">
                                          <p:val>
                                            <p:strVal val="#ppt_x"/>
                                          </p:val>
                                        </p:tav>
                                      </p:tavLst>
                                    </p:anim>
                                    <p:anim calcmode="lin" valueType="num">
                                      <p:cBhvr additive="base">
                                        <p:cTn id="25" dur="600" fill="hold"/>
                                        <p:tgtEl>
                                          <p:spTgt spid="8"/>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600"/>
                                        <p:tgtEl>
                                          <p:spTgt spid="9"/>
                                        </p:tgtEl>
                                      </p:cBhvr>
                                    </p:animEffect>
                                    <p:anim calcmode="lin" valueType="num">
                                      <p:cBhvr additive="base">
                                        <p:cTn id="29" dur="600" fill="hold"/>
                                        <p:tgtEl>
                                          <p:spTgt spid="9"/>
                                        </p:tgtEl>
                                        <p:attrNameLst>
                                          <p:attrName>ppt_x</p:attrName>
                                        </p:attrNameLst>
                                      </p:cBhvr>
                                      <p:tavLst>
                                        <p:tav tm="0">
                                          <p:val>
                                            <p:strVal val="#ppt_x"/>
                                          </p:val>
                                        </p:tav>
                                        <p:tav tm="100000">
                                          <p:val>
                                            <p:strVal val="#ppt_x"/>
                                          </p:val>
                                        </p:tav>
                                      </p:tavLst>
                                    </p:anim>
                                    <p:anim calcmode="lin" valueType="num">
                                      <p:cBhvr additive="base">
                                        <p:cTn id="30" dur="600" fill="hold"/>
                                        <p:tgtEl>
                                          <p:spTgt spid="9"/>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600"/>
                                        <p:tgtEl>
                                          <p:spTgt spid="10"/>
                                        </p:tgtEl>
                                      </p:cBhvr>
                                    </p:animEffect>
                                    <p:anim calcmode="lin" valueType="num">
                                      <p:cBhvr additive="base">
                                        <p:cTn id="34" dur="600" fill="hold"/>
                                        <p:tgtEl>
                                          <p:spTgt spid="10"/>
                                        </p:tgtEl>
                                        <p:attrNameLst>
                                          <p:attrName>ppt_x</p:attrName>
                                        </p:attrNameLst>
                                      </p:cBhvr>
                                      <p:tavLst>
                                        <p:tav tm="0">
                                          <p:val>
                                            <p:strVal val="#ppt_x"/>
                                          </p:val>
                                        </p:tav>
                                        <p:tav tm="100000">
                                          <p:val>
                                            <p:strVal val="#ppt_x"/>
                                          </p:val>
                                        </p:tav>
                                      </p:tavLst>
                                    </p:anim>
                                    <p:anim calcmode="lin" valueType="num">
                                      <p:cBhvr additive="base">
                                        <p:cTn id="35" dur="600" fill="hold"/>
                                        <p:tgtEl>
                                          <p:spTgt spid="10"/>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600"/>
                                        <p:tgtEl>
                                          <p:spTgt spid="11"/>
                                        </p:tgtEl>
                                      </p:cBhvr>
                                    </p:animEffect>
                                    <p:anim calcmode="lin" valueType="num">
                                      <p:cBhvr additive="base">
                                        <p:cTn id="39" dur="600" fill="hold"/>
                                        <p:tgtEl>
                                          <p:spTgt spid="11"/>
                                        </p:tgtEl>
                                        <p:attrNameLst>
                                          <p:attrName>ppt_x</p:attrName>
                                        </p:attrNameLst>
                                      </p:cBhvr>
                                      <p:tavLst>
                                        <p:tav tm="0">
                                          <p:val>
                                            <p:strVal val="#ppt_x"/>
                                          </p:val>
                                        </p:tav>
                                        <p:tav tm="100000">
                                          <p:val>
                                            <p:strVal val="#ppt_x"/>
                                          </p:val>
                                        </p:tav>
                                      </p:tavLst>
                                    </p:anim>
                                    <p:anim calcmode="lin" valueType="num">
                                      <p:cBhvr additive="base">
                                        <p:cTn id="40" dur="600" fill="hold"/>
                                        <p:tgtEl>
                                          <p:spTgt spid="11"/>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600"/>
                                        <p:tgtEl>
                                          <p:spTgt spid="12"/>
                                        </p:tgtEl>
                                      </p:cBhvr>
                                    </p:animEffect>
                                    <p:anim calcmode="lin" valueType="num">
                                      <p:cBhvr additive="base">
                                        <p:cTn id="44" dur="600" fill="hold"/>
                                        <p:tgtEl>
                                          <p:spTgt spid="12"/>
                                        </p:tgtEl>
                                        <p:attrNameLst>
                                          <p:attrName>ppt_x</p:attrName>
                                        </p:attrNameLst>
                                      </p:cBhvr>
                                      <p:tavLst>
                                        <p:tav tm="0">
                                          <p:val>
                                            <p:strVal val="#ppt_x"/>
                                          </p:val>
                                        </p:tav>
                                        <p:tav tm="100000">
                                          <p:val>
                                            <p:strVal val="#ppt_x"/>
                                          </p:val>
                                        </p:tav>
                                      </p:tavLst>
                                    </p:anim>
                                    <p:anim calcmode="lin" valueType="num">
                                      <p:cBhvr additive="base">
                                        <p:cTn id="45" dur="600" fill="hold"/>
                                        <p:tgtEl>
                                          <p:spTgt spid="12"/>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600"/>
                                        <p:tgtEl>
                                          <p:spTgt spid="13"/>
                                        </p:tgtEl>
                                      </p:cBhvr>
                                    </p:animEffect>
                                    <p:anim calcmode="lin" valueType="num">
                                      <p:cBhvr additive="base">
                                        <p:cTn id="49" dur="600" fill="hold"/>
                                        <p:tgtEl>
                                          <p:spTgt spid="13"/>
                                        </p:tgtEl>
                                        <p:attrNameLst>
                                          <p:attrName>ppt_x</p:attrName>
                                        </p:attrNameLst>
                                      </p:cBhvr>
                                      <p:tavLst>
                                        <p:tav tm="0">
                                          <p:val>
                                            <p:strVal val="#ppt_x"/>
                                          </p:val>
                                        </p:tav>
                                        <p:tav tm="100000">
                                          <p:val>
                                            <p:strVal val="#ppt_x"/>
                                          </p:val>
                                        </p:tav>
                                      </p:tavLst>
                                    </p:anim>
                                    <p:anim calcmode="lin" valueType="num">
                                      <p:cBhvr additive="base">
                                        <p:cTn id="50" dur="600" fill="hold"/>
                                        <p:tgtEl>
                                          <p:spTgt spid="13"/>
                                        </p:tgtEl>
                                        <p:attrNameLst>
                                          <p:attrName>ppt_y</p:attrName>
                                        </p:attrNameLst>
                                      </p:cBhvr>
                                      <p:tavLst>
                                        <p:tav tm="0">
                                          <p:val>
                                            <p:strVal val="#ppt_y+.1"/>
                                          </p:val>
                                        </p:tav>
                                        <p:tav tm="100000">
                                          <p:val>
                                            <p:strVal val="#ppt_y"/>
                                          </p:val>
                                        </p:tav>
                                      </p:tavLst>
                                    </p:anim>
                                  </p:childTnLst>
                                </p:cTn>
                              </p:par>
                              <p:par>
                                <p:cTn id="56" presetID="42" presetClass="entr" presetSubtype="0" fill="hold" grpId="0" nodeType="withEffect">
                                  <p:stCondLst>
                                    <p:cond delay="0"/>
                                  </p:stCondLst>
                                  <p:childTnLst>
                                    <p:set>
                                      <p:cBhvr>
                                        <p:cTn id="52" dur="1" fill="hold">
                                          <p:stCondLst>
                                            <p:cond delay="0"/>
                                          </p:stCondLst>
                                        </p:cTn>
                                        <p:tgtEl>
                                          <p:spTgt spid="14"/>
                                        </p:tgtEl>
                                        <p:attrNameLst>
                                          <p:attrName>style.visibility</p:attrName>
                                        </p:attrNameLst>
                                      </p:cBhvr>
                                      <p:to>
                                        <p:strVal val="visible"/>
                                      </p:to>
                                    </p:set>
                                    <p:animEffect transition="in" filter="fade">
                                      <p:cBhvr>
                                        <p:cTn id="53" dur="600"/>
                                        <p:tgtEl>
                                          <p:spTgt spid="14"/>
                                        </p:tgtEl>
                                      </p:cBhvr>
                                    </p:animEffect>
                                    <p:anim calcmode="lin" valueType="num">
                                      <p:cBhvr additive="base">
                                        <p:cTn id="54" dur="600" fill="hold"/>
                                        <p:tgtEl>
                                          <p:spTgt spid="14"/>
                                        </p:tgtEl>
                                        <p:attrNameLst>
                                          <p:attrName>ppt_x</p:attrName>
                                        </p:attrNameLst>
                                      </p:cBhvr>
                                      <p:tavLst>
                                        <p:tav tm="0">
                                          <p:val>
                                            <p:strVal val="#ppt_x"/>
                                          </p:val>
                                        </p:tav>
                                        <p:tav tm="100000">
                                          <p:val>
                                            <p:strVal val="#ppt_x"/>
                                          </p:val>
                                        </p:tav>
                                      </p:tavLst>
                                    </p:anim>
                                    <p:anim calcmode="lin" valueType="num">
                                      <p:cBhvr additive="base">
                                        <p:cTn id="55" dur="600" fill="hold"/>
                                        <p:tgtEl>
                                          <p:spTgt spid="14"/>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600"/>
                                        <p:tgtEl>
                                          <p:spTgt spid="15"/>
                                        </p:tgtEl>
                                      </p:cBhvr>
                                    </p:animEffect>
                                    <p:anim calcmode="lin" valueType="num">
                                      <p:cBhvr additive="base">
                                        <p:cTn id="59" dur="600" fill="hold"/>
                                        <p:tgtEl>
                                          <p:spTgt spid="15"/>
                                        </p:tgtEl>
                                        <p:attrNameLst>
                                          <p:attrName>ppt_x</p:attrName>
                                        </p:attrNameLst>
                                      </p:cBhvr>
                                      <p:tavLst>
                                        <p:tav tm="0">
                                          <p:val>
                                            <p:strVal val="#ppt_x"/>
                                          </p:val>
                                        </p:tav>
                                        <p:tav tm="100000">
                                          <p:val>
                                            <p:strVal val="#ppt_x"/>
                                          </p:val>
                                        </p:tav>
                                      </p:tavLst>
                                    </p:anim>
                                    <p:anim calcmode="lin" valueType="num">
                                      <p:cBhvr additive="base">
                                        <p:cTn id="60" dur="600" fill="hold"/>
                                        <p:tgtEl>
                                          <p:spTgt spid="15"/>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600"/>
                                        <p:tgtEl>
                                          <p:spTgt spid="16"/>
                                        </p:tgtEl>
                                      </p:cBhvr>
                                    </p:animEffect>
                                    <p:anim calcmode="lin" valueType="num">
                                      <p:cBhvr additive="base">
                                        <p:cTn id="64" dur="600" fill="hold"/>
                                        <p:tgtEl>
                                          <p:spTgt spid="16"/>
                                        </p:tgtEl>
                                        <p:attrNameLst>
                                          <p:attrName>ppt_x</p:attrName>
                                        </p:attrNameLst>
                                      </p:cBhvr>
                                      <p:tavLst>
                                        <p:tav tm="0">
                                          <p:val>
                                            <p:strVal val="#ppt_x"/>
                                          </p:val>
                                        </p:tav>
                                        <p:tav tm="100000">
                                          <p:val>
                                            <p:strVal val="#ppt_x"/>
                                          </p:val>
                                        </p:tav>
                                      </p:tavLst>
                                    </p:anim>
                                    <p:anim calcmode="lin" valueType="num">
                                      <p:cBhvr additive="base">
                                        <p:cTn id="65" dur="600" fill="hold"/>
                                        <p:tgtEl>
                                          <p:spTgt spid="16"/>
                                        </p:tgtEl>
                                        <p:attrNameLst>
                                          <p:attrName>ppt_y</p:attrName>
                                        </p:attrNameLst>
                                      </p:cBhvr>
                                      <p:tavLst>
                                        <p:tav tm="0">
                                          <p:val>
                                            <p:strVal val="#ppt_y+.1"/>
                                          </p:val>
                                        </p:tav>
                                        <p:tav tm="100000">
                                          <p:val>
                                            <p:strVal val="#ppt_y"/>
                                          </p:val>
                                        </p:tav>
                                      </p:tavLst>
                                    </p:anim>
                                  </p:childTnLst>
                                </p:cTn>
                              </p:par>
                              <p:par>
                                <p:cTn id="71" presetID="42" presetClass="entr" presetSubtype="0" fill="hold" grpId="0" nodeType="withEffect">
                                  <p:stCondLst>
                                    <p:cond delay="0"/>
                                  </p:stCondLst>
                                  <p:childTnLst>
                                    <p:set>
                                      <p:cBhvr>
                                        <p:cTn id="67" dur="1" fill="hold">
                                          <p:stCondLst>
                                            <p:cond delay="0"/>
                                          </p:stCondLst>
                                        </p:cTn>
                                        <p:tgtEl>
                                          <p:spTgt spid="17"/>
                                        </p:tgtEl>
                                        <p:attrNameLst>
                                          <p:attrName>style.visibility</p:attrName>
                                        </p:attrNameLst>
                                      </p:cBhvr>
                                      <p:to>
                                        <p:strVal val="visible"/>
                                      </p:to>
                                    </p:set>
                                    <p:animEffect transition="in" filter="fade">
                                      <p:cBhvr>
                                        <p:cTn id="68" dur="600"/>
                                        <p:tgtEl>
                                          <p:spTgt spid="17"/>
                                        </p:tgtEl>
                                      </p:cBhvr>
                                    </p:animEffect>
                                    <p:anim calcmode="lin" valueType="num">
                                      <p:cBhvr additive="base">
                                        <p:cTn id="69" dur="600" fill="hold"/>
                                        <p:tgtEl>
                                          <p:spTgt spid="17"/>
                                        </p:tgtEl>
                                        <p:attrNameLst>
                                          <p:attrName>ppt_x</p:attrName>
                                        </p:attrNameLst>
                                      </p:cBhvr>
                                      <p:tavLst>
                                        <p:tav tm="0">
                                          <p:val>
                                            <p:strVal val="#ppt_x"/>
                                          </p:val>
                                        </p:tav>
                                        <p:tav tm="100000">
                                          <p:val>
                                            <p:strVal val="#ppt_x"/>
                                          </p:val>
                                        </p:tav>
                                      </p:tavLst>
                                    </p:anim>
                                    <p:anim calcmode="lin" valueType="num">
                                      <p:cBhvr additive="base">
                                        <p:cTn id="70" dur="600" fill="hold"/>
                                        <p:tgtEl>
                                          <p:spTgt spid="17"/>
                                        </p:tgtEl>
                                        <p:attrNameLst>
                                          <p:attrName>ppt_y</p:attrName>
                                        </p:attrNameLst>
                                      </p:cBhvr>
                                      <p:tavLst>
                                        <p:tav tm="0">
                                          <p:val>
                                            <p:strVal val="#ppt_y+.1"/>
                                          </p:val>
                                        </p:tav>
                                        <p:tav tm="100000">
                                          <p:val>
                                            <p:strVal val="#ppt_y"/>
                                          </p:val>
                                        </p:tav>
                                      </p:tavLst>
                                    </p:anim>
                                  </p:childTnLst>
                                </p:cTn>
                              </p:par>
                              <p:par>
                                <p:cTn id="76" presetID="42" presetClass="entr" presetSubtype="0" fill="hold" grpId="0" nodeType="withEffect">
                                  <p:stCondLst>
                                    <p:cond delay="0"/>
                                  </p:stCondLst>
                                  <p:childTnLst>
                                    <p:set>
                                      <p:cBhvr>
                                        <p:cTn id="72" dur="1" fill="hold">
                                          <p:stCondLst>
                                            <p:cond delay="0"/>
                                          </p:stCondLst>
                                        </p:cTn>
                                        <p:tgtEl>
                                          <p:spTgt spid="18"/>
                                        </p:tgtEl>
                                        <p:attrNameLst>
                                          <p:attrName>style.visibility</p:attrName>
                                        </p:attrNameLst>
                                      </p:cBhvr>
                                      <p:to>
                                        <p:strVal val="visible"/>
                                      </p:to>
                                    </p:set>
                                    <p:animEffect transition="in" filter="fade">
                                      <p:cBhvr>
                                        <p:cTn id="73" dur="600"/>
                                        <p:tgtEl>
                                          <p:spTgt spid="18"/>
                                        </p:tgtEl>
                                      </p:cBhvr>
                                    </p:animEffect>
                                    <p:anim calcmode="lin" valueType="num">
                                      <p:cBhvr additive="base">
                                        <p:cTn id="74" dur="600" fill="hold"/>
                                        <p:tgtEl>
                                          <p:spTgt spid="18"/>
                                        </p:tgtEl>
                                        <p:attrNameLst>
                                          <p:attrName>ppt_x</p:attrName>
                                        </p:attrNameLst>
                                      </p:cBhvr>
                                      <p:tavLst>
                                        <p:tav tm="0">
                                          <p:val>
                                            <p:strVal val="#ppt_x"/>
                                          </p:val>
                                        </p:tav>
                                        <p:tav tm="100000">
                                          <p:val>
                                            <p:strVal val="#ppt_x"/>
                                          </p:val>
                                        </p:tav>
                                      </p:tavLst>
                                    </p:anim>
                                    <p:anim calcmode="lin" valueType="num">
                                      <p:cBhvr additive="base">
                                        <p:cTn id="75" dur="600" fill="hold"/>
                                        <p:tgtEl>
                                          <p:spTgt spid="18"/>
                                        </p:tgtEl>
                                        <p:attrNameLst>
                                          <p:attrName>ppt_y</p:attrName>
                                        </p:attrNameLst>
                                      </p:cBhvr>
                                      <p:tavLst>
                                        <p:tav tm="0">
                                          <p:val>
                                            <p:strVal val="#ppt_y+.1"/>
                                          </p:val>
                                        </p:tav>
                                        <p:tav tm="100000">
                                          <p:val>
                                            <p:strVal val="#ppt_y"/>
                                          </p:val>
                                        </p:tav>
                                      </p:tavLst>
                                    </p:anim>
                                  </p:childTnLst>
                                </p:cTn>
                              </p:par>
                              <p:par>
                                <p:cTn id="81" presetID="42" presetClass="entr" presetSubtype="0" fill="hold" grpId="0" nodeType="withEffect">
                                  <p:stCondLst>
                                    <p:cond delay="0"/>
                                  </p:stCondLst>
                                  <p:childTnLst>
                                    <p:set>
                                      <p:cBhvr>
                                        <p:cTn id="77" dur="1" fill="hold">
                                          <p:stCondLst>
                                            <p:cond delay="0"/>
                                          </p:stCondLst>
                                        </p:cTn>
                                        <p:tgtEl>
                                          <p:spTgt spid="19"/>
                                        </p:tgtEl>
                                        <p:attrNameLst>
                                          <p:attrName>style.visibility</p:attrName>
                                        </p:attrNameLst>
                                      </p:cBhvr>
                                      <p:to>
                                        <p:strVal val="visible"/>
                                      </p:to>
                                    </p:set>
                                    <p:animEffect transition="in" filter="fade">
                                      <p:cBhvr>
                                        <p:cTn id="78" dur="600"/>
                                        <p:tgtEl>
                                          <p:spTgt spid="19"/>
                                        </p:tgtEl>
                                      </p:cBhvr>
                                    </p:animEffect>
                                    <p:anim calcmode="lin" valueType="num">
                                      <p:cBhvr additive="base">
                                        <p:cTn id="79" dur="600" fill="hold"/>
                                        <p:tgtEl>
                                          <p:spTgt spid="19"/>
                                        </p:tgtEl>
                                        <p:attrNameLst>
                                          <p:attrName>ppt_x</p:attrName>
                                        </p:attrNameLst>
                                      </p:cBhvr>
                                      <p:tavLst>
                                        <p:tav tm="0">
                                          <p:val>
                                            <p:strVal val="#ppt_x"/>
                                          </p:val>
                                        </p:tav>
                                        <p:tav tm="100000">
                                          <p:val>
                                            <p:strVal val="#ppt_x"/>
                                          </p:val>
                                        </p:tav>
                                      </p:tavLst>
                                    </p:anim>
                                    <p:anim calcmode="lin" valueType="num">
                                      <p:cBhvr additive="base">
                                        <p:cTn id="80" dur="6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82" fill="hold">
                      <p:stCondLst>
                        <p:cond delay="indefinite"/>
                      </p:stCondLst>
                      <p:childTnLst>
                        <p:par>
                          <p:cTn id="83" fill="hold">
                            <p:stCondLst>
                              <p:cond delay="0"/>
                            </p:stCondLst>
                            <p:childTnLst>
                              <p:par>
                                <p:cTn id="88" presetID="42" presetClass="entr" presetSubtype="0" fill="hold" grpId="0" nodeType="clickEffect">
                                  <p:stCondLst>
                                    <p:cond delay="0"/>
                                  </p:stCondLst>
                                  <p:childTnLst>
                                    <p:set>
                                      <p:cBhvr>
                                        <p:cTn id="84" dur="1" fill="hold">
                                          <p:stCondLst>
                                            <p:cond delay="0"/>
                                          </p:stCondLst>
                                        </p:cTn>
                                        <p:tgtEl>
                                          <p:spTgt spid="20"/>
                                        </p:tgtEl>
                                        <p:attrNameLst>
                                          <p:attrName>style.visibility</p:attrName>
                                        </p:attrNameLst>
                                      </p:cBhvr>
                                      <p:to>
                                        <p:strVal val="visible"/>
                                      </p:to>
                                    </p:set>
                                    <p:animEffect transition="in" filter="fade">
                                      <p:cBhvr>
                                        <p:cTn id="85" dur="600"/>
                                        <p:tgtEl>
                                          <p:spTgt spid="20"/>
                                        </p:tgtEl>
                                      </p:cBhvr>
                                    </p:animEffect>
                                    <p:anim calcmode="lin" valueType="num">
                                      <p:cBhvr additive="base">
                                        <p:cTn id="86" dur="600" fill="hold"/>
                                        <p:tgtEl>
                                          <p:spTgt spid="20"/>
                                        </p:tgtEl>
                                        <p:attrNameLst>
                                          <p:attrName>ppt_x</p:attrName>
                                        </p:attrNameLst>
                                      </p:cBhvr>
                                      <p:tavLst>
                                        <p:tav tm="0">
                                          <p:val>
                                            <p:strVal val="#ppt_x"/>
                                          </p:val>
                                        </p:tav>
                                        <p:tav tm="100000">
                                          <p:val>
                                            <p:strVal val="#ppt_x"/>
                                          </p:val>
                                        </p:tav>
                                      </p:tavLst>
                                    </p:anim>
                                    <p:anim calcmode="lin" valueType="num">
                                      <p:cBhvr additive="base">
                                        <p:cTn id="87" dur="600" fill="hold"/>
                                        <p:tgtEl>
                                          <p:spTgt spid="20"/>
                                        </p:tgtEl>
                                        <p:attrNameLst>
                                          <p:attrName>ppt_y</p:attrName>
                                        </p:attrNameLst>
                                      </p:cBhvr>
                                      <p:tavLst>
                                        <p:tav tm="0">
                                          <p:val>
                                            <p:strVal val="#ppt_y+.1"/>
                                          </p:val>
                                        </p:tav>
                                        <p:tav tm="100000">
                                          <p:val>
                                            <p:strVal val="#ppt_y"/>
                                          </p:val>
                                        </p:tav>
                                      </p:tavLst>
                                    </p:anim>
                                  </p:childTnLst>
                                </p:cTn>
                              </p:par>
                              <p:par>
                                <p:cTn id="93" presetID="42" presetClass="entr" presetSubtype="0" fill="hold" grpId="0" nodeType="withEffect">
                                  <p:stCondLst>
                                    <p:cond delay="0"/>
                                  </p:stCondLst>
                                  <p:childTnLst>
                                    <p:set>
                                      <p:cBhvr>
                                        <p:cTn id="89" dur="1" fill="hold">
                                          <p:stCondLst>
                                            <p:cond delay="0"/>
                                          </p:stCondLst>
                                        </p:cTn>
                                        <p:tgtEl>
                                          <p:spTgt spid="21"/>
                                        </p:tgtEl>
                                        <p:attrNameLst>
                                          <p:attrName>style.visibility</p:attrName>
                                        </p:attrNameLst>
                                      </p:cBhvr>
                                      <p:to>
                                        <p:strVal val="visible"/>
                                      </p:to>
                                    </p:set>
                                    <p:animEffect transition="in" filter="fade">
                                      <p:cBhvr>
                                        <p:cTn id="90" dur="600"/>
                                        <p:tgtEl>
                                          <p:spTgt spid="21"/>
                                        </p:tgtEl>
                                      </p:cBhvr>
                                    </p:animEffect>
                                    <p:anim calcmode="lin" valueType="num">
                                      <p:cBhvr additive="base">
                                        <p:cTn id="91" dur="600" fill="hold"/>
                                        <p:tgtEl>
                                          <p:spTgt spid="21"/>
                                        </p:tgtEl>
                                        <p:attrNameLst>
                                          <p:attrName>ppt_x</p:attrName>
                                        </p:attrNameLst>
                                      </p:cBhvr>
                                      <p:tavLst>
                                        <p:tav tm="0">
                                          <p:val>
                                            <p:strVal val="#ppt_x"/>
                                          </p:val>
                                        </p:tav>
                                        <p:tav tm="100000">
                                          <p:val>
                                            <p:strVal val="#ppt_x"/>
                                          </p:val>
                                        </p:tav>
                                      </p:tavLst>
                                    </p:anim>
                                    <p:anim calcmode="lin" valueType="num">
                                      <p:cBhvr additive="base">
                                        <p:cTn id="92" dur="600" fill="hold"/>
                                        <p:tgtEl>
                                          <p:spTgt spid="21"/>
                                        </p:tgtEl>
                                        <p:attrNameLst>
                                          <p:attrName>ppt_y</p:attrName>
                                        </p:attrNameLst>
                                      </p:cBhvr>
                                      <p:tavLst>
                                        <p:tav tm="0">
                                          <p:val>
                                            <p:strVal val="#ppt_y+.1"/>
                                          </p:val>
                                        </p:tav>
                                        <p:tav tm="100000">
                                          <p:val>
                                            <p:strVal val="#ppt_y"/>
                                          </p:val>
                                        </p:tav>
                                      </p:tavLst>
                                    </p:anim>
                                  </p:childTnLst>
                                </p:cTn>
                              </p:par>
                              <p:par>
                                <p:cTn id="98" presetID="42" presetClass="entr" presetSubtype="0" fill="hold" grpId="0" nodeType="withEffect">
                                  <p:stCondLst>
                                    <p:cond delay="0"/>
                                  </p:stCondLst>
                                  <p:childTnLst>
                                    <p:set>
                                      <p:cBhvr>
                                        <p:cTn id="94" dur="1" fill="hold">
                                          <p:stCondLst>
                                            <p:cond delay="0"/>
                                          </p:stCondLst>
                                        </p:cTn>
                                        <p:tgtEl>
                                          <p:spTgt spid="22"/>
                                        </p:tgtEl>
                                        <p:attrNameLst>
                                          <p:attrName>style.visibility</p:attrName>
                                        </p:attrNameLst>
                                      </p:cBhvr>
                                      <p:to>
                                        <p:strVal val="visible"/>
                                      </p:to>
                                    </p:set>
                                    <p:animEffect transition="in" filter="fade">
                                      <p:cBhvr>
                                        <p:cTn id="95" dur="600"/>
                                        <p:tgtEl>
                                          <p:spTgt spid="22"/>
                                        </p:tgtEl>
                                      </p:cBhvr>
                                    </p:animEffect>
                                    <p:anim calcmode="lin" valueType="num">
                                      <p:cBhvr additive="base">
                                        <p:cTn id="96" dur="600" fill="hold"/>
                                        <p:tgtEl>
                                          <p:spTgt spid="22"/>
                                        </p:tgtEl>
                                        <p:attrNameLst>
                                          <p:attrName>ppt_x</p:attrName>
                                        </p:attrNameLst>
                                      </p:cBhvr>
                                      <p:tavLst>
                                        <p:tav tm="0">
                                          <p:val>
                                            <p:strVal val="#ppt_x"/>
                                          </p:val>
                                        </p:tav>
                                        <p:tav tm="100000">
                                          <p:val>
                                            <p:strVal val="#ppt_x"/>
                                          </p:val>
                                        </p:tav>
                                      </p:tavLst>
                                    </p:anim>
                                    <p:anim calcmode="lin" valueType="num">
                                      <p:cBhvr additive="base">
                                        <p:cTn id="97" dur="600" fill="hold"/>
                                        <p:tgtEl>
                                          <p:spTgt spid="22"/>
                                        </p:tgtEl>
                                        <p:attrNameLst>
                                          <p:attrName>ppt_y</p:attrName>
                                        </p:attrNameLst>
                                      </p:cBhvr>
                                      <p:tavLst>
                                        <p:tav tm="0">
                                          <p:val>
                                            <p:strVal val="#ppt_y+.1"/>
                                          </p:val>
                                        </p:tav>
                                        <p:tav tm="100000">
                                          <p:val>
                                            <p:strVal val="#ppt_y"/>
                                          </p:val>
                                        </p:tav>
                                      </p:tavLst>
                                    </p:anim>
                                  </p:childTnLst>
                                </p:cTn>
                              </p:par>
                              <p:par>
                                <p:cTn id="103" presetID="42" presetClass="entr" presetSubtype="0" fill="hold" grpId="0" nodeType="withEffect">
                                  <p:stCondLst>
                                    <p:cond delay="0"/>
                                  </p:stCondLst>
                                  <p:childTnLst>
                                    <p:set>
                                      <p:cBhvr>
                                        <p:cTn id="99" dur="1" fill="hold">
                                          <p:stCondLst>
                                            <p:cond delay="0"/>
                                          </p:stCondLst>
                                        </p:cTn>
                                        <p:tgtEl>
                                          <p:spTgt spid="23"/>
                                        </p:tgtEl>
                                        <p:attrNameLst>
                                          <p:attrName>style.visibility</p:attrName>
                                        </p:attrNameLst>
                                      </p:cBhvr>
                                      <p:to>
                                        <p:strVal val="visible"/>
                                      </p:to>
                                    </p:set>
                                    <p:animEffect transition="in" filter="fade">
                                      <p:cBhvr>
                                        <p:cTn id="100" dur="600"/>
                                        <p:tgtEl>
                                          <p:spTgt spid="23"/>
                                        </p:tgtEl>
                                      </p:cBhvr>
                                    </p:animEffect>
                                    <p:anim calcmode="lin" valueType="num">
                                      <p:cBhvr additive="base">
                                        <p:cTn id="101" dur="600" fill="hold"/>
                                        <p:tgtEl>
                                          <p:spTgt spid="23"/>
                                        </p:tgtEl>
                                        <p:attrNameLst>
                                          <p:attrName>ppt_x</p:attrName>
                                        </p:attrNameLst>
                                      </p:cBhvr>
                                      <p:tavLst>
                                        <p:tav tm="0">
                                          <p:val>
                                            <p:strVal val="#ppt_x"/>
                                          </p:val>
                                        </p:tav>
                                        <p:tav tm="100000">
                                          <p:val>
                                            <p:strVal val="#ppt_x"/>
                                          </p:val>
                                        </p:tav>
                                      </p:tavLst>
                                    </p:anim>
                                    <p:anim calcmode="lin" valueType="num">
                                      <p:cBhvr additive="base">
                                        <p:cTn id="102" dur="6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104" fill="hold">
                      <p:stCondLst>
                        <p:cond delay="indefinite"/>
                      </p:stCondLst>
                      <p:childTnLst>
                        <p:par>
                          <p:cTn id="105" fill="hold">
                            <p:stCondLst>
                              <p:cond delay="0"/>
                            </p:stCondLst>
                            <p:childTnLst>
                              <p:par>
                                <p:cTn id="109" presetID="2" presetClass="entr" presetSubtype="2" fill="hold" grpId="0" nodeType="clickEffect">
                                  <p:stCondLst>
                                    <p:cond delay="0"/>
                                  </p:stCondLst>
                                  <p:childTnLst>
                                    <p:set>
                                      <p:cBhvr>
                                        <p:cTn id="106" dur="1" fill="hold">
                                          <p:stCondLst>
                                            <p:cond delay="0"/>
                                          </p:stCondLst>
                                        </p:cTn>
                                        <p:tgtEl>
                                          <p:spTgt spid="24"/>
                                        </p:tgtEl>
                                        <p:attrNameLst>
                                          <p:attrName>style.visibility</p:attrName>
                                        </p:attrNameLst>
                                      </p:cBhvr>
                                      <p:to>
                                        <p:strVal val="visible"/>
                                      </p:to>
                                    </p:set>
                                    <p:anim calcmode="lin" valueType="num">
                                      <p:cBhvr additive="base">
                                        <p:cTn id="107" dur="500" fill="hold"/>
                                        <p:tgtEl>
                                          <p:spTgt spid="24"/>
                                        </p:tgtEl>
                                        <p:attrNameLst>
                                          <p:attrName>ppt_x</p:attrName>
                                        </p:attrNameLst>
                                      </p:cBhvr>
                                      <p:tavLst>
                                        <p:tav tm="0">
                                          <p:val>
                                            <p:strVal val="1+#ppt_w/2"/>
                                          </p:val>
                                        </p:tav>
                                        <p:tav tm="100000">
                                          <p:val>
                                            <p:strVal val="#ppt_x"/>
                                          </p:val>
                                        </p:tav>
                                      </p:tavLst>
                                    </p:anim>
                                    <p:anim calcmode="lin" valueType="num">
                                      <p:cBhvr additive="base">
                                        <p:cTn id="108" dur="500" fill="hold"/>
                                        <p:tgtEl>
                                          <p:spTgt spid="24"/>
                                        </p:tgtEl>
                                        <p:attrNameLst>
                                          <p:attrName>ppt_y</p:attrName>
                                        </p:attrNameLst>
                                      </p:cBhvr>
                                      <p:tavLst>
                                        <p:tav tm="0">
                                          <p:val>
                                            <p:strVal val="#ppt_y"/>
                                          </p:val>
                                        </p:tav>
                                        <p:tav tm="100000">
                                          <p:val>
                                            <p:strVal val="#ppt_y"/>
                                          </p:val>
                                        </p:tav>
                                      </p:tavLst>
                                    </p:anim>
                                  </p:childTnLst>
                                </p:cTn>
                              </p:par>
                              <p:par>
                                <p:cTn id="113" presetID="2" presetClass="entr" presetSubtype="2" fill="hold" grpId="0" nodeType="withEffect">
                                  <p:stCondLst>
                                    <p:cond delay="0"/>
                                  </p:stCondLst>
                                  <p:childTnLst>
                                    <p:set>
                                      <p:cBhvr>
                                        <p:cTn id="110" dur="1" fill="hold">
                                          <p:stCondLst>
                                            <p:cond delay="0"/>
                                          </p:stCondLst>
                                        </p:cTn>
                                        <p:tgtEl>
                                          <p:spTgt spid="25"/>
                                        </p:tgtEl>
                                        <p:attrNameLst>
                                          <p:attrName>style.visibility</p:attrName>
                                        </p:attrNameLst>
                                      </p:cBhvr>
                                      <p:to>
                                        <p:strVal val="visible"/>
                                      </p:to>
                                    </p:set>
                                    <p:anim calcmode="lin" valueType="num">
                                      <p:cBhvr additive="base">
                                        <p:cTn id="111" dur="500" fill="hold"/>
                                        <p:tgtEl>
                                          <p:spTgt spid="25"/>
                                        </p:tgtEl>
                                        <p:attrNameLst>
                                          <p:attrName>ppt_x</p:attrName>
                                        </p:attrNameLst>
                                      </p:cBhvr>
                                      <p:tavLst>
                                        <p:tav tm="0">
                                          <p:val>
                                            <p:strVal val="1+#ppt_w/2"/>
                                          </p:val>
                                        </p:tav>
                                        <p:tav tm="100000">
                                          <p:val>
                                            <p:strVal val="#ppt_x"/>
                                          </p:val>
                                        </p:tav>
                                      </p:tavLst>
                                    </p:anim>
                                    <p:anim calcmode="lin" valueType="num">
                                      <p:cBhvr additive="base">
                                        <p:cTn id="112" dur="500" fill="hold"/>
                                        <p:tgtEl>
                                          <p:spTgt spid="25"/>
                                        </p:tgtEl>
                                        <p:attrNameLst>
                                          <p:attrName>ppt_y</p:attrName>
                                        </p:attrNameLst>
                                      </p:cBhvr>
                                      <p:tavLst>
                                        <p:tav tm="0">
                                          <p:val>
                                            <p:strVal val="#ppt_y"/>
                                          </p:val>
                                        </p:tav>
                                        <p:tav tm="100000">
                                          <p:val>
                                            <p:strVal val="#ppt_y"/>
                                          </p:val>
                                        </p:tav>
                                      </p:tavLst>
                                    </p:anim>
                                  </p:childTnLst>
                                </p:cTn>
                              </p:par>
                              <p:par>
                                <p:cTn id="117" presetID="2" presetClass="entr" presetSubtype="2" fill="hold" grpId="0" nodeType="withEffect">
                                  <p:stCondLst>
                                    <p:cond delay="0"/>
                                  </p:stCondLst>
                                  <p:childTnLst>
                                    <p:set>
                                      <p:cBhvr>
                                        <p:cTn id="114" dur="1" fill="hold">
                                          <p:stCondLst>
                                            <p:cond delay="0"/>
                                          </p:stCondLst>
                                        </p:cTn>
                                        <p:tgtEl>
                                          <p:spTgt spid="26"/>
                                        </p:tgtEl>
                                        <p:attrNameLst>
                                          <p:attrName>style.visibility</p:attrName>
                                        </p:attrNameLst>
                                      </p:cBhvr>
                                      <p:to>
                                        <p:strVal val="visible"/>
                                      </p:to>
                                    </p:set>
                                    <p:anim calcmode="lin" valueType="num">
                                      <p:cBhvr additive="base">
                                        <p:cTn id="115" dur="500" fill="hold"/>
                                        <p:tgtEl>
                                          <p:spTgt spid="26"/>
                                        </p:tgtEl>
                                        <p:attrNameLst>
                                          <p:attrName>ppt_x</p:attrName>
                                        </p:attrNameLst>
                                      </p:cBhvr>
                                      <p:tavLst>
                                        <p:tav tm="0">
                                          <p:val>
                                            <p:strVal val="1+#ppt_w/2"/>
                                          </p:val>
                                        </p:tav>
                                        <p:tav tm="100000">
                                          <p:val>
                                            <p:strVal val="#ppt_x"/>
                                          </p:val>
                                        </p:tav>
                                      </p:tavLst>
                                    </p:anim>
                                    <p:anim calcmode="lin" valueType="num">
                                      <p:cBhvr additive="base">
                                        <p:cTn id="116" dur="500" fill="hold"/>
                                        <p:tgtEl>
                                          <p:spTgt spid="26"/>
                                        </p:tgtEl>
                                        <p:attrNameLst>
                                          <p:attrName>ppt_y</p:attrName>
                                        </p:attrNameLst>
                                      </p:cBhvr>
                                      <p:tavLst>
                                        <p:tav tm="0">
                                          <p:val>
                                            <p:strVal val="#ppt_y"/>
                                          </p:val>
                                        </p:tav>
                                        <p:tav tm="100000">
                                          <p:val>
                                            <p:strVal val="#ppt_y"/>
                                          </p:val>
                                        </p:tav>
                                      </p:tavLst>
                                    </p:anim>
                                  </p:childTnLst>
                                </p:cTn>
                              </p:par>
                              <p:par>
                                <p:cTn id="121" presetID="2" presetClass="entr" presetSubtype="2" fill="hold" grpId="0" nodeType="withEffect">
                                  <p:stCondLst>
                                    <p:cond delay="0"/>
                                  </p:stCondLst>
                                  <p:childTnLst>
                                    <p:set>
                                      <p:cBhvr>
                                        <p:cTn id="118" dur="1" fill="hold">
                                          <p:stCondLst>
                                            <p:cond delay="0"/>
                                          </p:stCondLst>
                                        </p:cTn>
                                        <p:tgtEl>
                                          <p:spTgt spid="27"/>
                                        </p:tgtEl>
                                        <p:attrNameLst>
                                          <p:attrName>style.visibility</p:attrName>
                                        </p:attrNameLst>
                                      </p:cBhvr>
                                      <p:to>
                                        <p:strVal val="visible"/>
                                      </p:to>
                                    </p:set>
                                    <p:anim calcmode="lin" valueType="num">
                                      <p:cBhvr additive="base">
                                        <p:cTn id="119" dur="500" fill="hold"/>
                                        <p:tgtEl>
                                          <p:spTgt spid="27"/>
                                        </p:tgtEl>
                                        <p:attrNameLst>
                                          <p:attrName>ppt_x</p:attrName>
                                        </p:attrNameLst>
                                      </p:cBhvr>
                                      <p:tavLst>
                                        <p:tav tm="0">
                                          <p:val>
                                            <p:strVal val="1+#ppt_w/2"/>
                                          </p:val>
                                        </p:tav>
                                        <p:tav tm="100000">
                                          <p:val>
                                            <p:strVal val="#ppt_x"/>
                                          </p:val>
                                        </p:tav>
                                      </p:tavLst>
                                    </p:anim>
                                    <p:anim calcmode="lin" valueType="num">
                                      <p:cBhvr additive="base">
                                        <p:cTn id="120" dur="500" fill="hold"/>
                                        <p:tgtEl>
                                          <p:spTgt spid="27"/>
                                        </p:tgtEl>
                                        <p:attrNameLst>
                                          <p:attrName>ppt_y</p:attrName>
                                        </p:attrNameLst>
                                      </p:cBhvr>
                                      <p:tavLst>
                                        <p:tav tm="0">
                                          <p:val>
                                            <p:strVal val="#ppt_y"/>
                                          </p:val>
                                        </p:tav>
                                        <p:tav tm="100000">
                                          <p:val>
                                            <p:strVal val="#ppt_y"/>
                                          </p:val>
                                        </p:tav>
                                      </p:tavLst>
                                    </p:anim>
                                  </p:childTnLst>
                                </p:cTn>
                              </p:par>
                              <p:par>
                                <p:cTn id="125" presetID="2" presetClass="entr" presetSubtype="2" fill="hold" grpId="0" nodeType="withEffect">
                                  <p:stCondLst>
                                    <p:cond delay="0"/>
                                  </p:stCondLst>
                                  <p:childTnLst>
                                    <p:set>
                                      <p:cBhvr>
                                        <p:cTn id="122" dur="1" fill="hold">
                                          <p:stCondLst>
                                            <p:cond delay="0"/>
                                          </p:stCondLst>
                                        </p:cTn>
                                        <p:tgtEl>
                                          <p:spTgt spid="28"/>
                                        </p:tgtEl>
                                        <p:attrNameLst>
                                          <p:attrName>style.visibility</p:attrName>
                                        </p:attrNameLst>
                                      </p:cBhvr>
                                      <p:to>
                                        <p:strVal val="visible"/>
                                      </p:to>
                                    </p:set>
                                    <p:anim calcmode="lin" valueType="num">
                                      <p:cBhvr additive="base">
                                        <p:cTn id="123" dur="500" fill="hold"/>
                                        <p:tgtEl>
                                          <p:spTgt spid="28"/>
                                        </p:tgtEl>
                                        <p:attrNameLst>
                                          <p:attrName>ppt_x</p:attrName>
                                        </p:attrNameLst>
                                      </p:cBhvr>
                                      <p:tavLst>
                                        <p:tav tm="0">
                                          <p:val>
                                            <p:strVal val="1+#ppt_w/2"/>
                                          </p:val>
                                        </p:tav>
                                        <p:tav tm="100000">
                                          <p:val>
                                            <p:strVal val="#ppt_x"/>
                                          </p:val>
                                        </p:tav>
                                      </p:tavLst>
                                    </p:anim>
                                    <p:anim calcmode="lin" valueType="num">
                                      <p:cBhvr additive="base">
                                        <p:cTn id="124" dur="500" fill="hold"/>
                                        <p:tgtEl>
                                          <p:spTgt spid="28"/>
                                        </p:tgtEl>
                                        <p:attrNameLst>
                                          <p:attrName>ppt_y</p:attrName>
                                        </p:attrNameLst>
                                      </p:cBhvr>
                                      <p:tavLst>
                                        <p:tav tm="0">
                                          <p:val>
                                            <p:strVal val="#ppt_y"/>
                                          </p:val>
                                        </p:tav>
                                        <p:tav tm="100000">
                                          <p:val>
                                            <p:strVal val="#ppt_y"/>
                                          </p:val>
                                        </p:tav>
                                      </p:tavLst>
                                    </p:anim>
                                  </p:childTnLst>
                                </p:cTn>
                              </p:par>
                              <p:par>
                                <p:cTn id="129" presetID="2" presetClass="entr" presetSubtype="2" fill="hold" grpId="0" nodeType="withEffect">
                                  <p:stCondLst>
                                    <p:cond delay="0"/>
                                  </p:stCondLst>
                                  <p:childTnLst>
                                    <p:set>
                                      <p:cBhvr>
                                        <p:cTn id="126" dur="1" fill="hold">
                                          <p:stCondLst>
                                            <p:cond delay="0"/>
                                          </p:stCondLst>
                                        </p:cTn>
                                        <p:tgtEl>
                                          <p:spTgt spid="29"/>
                                        </p:tgtEl>
                                        <p:attrNameLst>
                                          <p:attrName>style.visibility</p:attrName>
                                        </p:attrNameLst>
                                      </p:cBhvr>
                                      <p:to>
                                        <p:strVal val="visible"/>
                                      </p:to>
                                    </p:set>
                                    <p:anim calcmode="lin" valueType="num">
                                      <p:cBhvr additive="base">
                                        <p:cTn id="127" dur="500" fill="hold"/>
                                        <p:tgtEl>
                                          <p:spTgt spid="29"/>
                                        </p:tgtEl>
                                        <p:attrNameLst>
                                          <p:attrName>ppt_x</p:attrName>
                                        </p:attrNameLst>
                                      </p:cBhvr>
                                      <p:tavLst>
                                        <p:tav tm="0">
                                          <p:val>
                                            <p:strVal val="1+#ppt_w/2"/>
                                          </p:val>
                                        </p:tav>
                                        <p:tav tm="100000">
                                          <p:val>
                                            <p:strVal val="#ppt_x"/>
                                          </p:val>
                                        </p:tav>
                                      </p:tavLst>
                                    </p:anim>
                                    <p:anim calcmode="lin" valueType="num">
                                      <p:cBhvr additive="base">
                                        <p:cTn id="128" dur="500" fill="hold"/>
                                        <p:tgtEl>
                                          <p:spTgt spid="29"/>
                                        </p:tgtEl>
                                        <p:attrNameLst>
                                          <p:attrName>ppt_y</p:attrName>
                                        </p:attrNameLst>
                                      </p:cBhvr>
                                      <p:tavLst>
                                        <p:tav tm="0">
                                          <p:val>
                                            <p:strVal val="#ppt_y"/>
                                          </p:val>
                                        </p:tav>
                                        <p:tav tm="100000">
                                          <p:val>
                                            <p:strVal val="#ppt_y"/>
                                          </p:val>
                                        </p:tav>
                                      </p:tavLst>
                                    </p:anim>
                                  </p:childTnLst>
                                </p:cTn>
                              </p:par>
                              <p:par>
                                <p:cTn id="133" presetID="2" presetClass="entr" presetSubtype="2" fill="hold" grpId="0" nodeType="withEffect">
                                  <p:stCondLst>
                                    <p:cond delay="0"/>
                                  </p:stCondLst>
                                  <p:childTnLst>
                                    <p:set>
                                      <p:cBhvr>
                                        <p:cTn id="130" dur="1" fill="hold">
                                          <p:stCondLst>
                                            <p:cond delay="0"/>
                                          </p:stCondLst>
                                        </p:cTn>
                                        <p:tgtEl>
                                          <p:spTgt spid="30"/>
                                        </p:tgtEl>
                                        <p:attrNameLst>
                                          <p:attrName>style.visibility</p:attrName>
                                        </p:attrNameLst>
                                      </p:cBhvr>
                                      <p:to>
                                        <p:strVal val="visible"/>
                                      </p:to>
                                    </p:set>
                                    <p:anim calcmode="lin" valueType="num">
                                      <p:cBhvr additive="base">
                                        <p:cTn id="131" dur="500" fill="hold"/>
                                        <p:tgtEl>
                                          <p:spTgt spid="30"/>
                                        </p:tgtEl>
                                        <p:attrNameLst>
                                          <p:attrName>ppt_x</p:attrName>
                                        </p:attrNameLst>
                                      </p:cBhvr>
                                      <p:tavLst>
                                        <p:tav tm="0">
                                          <p:val>
                                            <p:strVal val="1+#ppt_w/2"/>
                                          </p:val>
                                        </p:tav>
                                        <p:tav tm="100000">
                                          <p:val>
                                            <p:strVal val="#ppt_x"/>
                                          </p:val>
                                        </p:tav>
                                      </p:tavLst>
                                    </p:anim>
                                    <p:anim calcmode="lin" valueType="num">
                                      <p:cBhvr additive="base">
                                        <p:cTn id="132" dur="500" fill="hold"/>
                                        <p:tgtEl>
                                          <p:spTgt spid="30"/>
                                        </p:tgtEl>
                                        <p:attrNameLst>
                                          <p:attrName>ppt_y</p:attrName>
                                        </p:attrNameLst>
                                      </p:cBhvr>
                                      <p:tavLst>
                                        <p:tav tm="0">
                                          <p:val>
                                            <p:strVal val="#ppt_y"/>
                                          </p:val>
                                        </p:tav>
                                        <p:tav tm="100000">
                                          <p:val>
                                            <p:strVal val="#ppt_y"/>
                                          </p:val>
                                        </p:tav>
                                      </p:tavLst>
                                    </p:anim>
                                  </p:childTnLst>
                                </p:cTn>
                              </p:par>
                              <p:par>
                                <p:cTn id="137" presetID="2" presetClass="entr" presetSubtype="2" fill="hold" grpId="0" nodeType="withEffect">
                                  <p:stCondLst>
                                    <p:cond delay="0"/>
                                  </p:stCondLst>
                                  <p:childTnLst>
                                    <p:set>
                                      <p:cBhvr>
                                        <p:cTn id="134" dur="1" fill="hold">
                                          <p:stCondLst>
                                            <p:cond delay="0"/>
                                          </p:stCondLst>
                                        </p:cTn>
                                        <p:tgtEl>
                                          <p:spTgt spid="31"/>
                                        </p:tgtEl>
                                        <p:attrNameLst>
                                          <p:attrName>style.visibility</p:attrName>
                                        </p:attrNameLst>
                                      </p:cBhvr>
                                      <p:to>
                                        <p:strVal val="visible"/>
                                      </p:to>
                                    </p:set>
                                    <p:anim calcmode="lin" valueType="num">
                                      <p:cBhvr additive="base">
                                        <p:cTn id="135" dur="500" fill="hold"/>
                                        <p:tgtEl>
                                          <p:spTgt spid="31"/>
                                        </p:tgtEl>
                                        <p:attrNameLst>
                                          <p:attrName>ppt_x</p:attrName>
                                        </p:attrNameLst>
                                      </p:cBhvr>
                                      <p:tavLst>
                                        <p:tav tm="0">
                                          <p:val>
                                            <p:strVal val="1+#ppt_w/2"/>
                                          </p:val>
                                        </p:tav>
                                        <p:tav tm="100000">
                                          <p:val>
                                            <p:strVal val="#ppt_x"/>
                                          </p:val>
                                        </p:tav>
                                      </p:tavLst>
                                    </p:anim>
                                    <p:anim calcmode="lin" valueType="num">
                                      <p:cBhvr additive="base">
                                        <p:cTn id="136" dur="500" fill="hold"/>
                                        <p:tgtEl>
                                          <p:spTgt spid="31"/>
                                        </p:tgtEl>
                                        <p:attrNameLst>
                                          <p:attrName>ppt_y</p:attrName>
                                        </p:attrNameLst>
                                      </p:cBhvr>
                                      <p:tavLst>
                                        <p:tav tm="0">
                                          <p:val>
                                            <p:strVal val="#ppt_y"/>
                                          </p:val>
                                        </p:tav>
                                        <p:tav tm="100000">
                                          <p:val>
                                            <p:strVal val="#ppt_y"/>
                                          </p:val>
                                        </p:tav>
                                      </p:tavLst>
                                    </p:anim>
                                  </p:childTnLst>
                                </p:cTn>
                              </p:par>
                              <p:par>
                                <p:cTn id="141" presetID="2" presetClass="entr" presetSubtype="2" fill="hold" grpId="0" nodeType="withEffect">
                                  <p:stCondLst>
                                    <p:cond delay="0"/>
                                  </p:stCondLst>
                                  <p:childTnLst>
                                    <p:set>
                                      <p:cBhvr>
                                        <p:cTn id="138" dur="1" fill="hold">
                                          <p:stCondLst>
                                            <p:cond delay="0"/>
                                          </p:stCondLst>
                                        </p:cTn>
                                        <p:tgtEl>
                                          <p:spTgt spid="32"/>
                                        </p:tgtEl>
                                        <p:attrNameLst>
                                          <p:attrName>style.visibility</p:attrName>
                                        </p:attrNameLst>
                                      </p:cBhvr>
                                      <p:to>
                                        <p:strVal val="visible"/>
                                      </p:to>
                                    </p:set>
                                    <p:anim calcmode="lin" valueType="num">
                                      <p:cBhvr additive="base">
                                        <p:cTn id="139" dur="500" fill="hold"/>
                                        <p:tgtEl>
                                          <p:spTgt spid="32"/>
                                        </p:tgtEl>
                                        <p:attrNameLst>
                                          <p:attrName>ppt_x</p:attrName>
                                        </p:attrNameLst>
                                      </p:cBhvr>
                                      <p:tavLst>
                                        <p:tav tm="0">
                                          <p:val>
                                            <p:strVal val="1+#ppt_w/2"/>
                                          </p:val>
                                        </p:tav>
                                        <p:tav tm="100000">
                                          <p:val>
                                            <p:strVal val="#ppt_x"/>
                                          </p:val>
                                        </p:tav>
                                      </p:tavLst>
                                    </p:anim>
                                    <p:anim calcmode="lin" valueType="num">
                                      <p:cBhvr additive="base">
                                        <p:cTn id="140" dur="500" fill="hold"/>
                                        <p:tgtEl>
                                          <p:spTgt spid="32"/>
                                        </p:tgtEl>
                                        <p:attrNameLst>
                                          <p:attrName>ppt_y</p:attrName>
                                        </p:attrNameLst>
                                      </p:cBhvr>
                                      <p:tavLst>
                                        <p:tav tm="0">
                                          <p:val>
                                            <p:strVal val="#ppt_y"/>
                                          </p:val>
                                        </p:tav>
                                        <p:tav tm="100000">
                                          <p:val>
                                            <p:strVal val="#ppt_y"/>
                                          </p:val>
                                        </p:tav>
                                      </p:tavLst>
                                    </p:anim>
                                  </p:childTnLst>
                                </p:cTn>
                              </p:par>
                              <p:par>
                                <p:cTn id="145" presetID="2" presetClass="entr" presetSubtype="2" fill="hold" grpId="0" nodeType="withEffect">
                                  <p:stCondLst>
                                    <p:cond delay="0"/>
                                  </p:stCondLst>
                                  <p:childTnLst>
                                    <p:set>
                                      <p:cBhvr>
                                        <p:cTn id="142" dur="1" fill="hold">
                                          <p:stCondLst>
                                            <p:cond delay="0"/>
                                          </p:stCondLst>
                                        </p:cTn>
                                        <p:tgtEl>
                                          <p:spTgt spid="33"/>
                                        </p:tgtEl>
                                        <p:attrNameLst>
                                          <p:attrName>style.visibility</p:attrName>
                                        </p:attrNameLst>
                                      </p:cBhvr>
                                      <p:to>
                                        <p:strVal val="visible"/>
                                      </p:to>
                                    </p:set>
                                    <p:anim calcmode="lin" valueType="num">
                                      <p:cBhvr additive="base">
                                        <p:cTn id="143" dur="500" fill="hold"/>
                                        <p:tgtEl>
                                          <p:spTgt spid="33"/>
                                        </p:tgtEl>
                                        <p:attrNameLst>
                                          <p:attrName>ppt_x</p:attrName>
                                        </p:attrNameLst>
                                      </p:cBhvr>
                                      <p:tavLst>
                                        <p:tav tm="0">
                                          <p:val>
                                            <p:strVal val="1+#ppt_w/2"/>
                                          </p:val>
                                        </p:tav>
                                        <p:tav tm="100000">
                                          <p:val>
                                            <p:strVal val="#ppt_x"/>
                                          </p:val>
                                        </p:tav>
                                      </p:tavLst>
                                    </p:anim>
                                    <p:anim calcmode="lin" valueType="num">
                                      <p:cBhvr additive="base">
                                        <p:cTn id="144" dur="500" fill="hold"/>
                                        <p:tgtEl>
                                          <p:spTgt spid="3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686800" cy="320040"/>
          </a:xfrm>
          <a:prstGeom prst="rect">
            <a:avLst/>
          </a:prstGeom>
          <a:noFill/>
          <a:ln/>
        </p:spPr>
        <p:txBody>
          <a:bodyPr wrap="square" lIns="0" tIns="0" rIns="0" bIns="0" rtlCol="0" anchor="t"/>
          <a:lstStyle/>
          <a:p>
            <a:pPr indent="0" marL="0">
              <a:buNone/>
            </a:pPr>
            <a:r>
              <a:rPr lang="en-US" sz="1300" b="1" spc="200" kern="0" dirty="0">
                <a:solidFill>
                  <a:schemeClr val="accent3"/>
                </a:solidFill>
              </a:rPr>
              <a:t>HOW A LIVE UPDATE WORKS</a:t>
            </a:r>
            <a:endParaRPr lang="en-US" sz="1300" dirty="0"/>
          </a:p>
        </p:txBody>
      </p:sp>
      <p:sp>
        <p:nvSpPr>
          <p:cNvPr id="3" name="Text 0"/>
          <p:cNvSpPr/>
          <p:nvPr>
            <p:ph idx="101" type="title" hasCustomPrompt="1"/>
          </p:nvPr>
        </p:nvSpPr>
        <p:spPr>
          <a:xfrm>
            <a:off x="548640" y="713232"/>
            <a:ext cx="11091672" cy="822960"/>
          </a:xfrm>
          <a:prstGeom prst="rect">
            <a:avLst/>
          </a:prstGeom>
          <a:noFill/>
          <a:ln/>
        </p:spPr>
        <p:txBody>
          <a:bodyPr wrap="square" lIns="0" tIns="0" rIns="0" bIns="0" rtlCol="0" anchor="t"/>
          <a:lstStyle/>
          <a:p>
            <a:pPr indent="0" marL="0">
              <a:buNone/>
            </a:pPr>
            <a:r>
              <a:rPr lang="en-US" sz="3200" b="1" dirty="0">
                <a:solidFill>
                  <a:schemeClr val="bg2"/>
                </a:solidFill>
              </a:rPr>
              <a:t>Every 3 seconds, five steps reach every open browser</a:t>
            </a:r>
            <a:endParaRPr lang="en-US" sz="3200" dirty="0"/>
          </a:p>
        </p:txBody>
      </p:sp>
      <p:sp>
        <p:nvSpPr>
          <p:cNvPr id="4" name="nav-contents"/>
          <p:cNvSpPr txBox="1"/>
          <p:nvPr/>
        </p:nvSpPr>
        <p:spPr>
          <a:xfrm>
            <a:off x="10451592" y="365760"/>
            <a:ext cx="1188720" cy="292608"/>
          </a:xfrm>
          <a:prstGeom prst="rect">
            <a:avLst/>
          </a:prstGeom>
          <a:noFill/>
          <a:ln/>
        </p:spPr>
        <p:txBody>
          <a:bodyPr wrap="square" lIns="0" tIns="0" rIns="0" bIns="0" rtlCol="0" anchor="ctr"/>
          <a:lstStyle/>
          <a:p>
            <a:pPr algn="r" indent="0" marL="0">
              <a:buNone/>
            </a:pPr>
            <a:r>
              <a:rPr lang="en-US" sz="1100" u="sng" dirty="0">
                <a:solidFill>
                  <a:schemeClr val="accent3"/>
                </a:solidFill>
                <a:hlinkClick r:id="rId1" action="ppaction://hlinksldjump" tooltip="Back to contents">
                  <a:extLst>
                    <a:ext uri="{A12FA001-AC4F-418D-AE19-62706E023703}">
                      <ahyp:hlinkClr xmlns:ahyp="http://schemas.microsoft.com/office/drawing/2018/hyperlinkcolor" val="tx"/>
                    </a:ext>
                  </a:extLst>
                </a:hlinkClick>
              </a:rPr>
              <a:t>Contents ↩</a:t>
            </a:r>
            <a:endParaRPr lang="en-US" sz="1100" dirty="0"/>
          </a:p>
        </p:txBody>
      </p:sp>
      <p:sp>
        <p:nvSpPr>
          <p:cNvPr id="5" name="f0-box"/>
          <p:cNvSpPr/>
          <p:nvPr/>
        </p:nvSpPr>
        <p:spPr>
          <a:xfrm>
            <a:off x="548640" y="1874520"/>
            <a:ext cx="1890065" cy="2514600"/>
          </a:xfrm>
          <a:prstGeom prst="roundRect">
            <a:avLst>
              <a:gd name="adj" fmla="val 5806"/>
            </a:avLst>
          </a:prstGeom>
          <a:solidFill>
            <a:schemeClr val="accent4"/>
          </a:solidFill>
          <a:ln w="9525">
            <a:solidFill>
              <a:schemeClr val="accent4"/>
            </a:solidFill>
            <a:prstDash val="solid"/>
          </a:ln>
        </p:spPr>
      </p:sp>
      <p:sp>
        <p:nvSpPr>
          <p:cNvPr id="6" name="f0-t0"/>
          <p:cNvSpPr txBox="1"/>
          <p:nvPr/>
        </p:nvSpPr>
        <p:spPr>
          <a:xfrm>
            <a:off x="822960" y="2148840"/>
            <a:ext cx="1341425" cy="365760"/>
          </a:xfrm>
          <a:prstGeom prst="rect">
            <a:avLst/>
          </a:prstGeom>
          <a:noFill/>
          <a:ln/>
        </p:spPr>
        <p:txBody>
          <a:bodyPr wrap="square" lIns="0" tIns="0" rIns="0" bIns="0" rtlCol="0" anchor="t"/>
          <a:lstStyle/>
          <a:p>
            <a:pPr indent="0" marL="0">
              <a:lnSpc>
                <a:spcPct val="105000"/>
              </a:lnSpc>
              <a:buNone/>
            </a:pPr>
            <a:r>
              <a:rPr lang="en-US" sz="1800" b="1" dirty="0">
                <a:solidFill>
                  <a:schemeClr val="accent3"/>
                </a:solidFill>
                <a:latin typeface="Courier New" pitchFamily="34" charset="0"/>
                <a:ea typeface="Courier New" pitchFamily="34" charset="-122"/>
                <a:cs typeface="Courier New" pitchFamily="34" charset="-120"/>
              </a:rPr>
              <a:t>1</a:t>
            </a:r>
            <a:endParaRPr lang="en-US" sz="1800" dirty="0"/>
          </a:p>
        </p:txBody>
      </p:sp>
      <p:sp>
        <p:nvSpPr>
          <p:cNvPr id="7" name="f0-t1"/>
          <p:cNvSpPr txBox="1"/>
          <p:nvPr/>
        </p:nvSpPr>
        <p:spPr>
          <a:xfrm>
            <a:off x="822960" y="2587752"/>
            <a:ext cx="1341425" cy="685800"/>
          </a:xfrm>
          <a:prstGeom prst="rect">
            <a:avLst/>
          </a:prstGeom>
          <a:noFill/>
          <a:ln/>
        </p:spPr>
        <p:txBody>
          <a:bodyPr wrap="square" lIns="0" tIns="0" rIns="0" bIns="0" rtlCol="0" anchor="t"/>
          <a:lstStyle/>
          <a:p>
            <a:pPr indent="0" marL="0">
              <a:lnSpc>
                <a:spcPct val="105000"/>
              </a:lnSpc>
              <a:buNone/>
            </a:pPr>
            <a:r>
              <a:rPr lang="en-US" sz="1700" b="1" dirty="0">
                <a:solidFill>
                  <a:schemeClr val="bg2"/>
                </a:solidFill>
              </a:rPr>
              <a:t>Scheduler wakes up</a:t>
            </a:r>
            <a:endParaRPr lang="en-US" sz="1700" dirty="0"/>
          </a:p>
        </p:txBody>
      </p:sp>
      <p:sp>
        <p:nvSpPr>
          <p:cNvPr id="8" name="f0-t2"/>
          <p:cNvSpPr txBox="1"/>
          <p:nvPr/>
        </p:nvSpPr>
        <p:spPr>
          <a:xfrm>
            <a:off x="822960" y="3346704"/>
            <a:ext cx="1341425" cy="777240"/>
          </a:xfrm>
          <a:prstGeom prst="rect">
            <a:avLst/>
          </a:prstGeom>
          <a:noFill/>
          <a:ln/>
        </p:spPr>
        <p:txBody>
          <a:bodyPr wrap="square" lIns="0" tIns="0" rIns="0" bIns="0" rtlCol="0" anchor="t"/>
          <a:lstStyle/>
          <a:p>
            <a:pPr indent="0" marL="0">
              <a:lnSpc>
                <a:spcPct val="105000"/>
              </a:lnSpc>
              <a:buNone/>
            </a:pPr>
            <a:r>
              <a:rPr lang="en-US" sz="1300" dirty="0">
                <a:solidFill>
                  <a:schemeClr val="accent5"/>
                </a:solidFill>
              </a:rPr>
              <a:t>@Scheduled every 3 s</a:t>
            </a:r>
            <a:endParaRPr lang="en-US" sz="1300" dirty="0"/>
          </a:p>
        </p:txBody>
      </p:sp>
      <p:sp>
        <p:nvSpPr>
          <p:cNvPr id="9" name="f1-box"/>
          <p:cNvSpPr/>
          <p:nvPr/>
        </p:nvSpPr>
        <p:spPr>
          <a:xfrm>
            <a:off x="2850185" y="1874520"/>
            <a:ext cx="1890065" cy="2514600"/>
          </a:xfrm>
          <a:prstGeom prst="roundRect">
            <a:avLst>
              <a:gd name="adj" fmla="val 5806"/>
            </a:avLst>
          </a:prstGeom>
          <a:solidFill>
            <a:schemeClr val="accent4"/>
          </a:solidFill>
          <a:ln w="9525">
            <a:solidFill>
              <a:schemeClr val="accent4"/>
            </a:solidFill>
            <a:prstDash val="solid"/>
          </a:ln>
        </p:spPr>
      </p:sp>
      <p:sp>
        <p:nvSpPr>
          <p:cNvPr id="10" name="f1-t0"/>
          <p:cNvSpPr txBox="1"/>
          <p:nvPr/>
        </p:nvSpPr>
        <p:spPr>
          <a:xfrm>
            <a:off x="3124505" y="2148840"/>
            <a:ext cx="1341425" cy="365760"/>
          </a:xfrm>
          <a:prstGeom prst="rect">
            <a:avLst/>
          </a:prstGeom>
          <a:noFill/>
          <a:ln/>
        </p:spPr>
        <p:txBody>
          <a:bodyPr wrap="square" lIns="0" tIns="0" rIns="0" bIns="0" rtlCol="0" anchor="t"/>
          <a:lstStyle/>
          <a:p>
            <a:pPr indent="0" marL="0">
              <a:lnSpc>
                <a:spcPct val="105000"/>
              </a:lnSpc>
              <a:buNone/>
            </a:pPr>
            <a:r>
              <a:rPr lang="en-US" sz="1800" b="1" dirty="0">
                <a:solidFill>
                  <a:schemeClr val="accent3"/>
                </a:solidFill>
                <a:latin typeface="Courier New" pitchFamily="34" charset="0"/>
                <a:ea typeface="Courier New" pitchFamily="34" charset="-122"/>
                <a:cs typeface="Courier New" pitchFamily="34" charset="-120"/>
              </a:rPr>
              <a:t>2</a:t>
            </a:r>
            <a:endParaRPr lang="en-US" sz="1800" dirty="0"/>
          </a:p>
        </p:txBody>
      </p:sp>
      <p:sp>
        <p:nvSpPr>
          <p:cNvPr id="11" name="f1-t1"/>
          <p:cNvSpPr txBox="1"/>
          <p:nvPr/>
        </p:nvSpPr>
        <p:spPr>
          <a:xfrm>
            <a:off x="3124505" y="2587752"/>
            <a:ext cx="1341425" cy="685800"/>
          </a:xfrm>
          <a:prstGeom prst="rect">
            <a:avLst/>
          </a:prstGeom>
          <a:noFill/>
          <a:ln/>
        </p:spPr>
        <p:txBody>
          <a:bodyPr wrap="square" lIns="0" tIns="0" rIns="0" bIns="0" rtlCol="0" anchor="t"/>
          <a:lstStyle/>
          <a:p>
            <a:pPr indent="0" marL="0">
              <a:lnSpc>
                <a:spcPct val="105000"/>
              </a:lnSpc>
              <a:buNone/>
            </a:pPr>
            <a:r>
              <a:rPr lang="en-US" sz="1700" b="1" dirty="0">
                <a:solidFill>
                  <a:schemeClr val="bg2"/>
                </a:solidFill>
              </a:rPr>
              <a:t>New values read</a:t>
            </a:r>
            <a:endParaRPr lang="en-US" sz="1700" dirty="0"/>
          </a:p>
        </p:txBody>
      </p:sp>
      <p:sp>
        <p:nvSpPr>
          <p:cNvPr id="12" name="f1-t2"/>
          <p:cNvSpPr txBox="1"/>
          <p:nvPr/>
        </p:nvSpPr>
        <p:spPr>
          <a:xfrm>
            <a:off x="3124505" y="3346704"/>
            <a:ext cx="1341425" cy="777240"/>
          </a:xfrm>
          <a:prstGeom prst="rect">
            <a:avLst/>
          </a:prstGeom>
          <a:noFill/>
          <a:ln/>
        </p:spPr>
        <p:txBody>
          <a:bodyPr wrap="square" lIns="0" tIns="0" rIns="0" bIns="0" rtlCol="0" anchor="t"/>
          <a:lstStyle/>
          <a:p>
            <a:pPr indent="0" marL="0">
              <a:lnSpc>
                <a:spcPct val="105000"/>
              </a:lnSpc>
              <a:buNone/>
            </a:pPr>
            <a:r>
              <a:rPr lang="en-US" sz="1300" dirty="0">
                <a:solidFill>
                  <a:schemeClr val="accent5"/>
                </a:solidFill>
              </a:rPr>
              <a:t>Simulation for cloud, OSHI for this PC</a:t>
            </a:r>
            <a:endParaRPr lang="en-US" sz="1300" dirty="0"/>
          </a:p>
        </p:txBody>
      </p:sp>
      <p:sp>
        <p:nvSpPr>
          <p:cNvPr id="13" name="f-arrow1"/>
          <p:cNvSpPr/>
          <p:nvPr/>
        </p:nvSpPr>
        <p:spPr>
          <a:xfrm>
            <a:off x="2502713" y="3035808"/>
            <a:ext cx="274320" cy="201168"/>
          </a:xfrm>
          <a:prstGeom prst="rightArrow">
            <a:avLst/>
          </a:prstGeom>
          <a:solidFill>
            <a:srgbClr val="5EA2EF"/>
          </a:solidFill>
          <a:ln w="12700">
            <a:solidFill>
              <a:srgbClr val="5EA2EF"/>
            </a:solidFill>
            <a:prstDash val="solid"/>
          </a:ln>
        </p:spPr>
      </p:sp>
      <p:sp>
        <p:nvSpPr>
          <p:cNvPr id="14" name="f2-box"/>
          <p:cNvSpPr/>
          <p:nvPr/>
        </p:nvSpPr>
        <p:spPr>
          <a:xfrm>
            <a:off x="5151730" y="1874520"/>
            <a:ext cx="1890065" cy="2514600"/>
          </a:xfrm>
          <a:prstGeom prst="roundRect">
            <a:avLst>
              <a:gd name="adj" fmla="val 5806"/>
            </a:avLst>
          </a:prstGeom>
          <a:solidFill>
            <a:schemeClr val="accent4"/>
          </a:solidFill>
          <a:ln w="9525">
            <a:solidFill>
              <a:schemeClr val="accent4"/>
            </a:solidFill>
            <a:prstDash val="solid"/>
          </a:ln>
        </p:spPr>
      </p:sp>
      <p:sp>
        <p:nvSpPr>
          <p:cNvPr id="15" name="f2-t0"/>
          <p:cNvSpPr txBox="1"/>
          <p:nvPr/>
        </p:nvSpPr>
        <p:spPr>
          <a:xfrm>
            <a:off x="5426050" y="2148840"/>
            <a:ext cx="1341425" cy="365760"/>
          </a:xfrm>
          <a:prstGeom prst="rect">
            <a:avLst/>
          </a:prstGeom>
          <a:noFill/>
          <a:ln/>
        </p:spPr>
        <p:txBody>
          <a:bodyPr wrap="square" lIns="0" tIns="0" rIns="0" bIns="0" rtlCol="0" anchor="t"/>
          <a:lstStyle/>
          <a:p>
            <a:pPr indent="0" marL="0">
              <a:lnSpc>
                <a:spcPct val="105000"/>
              </a:lnSpc>
              <a:buNone/>
            </a:pPr>
            <a:r>
              <a:rPr lang="en-US" sz="1800" b="1" dirty="0">
                <a:solidFill>
                  <a:schemeClr val="accent3"/>
                </a:solidFill>
                <a:latin typeface="Courier New" pitchFamily="34" charset="0"/>
                <a:ea typeface="Courier New" pitchFamily="34" charset="-122"/>
                <a:cs typeface="Courier New" pitchFamily="34" charset="-120"/>
              </a:rPr>
              <a:t>3</a:t>
            </a:r>
            <a:endParaRPr lang="en-US" sz="1800" dirty="0"/>
          </a:p>
        </p:txBody>
      </p:sp>
      <p:sp>
        <p:nvSpPr>
          <p:cNvPr id="16" name="f2-t1"/>
          <p:cNvSpPr txBox="1"/>
          <p:nvPr/>
        </p:nvSpPr>
        <p:spPr>
          <a:xfrm>
            <a:off x="5426050" y="2587752"/>
            <a:ext cx="1341425" cy="685800"/>
          </a:xfrm>
          <a:prstGeom prst="rect">
            <a:avLst/>
          </a:prstGeom>
          <a:noFill/>
          <a:ln/>
        </p:spPr>
        <p:txBody>
          <a:bodyPr wrap="square" lIns="0" tIns="0" rIns="0" bIns="0" rtlCol="0" anchor="t"/>
          <a:lstStyle/>
          <a:p>
            <a:pPr indent="0" marL="0">
              <a:lnSpc>
                <a:spcPct val="105000"/>
              </a:lnSpc>
              <a:buNone/>
            </a:pPr>
            <a:r>
              <a:rPr lang="en-US" sz="1700" b="1" dirty="0">
                <a:solidFill>
                  <a:schemeClr val="bg2"/>
                </a:solidFill>
              </a:rPr>
              <a:t>Saved in MySQL</a:t>
            </a:r>
            <a:endParaRPr lang="en-US" sz="1700" dirty="0"/>
          </a:p>
        </p:txBody>
      </p:sp>
      <p:sp>
        <p:nvSpPr>
          <p:cNvPr id="17" name="f2-t2"/>
          <p:cNvSpPr txBox="1"/>
          <p:nvPr/>
        </p:nvSpPr>
        <p:spPr>
          <a:xfrm>
            <a:off x="5426050" y="3346704"/>
            <a:ext cx="1341425" cy="777240"/>
          </a:xfrm>
          <a:prstGeom prst="rect">
            <a:avLst/>
          </a:prstGeom>
          <a:noFill/>
          <a:ln/>
        </p:spPr>
        <p:txBody>
          <a:bodyPr wrap="square" lIns="0" tIns="0" rIns="0" bIns="0" rtlCol="0" anchor="t"/>
          <a:lstStyle/>
          <a:p>
            <a:pPr indent="0" marL="0">
              <a:lnSpc>
                <a:spcPct val="105000"/>
              </a:lnSpc>
              <a:buNone/>
            </a:pPr>
            <a:r>
              <a:rPr lang="en-US" sz="1300" dirty="0">
                <a:solidFill>
                  <a:schemeClr val="accent5"/>
                </a:solidFill>
              </a:rPr>
              <a:t>History point every 15 s</a:t>
            </a:r>
            <a:endParaRPr lang="en-US" sz="1300" dirty="0"/>
          </a:p>
        </p:txBody>
      </p:sp>
      <p:sp>
        <p:nvSpPr>
          <p:cNvPr id="18" name="f-arrow2"/>
          <p:cNvSpPr/>
          <p:nvPr/>
        </p:nvSpPr>
        <p:spPr>
          <a:xfrm>
            <a:off x="4804258" y="3035808"/>
            <a:ext cx="274320" cy="201168"/>
          </a:xfrm>
          <a:prstGeom prst="rightArrow">
            <a:avLst/>
          </a:prstGeom>
          <a:solidFill>
            <a:srgbClr val="5EA2EF"/>
          </a:solidFill>
          <a:ln w="12700">
            <a:solidFill>
              <a:srgbClr val="5EA2EF"/>
            </a:solidFill>
            <a:prstDash val="solid"/>
          </a:ln>
        </p:spPr>
      </p:sp>
      <p:sp>
        <p:nvSpPr>
          <p:cNvPr id="19" name="f3-box"/>
          <p:cNvSpPr/>
          <p:nvPr/>
        </p:nvSpPr>
        <p:spPr>
          <a:xfrm>
            <a:off x="7453274" y="1874520"/>
            <a:ext cx="1890065" cy="2514600"/>
          </a:xfrm>
          <a:prstGeom prst="roundRect">
            <a:avLst>
              <a:gd name="adj" fmla="val 5806"/>
            </a:avLst>
          </a:prstGeom>
          <a:solidFill>
            <a:schemeClr val="accent4"/>
          </a:solidFill>
          <a:ln w="9525">
            <a:solidFill>
              <a:schemeClr val="accent4"/>
            </a:solidFill>
            <a:prstDash val="solid"/>
          </a:ln>
        </p:spPr>
      </p:sp>
      <p:sp>
        <p:nvSpPr>
          <p:cNvPr id="20" name="f3-t0"/>
          <p:cNvSpPr txBox="1"/>
          <p:nvPr/>
        </p:nvSpPr>
        <p:spPr>
          <a:xfrm>
            <a:off x="7727594" y="2148840"/>
            <a:ext cx="1341425" cy="365760"/>
          </a:xfrm>
          <a:prstGeom prst="rect">
            <a:avLst/>
          </a:prstGeom>
          <a:noFill/>
          <a:ln/>
        </p:spPr>
        <p:txBody>
          <a:bodyPr wrap="square" lIns="0" tIns="0" rIns="0" bIns="0" rtlCol="0" anchor="t"/>
          <a:lstStyle/>
          <a:p>
            <a:pPr indent="0" marL="0">
              <a:lnSpc>
                <a:spcPct val="105000"/>
              </a:lnSpc>
              <a:buNone/>
            </a:pPr>
            <a:r>
              <a:rPr lang="en-US" sz="1800" b="1" dirty="0">
                <a:solidFill>
                  <a:schemeClr val="accent3"/>
                </a:solidFill>
                <a:latin typeface="Courier New" pitchFamily="34" charset="0"/>
                <a:ea typeface="Courier New" pitchFamily="34" charset="-122"/>
                <a:cs typeface="Courier New" pitchFamily="34" charset="-120"/>
              </a:rPr>
              <a:t>4</a:t>
            </a:r>
            <a:endParaRPr lang="en-US" sz="1800" dirty="0"/>
          </a:p>
        </p:txBody>
      </p:sp>
      <p:sp>
        <p:nvSpPr>
          <p:cNvPr id="21" name="f3-t1"/>
          <p:cNvSpPr txBox="1"/>
          <p:nvPr/>
        </p:nvSpPr>
        <p:spPr>
          <a:xfrm>
            <a:off x="7727594" y="2587752"/>
            <a:ext cx="1341425" cy="685800"/>
          </a:xfrm>
          <a:prstGeom prst="rect">
            <a:avLst/>
          </a:prstGeom>
          <a:noFill/>
          <a:ln/>
        </p:spPr>
        <p:txBody>
          <a:bodyPr wrap="square" lIns="0" tIns="0" rIns="0" bIns="0" rtlCol="0" anchor="t"/>
          <a:lstStyle/>
          <a:p>
            <a:pPr indent="0" marL="0">
              <a:lnSpc>
                <a:spcPct val="105000"/>
              </a:lnSpc>
              <a:buNone/>
            </a:pPr>
            <a:r>
              <a:rPr lang="en-US" sz="1700" b="1" dirty="0">
                <a:solidFill>
                  <a:schemeClr val="bg2"/>
                </a:solidFill>
              </a:rPr>
              <a:t>Rules checked</a:t>
            </a:r>
            <a:endParaRPr lang="en-US" sz="1700" dirty="0"/>
          </a:p>
        </p:txBody>
      </p:sp>
      <p:sp>
        <p:nvSpPr>
          <p:cNvPr id="22" name="f3-t2"/>
          <p:cNvSpPr txBox="1"/>
          <p:nvPr/>
        </p:nvSpPr>
        <p:spPr>
          <a:xfrm>
            <a:off x="7727594" y="3346704"/>
            <a:ext cx="1341425" cy="777240"/>
          </a:xfrm>
          <a:prstGeom prst="rect">
            <a:avLst/>
          </a:prstGeom>
          <a:noFill/>
          <a:ln/>
        </p:spPr>
        <p:txBody>
          <a:bodyPr wrap="square" lIns="0" tIns="0" rIns="0" bIns="0" rtlCol="0" anchor="t"/>
          <a:lstStyle/>
          <a:p>
            <a:pPr indent="0" marL="0">
              <a:lnSpc>
                <a:spcPct val="105000"/>
              </a:lnSpc>
              <a:buNone/>
            </a:pPr>
            <a:r>
              <a:rPr lang="en-US" sz="1300" dirty="0">
                <a:solidFill>
                  <a:schemeClr val="accent5"/>
                </a:solidFill>
              </a:rPr>
              <a:t>Alert raised, email if critical</a:t>
            </a:r>
            <a:endParaRPr lang="en-US" sz="1300" dirty="0"/>
          </a:p>
        </p:txBody>
      </p:sp>
      <p:sp>
        <p:nvSpPr>
          <p:cNvPr id="23" name="f-arrow3"/>
          <p:cNvSpPr/>
          <p:nvPr/>
        </p:nvSpPr>
        <p:spPr>
          <a:xfrm>
            <a:off x="7105802" y="3035808"/>
            <a:ext cx="274320" cy="201168"/>
          </a:xfrm>
          <a:prstGeom prst="rightArrow">
            <a:avLst/>
          </a:prstGeom>
          <a:solidFill>
            <a:srgbClr val="5EA2EF"/>
          </a:solidFill>
          <a:ln w="12700">
            <a:solidFill>
              <a:srgbClr val="5EA2EF"/>
            </a:solidFill>
            <a:prstDash val="solid"/>
          </a:ln>
        </p:spPr>
      </p:sp>
      <p:sp>
        <p:nvSpPr>
          <p:cNvPr id="24" name="f4-box"/>
          <p:cNvSpPr/>
          <p:nvPr/>
        </p:nvSpPr>
        <p:spPr>
          <a:xfrm>
            <a:off x="9754819" y="1874520"/>
            <a:ext cx="1890065" cy="2514600"/>
          </a:xfrm>
          <a:prstGeom prst="roundRect">
            <a:avLst>
              <a:gd name="adj" fmla="val 5806"/>
            </a:avLst>
          </a:prstGeom>
          <a:solidFill>
            <a:srgbClr val="1F4F8F"/>
          </a:solidFill>
          <a:ln w="9525">
            <a:solidFill>
              <a:schemeClr val="accent3"/>
            </a:solidFill>
            <a:prstDash val="solid"/>
          </a:ln>
        </p:spPr>
      </p:sp>
      <p:sp>
        <p:nvSpPr>
          <p:cNvPr id="25" name="f4-t0"/>
          <p:cNvSpPr txBox="1"/>
          <p:nvPr/>
        </p:nvSpPr>
        <p:spPr>
          <a:xfrm>
            <a:off x="10029139" y="2148840"/>
            <a:ext cx="1341425" cy="365760"/>
          </a:xfrm>
          <a:prstGeom prst="rect">
            <a:avLst/>
          </a:prstGeom>
          <a:noFill/>
          <a:ln/>
        </p:spPr>
        <p:txBody>
          <a:bodyPr wrap="square" lIns="0" tIns="0" rIns="0" bIns="0" rtlCol="0" anchor="t"/>
          <a:lstStyle/>
          <a:p>
            <a:pPr indent="0" marL="0">
              <a:lnSpc>
                <a:spcPct val="105000"/>
              </a:lnSpc>
              <a:buNone/>
            </a:pPr>
            <a:r>
              <a:rPr lang="en-US" sz="1800" b="1" dirty="0">
                <a:solidFill>
                  <a:schemeClr val="bg2"/>
                </a:solidFill>
                <a:latin typeface="Courier New" pitchFamily="34" charset="0"/>
                <a:ea typeface="Courier New" pitchFamily="34" charset="-122"/>
                <a:cs typeface="Courier New" pitchFamily="34" charset="-120"/>
              </a:rPr>
              <a:t>5</a:t>
            </a:r>
            <a:endParaRPr lang="en-US" sz="1800" dirty="0"/>
          </a:p>
        </p:txBody>
      </p:sp>
      <p:sp>
        <p:nvSpPr>
          <p:cNvPr id="26" name="f4-t1"/>
          <p:cNvSpPr txBox="1"/>
          <p:nvPr/>
        </p:nvSpPr>
        <p:spPr>
          <a:xfrm>
            <a:off x="10029139" y="2587752"/>
            <a:ext cx="1341425" cy="685800"/>
          </a:xfrm>
          <a:prstGeom prst="rect">
            <a:avLst/>
          </a:prstGeom>
          <a:noFill/>
          <a:ln/>
        </p:spPr>
        <p:txBody>
          <a:bodyPr wrap="square" lIns="0" tIns="0" rIns="0" bIns="0" rtlCol="0" anchor="t"/>
          <a:lstStyle/>
          <a:p>
            <a:pPr indent="0" marL="0">
              <a:lnSpc>
                <a:spcPct val="105000"/>
              </a:lnSpc>
              <a:buNone/>
            </a:pPr>
            <a:r>
              <a:rPr lang="en-US" sz="1700" b="1" dirty="0">
                <a:solidFill>
                  <a:schemeClr val="bg2"/>
                </a:solidFill>
              </a:rPr>
              <a:t>Pushed to browsers</a:t>
            </a:r>
            <a:endParaRPr lang="en-US" sz="1700" dirty="0"/>
          </a:p>
        </p:txBody>
      </p:sp>
      <p:sp>
        <p:nvSpPr>
          <p:cNvPr id="27" name="f4-t2"/>
          <p:cNvSpPr txBox="1"/>
          <p:nvPr/>
        </p:nvSpPr>
        <p:spPr>
          <a:xfrm>
            <a:off x="10029139" y="3346704"/>
            <a:ext cx="1341425" cy="777240"/>
          </a:xfrm>
          <a:prstGeom prst="rect">
            <a:avLst/>
          </a:prstGeom>
          <a:noFill/>
          <a:ln/>
        </p:spPr>
        <p:txBody>
          <a:bodyPr wrap="square" lIns="0" tIns="0" rIns="0" bIns="0" rtlCol="0" anchor="t"/>
          <a:lstStyle/>
          <a:p>
            <a:pPr indent="0" marL="0">
              <a:lnSpc>
                <a:spcPct val="105000"/>
              </a:lnSpc>
              <a:buNone/>
            </a:pPr>
            <a:r>
              <a:rPr lang="en-US" sz="1300" dirty="0">
                <a:solidFill>
                  <a:srgbClr val="DCE7F5"/>
                </a:solidFill>
              </a:rPr>
              <a:t>WebSocket topics: live, alerts, logs</a:t>
            </a:r>
            <a:endParaRPr lang="en-US" sz="1300" dirty="0"/>
          </a:p>
        </p:txBody>
      </p:sp>
      <p:sp>
        <p:nvSpPr>
          <p:cNvPr id="28" name="f-arrow4"/>
          <p:cNvSpPr/>
          <p:nvPr/>
        </p:nvSpPr>
        <p:spPr>
          <a:xfrm>
            <a:off x="9407347" y="3035808"/>
            <a:ext cx="274320" cy="201168"/>
          </a:xfrm>
          <a:prstGeom prst="rightArrow">
            <a:avLst/>
          </a:prstGeom>
          <a:solidFill>
            <a:srgbClr val="5EA2EF"/>
          </a:solidFill>
          <a:ln w="12700">
            <a:solidFill>
              <a:srgbClr val="5EA2EF"/>
            </a:solidFill>
            <a:prstDash val="solid"/>
          </a:ln>
        </p:spPr>
      </p:sp>
      <p:sp>
        <p:nvSpPr>
          <p:cNvPr id="29" name="f-note"/>
          <p:cNvSpPr txBox="1"/>
          <p:nvPr/>
        </p:nvSpPr>
        <p:spPr>
          <a:xfrm>
            <a:off x="548640" y="4846320"/>
            <a:ext cx="11091672" cy="548640"/>
          </a:xfrm>
          <a:prstGeom prst="rect">
            <a:avLst/>
          </a:prstGeom>
          <a:noFill/>
          <a:ln/>
        </p:spPr>
        <p:txBody>
          <a:bodyPr wrap="square" lIns="0" tIns="0" rIns="0" bIns="0" rtlCol="0" anchor="ctr"/>
          <a:lstStyle/>
          <a:p>
            <a:pPr indent="0" marL="0">
              <a:buNone/>
            </a:pPr>
            <a:r>
              <a:rPr lang="en-US" sz="1800" dirty="0">
                <a:solidFill>
                  <a:srgbClr val="EEF2F6"/>
                </a:solidFill>
              </a:rPr>
              <a:t>No page refresh is needed: charts, badges and pop-ups update by themselves.</a:t>
            </a:r>
            <a:endParaRPr lang="en-US" sz="1800" dirty="0"/>
          </a:p>
        </p:txBody>
      </p:sp>
      <p:sp>
        <p:nvSpPr>
          <p:cNvPr id="30"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9B8CA"/>
                </a:solidFill>
              </a:defRPr>
            </a:lvl1pPr>
          </a:lstStyle>
          <a:p>
            <a:pPr algn="r"/>
            <a:fld id="{F7021451-1387-4CA6-816F-3879F97B5CBC}" type="slidenum">
              <a:rPr b="0" lang="en-US"/>
              <a:t>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2" presetClass="entr" presetSubtype="8"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additive="base">
                                        <p:cTn id="6" dur="500" fill="hold"/>
                                        <p:tgtEl>
                                          <p:spTgt spid="5"/>
                                        </p:tgtEl>
                                        <p:attrNameLst>
                                          <p:attrName>ppt_x</p:attrName>
                                        </p:attrNameLst>
                                      </p:cBhvr>
                                      <p:tavLst>
                                        <p:tav tm="0">
                                          <p:val>
                                            <p:strVal val="0-#ppt_w/2"/>
                                          </p:val>
                                        </p:tav>
                                        <p:tav tm="100000">
                                          <p:val>
                                            <p:strVal val="#ppt_x"/>
                                          </p:val>
                                        </p:tav>
                                      </p:tavLst>
                                    </p:anim>
                                    <p:anim calcmode="lin" valueType="num">
                                      <p:cBhvr additive="base">
                                        <p:cTn id="7" dur="500" fill="hold"/>
                                        <p:tgtEl>
                                          <p:spTgt spid="5"/>
                                        </p:tgtEl>
                                        <p:attrNameLst>
                                          <p:attrName>ppt_y</p:attrName>
                                        </p:attrNameLst>
                                      </p:cBhvr>
                                      <p:tavLst>
                                        <p:tav tm="0">
                                          <p:val>
                                            <p:strVal val="#ppt_y"/>
                                          </p:val>
                                        </p:tav>
                                        <p:tav tm="100000">
                                          <p:val>
                                            <p:strVal val="#ppt_y"/>
                                          </p:val>
                                        </p:tav>
                                      </p:tavLst>
                                    </p:anim>
                                  </p:childTnLst>
                                </p:cTn>
                              </p:par>
                              <p:par>
                                <p:cTn id="12" presetID="2" presetClass="entr" presetSubtype="8"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 calcmode="lin" valueType="num">
                                      <p:cBhvr additive="base">
                                        <p:cTn id="10" dur="500" fill="hold"/>
                                        <p:tgtEl>
                                          <p:spTgt spid="6"/>
                                        </p:tgtEl>
                                        <p:attrNameLst>
                                          <p:attrName>ppt_x</p:attrName>
                                        </p:attrNameLst>
                                      </p:cBhvr>
                                      <p:tavLst>
                                        <p:tav tm="0">
                                          <p:val>
                                            <p:strVal val="0-#ppt_w/2"/>
                                          </p:val>
                                        </p:tav>
                                        <p:tav tm="100000">
                                          <p:val>
                                            <p:strVal val="#ppt_x"/>
                                          </p:val>
                                        </p:tav>
                                      </p:tavLst>
                                    </p:anim>
                                    <p:anim calcmode="lin" valueType="num">
                                      <p:cBhvr additive="base">
                                        <p:cTn id="11" dur="500" fill="hold"/>
                                        <p:tgtEl>
                                          <p:spTgt spid="6"/>
                                        </p:tgtEl>
                                        <p:attrNameLst>
                                          <p:attrName>ppt_y</p:attrName>
                                        </p:attrNameLst>
                                      </p:cBhvr>
                                      <p:tavLst>
                                        <p:tav tm="0">
                                          <p:val>
                                            <p:strVal val="#ppt_y"/>
                                          </p:val>
                                        </p:tav>
                                        <p:tav tm="100000">
                                          <p:val>
                                            <p:strVal val="#ppt_y"/>
                                          </p:val>
                                        </p:tav>
                                      </p:tavLst>
                                    </p:anim>
                                  </p:childTnLst>
                                </p:cTn>
                              </p:par>
                              <p:par>
                                <p:cTn id="16" presetID="2" presetClass="entr" presetSubtype="8"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500" fill="hold"/>
                                        <p:tgtEl>
                                          <p:spTgt spid="7"/>
                                        </p:tgtEl>
                                        <p:attrNameLst>
                                          <p:attrName>ppt_x</p:attrName>
                                        </p:attrNameLst>
                                      </p:cBhvr>
                                      <p:tavLst>
                                        <p:tav tm="0">
                                          <p:val>
                                            <p:strVal val="0-#ppt_w/2"/>
                                          </p:val>
                                        </p:tav>
                                        <p:tav tm="100000">
                                          <p:val>
                                            <p:strVal val="#ppt_x"/>
                                          </p:val>
                                        </p:tav>
                                      </p:tavLst>
                                    </p:anim>
                                    <p:anim calcmode="lin" valueType="num">
                                      <p:cBhvr additive="base">
                                        <p:cTn id="15" dur="500" fill="hold"/>
                                        <p:tgtEl>
                                          <p:spTgt spid="7"/>
                                        </p:tgtEl>
                                        <p:attrNameLst>
                                          <p:attrName>ppt_y</p:attrName>
                                        </p:attrNameLst>
                                      </p:cBhvr>
                                      <p:tavLst>
                                        <p:tav tm="0">
                                          <p:val>
                                            <p:strVal val="#ppt_y"/>
                                          </p:val>
                                        </p:tav>
                                        <p:tav tm="100000">
                                          <p:val>
                                            <p:strVal val="#ppt_y"/>
                                          </p:val>
                                        </p:tav>
                                      </p:tavLst>
                                    </p:anim>
                                  </p:childTnLst>
                                </p:cTn>
                              </p:par>
                              <p:par>
                                <p:cTn id="20" presetID="2" presetClass="entr" presetSubtype="8"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 calcmode="lin" valueType="num">
                                      <p:cBhvr additive="base">
                                        <p:cTn id="18" dur="500" fill="hold"/>
                                        <p:tgtEl>
                                          <p:spTgt spid="8"/>
                                        </p:tgtEl>
                                        <p:attrNameLst>
                                          <p:attrName>ppt_x</p:attrName>
                                        </p:attrNameLst>
                                      </p:cBhvr>
                                      <p:tavLst>
                                        <p:tav tm="0">
                                          <p:val>
                                            <p:strVal val="0-#ppt_w/2"/>
                                          </p:val>
                                        </p:tav>
                                        <p:tav tm="100000">
                                          <p:val>
                                            <p:strVal val="#ppt_x"/>
                                          </p:val>
                                        </p:tav>
                                      </p:tavLst>
                                    </p:anim>
                                    <p:anim calcmode="lin" valueType="num">
                                      <p:cBhvr additive="base">
                                        <p:cTn id="19"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6" presetID="2" presetClass="entr" presetSubtype="8" fill="hold" grpId="0" nodeType="clickEffect">
                                  <p:stCondLst>
                                    <p:cond delay="0"/>
                                  </p:stCondLst>
                                  <p:childTnLst>
                                    <p:set>
                                      <p:cBhvr>
                                        <p:cTn id="23" dur="1" fill="hold">
                                          <p:stCondLst>
                                            <p:cond delay="0"/>
                                          </p:stCondLst>
                                        </p:cTn>
                                        <p:tgtEl>
                                          <p:spTgt spid="13"/>
                                        </p:tgtEl>
                                        <p:attrNameLst>
                                          <p:attrName>style.visibility</p:attrName>
                                        </p:attrNameLst>
                                      </p:cBhvr>
                                      <p:to>
                                        <p:strVal val="visible"/>
                                      </p:to>
                                    </p:set>
                                    <p:anim calcmode="lin" valueType="num">
                                      <p:cBhvr additive="base">
                                        <p:cTn id="24" dur="500" fill="hold"/>
                                        <p:tgtEl>
                                          <p:spTgt spid="13"/>
                                        </p:tgtEl>
                                        <p:attrNameLst>
                                          <p:attrName>ppt_x</p:attrName>
                                        </p:attrNameLst>
                                      </p:cBhvr>
                                      <p:tavLst>
                                        <p:tav tm="0">
                                          <p:val>
                                            <p:strVal val="0-#ppt_w/2"/>
                                          </p:val>
                                        </p:tav>
                                        <p:tav tm="100000">
                                          <p:val>
                                            <p:strVal val="#ppt_x"/>
                                          </p:val>
                                        </p:tav>
                                      </p:tavLst>
                                    </p:anim>
                                    <p:anim calcmode="lin" valueType="num">
                                      <p:cBhvr additive="base">
                                        <p:cTn id="25" dur="500" fill="hold"/>
                                        <p:tgtEl>
                                          <p:spTgt spid="13"/>
                                        </p:tgtEl>
                                        <p:attrNameLst>
                                          <p:attrName>ppt_y</p:attrName>
                                        </p:attrNameLst>
                                      </p:cBhvr>
                                      <p:tavLst>
                                        <p:tav tm="0">
                                          <p:val>
                                            <p:strVal val="#ppt_y"/>
                                          </p:val>
                                        </p:tav>
                                        <p:tav tm="100000">
                                          <p:val>
                                            <p:strVal val="#ppt_y"/>
                                          </p:val>
                                        </p:tav>
                                      </p:tavLst>
                                    </p:anim>
                                  </p:childTnLst>
                                </p:cTn>
                              </p:par>
                              <p:par>
                                <p:cTn id="30" presetID="2" presetClass="entr" presetSubtype="8"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 calcmode="lin" valueType="num">
                                      <p:cBhvr additive="base">
                                        <p:cTn id="28" dur="500" fill="hold"/>
                                        <p:tgtEl>
                                          <p:spTgt spid="9"/>
                                        </p:tgtEl>
                                        <p:attrNameLst>
                                          <p:attrName>ppt_x</p:attrName>
                                        </p:attrNameLst>
                                      </p:cBhvr>
                                      <p:tavLst>
                                        <p:tav tm="0">
                                          <p:val>
                                            <p:strVal val="0-#ppt_w/2"/>
                                          </p:val>
                                        </p:tav>
                                        <p:tav tm="100000">
                                          <p:val>
                                            <p:strVal val="#ppt_x"/>
                                          </p:val>
                                        </p:tav>
                                      </p:tavLst>
                                    </p:anim>
                                    <p:anim calcmode="lin" valueType="num">
                                      <p:cBhvr additive="base">
                                        <p:cTn id="29" dur="500" fill="hold"/>
                                        <p:tgtEl>
                                          <p:spTgt spid="9"/>
                                        </p:tgtEl>
                                        <p:attrNameLst>
                                          <p:attrName>ppt_y</p:attrName>
                                        </p:attrNameLst>
                                      </p:cBhvr>
                                      <p:tavLst>
                                        <p:tav tm="0">
                                          <p:val>
                                            <p:strVal val="#ppt_y"/>
                                          </p:val>
                                        </p:tav>
                                        <p:tav tm="100000">
                                          <p:val>
                                            <p:strVal val="#ppt_y"/>
                                          </p:val>
                                        </p:tav>
                                      </p:tavLst>
                                    </p:anim>
                                  </p:childTnLst>
                                </p:cTn>
                              </p:par>
                              <p:par>
                                <p:cTn id="34" presetID="2" presetClass="entr" presetSubtype="8"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 calcmode="lin" valueType="num">
                                      <p:cBhvr additive="base">
                                        <p:cTn id="32" dur="500" fill="hold"/>
                                        <p:tgtEl>
                                          <p:spTgt spid="10"/>
                                        </p:tgtEl>
                                        <p:attrNameLst>
                                          <p:attrName>ppt_x</p:attrName>
                                        </p:attrNameLst>
                                      </p:cBhvr>
                                      <p:tavLst>
                                        <p:tav tm="0">
                                          <p:val>
                                            <p:strVal val="0-#ppt_w/2"/>
                                          </p:val>
                                        </p:tav>
                                        <p:tav tm="100000">
                                          <p:val>
                                            <p:strVal val="#ppt_x"/>
                                          </p:val>
                                        </p:tav>
                                      </p:tavLst>
                                    </p:anim>
                                    <p:anim calcmode="lin" valueType="num">
                                      <p:cBhvr additive="base">
                                        <p:cTn id="33" dur="500" fill="hold"/>
                                        <p:tgtEl>
                                          <p:spTgt spid="10"/>
                                        </p:tgtEl>
                                        <p:attrNameLst>
                                          <p:attrName>ppt_y</p:attrName>
                                        </p:attrNameLst>
                                      </p:cBhvr>
                                      <p:tavLst>
                                        <p:tav tm="0">
                                          <p:val>
                                            <p:strVal val="#ppt_y"/>
                                          </p:val>
                                        </p:tav>
                                        <p:tav tm="100000">
                                          <p:val>
                                            <p:strVal val="#ppt_y"/>
                                          </p:val>
                                        </p:tav>
                                      </p:tavLst>
                                    </p:anim>
                                  </p:childTnLst>
                                </p:cTn>
                              </p:par>
                              <p:par>
                                <p:cTn id="38" presetID="2" presetClass="entr" presetSubtype="8" fill="hold" grpId="0" nodeType="withEffect">
                                  <p:stCondLst>
                                    <p:cond delay="0"/>
                                  </p:stCondLst>
                                  <p:childTnLst>
                                    <p:set>
                                      <p:cBhvr>
                                        <p:cTn id="35" dur="1" fill="hold">
                                          <p:stCondLst>
                                            <p:cond delay="0"/>
                                          </p:stCondLst>
                                        </p:cTn>
                                        <p:tgtEl>
                                          <p:spTgt spid="11"/>
                                        </p:tgtEl>
                                        <p:attrNameLst>
                                          <p:attrName>style.visibility</p:attrName>
                                        </p:attrNameLst>
                                      </p:cBhvr>
                                      <p:to>
                                        <p:strVal val="visible"/>
                                      </p:to>
                                    </p:set>
                                    <p:anim calcmode="lin" valueType="num">
                                      <p:cBhvr additive="base">
                                        <p:cTn id="36" dur="500" fill="hold"/>
                                        <p:tgtEl>
                                          <p:spTgt spid="11"/>
                                        </p:tgtEl>
                                        <p:attrNameLst>
                                          <p:attrName>ppt_x</p:attrName>
                                        </p:attrNameLst>
                                      </p:cBhvr>
                                      <p:tavLst>
                                        <p:tav tm="0">
                                          <p:val>
                                            <p:strVal val="0-#ppt_w/2"/>
                                          </p:val>
                                        </p:tav>
                                        <p:tav tm="100000">
                                          <p:val>
                                            <p:strVal val="#ppt_x"/>
                                          </p:val>
                                        </p:tav>
                                      </p:tavLst>
                                    </p:anim>
                                    <p:anim calcmode="lin" valueType="num">
                                      <p:cBhvr additive="base">
                                        <p:cTn id="37" dur="500" fill="hold"/>
                                        <p:tgtEl>
                                          <p:spTgt spid="11"/>
                                        </p:tgtEl>
                                        <p:attrNameLst>
                                          <p:attrName>ppt_y</p:attrName>
                                        </p:attrNameLst>
                                      </p:cBhvr>
                                      <p:tavLst>
                                        <p:tav tm="0">
                                          <p:val>
                                            <p:strVal val="#ppt_y"/>
                                          </p:val>
                                        </p:tav>
                                        <p:tav tm="100000">
                                          <p:val>
                                            <p:strVal val="#ppt_y"/>
                                          </p:val>
                                        </p:tav>
                                      </p:tavLst>
                                    </p:anim>
                                  </p:childTnLst>
                                </p:cTn>
                              </p:par>
                              <p:par>
                                <p:cTn id="42" presetID="2" presetClass="entr" presetSubtype="8" fill="hold" grpId="0" nodeType="withEffect">
                                  <p:stCondLst>
                                    <p:cond delay="0"/>
                                  </p:stCondLst>
                                  <p:childTnLst>
                                    <p:set>
                                      <p:cBhvr>
                                        <p:cTn id="39" dur="1" fill="hold">
                                          <p:stCondLst>
                                            <p:cond delay="0"/>
                                          </p:stCondLst>
                                        </p:cTn>
                                        <p:tgtEl>
                                          <p:spTgt spid="12"/>
                                        </p:tgtEl>
                                        <p:attrNameLst>
                                          <p:attrName>style.visibility</p:attrName>
                                        </p:attrNameLst>
                                      </p:cBhvr>
                                      <p:to>
                                        <p:strVal val="visible"/>
                                      </p:to>
                                    </p:set>
                                    <p:anim calcmode="lin" valueType="num">
                                      <p:cBhvr additive="base">
                                        <p:cTn id="40" dur="500" fill="hold"/>
                                        <p:tgtEl>
                                          <p:spTgt spid="12"/>
                                        </p:tgtEl>
                                        <p:attrNameLst>
                                          <p:attrName>ppt_x</p:attrName>
                                        </p:attrNameLst>
                                      </p:cBhvr>
                                      <p:tavLst>
                                        <p:tav tm="0">
                                          <p:val>
                                            <p:strVal val="0-#ppt_w/2"/>
                                          </p:val>
                                        </p:tav>
                                        <p:tav tm="100000">
                                          <p:val>
                                            <p:strVal val="#ppt_x"/>
                                          </p:val>
                                        </p:tav>
                                      </p:tavLst>
                                    </p:anim>
                                    <p:anim calcmode="lin" valueType="num">
                                      <p:cBhvr additive="base">
                                        <p:cTn id="41"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8" presetID="2" presetClass="entr" presetSubtype="8" fill="hold" grpId="0" nodeType="clickEffect">
                                  <p:stCondLst>
                                    <p:cond delay="0"/>
                                  </p:stCondLst>
                                  <p:childTnLst>
                                    <p:set>
                                      <p:cBhvr>
                                        <p:cTn id="45" dur="1" fill="hold">
                                          <p:stCondLst>
                                            <p:cond delay="0"/>
                                          </p:stCondLst>
                                        </p:cTn>
                                        <p:tgtEl>
                                          <p:spTgt spid="18"/>
                                        </p:tgtEl>
                                        <p:attrNameLst>
                                          <p:attrName>style.visibility</p:attrName>
                                        </p:attrNameLst>
                                      </p:cBhvr>
                                      <p:to>
                                        <p:strVal val="visible"/>
                                      </p:to>
                                    </p:set>
                                    <p:anim calcmode="lin" valueType="num">
                                      <p:cBhvr additive="base">
                                        <p:cTn id="46" dur="500" fill="hold"/>
                                        <p:tgtEl>
                                          <p:spTgt spid="18"/>
                                        </p:tgtEl>
                                        <p:attrNameLst>
                                          <p:attrName>ppt_x</p:attrName>
                                        </p:attrNameLst>
                                      </p:cBhvr>
                                      <p:tavLst>
                                        <p:tav tm="0">
                                          <p:val>
                                            <p:strVal val="0-#ppt_w/2"/>
                                          </p:val>
                                        </p:tav>
                                        <p:tav tm="100000">
                                          <p:val>
                                            <p:strVal val="#ppt_x"/>
                                          </p:val>
                                        </p:tav>
                                      </p:tavLst>
                                    </p:anim>
                                    <p:anim calcmode="lin" valueType="num">
                                      <p:cBhvr additive="base">
                                        <p:cTn id="47" dur="500" fill="hold"/>
                                        <p:tgtEl>
                                          <p:spTgt spid="18"/>
                                        </p:tgtEl>
                                        <p:attrNameLst>
                                          <p:attrName>ppt_y</p:attrName>
                                        </p:attrNameLst>
                                      </p:cBhvr>
                                      <p:tavLst>
                                        <p:tav tm="0">
                                          <p:val>
                                            <p:strVal val="#ppt_y"/>
                                          </p:val>
                                        </p:tav>
                                        <p:tav tm="100000">
                                          <p:val>
                                            <p:strVal val="#ppt_y"/>
                                          </p:val>
                                        </p:tav>
                                      </p:tavLst>
                                    </p:anim>
                                  </p:childTnLst>
                                </p:cTn>
                              </p:par>
                              <p:par>
                                <p:cTn id="52" presetID="2" presetClass="entr" presetSubtype="8" fill="hold" grpId="0" nodeType="withEffect">
                                  <p:stCondLst>
                                    <p:cond delay="0"/>
                                  </p:stCondLst>
                                  <p:childTnLst>
                                    <p:set>
                                      <p:cBhvr>
                                        <p:cTn id="49" dur="1" fill="hold">
                                          <p:stCondLst>
                                            <p:cond delay="0"/>
                                          </p:stCondLst>
                                        </p:cTn>
                                        <p:tgtEl>
                                          <p:spTgt spid="14"/>
                                        </p:tgtEl>
                                        <p:attrNameLst>
                                          <p:attrName>style.visibility</p:attrName>
                                        </p:attrNameLst>
                                      </p:cBhvr>
                                      <p:to>
                                        <p:strVal val="visible"/>
                                      </p:to>
                                    </p:set>
                                    <p:anim calcmode="lin" valueType="num">
                                      <p:cBhvr additive="base">
                                        <p:cTn id="50" dur="500" fill="hold"/>
                                        <p:tgtEl>
                                          <p:spTgt spid="14"/>
                                        </p:tgtEl>
                                        <p:attrNameLst>
                                          <p:attrName>ppt_x</p:attrName>
                                        </p:attrNameLst>
                                      </p:cBhvr>
                                      <p:tavLst>
                                        <p:tav tm="0">
                                          <p:val>
                                            <p:strVal val="0-#ppt_w/2"/>
                                          </p:val>
                                        </p:tav>
                                        <p:tav tm="100000">
                                          <p:val>
                                            <p:strVal val="#ppt_x"/>
                                          </p:val>
                                        </p:tav>
                                      </p:tavLst>
                                    </p:anim>
                                    <p:anim calcmode="lin" valueType="num">
                                      <p:cBhvr additive="base">
                                        <p:cTn id="51" dur="500" fill="hold"/>
                                        <p:tgtEl>
                                          <p:spTgt spid="14"/>
                                        </p:tgtEl>
                                        <p:attrNameLst>
                                          <p:attrName>ppt_y</p:attrName>
                                        </p:attrNameLst>
                                      </p:cBhvr>
                                      <p:tavLst>
                                        <p:tav tm="0">
                                          <p:val>
                                            <p:strVal val="#ppt_y"/>
                                          </p:val>
                                        </p:tav>
                                        <p:tav tm="100000">
                                          <p:val>
                                            <p:strVal val="#ppt_y"/>
                                          </p:val>
                                        </p:tav>
                                      </p:tavLst>
                                    </p:anim>
                                  </p:childTnLst>
                                </p:cTn>
                              </p:par>
                              <p:par>
                                <p:cTn id="56" presetID="2" presetClass="entr" presetSubtype="8" fill="hold" grpId="0" nodeType="withEffect">
                                  <p:stCondLst>
                                    <p:cond delay="0"/>
                                  </p:stCondLst>
                                  <p:childTnLst>
                                    <p:set>
                                      <p:cBhvr>
                                        <p:cTn id="53" dur="1" fill="hold">
                                          <p:stCondLst>
                                            <p:cond delay="0"/>
                                          </p:stCondLst>
                                        </p:cTn>
                                        <p:tgtEl>
                                          <p:spTgt spid="15"/>
                                        </p:tgtEl>
                                        <p:attrNameLst>
                                          <p:attrName>style.visibility</p:attrName>
                                        </p:attrNameLst>
                                      </p:cBhvr>
                                      <p:to>
                                        <p:strVal val="visible"/>
                                      </p:to>
                                    </p:set>
                                    <p:anim calcmode="lin" valueType="num">
                                      <p:cBhvr additive="base">
                                        <p:cTn id="54" dur="500" fill="hold"/>
                                        <p:tgtEl>
                                          <p:spTgt spid="15"/>
                                        </p:tgtEl>
                                        <p:attrNameLst>
                                          <p:attrName>ppt_x</p:attrName>
                                        </p:attrNameLst>
                                      </p:cBhvr>
                                      <p:tavLst>
                                        <p:tav tm="0">
                                          <p:val>
                                            <p:strVal val="0-#ppt_w/2"/>
                                          </p:val>
                                        </p:tav>
                                        <p:tav tm="100000">
                                          <p:val>
                                            <p:strVal val="#ppt_x"/>
                                          </p:val>
                                        </p:tav>
                                      </p:tavLst>
                                    </p:anim>
                                    <p:anim calcmode="lin" valueType="num">
                                      <p:cBhvr additive="base">
                                        <p:cTn id="55" dur="500" fill="hold"/>
                                        <p:tgtEl>
                                          <p:spTgt spid="15"/>
                                        </p:tgtEl>
                                        <p:attrNameLst>
                                          <p:attrName>ppt_y</p:attrName>
                                        </p:attrNameLst>
                                      </p:cBhvr>
                                      <p:tavLst>
                                        <p:tav tm="0">
                                          <p:val>
                                            <p:strVal val="#ppt_y"/>
                                          </p:val>
                                        </p:tav>
                                        <p:tav tm="100000">
                                          <p:val>
                                            <p:strVal val="#ppt_y"/>
                                          </p:val>
                                        </p:tav>
                                      </p:tavLst>
                                    </p:anim>
                                  </p:childTnLst>
                                </p:cTn>
                              </p:par>
                              <p:par>
                                <p:cTn id="60" presetID="2" presetClass="entr" presetSubtype="8" fill="hold" grpId="0" nodeType="withEffect">
                                  <p:stCondLst>
                                    <p:cond delay="0"/>
                                  </p:stCondLst>
                                  <p:childTnLst>
                                    <p:set>
                                      <p:cBhvr>
                                        <p:cTn id="57" dur="1" fill="hold">
                                          <p:stCondLst>
                                            <p:cond delay="0"/>
                                          </p:stCondLst>
                                        </p:cTn>
                                        <p:tgtEl>
                                          <p:spTgt spid="16"/>
                                        </p:tgtEl>
                                        <p:attrNameLst>
                                          <p:attrName>style.visibility</p:attrName>
                                        </p:attrNameLst>
                                      </p:cBhvr>
                                      <p:to>
                                        <p:strVal val="visible"/>
                                      </p:to>
                                    </p:set>
                                    <p:anim calcmode="lin" valueType="num">
                                      <p:cBhvr additive="base">
                                        <p:cTn id="58" dur="500" fill="hold"/>
                                        <p:tgtEl>
                                          <p:spTgt spid="16"/>
                                        </p:tgtEl>
                                        <p:attrNameLst>
                                          <p:attrName>ppt_x</p:attrName>
                                        </p:attrNameLst>
                                      </p:cBhvr>
                                      <p:tavLst>
                                        <p:tav tm="0">
                                          <p:val>
                                            <p:strVal val="0-#ppt_w/2"/>
                                          </p:val>
                                        </p:tav>
                                        <p:tav tm="100000">
                                          <p:val>
                                            <p:strVal val="#ppt_x"/>
                                          </p:val>
                                        </p:tav>
                                      </p:tavLst>
                                    </p:anim>
                                    <p:anim calcmode="lin" valueType="num">
                                      <p:cBhvr additive="base">
                                        <p:cTn id="59" dur="500" fill="hold"/>
                                        <p:tgtEl>
                                          <p:spTgt spid="16"/>
                                        </p:tgtEl>
                                        <p:attrNameLst>
                                          <p:attrName>ppt_y</p:attrName>
                                        </p:attrNameLst>
                                      </p:cBhvr>
                                      <p:tavLst>
                                        <p:tav tm="0">
                                          <p:val>
                                            <p:strVal val="#ppt_y"/>
                                          </p:val>
                                        </p:tav>
                                        <p:tav tm="100000">
                                          <p:val>
                                            <p:strVal val="#ppt_y"/>
                                          </p:val>
                                        </p:tav>
                                      </p:tavLst>
                                    </p:anim>
                                  </p:childTnLst>
                                </p:cTn>
                              </p:par>
                              <p:par>
                                <p:cTn id="64" presetID="2" presetClass="entr" presetSubtype="8" fill="hold" grpId="0" nodeType="withEffect">
                                  <p:stCondLst>
                                    <p:cond delay="0"/>
                                  </p:stCondLst>
                                  <p:childTnLst>
                                    <p:set>
                                      <p:cBhvr>
                                        <p:cTn id="61" dur="1" fill="hold">
                                          <p:stCondLst>
                                            <p:cond delay="0"/>
                                          </p:stCondLst>
                                        </p:cTn>
                                        <p:tgtEl>
                                          <p:spTgt spid="17"/>
                                        </p:tgtEl>
                                        <p:attrNameLst>
                                          <p:attrName>style.visibility</p:attrName>
                                        </p:attrNameLst>
                                      </p:cBhvr>
                                      <p:to>
                                        <p:strVal val="visible"/>
                                      </p:to>
                                    </p:set>
                                    <p:anim calcmode="lin" valueType="num">
                                      <p:cBhvr additive="base">
                                        <p:cTn id="62" dur="500" fill="hold"/>
                                        <p:tgtEl>
                                          <p:spTgt spid="17"/>
                                        </p:tgtEl>
                                        <p:attrNameLst>
                                          <p:attrName>ppt_x</p:attrName>
                                        </p:attrNameLst>
                                      </p:cBhvr>
                                      <p:tavLst>
                                        <p:tav tm="0">
                                          <p:val>
                                            <p:strVal val="0-#ppt_w/2"/>
                                          </p:val>
                                        </p:tav>
                                        <p:tav tm="100000">
                                          <p:val>
                                            <p:strVal val="#ppt_x"/>
                                          </p:val>
                                        </p:tav>
                                      </p:tavLst>
                                    </p:anim>
                                    <p:anim calcmode="lin" valueType="num">
                                      <p:cBhvr additive="base">
                                        <p:cTn id="63"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70" presetID="2" presetClass="entr" presetSubtype="8" fill="hold" grpId="0" nodeType="clickEffect">
                                  <p:stCondLst>
                                    <p:cond delay="0"/>
                                  </p:stCondLst>
                                  <p:childTnLst>
                                    <p:set>
                                      <p:cBhvr>
                                        <p:cTn id="67" dur="1" fill="hold">
                                          <p:stCondLst>
                                            <p:cond delay="0"/>
                                          </p:stCondLst>
                                        </p:cTn>
                                        <p:tgtEl>
                                          <p:spTgt spid="23"/>
                                        </p:tgtEl>
                                        <p:attrNameLst>
                                          <p:attrName>style.visibility</p:attrName>
                                        </p:attrNameLst>
                                      </p:cBhvr>
                                      <p:to>
                                        <p:strVal val="visible"/>
                                      </p:to>
                                    </p:set>
                                    <p:anim calcmode="lin" valueType="num">
                                      <p:cBhvr additive="base">
                                        <p:cTn id="68" dur="500" fill="hold"/>
                                        <p:tgtEl>
                                          <p:spTgt spid="23"/>
                                        </p:tgtEl>
                                        <p:attrNameLst>
                                          <p:attrName>ppt_x</p:attrName>
                                        </p:attrNameLst>
                                      </p:cBhvr>
                                      <p:tavLst>
                                        <p:tav tm="0">
                                          <p:val>
                                            <p:strVal val="0-#ppt_w/2"/>
                                          </p:val>
                                        </p:tav>
                                        <p:tav tm="100000">
                                          <p:val>
                                            <p:strVal val="#ppt_x"/>
                                          </p:val>
                                        </p:tav>
                                      </p:tavLst>
                                    </p:anim>
                                    <p:anim calcmode="lin" valueType="num">
                                      <p:cBhvr additive="base">
                                        <p:cTn id="69" dur="500" fill="hold"/>
                                        <p:tgtEl>
                                          <p:spTgt spid="23"/>
                                        </p:tgtEl>
                                        <p:attrNameLst>
                                          <p:attrName>ppt_y</p:attrName>
                                        </p:attrNameLst>
                                      </p:cBhvr>
                                      <p:tavLst>
                                        <p:tav tm="0">
                                          <p:val>
                                            <p:strVal val="#ppt_y"/>
                                          </p:val>
                                        </p:tav>
                                        <p:tav tm="100000">
                                          <p:val>
                                            <p:strVal val="#ppt_y"/>
                                          </p:val>
                                        </p:tav>
                                      </p:tavLst>
                                    </p:anim>
                                  </p:childTnLst>
                                </p:cTn>
                              </p:par>
                              <p:par>
                                <p:cTn id="74" presetID="2" presetClass="entr" presetSubtype="8" fill="hold" grpId="0" nodeType="withEffect">
                                  <p:stCondLst>
                                    <p:cond delay="0"/>
                                  </p:stCondLst>
                                  <p:childTnLst>
                                    <p:set>
                                      <p:cBhvr>
                                        <p:cTn id="71" dur="1" fill="hold">
                                          <p:stCondLst>
                                            <p:cond delay="0"/>
                                          </p:stCondLst>
                                        </p:cTn>
                                        <p:tgtEl>
                                          <p:spTgt spid="19"/>
                                        </p:tgtEl>
                                        <p:attrNameLst>
                                          <p:attrName>style.visibility</p:attrName>
                                        </p:attrNameLst>
                                      </p:cBhvr>
                                      <p:to>
                                        <p:strVal val="visible"/>
                                      </p:to>
                                    </p:set>
                                    <p:anim calcmode="lin" valueType="num">
                                      <p:cBhvr additive="base">
                                        <p:cTn id="72" dur="500" fill="hold"/>
                                        <p:tgtEl>
                                          <p:spTgt spid="19"/>
                                        </p:tgtEl>
                                        <p:attrNameLst>
                                          <p:attrName>ppt_x</p:attrName>
                                        </p:attrNameLst>
                                      </p:cBhvr>
                                      <p:tavLst>
                                        <p:tav tm="0">
                                          <p:val>
                                            <p:strVal val="0-#ppt_w/2"/>
                                          </p:val>
                                        </p:tav>
                                        <p:tav tm="100000">
                                          <p:val>
                                            <p:strVal val="#ppt_x"/>
                                          </p:val>
                                        </p:tav>
                                      </p:tavLst>
                                    </p:anim>
                                    <p:anim calcmode="lin" valueType="num">
                                      <p:cBhvr additive="base">
                                        <p:cTn id="73" dur="500" fill="hold"/>
                                        <p:tgtEl>
                                          <p:spTgt spid="19"/>
                                        </p:tgtEl>
                                        <p:attrNameLst>
                                          <p:attrName>ppt_y</p:attrName>
                                        </p:attrNameLst>
                                      </p:cBhvr>
                                      <p:tavLst>
                                        <p:tav tm="0">
                                          <p:val>
                                            <p:strVal val="#ppt_y"/>
                                          </p:val>
                                        </p:tav>
                                        <p:tav tm="100000">
                                          <p:val>
                                            <p:strVal val="#ppt_y"/>
                                          </p:val>
                                        </p:tav>
                                      </p:tavLst>
                                    </p:anim>
                                  </p:childTnLst>
                                </p:cTn>
                              </p:par>
                              <p:par>
                                <p:cTn id="78" presetID="2" presetClass="entr" presetSubtype="8" fill="hold" grpId="0" nodeType="withEffect">
                                  <p:stCondLst>
                                    <p:cond delay="0"/>
                                  </p:stCondLst>
                                  <p:childTnLst>
                                    <p:set>
                                      <p:cBhvr>
                                        <p:cTn id="75" dur="1" fill="hold">
                                          <p:stCondLst>
                                            <p:cond delay="0"/>
                                          </p:stCondLst>
                                        </p:cTn>
                                        <p:tgtEl>
                                          <p:spTgt spid="20"/>
                                        </p:tgtEl>
                                        <p:attrNameLst>
                                          <p:attrName>style.visibility</p:attrName>
                                        </p:attrNameLst>
                                      </p:cBhvr>
                                      <p:to>
                                        <p:strVal val="visible"/>
                                      </p:to>
                                    </p:set>
                                    <p:anim calcmode="lin" valueType="num">
                                      <p:cBhvr additive="base">
                                        <p:cTn id="76" dur="500" fill="hold"/>
                                        <p:tgtEl>
                                          <p:spTgt spid="20"/>
                                        </p:tgtEl>
                                        <p:attrNameLst>
                                          <p:attrName>ppt_x</p:attrName>
                                        </p:attrNameLst>
                                      </p:cBhvr>
                                      <p:tavLst>
                                        <p:tav tm="0">
                                          <p:val>
                                            <p:strVal val="0-#ppt_w/2"/>
                                          </p:val>
                                        </p:tav>
                                        <p:tav tm="100000">
                                          <p:val>
                                            <p:strVal val="#ppt_x"/>
                                          </p:val>
                                        </p:tav>
                                      </p:tavLst>
                                    </p:anim>
                                    <p:anim calcmode="lin" valueType="num">
                                      <p:cBhvr additive="base">
                                        <p:cTn id="77" dur="500" fill="hold"/>
                                        <p:tgtEl>
                                          <p:spTgt spid="20"/>
                                        </p:tgtEl>
                                        <p:attrNameLst>
                                          <p:attrName>ppt_y</p:attrName>
                                        </p:attrNameLst>
                                      </p:cBhvr>
                                      <p:tavLst>
                                        <p:tav tm="0">
                                          <p:val>
                                            <p:strVal val="#ppt_y"/>
                                          </p:val>
                                        </p:tav>
                                        <p:tav tm="100000">
                                          <p:val>
                                            <p:strVal val="#ppt_y"/>
                                          </p:val>
                                        </p:tav>
                                      </p:tavLst>
                                    </p:anim>
                                  </p:childTnLst>
                                </p:cTn>
                              </p:par>
                              <p:par>
                                <p:cTn id="82" presetID="2" presetClass="entr" presetSubtype="8" fill="hold" grpId="0" nodeType="withEffect">
                                  <p:stCondLst>
                                    <p:cond delay="0"/>
                                  </p:stCondLst>
                                  <p:childTnLst>
                                    <p:set>
                                      <p:cBhvr>
                                        <p:cTn id="79" dur="1" fill="hold">
                                          <p:stCondLst>
                                            <p:cond delay="0"/>
                                          </p:stCondLst>
                                        </p:cTn>
                                        <p:tgtEl>
                                          <p:spTgt spid="21"/>
                                        </p:tgtEl>
                                        <p:attrNameLst>
                                          <p:attrName>style.visibility</p:attrName>
                                        </p:attrNameLst>
                                      </p:cBhvr>
                                      <p:to>
                                        <p:strVal val="visible"/>
                                      </p:to>
                                    </p:set>
                                    <p:anim calcmode="lin" valueType="num">
                                      <p:cBhvr additive="base">
                                        <p:cTn id="80" dur="500" fill="hold"/>
                                        <p:tgtEl>
                                          <p:spTgt spid="21"/>
                                        </p:tgtEl>
                                        <p:attrNameLst>
                                          <p:attrName>ppt_x</p:attrName>
                                        </p:attrNameLst>
                                      </p:cBhvr>
                                      <p:tavLst>
                                        <p:tav tm="0">
                                          <p:val>
                                            <p:strVal val="0-#ppt_w/2"/>
                                          </p:val>
                                        </p:tav>
                                        <p:tav tm="100000">
                                          <p:val>
                                            <p:strVal val="#ppt_x"/>
                                          </p:val>
                                        </p:tav>
                                      </p:tavLst>
                                    </p:anim>
                                    <p:anim calcmode="lin" valueType="num">
                                      <p:cBhvr additive="base">
                                        <p:cTn id="81" dur="500" fill="hold"/>
                                        <p:tgtEl>
                                          <p:spTgt spid="21"/>
                                        </p:tgtEl>
                                        <p:attrNameLst>
                                          <p:attrName>ppt_y</p:attrName>
                                        </p:attrNameLst>
                                      </p:cBhvr>
                                      <p:tavLst>
                                        <p:tav tm="0">
                                          <p:val>
                                            <p:strVal val="#ppt_y"/>
                                          </p:val>
                                        </p:tav>
                                        <p:tav tm="100000">
                                          <p:val>
                                            <p:strVal val="#ppt_y"/>
                                          </p:val>
                                        </p:tav>
                                      </p:tavLst>
                                    </p:anim>
                                  </p:childTnLst>
                                </p:cTn>
                              </p:par>
                              <p:par>
                                <p:cTn id="86" presetID="2" presetClass="entr" presetSubtype="8" fill="hold" grpId="0" nodeType="withEffect">
                                  <p:stCondLst>
                                    <p:cond delay="0"/>
                                  </p:stCondLst>
                                  <p:childTnLst>
                                    <p:set>
                                      <p:cBhvr>
                                        <p:cTn id="83" dur="1" fill="hold">
                                          <p:stCondLst>
                                            <p:cond delay="0"/>
                                          </p:stCondLst>
                                        </p:cTn>
                                        <p:tgtEl>
                                          <p:spTgt spid="22"/>
                                        </p:tgtEl>
                                        <p:attrNameLst>
                                          <p:attrName>style.visibility</p:attrName>
                                        </p:attrNameLst>
                                      </p:cBhvr>
                                      <p:to>
                                        <p:strVal val="visible"/>
                                      </p:to>
                                    </p:set>
                                    <p:anim calcmode="lin" valueType="num">
                                      <p:cBhvr additive="base">
                                        <p:cTn id="84" dur="500" fill="hold"/>
                                        <p:tgtEl>
                                          <p:spTgt spid="22"/>
                                        </p:tgtEl>
                                        <p:attrNameLst>
                                          <p:attrName>ppt_x</p:attrName>
                                        </p:attrNameLst>
                                      </p:cBhvr>
                                      <p:tavLst>
                                        <p:tav tm="0">
                                          <p:val>
                                            <p:strVal val="0-#ppt_w/2"/>
                                          </p:val>
                                        </p:tav>
                                        <p:tav tm="100000">
                                          <p:val>
                                            <p:strVal val="#ppt_x"/>
                                          </p:val>
                                        </p:tav>
                                      </p:tavLst>
                                    </p:anim>
                                    <p:anim calcmode="lin" valueType="num">
                                      <p:cBhvr additive="base">
                                        <p:cTn id="85" dur="500" fill="hold"/>
                                        <p:tgtEl>
                                          <p:spTgt spid="22"/>
                                        </p:tgtEl>
                                        <p:attrNameLst>
                                          <p:attrName>ppt_y</p:attrName>
                                        </p:attrNameLst>
                                      </p:cBhvr>
                                      <p:tavLst>
                                        <p:tav tm="0">
                                          <p:val>
                                            <p:strVal val="#ppt_y"/>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93" presetID="53" presetClass="entr" presetSubtype="16" fill="hold" grpId="0" nodeType="clickEffect">
                                  <p:stCondLst>
                                    <p:cond delay="0"/>
                                  </p:stCondLst>
                                  <p:childTnLst>
                                    <p:set>
                                      <p:cBhvr>
                                        <p:cTn id="89" dur="1" fill="hold">
                                          <p:stCondLst>
                                            <p:cond delay="0"/>
                                          </p:stCondLst>
                                        </p:cTn>
                                        <p:tgtEl>
                                          <p:spTgt spid="28"/>
                                        </p:tgtEl>
                                        <p:attrNameLst>
                                          <p:attrName>style.visibility</p:attrName>
                                        </p:attrNameLst>
                                      </p:cBhvr>
                                      <p:to>
                                        <p:strVal val="visible"/>
                                      </p:to>
                                    </p:set>
                                    <p:anim calcmode="lin" valueType="num">
                                      <p:cBhvr additive="base">
                                        <p:cTn id="90" dur="500" fill="hold"/>
                                        <p:tgtEl>
                                          <p:spTgt spid="28"/>
                                        </p:tgtEl>
                                        <p:attrNameLst>
                                          <p:attrName>ppt_w</p:attrName>
                                        </p:attrNameLst>
                                      </p:cBhvr>
                                      <p:tavLst>
                                        <p:tav tm="0">
                                          <p:val>
                                            <p:strVal val="0"/>
                                          </p:val>
                                        </p:tav>
                                        <p:tav tm="100000">
                                          <p:val>
                                            <p:strVal val="#ppt_w"/>
                                          </p:val>
                                        </p:tav>
                                      </p:tavLst>
                                    </p:anim>
                                    <p:anim calcmode="lin" valueType="num">
                                      <p:cBhvr additive="base">
                                        <p:cTn id="91" dur="500" fill="hold"/>
                                        <p:tgtEl>
                                          <p:spTgt spid="28"/>
                                        </p:tgtEl>
                                        <p:attrNameLst>
                                          <p:attrName>ppt_h</p:attrName>
                                        </p:attrNameLst>
                                      </p:cBhvr>
                                      <p:tavLst>
                                        <p:tav tm="0">
                                          <p:val>
                                            <p:strVal val="0"/>
                                          </p:val>
                                        </p:tav>
                                        <p:tav tm="100000">
                                          <p:val>
                                            <p:strVal val="#ppt_h"/>
                                          </p:val>
                                        </p:tav>
                                      </p:tavLst>
                                    </p:anim>
                                    <p:animEffect transition="in" filter="fade">
                                      <p:cBhvr>
                                        <p:cTn id="92" dur="500"/>
                                        <p:tgtEl>
                                          <p:spTgt spid="28"/>
                                        </p:tgtEl>
                                      </p:cBhvr>
                                    </p:animEffect>
                                  </p:childTnLst>
                                </p:cTn>
                              </p:par>
                              <p:par>
                                <p:cTn id="98" presetID="53" presetClass="entr" presetSubtype="16" fill="hold" grpId="0" nodeType="withEffect">
                                  <p:stCondLst>
                                    <p:cond delay="0"/>
                                  </p:stCondLst>
                                  <p:childTnLst>
                                    <p:set>
                                      <p:cBhvr>
                                        <p:cTn id="94" dur="1" fill="hold">
                                          <p:stCondLst>
                                            <p:cond delay="0"/>
                                          </p:stCondLst>
                                        </p:cTn>
                                        <p:tgtEl>
                                          <p:spTgt spid="24"/>
                                        </p:tgtEl>
                                        <p:attrNameLst>
                                          <p:attrName>style.visibility</p:attrName>
                                        </p:attrNameLst>
                                      </p:cBhvr>
                                      <p:to>
                                        <p:strVal val="visible"/>
                                      </p:to>
                                    </p:set>
                                    <p:anim calcmode="lin" valueType="num">
                                      <p:cBhvr additive="base">
                                        <p:cTn id="95" dur="500" fill="hold"/>
                                        <p:tgtEl>
                                          <p:spTgt spid="24"/>
                                        </p:tgtEl>
                                        <p:attrNameLst>
                                          <p:attrName>ppt_w</p:attrName>
                                        </p:attrNameLst>
                                      </p:cBhvr>
                                      <p:tavLst>
                                        <p:tav tm="0">
                                          <p:val>
                                            <p:strVal val="0"/>
                                          </p:val>
                                        </p:tav>
                                        <p:tav tm="100000">
                                          <p:val>
                                            <p:strVal val="#ppt_w"/>
                                          </p:val>
                                        </p:tav>
                                      </p:tavLst>
                                    </p:anim>
                                    <p:anim calcmode="lin" valueType="num">
                                      <p:cBhvr additive="base">
                                        <p:cTn id="96" dur="500" fill="hold"/>
                                        <p:tgtEl>
                                          <p:spTgt spid="24"/>
                                        </p:tgtEl>
                                        <p:attrNameLst>
                                          <p:attrName>ppt_h</p:attrName>
                                        </p:attrNameLst>
                                      </p:cBhvr>
                                      <p:tavLst>
                                        <p:tav tm="0">
                                          <p:val>
                                            <p:strVal val="0"/>
                                          </p:val>
                                        </p:tav>
                                        <p:tav tm="100000">
                                          <p:val>
                                            <p:strVal val="#ppt_h"/>
                                          </p:val>
                                        </p:tav>
                                      </p:tavLst>
                                    </p:anim>
                                    <p:animEffect transition="in" filter="fade">
                                      <p:cBhvr>
                                        <p:cTn id="97" dur="500"/>
                                        <p:tgtEl>
                                          <p:spTgt spid="24"/>
                                        </p:tgtEl>
                                      </p:cBhvr>
                                    </p:animEffect>
                                  </p:childTnLst>
                                </p:cTn>
                              </p:par>
                              <p:par>
                                <p:cTn id="103" presetID="53" presetClass="entr" presetSubtype="16" fill="hold" grpId="0" nodeType="withEffect">
                                  <p:stCondLst>
                                    <p:cond delay="0"/>
                                  </p:stCondLst>
                                  <p:childTnLst>
                                    <p:set>
                                      <p:cBhvr>
                                        <p:cTn id="99" dur="1" fill="hold">
                                          <p:stCondLst>
                                            <p:cond delay="0"/>
                                          </p:stCondLst>
                                        </p:cTn>
                                        <p:tgtEl>
                                          <p:spTgt spid="25"/>
                                        </p:tgtEl>
                                        <p:attrNameLst>
                                          <p:attrName>style.visibility</p:attrName>
                                        </p:attrNameLst>
                                      </p:cBhvr>
                                      <p:to>
                                        <p:strVal val="visible"/>
                                      </p:to>
                                    </p:set>
                                    <p:anim calcmode="lin" valueType="num">
                                      <p:cBhvr additive="base">
                                        <p:cTn id="100" dur="500" fill="hold"/>
                                        <p:tgtEl>
                                          <p:spTgt spid="25"/>
                                        </p:tgtEl>
                                        <p:attrNameLst>
                                          <p:attrName>ppt_w</p:attrName>
                                        </p:attrNameLst>
                                      </p:cBhvr>
                                      <p:tavLst>
                                        <p:tav tm="0">
                                          <p:val>
                                            <p:strVal val="0"/>
                                          </p:val>
                                        </p:tav>
                                        <p:tav tm="100000">
                                          <p:val>
                                            <p:strVal val="#ppt_w"/>
                                          </p:val>
                                        </p:tav>
                                      </p:tavLst>
                                    </p:anim>
                                    <p:anim calcmode="lin" valueType="num">
                                      <p:cBhvr additive="base">
                                        <p:cTn id="101" dur="500" fill="hold"/>
                                        <p:tgtEl>
                                          <p:spTgt spid="25"/>
                                        </p:tgtEl>
                                        <p:attrNameLst>
                                          <p:attrName>ppt_h</p:attrName>
                                        </p:attrNameLst>
                                      </p:cBhvr>
                                      <p:tavLst>
                                        <p:tav tm="0">
                                          <p:val>
                                            <p:strVal val="0"/>
                                          </p:val>
                                        </p:tav>
                                        <p:tav tm="100000">
                                          <p:val>
                                            <p:strVal val="#ppt_h"/>
                                          </p:val>
                                        </p:tav>
                                      </p:tavLst>
                                    </p:anim>
                                    <p:animEffect transition="in" filter="fade">
                                      <p:cBhvr>
                                        <p:cTn id="102" dur="500"/>
                                        <p:tgtEl>
                                          <p:spTgt spid="25"/>
                                        </p:tgtEl>
                                      </p:cBhvr>
                                    </p:animEffect>
                                  </p:childTnLst>
                                </p:cTn>
                              </p:par>
                              <p:par>
                                <p:cTn id="108" presetID="53" presetClass="entr" presetSubtype="16" fill="hold" grpId="0" nodeType="withEffect">
                                  <p:stCondLst>
                                    <p:cond delay="0"/>
                                  </p:stCondLst>
                                  <p:childTnLst>
                                    <p:set>
                                      <p:cBhvr>
                                        <p:cTn id="104" dur="1" fill="hold">
                                          <p:stCondLst>
                                            <p:cond delay="0"/>
                                          </p:stCondLst>
                                        </p:cTn>
                                        <p:tgtEl>
                                          <p:spTgt spid="26"/>
                                        </p:tgtEl>
                                        <p:attrNameLst>
                                          <p:attrName>style.visibility</p:attrName>
                                        </p:attrNameLst>
                                      </p:cBhvr>
                                      <p:to>
                                        <p:strVal val="visible"/>
                                      </p:to>
                                    </p:set>
                                    <p:anim calcmode="lin" valueType="num">
                                      <p:cBhvr additive="base">
                                        <p:cTn id="105" dur="500" fill="hold"/>
                                        <p:tgtEl>
                                          <p:spTgt spid="26"/>
                                        </p:tgtEl>
                                        <p:attrNameLst>
                                          <p:attrName>ppt_w</p:attrName>
                                        </p:attrNameLst>
                                      </p:cBhvr>
                                      <p:tavLst>
                                        <p:tav tm="0">
                                          <p:val>
                                            <p:strVal val="0"/>
                                          </p:val>
                                        </p:tav>
                                        <p:tav tm="100000">
                                          <p:val>
                                            <p:strVal val="#ppt_w"/>
                                          </p:val>
                                        </p:tav>
                                      </p:tavLst>
                                    </p:anim>
                                    <p:anim calcmode="lin" valueType="num">
                                      <p:cBhvr additive="base">
                                        <p:cTn id="106" dur="500" fill="hold"/>
                                        <p:tgtEl>
                                          <p:spTgt spid="26"/>
                                        </p:tgtEl>
                                        <p:attrNameLst>
                                          <p:attrName>ppt_h</p:attrName>
                                        </p:attrNameLst>
                                      </p:cBhvr>
                                      <p:tavLst>
                                        <p:tav tm="0">
                                          <p:val>
                                            <p:strVal val="0"/>
                                          </p:val>
                                        </p:tav>
                                        <p:tav tm="100000">
                                          <p:val>
                                            <p:strVal val="#ppt_h"/>
                                          </p:val>
                                        </p:tav>
                                      </p:tavLst>
                                    </p:anim>
                                    <p:animEffect transition="in" filter="fade">
                                      <p:cBhvr>
                                        <p:cTn id="107" dur="500"/>
                                        <p:tgtEl>
                                          <p:spTgt spid="26"/>
                                        </p:tgtEl>
                                      </p:cBhvr>
                                    </p:animEffect>
                                  </p:childTnLst>
                                </p:cTn>
                              </p:par>
                              <p:par>
                                <p:cTn id="113" presetID="53" presetClass="entr" presetSubtype="16" fill="hold" grpId="0" nodeType="withEffect">
                                  <p:stCondLst>
                                    <p:cond delay="0"/>
                                  </p:stCondLst>
                                  <p:childTnLst>
                                    <p:set>
                                      <p:cBhvr>
                                        <p:cTn id="109" dur="1" fill="hold">
                                          <p:stCondLst>
                                            <p:cond delay="0"/>
                                          </p:stCondLst>
                                        </p:cTn>
                                        <p:tgtEl>
                                          <p:spTgt spid="27"/>
                                        </p:tgtEl>
                                        <p:attrNameLst>
                                          <p:attrName>style.visibility</p:attrName>
                                        </p:attrNameLst>
                                      </p:cBhvr>
                                      <p:to>
                                        <p:strVal val="visible"/>
                                      </p:to>
                                    </p:set>
                                    <p:anim calcmode="lin" valueType="num">
                                      <p:cBhvr additive="base">
                                        <p:cTn id="110" dur="500" fill="hold"/>
                                        <p:tgtEl>
                                          <p:spTgt spid="27"/>
                                        </p:tgtEl>
                                        <p:attrNameLst>
                                          <p:attrName>ppt_w</p:attrName>
                                        </p:attrNameLst>
                                      </p:cBhvr>
                                      <p:tavLst>
                                        <p:tav tm="0">
                                          <p:val>
                                            <p:strVal val="0"/>
                                          </p:val>
                                        </p:tav>
                                        <p:tav tm="100000">
                                          <p:val>
                                            <p:strVal val="#ppt_w"/>
                                          </p:val>
                                        </p:tav>
                                      </p:tavLst>
                                    </p:anim>
                                    <p:anim calcmode="lin" valueType="num">
                                      <p:cBhvr additive="base">
                                        <p:cTn id="111" dur="500" fill="hold"/>
                                        <p:tgtEl>
                                          <p:spTgt spid="27"/>
                                        </p:tgtEl>
                                        <p:attrNameLst>
                                          <p:attrName>ppt_h</p:attrName>
                                        </p:attrNameLst>
                                      </p:cBhvr>
                                      <p:tavLst>
                                        <p:tav tm="0">
                                          <p:val>
                                            <p:strVal val="0"/>
                                          </p:val>
                                        </p:tav>
                                        <p:tav tm="100000">
                                          <p:val>
                                            <p:strVal val="#ppt_h"/>
                                          </p:val>
                                        </p:tav>
                                      </p:tavLst>
                                    </p:anim>
                                    <p:animEffect transition="in" filter="fade">
                                      <p:cBhvr>
                                        <p:cTn id="112" dur="500"/>
                                        <p:tgtEl>
                                          <p:spTgt spid="27"/>
                                        </p:tgtEl>
                                      </p:cBhvr>
                                    </p:animEffect>
                                  </p:childTnLst>
                                </p:cTn>
                              </p:par>
                            </p:childTnLst>
                          </p:cTn>
                        </p:par>
                      </p:childTnLst>
                    </p:cTn>
                  </p:par>
                  <p:par>
                    <p:cTn id="114" fill="hold">
                      <p:stCondLst>
                        <p:cond delay="indefinite"/>
                      </p:stCondLst>
                      <p:childTnLst>
                        <p:par>
                          <p:cTn id="115" fill="hold">
                            <p:stCondLst>
                              <p:cond delay="0"/>
                            </p:stCondLst>
                            <p:childTnLst>
                              <p:par>
                                <p:cTn id="118" presetID="10" presetClass="entr" presetSubtype="0" fill="hold" grpId="0" nodeType="clickEffect">
                                  <p:stCondLst>
                                    <p:cond delay="0"/>
                                  </p:stCondLst>
                                  <p:childTnLst>
                                    <p:set>
                                      <p:cBhvr>
                                        <p:cTn id="116" dur="1" fill="hold">
                                          <p:stCondLst>
                                            <p:cond delay="0"/>
                                          </p:stCondLst>
                                        </p:cTn>
                                        <p:tgtEl>
                                          <p:spTgt spid="29"/>
                                        </p:tgtEl>
                                        <p:attrNameLst>
                                          <p:attrName>style.visibility</p:attrName>
                                        </p:attrNameLst>
                                      </p:cBhvr>
                                      <p:to>
                                        <p:strVal val="visible"/>
                                      </p:to>
                                    </p:set>
                                    <p:animEffect transition="in" filter="fade">
                                      <p:cBhvr>
                                        <p:cTn id="11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686800" cy="320040"/>
          </a:xfrm>
          <a:prstGeom prst="rect">
            <a:avLst/>
          </a:prstGeom>
          <a:noFill/>
          <a:ln/>
        </p:spPr>
        <p:txBody>
          <a:bodyPr wrap="square" lIns="0" tIns="0" rIns="0" bIns="0" rtlCol="0" anchor="t"/>
          <a:lstStyle/>
          <a:p>
            <a:pPr indent="0" marL="0">
              <a:buNone/>
            </a:pPr>
            <a:r>
              <a:rPr lang="en-US" sz="1300" b="1" spc="200" kern="0" dirty="0">
                <a:solidFill>
                  <a:schemeClr val="accent1"/>
                </a:solidFill>
              </a:rPr>
              <a:t>DATABASE DESIGN</a:t>
            </a:r>
            <a:endParaRPr lang="en-US" sz="1300" dirty="0"/>
          </a:p>
        </p:txBody>
      </p:sp>
      <p:sp>
        <p:nvSpPr>
          <p:cNvPr id="3" name="Text 0"/>
          <p:cNvSpPr/>
          <p:nvPr>
            <p:ph idx="101" type="title" hasCustomPrompt="1"/>
          </p:nvPr>
        </p:nvSpPr>
        <p:spPr>
          <a:xfrm>
            <a:off x="548640" y="713232"/>
            <a:ext cx="11091672" cy="822960"/>
          </a:xfrm>
          <a:prstGeom prst="rect">
            <a:avLst/>
          </a:prstGeom>
          <a:noFill/>
          <a:ln/>
        </p:spPr>
        <p:txBody>
          <a:bodyPr wrap="square" lIns="0" tIns="0" rIns="0" bIns="0" rtlCol="0" anchor="t"/>
          <a:lstStyle/>
          <a:p>
            <a:pPr indent="0" marL="0">
              <a:buNone/>
            </a:pPr>
            <a:r>
              <a:rPr lang="en-US" sz="3200" b="1" dirty="0">
                <a:solidFill>
                  <a:schemeClr val="tx1"/>
                </a:solidFill>
              </a:rPr>
              <a:t>Six MySQL tables, created from Java classes</a:t>
            </a:r>
            <a:endParaRPr lang="en-US" sz="3200" dirty="0"/>
          </a:p>
        </p:txBody>
      </p:sp>
      <p:sp>
        <p:nvSpPr>
          <p:cNvPr id="4" name="nav-contents"/>
          <p:cNvSpPr txBox="1"/>
          <p:nvPr/>
        </p:nvSpPr>
        <p:spPr>
          <a:xfrm>
            <a:off x="10451592" y="365760"/>
            <a:ext cx="1188720" cy="292608"/>
          </a:xfrm>
          <a:prstGeom prst="rect">
            <a:avLst/>
          </a:prstGeom>
          <a:noFill/>
          <a:ln/>
        </p:spPr>
        <p:txBody>
          <a:bodyPr wrap="square" lIns="0" tIns="0" rIns="0" bIns="0" rtlCol="0" anchor="ctr"/>
          <a:lstStyle/>
          <a:p>
            <a:pPr algn="r" indent="0" marL="0">
              <a:buNone/>
            </a:pPr>
            <a:r>
              <a:rPr lang="en-US" sz="1100" u="sng" dirty="0">
                <a:solidFill>
                  <a:schemeClr val="accent1"/>
                </a:solidFill>
                <a:hlinkClick r:id="rId1" action="ppaction://hlinksldjump" tooltip="Back to contents">
                  <a:extLst>
                    <a:ext uri="{A12FA001-AC4F-418D-AE19-62706E023703}">
                      <ahyp:hlinkClr xmlns:ahyp="http://schemas.microsoft.com/office/drawing/2018/hyperlinkcolor" val="tx"/>
                    </a:ext>
                  </a:extLst>
                </a:hlinkClick>
              </a:rPr>
              <a:t>Contents ↩</a:t>
            </a:r>
            <a:endParaRPr lang="en-US" sz="1100" dirty="0"/>
          </a:p>
        </p:txBody>
      </p:sp>
      <p:sp>
        <p:nvSpPr>
          <p:cNvPr id="5" name="d0-box"/>
          <p:cNvSpPr/>
          <p:nvPr/>
        </p:nvSpPr>
        <p:spPr>
          <a:xfrm>
            <a:off x="548640" y="1783080"/>
            <a:ext cx="3514039" cy="1261872"/>
          </a:xfrm>
          <a:prstGeom prst="roundRect">
            <a:avLst>
              <a:gd name="adj" fmla="val 8696"/>
            </a:avLst>
          </a:prstGeom>
          <a:solidFill>
            <a:schemeClr val="bg1"/>
          </a:solidFill>
          <a:ln w="25400">
            <a:solidFill>
              <a:schemeClr val="accent1"/>
            </a:solidFill>
            <a:prstDash val="solid"/>
          </a:ln>
        </p:spPr>
      </p:sp>
      <p:sp>
        <p:nvSpPr>
          <p:cNvPr id="6" name="d0-t0"/>
          <p:cNvSpPr txBox="1"/>
          <p:nvPr/>
        </p:nvSpPr>
        <p:spPr>
          <a:xfrm>
            <a:off x="822960" y="2057400"/>
            <a:ext cx="2965399" cy="329184"/>
          </a:xfrm>
          <a:prstGeom prst="rect">
            <a:avLst/>
          </a:prstGeom>
          <a:noFill/>
          <a:ln/>
        </p:spPr>
        <p:txBody>
          <a:bodyPr wrap="square" lIns="0" tIns="0" rIns="0" bIns="0" rtlCol="0" anchor="t"/>
          <a:lstStyle/>
          <a:p>
            <a:pPr indent="0" marL="0">
              <a:lnSpc>
                <a:spcPct val="105000"/>
              </a:lnSpc>
              <a:buNone/>
            </a:pPr>
            <a:r>
              <a:rPr lang="en-US" sz="1600" b="1" dirty="0">
                <a:solidFill>
                  <a:schemeClr val="accent1"/>
                </a:solidFill>
                <a:latin typeface="Courier New" pitchFamily="34" charset="0"/>
                <a:ea typeface="Courier New" pitchFamily="34" charset="-122"/>
                <a:cs typeface="Courier New" pitchFamily="34" charset="-120"/>
              </a:rPr>
              <a:t>cloud_resources</a:t>
            </a:r>
            <a:endParaRPr lang="en-US" sz="1600" dirty="0"/>
          </a:p>
        </p:txBody>
      </p:sp>
      <p:sp>
        <p:nvSpPr>
          <p:cNvPr id="7" name="d0-t1"/>
          <p:cNvSpPr txBox="1"/>
          <p:nvPr/>
        </p:nvSpPr>
        <p:spPr>
          <a:xfrm>
            <a:off x="822960" y="2459736"/>
            <a:ext cx="2965399" cy="548640"/>
          </a:xfrm>
          <a:prstGeom prst="rect">
            <a:avLst/>
          </a:prstGeom>
          <a:noFill/>
          <a:ln/>
        </p:spPr>
        <p:txBody>
          <a:bodyPr wrap="square" lIns="0" tIns="0" rIns="0" bIns="0" rtlCol="0" anchor="t"/>
          <a:lstStyle/>
          <a:p>
            <a:pPr indent="0" marL="0">
              <a:lnSpc>
                <a:spcPct val="105000"/>
              </a:lnSpc>
              <a:buNone/>
            </a:pPr>
            <a:r>
              <a:rPr lang="en-US" sz="1400" dirty="0">
                <a:solidFill>
                  <a:schemeClr val="accent6"/>
                </a:solidFill>
              </a:rPr>
              <a:t>Each server and its latest CPU, memory, disk, network and cost</a:t>
            </a:r>
            <a:endParaRPr lang="en-US" sz="1400" dirty="0"/>
          </a:p>
        </p:txBody>
      </p:sp>
      <p:sp>
        <p:nvSpPr>
          <p:cNvPr id="8" name="d1-box"/>
          <p:cNvSpPr/>
          <p:nvPr/>
        </p:nvSpPr>
        <p:spPr>
          <a:xfrm>
            <a:off x="4336999" y="1783080"/>
            <a:ext cx="3514039" cy="1261872"/>
          </a:xfrm>
          <a:prstGeom prst="roundRect">
            <a:avLst>
              <a:gd name="adj" fmla="val 8696"/>
            </a:avLst>
          </a:prstGeom>
          <a:solidFill>
            <a:schemeClr val="bg1"/>
          </a:solidFill>
          <a:ln w="9525">
            <a:solidFill>
              <a:schemeClr val="accent5"/>
            </a:solidFill>
            <a:prstDash val="solid"/>
          </a:ln>
        </p:spPr>
      </p:sp>
      <p:sp>
        <p:nvSpPr>
          <p:cNvPr id="9" name="d1-t0"/>
          <p:cNvSpPr txBox="1"/>
          <p:nvPr/>
        </p:nvSpPr>
        <p:spPr>
          <a:xfrm>
            <a:off x="4611319" y="2057400"/>
            <a:ext cx="2965399" cy="329184"/>
          </a:xfrm>
          <a:prstGeom prst="rect">
            <a:avLst/>
          </a:prstGeom>
          <a:noFill/>
          <a:ln/>
        </p:spPr>
        <p:txBody>
          <a:bodyPr wrap="square" lIns="0" tIns="0" rIns="0" bIns="0" rtlCol="0" anchor="t"/>
          <a:lstStyle/>
          <a:p>
            <a:pPr indent="0" marL="0">
              <a:lnSpc>
                <a:spcPct val="105000"/>
              </a:lnSpc>
              <a:buNone/>
            </a:pPr>
            <a:r>
              <a:rPr lang="en-US" sz="1600" b="1" dirty="0">
                <a:solidFill>
                  <a:schemeClr val="tx1"/>
                </a:solidFill>
                <a:latin typeface="Courier New" pitchFamily="34" charset="0"/>
                <a:ea typeface="Courier New" pitchFamily="34" charset="-122"/>
                <a:cs typeface="Courier New" pitchFamily="34" charset="-120"/>
              </a:rPr>
              <a:t>metric_snapshots</a:t>
            </a:r>
            <a:endParaRPr lang="en-US" sz="1600" dirty="0"/>
          </a:p>
        </p:txBody>
      </p:sp>
      <p:sp>
        <p:nvSpPr>
          <p:cNvPr id="10" name="d1-t1"/>
          <p:cNvSpPr txBox="1"/>
          <p:nvPr/>
        </p:nvSpPr>
        <p:spPr>
          <a:xfrm>
            <a:off x="4611319" y="2459736"/>
            <a:ext cx="2965399" cy="548640"/>
          </a:xfrm>
          <a:prstGeom prst="rect">
            <a:avLst/>
          </a:prstGeom>
          <a:noFill/>
          <a:ln/>
        </p:spPr>
        <p:txBody>
          <a:bodyPr wrap="square" lIns="0" tIns="0" rIns="0" bIns="0" rtlCol="0" anchor="t"/>
          <a:lstStyle/>
          <a:p>
            <a:pPr indent="0" marL="0">
              <a:lnSpc>
                <a:spcPct val="105000"/>
              </a:lnSpc>
              <a:buNone/>
            </a:pPr>
            <a:r>
              <a:rPr lang="en-US" sz="1400" dirty="0">
                <a:solidFill>
                  <a:schemeClr val="accent6"/>
                </a:solidFill>
              </a:rPr>
              <a:t>History points for charts, kept 24 hours</a:t>
            </a:r>
            <a:endParaRPr lang="en-US" sz="1400" dirty="0"/>
          </a:p>
        </p:txBody>
      </p:sp>
      <p:sp>
        <p:nvSpPr>
          <p:cNvPr id="11" name="d2-box"/>
          <p:cNvSpPr/>
          <p:nvPr/>
        </p:nvSpPr>
        <p:spPr>
          <a:xfrm>
            <a:off x="8125358" y="1783080"/>
            <a:ext cx="3514039" cy="1261872"/>
          </a:xfrm>
          <a:prstGeom prst="roundRect">
            <a:avLst>
              <a:gd name="adj" fmla="val 8696"/>
            </a:avLst>
          </a:prstGeom>
          <a:solidFill>
            <a:schemeClr val="bg1"/>
          </a:solidFill>
          <a:ln w="9525">
            <a:solidFill>
              <a:schemeClr val="accent5"/>
            </a:solidFill>
            <a:prstDash val="solid"/>
          </a:ln>
        </p:spPr>
      </p:sp>
      <p:sp>
        <p:nvSpPr>
          <p:cNvPr id="12" name="d2-t0"/>
          <p:cNvSpPr txBox="1"/>
          <p:nvPr/>
        </p:nvSpPr>
        <p:spPr>
          <a:xfrm>
            <a:off x="8399678" y="2057400"/>
            <a:ext cx="2965399" cy="329184"/>
          </a:xfrm>
          <a:prstGeom prst="rect">
            <a:avLst/>
          </a:prstGeom>
          <a:noFill/>
          <a:ln/>
        </p:spPr>
        <p:txBody>
          <a:bodyPr wrap="square" lIns="0" tIns="0" rIns="0" bIns="0" rtlCol="0" anchor="t"/>
          <a:lstStyle/>
          <a:p>
            <a:pPr indent="0" marL="0">
              <a:lnSpc>
                <a:spcPct val="105000"/>
              </a:lnSpc>
              <a:buNone/>
            </a:pPr>
            <a:r>
              <a:rPr lang="en-US" sz="1600" b="1" dirty="0">
                <a:solidFill>
                  <a:schemeClr val="tx1"/>
                </a:solidFill>
                <a:latin typeface="Courier New" pitchFamily="34" charset="0"/>
                <a:ea typeface="Courier New" pitchFamily="34" charset="-122"/>
                <a:cs typeface="Courier New" pitchFamily="34" charset="-120"/>
              </a:rPr>
              <a:t>alert_rules</a:t>
            </a:r>
            <a:endParaRPr lang="en-US" sz="1600" dirty="0"/>
          </a:p>
        </p:txBody>
      </p:sp>
      <p:sp>
        <p:nvSpPr>
          <p:cNvPr id="13" name="d2-t1"/>
          <p:cNvSpPr txBox="1"/>
          <p:nvPr/>
        </p:nvSpPr>
        <p:spPr>
          <a:xfrm>
            <a:off x="8399678" y="2459736"/>
            <a:ext cx="2965399" cy="548640"/>
          </a:xfrm>
          <a:prstGeom prst="rect">
            <a:avLst/>
          </a:prstGeom>
          <a:noFill/>
          <a:ln/>
        </p:spPr>
        <p:txBody>
          <a:bodyPr wrap="square" lIns="0" tIns="0" rIns="0" bIns="0" rtlCol="0" anchor="t"/>
          <a:lstStyle/>
          <a:p>
            <a:pPr indent="0" marL="0">
              <a:lnSpc>
                <a:spcPct val="105000"/>
              </a:lnSpc>
              <a:buNone/>
            </a:pPr>
            <a:r>
              <a:rPr lang="en-US" sz="1400" dirty="0">
                <a:solidFill>
                  <a:schemeClr val="accent6"/>
                </a:solidFill>
              </a:rPr>
              <a:t>Conditions such as CPU above 95 is critical</a:t>
            </a:r>
            <a:endParaRPr lang="en-US" sz="1400" dirty="0"/>
          </a:p>
        </p:txBody>
      </p:sp>
      <p:sp>
        <p:nvSpPr>
          <p:cNvPr id="14" name="d3-box"/>
          <p:cNvSpPr/>
          <p:nvPr/>
        </p:nvSpPr>
        <p:spPr>
          <a:xfrm>
            <a:off x="548640" y="3246120"/>
            <a:ext cx="3514039" cy="1261872"/>
          </a:xfrm>
          <a:prstGeom prst="roundRect">
            <a:avLst>
              <a:gd name="adj" fmla="val 8696"/>
            </a:avLst>
          </a:prstGeom>
          <a:solidFill>
            <a:schemeClr val="bg1"/>
          </a:solidFill>
          <a:ln w="9525">
            <a:solidFill>
              <a:schemeClr val="accent5"/>
            </a:solidFill>
            <a:prstDash val="solid"/>
          </a:ln>
        </p:spPr>
      </p:sp>
      <p:sp>
        <p:nvSpPr>
          <p:cNvPr id="15" name="d3-t0"/>
          <p:cNvSpPr txBox="1"/>
          <p:nvPr/>
        </p:nvSpPr>
        <p:spPr>
          <a:xfrm>
            <a:off x="822960" y="3520440"/>
            <a:ext cx="2965399" cy="329184"/>
          </a:xfrm>
          <a:prstGeom prst="rect">
            <a:avLst/>
          </a:prstGeom>
          <a:noFill/>
          <a:ln/>
        </p:spPr>
        <p:txBody>
          <a:bodyPr wrap="square" lIns="0" tIns="0" rIns="0" bIns="0" rtlCol="0" anchor="t"/>
          <a:lstStyle/>
          <a:p>
            <a:pPr indent="0" marL="0">
              <a:lnSpc>
                <a:spcPct val="105000"/>
              </a:lnSpc>
              <a:buNone/>
            </a:pPr>
            <a:r>
              <a:rPr lang="en-US" sz="1600" b="1" dirty="0">
                <a:solidFill>
                  <a:schemeClr val="tx1"/>
                </a:solidFill>
                <a:latin typeface="Courier New" pitchFamily="34" charset="0"/>
                <a:ea typeface="Courier New" pitchFamily="34" charset="-122"/>
                <a:cs typeface="Courier New" pitchFamily="34" charset="-120"/>
              </a:rPr>
              <a:t>alerts</a:t>
            </a:r>
            <a:endParaRPr lang="en-US" sz="1600" dirty="0"/>
          </a:p>
        </p:txBody>
      </p:sp>
      <p:sp>
        <p:nvSpPr>
          <p:cNvPr id="16" name="d3-t1"/>
          <p:cNvSpPr txBox="1"/>
          <p:nvPr/>
        </p:nvSpPr>
        <p:spPr>
          <a:xfrm>
            <a:off x="822960" y="3922776"/>
            <a:ext cx="2965399" cy="548640"/>
          </a:xfrm>
          <a:prstGeom prst="rect">
            <a:avLst/>
          </a:prstGeom>
          <a:noFill/>
          <a:ln/>
        </p:spPr>
        <p:txBody>
          <a:bodyPr wrap="square" lIns="0" tIns="0" rIns="0" bIns="0" rtlCol="0" anchor="t"/>
          <a:lstStyle/>
          <a:p>
            <a:pPr indent="0" marL="0">
              <a:lnSpc>
                <a:spcPct val="105000"/>
              </a:lnSpc>
              <a:buNone/>
            </a:pPr>
            <a:r>
              <a:rPr lang="en-US" sz="1400" dirty="0">
                <a:solidFill>
                  <a:schemeClr val="accent6"/>
                </a:solidFill>
              </a:rPr>
              <a:t>Every alert that fired, and who acknowledged it</a:t>
            </a:r>
            <a:endParaRPr lang="en-US" sz="1400" dirty="0"/>
          </a:p>
        </p:txBody>
      </p:sp>
      <p:sp>
        <p:nvSpPr>
          <p:cNvPr id="17" name="d4-box"/>
          <p:cNvSpPr/>
          <p:nvPr/>
        </p:nvSpPr>
        <p:spPr>
          <a:xfrm>
            <a:off x="4336999" y="3246120"/>
            <a:ext cx="3514039" cy="1261872"/>
          </a:xfrm>
          <a:prstGeom prst="roundRect">
            <a:avLst>
              <a:gd name="adj" fmla="val 8696"/>
            </a:avLst>
          </a:prstGeom>
          <a:solidFill>
            <a:schemeClr val="bg1"/>
          </a:solidFill>
          <a:ln w="9525">
            <a:solidFill>
              <a:schemeClr val="accent5"/>
            </a:solidFill>
            <a:prstDash val="solid"/>
          </a:ln>
        </p:spPr>
      </p:sp>
      <p:sp>
        <p:nvSpPr>
          <p:cNvPr id="18" name="d4-t0"/>
          <p:cNvSpPr txBox="1"/>
          <p:nvPr/>
        </p:nvSpPr>
        <p:spPr>
          <a:xfrm>
            <a:off x="4611319" y="3520440"/>
            <a:ext cx="2965399" cy="329184"/>
          </a:xfrm>
          <a:prstGeom prst="rect">
            <a:avLst/>
          </a:prstGeom>
          <a:noFill/>
          <a:ln/>
        </p:spPr>
        <p:txBody>
          <a:bodyPr wrap="square" lIns="0" tIns="0" rIns="0" bIns="0" rtlCol="0" anchor="t"/>
          <a:lstStyle/>
          <a:p>
            <a:pPr indent="0" marL="0">
              <a:lnSpc>
                <a:spcPct val="105000"/>
              </a:lnSpc>
              <a:buNone/>
            </a:pPr>
            <a:r>
              <a:rPr lang="en-US" sz="1600" b="1" dirty="0">
                <a:solidFill>
                  <a:schemeClr val="tx1"/>
                </a:solidFill>
                <a:latin typeface="Courier New" pitchFamily="34" charset="0"/>
                <a:ea typeface="Courier New" pitchFamily="34" charset="-122"/>
                <a:cs typeface="Courier New" pitchFamily="34" charset="-120"/>
              </a:rPr>
              <a:t>app_users</a:t>
            </a:r>
            <a:endParaRPr lang="en-US" sz="1600" dirty="0"/>
          </a:p>
        </p:txBody>
      </p:sp>
      <p:sp>
        <p:nvSpPr>
          <p:cNvPr id="19" name="d4-t1"/>
          <p:cNvSpPr txBox="1"/>
          <p:nvPr/>
        </p:nvSpPr>
        <p:spPr>
          <a:xfrm>
            <a:off x="4611319" y="3922776"/>
            <a:ext cx="2965399" cy="548640"/>
          </a:xfrm>
          <a:prstGeom prst="rect">
            <a:avLst/>
          </a:prstGeom>
          <a:noFill/>
          <a:ln/>
        </p:spPr>
        <p:txBody>
          <a:bodyPr wrap="square" lIns="0" tIns="0" rIns="0" bIns="0" rtlCol="0" anchor="t"/>
          <a:lstStyle/>
          <a:p>
            <a:pPr indent="0" marL="0">
              <a:lnSpc>
                <a:spcPct val="105000"/>
              </a:lnSpc>
              <a:buNone/>
            </a:pPr>
            <a:r>
              <a:rPr lang="en-US" sz="1400" dirty="0">
                <a:solidFill>
                  <a:schemeClr val="accent6"/>
                </a:solidFill>
              </a:rPr>
              <a:t>Logins with BCrypt passwords and a role</a:t>
            </a:r>
            <a:endParaRPr lang="en-US" sz="1400" dirty="0"/>
          </a:p>
        </p:txBody>
      </p:sp>
      <p:sp>
        <p:nvSpPr>
          <p:cNvPr id="20" name="d5-box"/>
          <p:cNvSpPr/>
          <p:nvPr/>
        </p:nvSpPr>
        <p:spPr>
          <a:xfrm>
            <a:off x="8125358" y="3246120"/>
            <a:ext cx="3514039" cy="1261872"/>
          </a:xfrm>
          <a:prstGeom prst="roundRect">
            <a:avLst>
              <a:gd name="adj" fmla="val 8696"/>
            </a:avLst>
          </a:prstGeom>
          <a:solidFill>
            <a:schemeClr val="bg1"/>
          </a:solidFill>
          <a:ln w="9525">
            <a:solidFill>
              <a:schemeClr val="accent5"/>
            </a:solidFill>
            <a:prstDash val="solid"/>
          </a:ln>
        </p:spPr>
      </p:sp>
      <p:sp>
        <p:nvSpPr>
          <p:cNvPr id="21" name="d5-t0"/>
          <p:cNvSpPr txBox="1"/>
          <p:nvPr/>
        </p:nvSpPr>
        <p:spPr>
          <a:xfrm>
            <a:off x="8399678" y="3520440"/>
            <a:ext cx="2965399" cy="329184"/>
          </a:xfrm>
          <a:prstGeom prst="rect">
            <a:avLst/>
          </a:prstGeom>
          <a:noFill/>
          <a:ln/>
        </p:spPr>
        <p:txBody>
          <a:bodyPr wrap="square" lIns="0" tIns="0" rIns="0" bIns="0" rtlCol="0" anchor="t"/>
          <a:lstStyle/>
          <a:p>
            <a:pPr indent="0" marL="0">
              <a:lnSpc>
                <a:spcPct val="105000"/>
              </a:lnSpc>
              <a:buNone/>
            </a:pPr>
            <a:r>
              <a:rPr lang="en-US" sz="1600" b="1" dirty="0">
                <a:solidFill>
                  <a:schemeClr val="tx1"/>
                </a:solidFill>
                <a:latin typeface="Courier New" pitchFamily="34" charset="0"/>
                <a:ea typeface="Courier New" pitchFamily="34" charset="-122"/>
                <a:cs typeface="Courier New" pitchFamily="34" charset="-120"/>
              </a:rPr>
              <a:t>app_settings</a:t>
            </a:r>
            <a:endParaRPr lang="en-US" sz="1600" dirty="0"/>
          </a:p>
        </p:txBody>
      </p:sp>
      <p:sp>
        <p:nvSpPr>
          <p:cNvPr id="22" name="d5-t1"/>
          <p:cNvSpPr txBox="1"/>
          <p:nvPr/>
        </p:nvSpPr>
        <p:spPr>
          <a:xfrm>
            <a:off x="8399678" y="3922776"/>
            <a:ext cx="2965399" cy="548640"/>
          </a:xfrm>
          <a:prstGeom prst="rect">
            <a:avLst/>
          </a:prstGeom>
          <a:noFill/>
          <a:ln/>
        </p:spPr>
        <p:txBody>
          <a:bodyPr wrap="square" lIns="0" tIns="0" rIns="0" bIns="0" rtlCol="0" anchor="t"/>
          <a:lstStyle/>
          <a:p>
            <a:pPr indent="0" marL="0">
              <a:lnSpc>
                <a:spcPct val="105000"/>
              </a:lnSpc>
              <a:buNone/>
            </a:pPr>
            <a:r>
              <a:rPr lang="en-US" sz="1400" dirty="0">
                <a:solidFill>
                  <a:schemeClr val="accent6"/>
                </a:solidFill>
              </a:rPr>
              <a:t>Budget and email settings changed at runtime</a:t>
            </a:r>
            <a:endParaRPr lang="en-US" sz="1400" dirty="0"/>
          </a:p>
        </p:txBody>
      </p:sp>
      <p:sp>
        <p:nvSpPr>
          <p:cNvPr id="23" name="d-note"/>
          <p:cNvSpPr txBox="1"/>
          <p:nvPr/>
        </p:nvSpPr>
        <p:spPr>
          <a:xfrm>
            <a:off x="548640" y="4846320"/>
            <a:ext cx="11091672" cy="548640"/>
          </a:xfrm>
          <a:prstGeom prst="rect">
            <a:avLst/>
          </a:prstGeom>
          <a:noFill/>
          <a:ln/>
        </p:spPr>
        <p:txBody>
          <a:bodyPr wrap="square" lIns="0" tIns="0" rIns="0" bIns="0" rtlCol="0" anchor="ctr"/>
          <a:lstStyle/>
          <a:p>
            <a:pPr indent="0" marL="0">
              <a:buNone/>
            </a:pPr>
            <a:r>
              <a:rPr lang="en-US" sz="1700" dirty="0">
                <a:solidFill>
                  <a:schemeClr val="tx1"/>
                </a:solidFill>
              </a:rPr>
              <a:t>One resource has many history points, rules and alerts; one rule has many alerts. Data survives restarts.</a:t>
            </a:r>
            <a:endParaRPr lang="en-US" sz="17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5568"/>
                </a:solidFill>
              </a:defRPr>
            </a:lvl1pPr>
          </a:lstStyle>
          <a:p>
            <a:pPr algn="r"/>
            <a:fld id="{F7021451-1387-4CA6-816F-3879F97B5CBC}" type="slidenum">
              <a:rPr b="0" lang="en-US"/>
              <a:t>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additive="base">
                                        <p:cTn id="6" dur="500" fill="hold"/>
                                        <p:tgtEl>
                                          <p:spTgt spid="5"/>
                                        </p:tgtEl>
                                        <p:attrNameLst>
                                          <p:attrName>ppt_w</p:attrName>
                                        </p:attrNameLst>
                                      </p:cBhvr>
                                      <p:tavLst>
                                        <p:tav tm="0">
                                          <p:val>
                                            <p:strVal val="0"/>
                                          </p:val>
                                        </p:tav>
                                        <p:tav tm="100000">
                                          <p:val>
                                            <p:strVal val="#ppt_w"/>
                                          </p:val>
                                        </p:tav>
                                      </p:tavLst>
                                    </p:anim>
                                    <p:anim calcmode="lin" valueType="num">
                                      <p:cBhvr additive="base">
                                        <p:cTn id="7" dur="500" fill="hold"/>
                                        <p:tgtEl>
                                          <p:spTgt spid="5"/>
                                        </p:tgtEl>
                                        <p:attrNameLst>
                                          <p:attrName>ppt_h</p:attrName>
                                        </p:attrNameLst>
                                      </p:cBhvr>
                                      <p:tavLst>
                                        <p:tav tm="0">
                                          <p:val>
                                            <p:strVal val="0"/>
                                          </p:val>
                                        </p:tav>
                                        <p:tav tm="100000">
                                          <p:val>
                                            <p:strVal val="#ppt_h"/>
                                          </p:val>
                                        </p:tav>
                                      </p:tavLst>
                                    </p:anim>
                                    <p:animEffect transition="in" filter="fade">
                                      <p:cBhvr>
                                        <p:cTn id="8" dur="500"/>
                                        <p:tgtEl>
                                          <p:spTgt spid="5"/>
                                        </p:tgtEl>
                                      </p:cBhvr>
                                    </p:animEffect>
                                  </p:childTnLst>
                                </p:cTn>
                              </p:par>
                              <p:par>
                                <p:cTn id="14" presetID="53" presetClass="entr" presetSubtype="16"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ppt_w</p:attrName>
                                        </p:attrNameLst>
                                      </p:cBhvr>
                                      <p:tavLst>
                                        <p:tav tm="0">
                                          <p:val>
                                            <p:strVal val="0"/>
                                          </p:val>
                                        </p:tav>
                                        <p:tav tm="100000">
                                          <p:val>
                                            <p:strVal val="#ppt_w"/>
                                          </p:val>
                                        </p:tav>
                                      </p:tavLst>
                                    </p:anim>
                                    <p:anim calcmode="lin" valueType="num">
                                      <p:cBhvr additive="base">
                                        <p:cTn id="12" dur="500" fill="hold"/>
                                        <p:tgtEl>
                                          <p:spTgt spid="6"/>
                                        </p:tgtEl>
                                        <p:attrNameLst>
                                          <p:attrName>ppt_h</p:attrName>
                                        </p:attrNameLst>
                                      </p:cBhvr>
                                      <p:tavLst>
                                        <p:tav tm="0">
                                          <p:val>
                                            <p:strVal val="0"/>
                                          </p:val>
                                        </p:tav>
                                        <p:tav tm="100000">
                                          <p:val>
                                            <p:strVal val="#ppt_h"/>
                                          </p:val>
                                        </p:tav>
                                      </p:tavLst>
                                    </p:anim>
                                    <p:animEffect transition="in" filter="fade">
                                      <p:cBhvr>
                                        <p:cTn id="13" dur="500"/>
                                        <p:tgtEl>
                                          <p:spTgt spid="6"/>
                                        </p:tgtEl>
                                      </p:cBhvr>
                                    </p:animEffect>
                                  </p:childTnLst>
                                </p:cTn>
                              </p:par>
                              <p:par>
                                <p:cTn id="19" presetID="53" presetClass="entr" presetSubtype="16"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additive="base">
                                        <p:cTn id="16" dur="500" fill="hold"/>
                                        <p:tgtEl>
                                          <p:spTgt spid="7"/>
                                        </p:tgtEl>
                                        <p:attrNameLst>
                                          <p:attrName>ppt_w</p:attrName>
                                        </p:attrNameLst>
                                      </p:cBhvr>
                                      <p:tavLst>
                                        <p:tav tm="0">
                                          <p:val>
                                            <p:strVal val="0"/>
                                          </p:val>
                                        </p:tav>
                                        <p:tav tm="100000">
                                          <p:val>
                                            <p:strVal val="#ppt_w"/>
                                          </p:val>
                                        </p:tav>
                                      </p:tavLst>
                                    </p:anim>
                                    <p:anim calcmode="lin" valueType="num">
                                      <p:cBhvr additive="base">
                                        <p:cTn id="17" dur="500" fill="hold"/>
                                        <p:tgtEl>
                                          <p:spTgt spid="7"/>
                                        </p:tgtEl>
                                        <p:attrNameLst>
                                          <p:attrName>ppt_h</p:attrName>
                                        </p:attrNameLst>
                                      </p:cBhvr>
                                      <p:tavLst>
                                        <p:tav tm="0">
                                          <p:val>
                                            <p:strVal val="0"/>
                                          </p:val>
                                        </p:tav>
                                        <p:tav tm="100000">
                                          <p:val>
                                            <p:strVal val="#ppt_h"/>
                                          </p:val>
                                        </p:tav>
                                      </p:tavLst>
                                    </p:anim>
                                    <p:animEffect transition="in" filter="fade">
                                      <p:cBhvr>
                                        <p:cTn id="18"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6" presetID="42"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600"/>
                                        <p:tgtEl>
                                          <p:spTgt spid="8"/>
                                        </p:tgtEl>
                                      </p:cBhvr>
                                    </p:animEffect>
                                    <p:anim calcmode="lin" valueType="num">
                                      <p:cBhvr additive="base">
                                        <p:cTn id="24" dur="600" fill="hold"/>
                                        <p:tgtEl>
                                          <p:spTgt spid="8"/>
                                        </p:tgtEl>
                                        <p:attrNameLst>
                                          <p:attrName>ppt_x</p:attrName>
                                        </p:attrNameLst>
                                      </p:cBhvr>
                                      <p:tavLst>
                                        <p:tav tm="0">
                                          <p:val>
                                            <p:strVal val="#ppt_x"/>
                                          </p:val>
                                        </p:tav>
                                        <p:tav tm="100000">
                                          <p:val>
                                            <p:strVal val="#ppt_x"/>
                                          </p:val>
                                        </p:tav>
                                      </p:tavLst>
                                    </p:anim>
                                    <p:anim calcmode="lin" valueType="num">
                                      <p:cBhvr additive="base">
                                        <p:cTn id="25" dur="600" fill="hold"/>
                                        <p:tgtEl>
                                          <p:spTgt spid="8"/>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600"/>
                                        <p:tgtEl>
                                          <p:spTgt spid="9"/>
                                        </p:tgtEl>
                                      </p:cBhvr>
                                    </p:animEffect>
                                    <p:anim calcmode="lin" valueType="num">
                                      <p:cBhvr additive="base">
                                        <p:cTn id="29" dur="600" fill="hold"/>
                                        <p:tgtEl>
                                          <p:spTgt spid="9"/>
                                        </p:tgtEl>
                                        <p:attrNameLst>
                                          <p:attrName>ppt_x</p:attrName>
                                        </p:attrNameLst>
                                      </p:cBhvr>
                                      <p:tavLst>
                                        <p:tav tm="0">
                                          <p:val>
                                            <p:strVal val="#ppt_x"/>
                                          </p:val>
                                        </p:tav>
                                        <p:tav tm="100000">
                                          <p:val>
                                            <p:strVal val="#ppt_x"/>
                                          </p:val>
                                        </p:tav>
                                      </p:tavLst>
                                    </p:anim>
                                    <p:anim calcmode="lin" valueType="num">
                                      <p:cBhvr additive="base">
                                        <p:cTn id="30" dur="600" fill="hold"/>
                                        <p:tgtEl>
                                          <p:spTgt spid="9"/>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600"/>
                                        <p:tgtEl>
                                          <p:spTgt spid="10"/>
                                        </p:tgtEl>
                                      </p:cBhvr>
                                    </p:animEffect>
                                    <p:anim calcmode="lin" valueType="num">
                                      <p:cBhvr additive="base">
                                        <p:cTn id="34" dur="600" fill="hold"/>
                                        <p:tgtEl>
                                          <p:spTgt spid="10"/>
                                        </p:tgtEl>
                                        <p:attrNameLst>
                                          <p:attrName>ppt_x</p:attrName>
                                        </p:attrNameLst>
                                      </p:cBhvr>
                                      <p:tavLst>
                                        <p:tav tm="0">
                                          <p:val>
                                            <p:strVal val="#ppt_x"/>
                                          </p:val>
                                        </p:tav>
                                        <p:tav tm="100000">
                                          <p:val>
                                            <p:strVal val="#ppt_x"/>
                                          </p:val>
                                        </p:tav>
                                      </p:tavLst>
                                    </p:anim>
                                    <p:anim calcmode="lin" valueType="num">
                                      <p:cBhvr additive="base">
                                        <p:cTn id="35" dur="600" fill="hold"/>
                                        <p:tgtEl>
                                          <p:spTgt spid="10"/>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600"/>
                                        <p:tgtEl>
                                          <p:spTgt spid="11"/>
                                        </p:tgtEl>
                                      </p:cBhvr>
                                    </p:animEffect>
                                    <p:anim calcmode="lin" valueType="num">
                                      <p:cBhvr additive="base">
                                        <p:cTn id="39" dur="600" fill="hold"/>
                                        <p:tgtEl>
                                          <p:spTgt spid="11"/>
                                        </p:tgtEl>
                                        <p:attrNameLst>
                                          <p:attrName>ppt_x</p:attrName>
                                        </p:attrNameLst>
                                      </p:cBhvr>
                                      <p:tavLst>
                                        <p:tav tm="0">
                                          <p:val>
                                            <p:strVal val="#ppt_x"/>
                                          </p:val>
                                        </p:tav>
                                        <p:tav tm="100000">
                                          <p:val>
                                            <p:strVal val="#ppt_x"/>
                                          </p:val>
                                        </p:tav>
                                      </p:tavLst>
                                    </p:anim>
                                    <p:anim calcmode="lin" valueType="num">
                                      <p:cBhvr additive="base">
                                        <p:cTn id="40" dur="600" fill="hold"/>
                                        <p:tgtEl>
                                          <p:spTgt spid="11"/>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600"/>
                                        <p:tgtEl>
                                          <p:spTgt spid="12"/>
                                        </p:tgtEl>
                                      </p:cBhvr>
                                    </p:animEffect>
                                    <p:anim calcmode="lin" valueType="num">
                                      <p:cBhvr additive="base">
                                        <p:cTn id="44" dur="600" fill="hold"/>
                                        <p:tgtEl>
                                          <p:spTgt spid="12"/>
                                        </p:tgtEl>
                                        <p:attrNameLst>
                                          <p:attrName>ppt_x</p:attrName>
                                        </p:attrNameLst>
                                      </p:cBhvr>
                                      <p:tavLst>
                                        <p:tav tm="0">
                                          <p:val>
                                            <p:strVal val="#ppt_x"/>
                                          </p:val>
                                        </p:tav>
                                        <p:tav tm="100000">
                                          <p:val>
                                            <p:strVal val="#ppt_x"/>
                                          </p:val>
                                        </p:tav>
                                      </p:tavLst>
                                    </p:anim>
                                    <p:anim calcmode="lin" valueType="num">
                                      <p:cBhvr additive="base">
                                        <p:cTn id="45" dur="600" fill="hold"/>
                                        <p:tgtEl>
                                          <p:spTgt spid="12"/>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600"/>
                                        <p:tgtEl>
                                          <p:spTgt spid="13"/>
                                        </p:tgtEl>
                                      </p:cBhvr>
                                    </p:animEffect>
                                    <p:anim calcmode="lin" valueType="num">
                                      <p:cBhvr additive="base">
                                        <p:cTn id="49" dur="600" fill="hold"/>
                                        <p:tgtEl>
                                          <p:spTgt spid="13"/>
                                        </p:tgtEl>
                                        <p:attrNameLst>
                                          <p:attrName>ppt_x</p:attrName>
                                        </p:attrNameLst>
                                      </p:cBhvr>
                                      <p:tavLst>
                                        <p:tav tm="0">
                                          <p:val>
                                            <p:strVal val="#ppt_x"/>
                                          </p:val>
                                        </p:tav>
                                        <p:tav tm="100000">
                                          <p:val>
                                            <p:strVal val="#ppt_x"/>
                                          </p:val>
                                        </p:tav>
                                      </p:tavLst>
                                    </p:anim>
                                    <p:anim calcmode="lin" valueType="num">
                                      <p:cBhvr additive="base">
                                        <p:cTn id="50" dur="6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8" presetID="42" presetClass="entr" presetSubtype="0" fill="hold" grpId="0" nodeType="clickEffect">
                                  <p:stCondLst>
                                    <p:cond delay="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600"/>
                                        <p:tgtEl>
                                          <p:spTgt spid="14"/>
                                        </p:tgtEl>
                                      </p:cBhvr>
                                    </p:animEffect>
                                    <p:anim calcmode="lin" valueType="num">
                                      <p:cBhvr additive="base">
                                        <p:cTn id="56" dur="600" fill="hold"/>
                                        <p:tgtEl>
                                          <p:spTgt spid="14"/>
                                        </p:tgtEl>
                                        <p:attrNameLst>
                                          <p:attrName>ppt_x</p:attrName>
                                        </p:attrNameLst>
                                      </p:cBhvr>
                                      <p:tavLst>
                                        <p:tav tm="0">
                                          <p:val>
                                            <p:strVal val="#ppt_x"/>
                                          </p:val>
                                        </p:tav>
                                        <p:tav tm="100000">
                                          <p:val>
                                            <p:strVal val="#ppt_x"/>
                                          </p:val>
                                        </p:tav>
                                      </p:tavLst>
                                    </p:anim>
                                    <p:anim calcmode="lin" valueType="num">
                                      <p:cBhvr additive="base">
                                        <p:cTn id="57" dur="600" fill="hold"/>
                                        <p:tgtEl>
                                          <p:spTgt spid="14"/>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600"/>
                                        <p:tgtEl>
                                          <p:spTgt spid="15"/>
                                        </p:tgtEl>
                                      </p:cBhvr>
                                    </p:animEffect>
                                    <p:anim calcmode="lin" valueType="num">
                                      <p:cBhvr additive="base">
                                        <p:cTn id="61" dur="600" fill="hold"/>
                                        <p:tgtEl>
                                          <p:spTgt spid="15"/>
                                        </p:tgtEl>
                                        <p:attrNameLst>
                                          <p:attrName>ppt_x</p:attrName>
                                        </p:attrNameLst>
                                      </p:cBhvr>
                                      <p:tavLst>
                                        <p:tav tm="0">
                                          <p:val>
                                            <p:strVal val="#ppt_x"/>
                                          </p:val>
                                        </p:tav>
                                        <p:tav tm="100000">
                                          <p:val>
                                            <p:strVal val="#ppt_x"/>
                                          </p:val>
                                        </p:tav>
                                      </p:tavLst>
                                    </p:anim>
                                    <p:anim calcmode="lin" valueType="num">
                                      <p:cBhvr additive="base">
                                        <p:cTn id="62" dur="600" fill="hold"/>
                                        <p:tgtEl>
                                          <p:spTgt spid="15"/>
                                        </p:tgtEl>
                                        <p:attrNameLst>
                                          <p:attrName>ppt_y</p:attrName>
                                        </p:attrNameLst>
                                      </p:cBhvr>
                                      <p:tavLst>
                                        <p:tav tm="0">
                                          <p:val>
                                            <p:strVal val="#ppt_y+.1"/>
                                          </p:val>
                                        </p:tav>
                                        <p:tav tm="100000">
                                          <p:val>
                                            <p:strVal val="#ppt_y"/>
                                          </p:val>
                                        </p:tav>
                                      </p:tavLst>
                                    </p:anim>
                                  </p:childTnLst>
                                </p:cTn>
                              </p:par>
                              <p:par>
                                <p:cTn id="68" presetID="42" presetClass="entr" presetSubtype="0" fill="hold" grpId="0" nodeType="withEffect">
                                  <p:stCondLst>
                                    <p:cond delay="0"/>
                                  </p:stCondLst>
                                  <p:childTnLst>
                                    <p:set>
                                      <p:cBhvr>
                                        <p:cTn id="64" dur="1" fill="hold">
                                          <p:stCondLst>
                                            <p:cond delay="0"/>
                                          </p:stCondLst>
                                        </p:cTn>
                                        <p:tgtEl>
                                          <p:spTgt spid="16"/>
                                        </p:tgtEl>
                                        <p:attrNameLst>
                                          <p:attrName>style.visibility</p:attrName>
                                        </p:attrNameLst>
                                      </p:cBhvr>
                                      <p:to>
                                        <p:strVal val="visible"/>
                                      </p:to>
                                    </p:set>
                                    <p:animEffect transition="in" filter="fade">
                                      <p:cBhvr>
                                        <p:cTn id="65" dur="600"/>
                                        <p:tgtEl>
                                          <p:spTgt spid="16"/>
                                        </p:tgtEl>
                                      </p:cBhvr>
                                    </p:animEffect>
                                    <p:anim calcmode="lin" valueType="num">
                                      <p:cBhvr additive="base">
                                        <p:cTn id="66" dur="600" fill="hold"/>
                                        <p:tgtEl>
                                          <p:spTgt spid="16"/>
                                        </p:tgtEl>
                                        <p:attrNameLst>
                                          <p:attrName>ppt_x</p:attrName>
                                        </p:attrNameLst>
                                      </p:cBhvr>
                                      <p:tavLst>
                                        <p:tav tm="0">
                                          <p:val>
                                            <p:strVal val="#ppt_x"/>
                                          </p:val>
                                        </p:tav>
                                        <p:tav tm="100000">
                                          <p:val>
                                            <p:strVal val="#ppt_x"/>
                                          </p:val>
                                        </p:tav>
                                      </p:tavLst>
                                    </p:anim>
                                    <p:anim calcmode="lin" valueType="num">
                                      <p:cBhvr additive="base">
                                        <p:cTn id="67" dur="600" fill="hold"/>
                                        <p:tgtEl>
                                          <p:spTgt spid="16"/>
                                        </p:tgtEl>
                                        <p:attrNameLst>
                                          <p:attrName>ppt_y</p:attrName>
                                        </p:attrNameLst>
                                      </p:cBhvr>
                                      <p:tavLst>
                                        <p:tav tm="0">
                                          <p:val>
                                            <p:strVal val="#ppt_y+.1"/>
                                          </p:val>
                                        </p:tav>
                                        <p:tav tm="100000">
                                          <p:val>
                                            <p:strVal val="#ppt_y"/>
                                          </p:val>
                                        </p:tav>
                                      </p:tavLst>
                                    </p:anim>
                                  </p:childTnLst>
                                </p:cTn>
                              </p:par>
                              <p:par>
                                <p:cTn id="73" presetID="42" presetClass="entr" presetSubtype="0" fill="hold" grpId="0" nodeType="withEffect">
                                  <p:stCondLst>
                                    <p:cond delay="0"/>
                                  </p:stCondLst>
                                  <p:childTnLst>
                                    <p:set>
                                      <p:cBhvr>
                                        <p:cTn id="69" dur="1" fill="hold">
                                          <p:stCondLst>
                                            <p:cond delay="0"/>
                                          </p:stCondLst>
                                        </p:cTn>
                                        <p:tgtEl>
                                          <p:spTgt spid="17"/>
                                        </p:tgtEl>
                                        <p:attrNameLst>
                                          <p:attrName>style.visibility</p:attrName>
                                        </p:attrNameLst>
                                      </p:cBhvr>
                                      <p:to>
                                        <p:strVal val="visible"/>
                                      </p:to>
                                    </p:set>
                                    <p:animEffect transition="in" filter="fade">
                                      <p:cBhvr>
                                        <p:cTn id="70" dur="600"/>
                                        <p:tgtEl>
                                          <p:spTgt spid="17"/>
                                        </p:tgtEl>
                                      </p:cBhvr>
                                    </p:animEffect>
                                    <p:anim calcmode="lin" valueType="num">
                                      <p:cBhvr additive="base">
                                        <p:cTn id="71" dur="600" fill="hold"/>
                                        <p:tgtEl>
                                          <p:spTgt spid="17"/>
                                        </p:tgtEl>
                                        <p:attrNameLst>
                                          <p:attrName>ppt_x</p:attrName>
                                        </p:attrNameLst>
                                      </p:cBhvr>
                                      <p:tavLst>
                                        <p:tav tm="0">
                                          <p:val>
                                            <p:strVal val="#ppt_x"/>
                                          </p:val>
                                        </p:tav>
                                        <p:tav tm="100000">
                                          <p:val>
                                            <p:strVal val="#ppt_x"/>
                                          </p:val>
                                        </p:tav>
                                      </p:tavLst>
                                    </p:anim>
                                    <p:anim calcmode="lin" valueType="num">
                                      <p:cBhvr additive="base">
                                        <p:cTn id="72" dur="600" fill="hold"/>
                                        <p:tgtEl>
                                          <p:spTgt spid="17"/>
                                        </p:tgtEl>
                                        <p:attrNameLst>
                                          <p:attrName>ppt_y</p:attrName>
                                        </p:attrNameLst>
                                      </p:cBhvr>
                                      <p:tavLst>
                                        <p:tav tm="0">
                                          <p:val>
                                            <p:strVal val="#ppt_y+.1"/>
                                          </p:val>
                                        </p:tav>
                                        <p:tav tm="100000">
                                          <p:val>
                                            <p:strVal val="#ppt_y"/>
                                          </p:val>
                                        </p:tav>
                                      </p:tavLst>
                                    </p:anim>
                                  </p:childTnLst>
                                </p:cTn>
                              </p:par>
                              <p:par>
                                <p:cTn id="78" presetID="42" presetClass="entr" presetSubtype="0" fill="hold" grpId="0" nodeType="withEffect">
                                  <p:stCondLst>
                                    <p:cond delay="0"/>
                                  </p:stCondLst>
                                  <p:childTnLst>
                                    <p:set>
                                      <p:cBhvr>
                                        <p:cTn id="74" dur="1" fill="hold">
                                          <p:stCondLst>
                                            <p:cond delay="0"/>
                                          </p:stCondLst>
                                        </p:cTn>
                                        <p:tgtEl>
                                          <p:spTgt spid="18"/>
                                        </p:tgtEl>
                                        <p:attrNameLst>
                                          <p:attrName>style.visibility</p:attrName>
                                        </p:attrNameLst>
                                      </p:cBhvr>
                                      <p:to>
                                        <p:strVal val="visible"/>
                                      </p:to>
                                    </p:set>
                                    <p:animEffect transition="in" filter="fade">
                                      <p:cBhvr>
                                        <p:cTn id="75" dur="600"/>
                                        <p:tgtEl>
                                          <p:spTgt spid="18"/>
                                        </p:tgtEl>
                                      </p:cBhvr>
                                    </p:animEffect>
                                    <p:anim calcmode="lin" valueType="num">
                                      <p:cBhvr additive="base">
                                        <p:cTn id="76" dur="600" fill="hold"/>
                                        <p:tgtEl>
                                          <p:spTgt spid="18"/>
                                        </p:tgtEl>
                                        <p:attrNameLst>
                                          <p:attrName>ppt_x</p:attrName>
                                        </p:attrNameLst>
                                      </p:cBhvr>
                                      <p:tavLst>
                                        <p:tav tm="0">
                                          <p:val>
                                            <p:strVal val="#ppt_x"/>
                                          </p:val>
                                        </p:tav>
                                        <p:tav tm="100000">
                                          <p:val>
                                            <p:strVal val="#ppt_x"/>
                                          </p:val>
                                        </p:tav>
                                      </p:tavLst>
                                    </p:anim>
                                    <p:anim calcmode="lin" valueType="num">
                                      <p:cBhvr additive="base">
                                        <p:cTn id="77" dur="600" fill="hold"/>
                                        <p:tgtEl>
                                          <p:spTgt spid="18"/>
                                        </p:tgtEl>
                                        <p:attrNameLst>
                                          <p:attrName>ppt_y</p:attrName>
                                        </p:attrNameLst>
                                      </p:cBhvr>
                                      <p:tavLst>
                                        <p:tav tm="0">
                                          <p:val>
                                            <p:strVal val="#ppt_y+.1"/>
                                          </p:val>
                                        </p:tav>
                                        <p:tav tm="100000">
                                          <p:val>
                                            <p:strVal val="#ppt_y"/>
                                          </p:val>
                                        </p:tav>
                                      </p:tavLst>
                                    </p:anim>
                                  </p:childTnLst>
                                </p:cTn>
                              </p:par>
                              <p:par>
                                <p:cTn id="83" presetID="42" presetClass="entr" presetSubtype="0" fill="hold" grpId="0" nodeType="withEffect">
                                  <p:stCondLst>
                                    <p:cond delay="0"/>
                                  </p:stCondLst>
                                  <p:childTnLst>
                                    <p:set>
                                      <p:cBhvr>
                                        <p:cTn id="79" dur="1" fill="hold">
                                          <p:stCondLst>
                                            <p:cond delay="0"/>
                                          </p:stCondLst>
                                        </p:cTn>
                                        <p:tgtEl>
                                          <p:spTgt spid="19"/>
                                        </p:tgtEl>
                                        <p:attrNameLst>
                                          <p:attrName>style.visibility</p:attrName>
                                        </p:attrNameLst>
                                      </p:cBhvr>
                                      <p:to>
                                        <p:strVal val="visible"/>
                                      </p:to>
                                    </p:set>
                                    <p:animEffect transition="in" filter="fade">
                                      <p:cBhvr>
                                        <p:cTn id="80" dur="600"/>
                                        <p:tgtEl>
                                          <p:spTgt spid="19"/>
                                        </p:tgtEl>
                                      </p:cBhvr>
                                    </p:animEffect>
                                    <p:anim calcmode="lin" valueType="num">
                                      <p:cBhvr additive="base">
                                        <p:cTn id="81" dur="600" fill="hold"/>
                                        <p:tgtEl>
                                          <p:spTgt spid="19"/>
                                        </p:tgtEl>
                                        <p:attrNameLst>
                                          <p:attrName>ppt_x</p:attrName>
                                        </p:attrNameLst>
                                      </p:cBhvr>
                                      <p:tavLst>
                                        <p:tav tm="0">
                                          <p:val>
                                            <p:strVal val="#ppt_x"/>
                                          </p:val>
                                        </p:tav>
                                        <p:tav tm="100000">
                                          <p:val>
                                            <p:strVal val="#ppt_x"/>
                                          </p:val>
                                        </p:tav>
                                      </p:tavLst>
                                    </p:anim>
                                    <p:anim calcmode="lin" valueType="num">
                                      <p:cBhvr additive="base">
                                        <p:cTn id="82" dur="600" fill="hold"/>
                                        <p:tgtEl>
                                          <p:spTgt spid="19"/>
                                        </p:tgtEl>
                                        <p:attrNameLst>
                                          <p:attrName>ppt_y</p:attrName>
                                        </p:attrNameLst>
                                      </p:cBhvr>
                                      <p:tavLst>
                                        <p:tav tm="0">
                                          <p:val>
                                            <p:strVal val="#ppt_y+.1"/>
                                          </p:val>
                                        </p:tav>
                                        <p:tav tm="100000">
                                          <p:val>
                                            <p:strVal val="#ppt_y"/>
                                          </p:val>
                                        </p:tav>
                                      </p:tavLst>
                                    </p:anim>
                                  </p:childTnLst>
                                </p:cTn>
                              </p:par>
                              <p:par>
                                <p:cTn id="88" presetID="42" presetClass="entr" presetSubtype="0" fill="hold" grpId="0" nodeType="withEffect">
                                  <p:stCondLst>
                                    <p:cond delay="0"/>
                                  </p:stCondLst>
                                  <p:childTnLst>
                                    <p:set>
                                      <p:cBhvr>
                                        <p:cTn id="84" dur="1" fill="hold">
                                          <p:stCondLst>
                                            <p:cond delay="0"/>
                                          </p:stCondLst>
                                        </p:cTn>
                                        <p:tgtEl>
                                          <p:spTgt spid="20"/>
                                        </p:tgtEl>
                                        <p:attrNameLst>
                                          <p:attrName>style.visibility</p:attrName>
                                        </p:attrNameLst>
                                      </p:cBhvr>
                                      <p:to>
                                        <p:strVal val="visible"/>
                                      </p:to>
                                    </p:set>
                                    <p:animEffect transition="in" filter="fade">
                                      <p:cBhvr>
                                        <p:cTn id="85" dur="600"/>
                                        <p:tgtEl>
                                          <p:spTgt spid="20"/>
                                        </p:tgtEl>
                                      </p:cBhvr>
                                    </p:animEffect>
                                    <p:anim calcmode="lin" valueType="num">
                                      <p:cBhvr additive="base">
                                        <p:cTn id="86" dur="600" fill="hold"/>
                                        <p:tgtEl>
                                          <p:spTgt spid="20"/>
                                        </p:tgtEl>
                                        <p:attrNameLst>
                                          <p:attrName>ppt_x</p:attrName>
                                        </p:attrNameLst>
                                      </p:cBhvr>
                                      <p:tavLst>
                                        <p:tav tm="0">
                                          <p:val>
                                            <p:strVal val="#ppt_x"/>
                                          </p:val>
                                        </p:tav>
                                        <p:tav tm="100000">
                                          <p:val>
                                            <p:strVal val="#ppt_x"/>
                                          </p:val>
                                        </p:tav>
                                      </p:tavLst>
                                    </p:anim>
                                    <p:anim calcmode="lin" valueType="num">
                                      <p:cBhvr additive="base">
                                        <p:cTn id="87" dur="600" fill="hold"/>
                                        <p:tgtEl>
                                          <p:spTgt spid="20"/>
                                        </p:tgtEl>
                                        <p:attrNameLst>
                                          <p:attrName>ppt_y</p:attrName>
                                        </p:attrNameLst>
                                      </p:cBhvr>
                                      <p:tavLst>
                                        <p:tav tm="0">
                                          <p:val>
                                            <p:strVal val="#ppt_y+.1"/>
                                          </p:val>
                                        </p:tav>
                                        <p:tav tm="100000">
                                          <p:val>
                                            <p:strVal val="#ppt_y"/>
                                          </p:val>
                                        </p:tav>
                                      </p:tavLst>
                                    </p:anim>
                                  </p:childTnLst>
                                </p:cTn>
                              </p:par>
                              <p:par>
                                <p:cTn id="93" presetID="42" presetClass="entr" presetSubtype="0" fill="hold" grpId="0" nodeType="withEffect">
                                  <p:stCondLst>
                                    <p:cond delay="0"/>
                                  </p:stCondLst>
                                  <p:childTnLst>
                                    <p:set>
                                      <p:cBhvr>
                                        <p:cTn id="89" dur="1" fill="hold">
                                          <p:stCondLst>
                                            <p:cond delay="0"/>
                                          </p:stCondLst>
                                        </p:cTn>
                                        <p:tgtEl>
                                          <p:spTgt spid="21"/>
                                        </p:tgtEl>
                                        <p:attrNameLst>
                                          <p:attrName>style.visibility</p:attrName>
                                        </p:attrNameLst>
                                      </p:cBhvr>
                                      <p:to>
                                        <p:strVal val="visible"/>
                                      </p:to>
                                    </p:set>
                                    <p:animEffect transition="in" filter="fade">
                                      <p:cBhvr>
                                        <p:cTn id="90" dur="600"/>
                                        <p:tgtEl>
                                          <p:spTgt spid="21"/>
                                        </p:tgtEl>
                                      </p:cBhvr>
                                    </p:animEffect>
                                    <p:anim calcmode="lin" valueType="num">
                                      <p:cBhvr additive="base">
                                        <p:cTn id="91" dur="600" fill="hold"/>
                                        <p:tgtEl>
                                          <p:spTgt spid="21"/>
                                        </p:tgtEl>
                                        <p:attrNameLst>
                                          <p:attrName>ppt_x</p:attrName>
                                        </p:attrNameLst>
                                      </p:cBhvr>
                                      <p:tavLst>
                                        <p:tav tm="0">
                                          <p:val>
                                            <p:strVal val="#ppt_x"/>
                                          </p:val>
                                        </p:tav>
                                        <p:tav tm="100000">
                                          <p:val>
                                            <p:strVal val="#ppt_x"/>
                                          </p:val>
                                        </p:tav>
                                      </p:tavLst>
                                    </p:anim>
                                    <p:anim calcmode="lin" valueType="num">
                                      <p:cBhvr additive="base">
                                        <p:cTn id="92" dur="600" fill="hold"/>
                                        <p:tgtEl>
                                          <p:spTgt spid="21"/>
                                        </p:tgtEl>
                                        <p:attrNameLst>
                                          <p:attrName>ppt_y</p:attrName>
                                        </p:attrNameLst>
                                      </p:cBhvr>
                                      <p:tavLst>
                                        <p:tav tm="0">
                                          <p:val>
                                            <p:strVal val="#ppt_y+.1"/>
                                          </p:val>
                                        </p:tav>
                                        <p:tav tm="100000">
                                          <p:val>
                                            <p:strVal val="#ppt_y"/>
                                          </p:val>
                                        </p:tav>
                                      </p:tavLst>
                                    </p:anim>
                                  </p:childTnLst>
                                </p:cTn>
                              </p:par>
                              <p:par>
                                <p:cTn id="98" presetID="42" presetClass="entr" presetSubtype="0" fill="hold" grpId="0" nodeType="withEffect">
                                  <p:stCondLst>
                                    <p:cond delay="0"/>
                                  </p:stCondLst>
                                  <p:childTnLst>
                                    <p:set>
                                      <p:cBhvr>
                                        <p:cTn id="94" dur="1" fill="hold">
                                          <p:stCondLst>
                                            <p:cond delay="0"/>
                                          </p:stCondLst>
                                        </p:cTn>
                                        <p:tgtEl>
                                          <p:spTgt spid="22"/>
                                        </p:tgtEl>
                                        <p:attrNameLst>
                                          <p:attrName>style.visibility</p:attrName>
                                        </p:attrNameLst>
                                      </p:cBhvr>
                                      <p:to>
                                        <p:strVal val="visible"/>
                                      </p:to>
                                    </p:set>
                                    <p:animEffect transition="in" filter="fade">
                                      <p:cBhvr>
                                        <p:cTn id="95" dur="600"/>
                                        <p:tgtEl>
                                          <p:spTgt spid="22"/>
                                        </p:tgtEl>
                                      </p:cBhvr>
                                    </p:animEffect>
                                    <p:anim calcmode="lin" valueType="num">
                                      <p:cBhvr additive="base">
                                        <p:cTn id="96" dur="600" fill="hold"/>
                                        <p:tgtEl>
                                          <p:spTgt spid="22"/>
                                        </p:tgtEl>
                                        <p:attrNameLst>
                                          <p:attrName>ppt_x</p:attrName>
                                        </p:attrNameLst>
                                      </p:cBhvr>
                                      <p:tavLst>
                                        <p:tav tm="0">
                                          <p:val>
                                            <p:strVal val="#ppt_x"/>
                                          </p:val>
                                        </p:tav>
                                        <p:tav tm="100000">
                                          <p:val>
                                            <p:strVal val="#ppt_x"/>
                                          </p:val>
                                        </p:tav>
                                      </p:tavLst>
                                    </p:anim>
                                    <p:anim calcmode="lin" valueType="num">
                                      <p:cBhvr additive="base">
                                        <p:cTn id="97" dur="6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3" presetID="10" presetClass="entr" presetSubtype="0" fill="hold" grpId="0" nodeType="clickEffect">
                                  <p:stCondLst>
                                    <p:cond delay="0"/>
                                  </p:stCondLst>
                                  <p:childTnLst>
                                    <p:set>
                                      <p:cBhvr>
                                        <p:cTn id="101" dur="1" fill="hold">
                                          <p:stCondLst>
                                            <p:cond delay="0"/>
                                          </p:stCondLst>
                                        </p:cTn>
                                        <p:tgtEl>
                                          <p:spTgt spid="23"/>
                                        </p:tgtEl>
                                        <p:attrNameLst>
                                          <p:attrName>style.visibility</p:attrName>
                                        </p:attrNameLst>
                                      </p:cBhvr>
                                      <p:to>
                                        <p:strVal val="visible"/>
                                      </p:to>
                                    </p:set>
                                    <p:animEffect transition="in" filter="fade">
                                      <p:cBhvr>
                                        <p:cTn id="10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686800" cy="320040"/>
          </a:xfrm>
          <a:prstGeom prst="rect">
            <a:avLst/>
          </a:prstGeom>
          <a:noFill/>
          <a:ln/>
        </p:spPr>
        <p:txBody>
          <a:bodyPr wrap="square" lIns="0" tIns="0" rIns="0" bIns="0" rtlCol="0" anchor="t"/>
          <a:lstStyle/>
          <a:p>
            <a:pPr indent="0" marL="0">
              <a:buNone/>
            </a:pPr>
            <a:r>
              <a:rPr lang="en-US" sz="1300" b="1" spc="200" kern="0" dirty="0">
                <a:solidFill>
                  <a:schemeClr val="accent1"/>
                </a:solidFill>
              </a:rPr>
              <a:t>MONITORING</a:t>
            </a:r>
            <a:endParaRPr lang="en-US" sz="1300" dirty="0"/>
          </a:p>
        </p:txBody>
      </p:sp>
      <p:sp>
        <p:nvSpPr>
          <p:cNvPr id="3" name="Text 0"/>
          <p:cNvSpPr/>
          <p:nvPr>
            <p:ph idx="101" type="title" hasCustomPrompt="1"/>
          </p:nvPr>
        </p:nvSpPr>
        <p:spPr>
          <a:xfrm>
            <a:off x="548640" y="713232"/>
            <a:ext cx="11091672" cy="822960"/>
          </a:xfrm>
          <a:prstGeom prst="rect">
            <a:avLst/>
          </a:prstGeom>
          <a:noFill/>
          <a:ln/>
        </p:spPr>
        <p:txBody>
          <a:bodyPr wrap="square" lIns="0" tIns="0" rIns="0" bIns="0" rtlCol="0" anchor="t"/>
          <a:lstStyle/>
          <a:p>
            <a:pPr indent="0" marL="0">
              <a:buNone/>
            </a:pPr>
            <a:r>
              <a:rPr lang="en-US" sz="3200" b="1" dirty="0">
                <a:solidFill>
                  <a:schemeClr val="tx1"/>
                </a:solidFill>
              </a:rPr>
              <a:t>Ten simulated cloud servers and one real PC</a:t>
            </a:r>
            <a:endParaRPr lang="en-US" sz="3200" dirty="0"/>
          </a:p>
        </p:txBody>
      </p:sp>
      <p:sp>
        <p:nvSpPr>
          <p:cNvPr id="4" name="nav-contents"/>
          <p:cNvSpPr txBox="1"/>
          <p:nvPr/>
        </p:nvSpPr>
        <p:spPr>
          <a:xfrm>
            <a:off x="10451592" y="365760"/>
            <a:ext cx="1188720" cy="292608"/>
          </a:xfrm>
          <a:prstGeom prst="rect">
            <a:avLst/>
          </a:prstGeom>
          <a:noFill/>
          <a:ln/>
        </p:spPr>
        <p:txBody>
          <a:bodyPr wrap="square" lIns="0" tIns="0" rIns="0" bIns="0" rtlCol="0" anchor="ctr"/>
          <a:lstStyle/>
          <a:p>
            <a:pPr algn="r" indent="0" marL="0">
              <a:buNone/>
            </a:pPr>
            <a:r>
              <a:rPr lang="en-US" sz="1100" u="sng" dirty="0">
                <a:solidFill>
                  <a:schemeClr val="accent1"/>
                </a:solidFill>
                <a:hlinkClick r:id="rId1" action="ppaction://hlinksldjump" tooltip="Back to contents">
                  <a:extLst>
                    <a:ext uri="{A12FA001-AC4F-418D-AE19-62706E023703}">
                      <ahyp:hlinkClr xmlns:ahyp="http://schemas.microsoft.com/office/drawing/2018/hyperlinkcolor" val="tx"/>
                    </a:ext>
                  </a:extLst>
                </a:hlinkClick>
              </a:rPr>
              <a:t>Contents ↩</a:t>
            </a:r>
            <a:endParaRPr lang="en-US" sz="1100" dirty="0"/>
          </a:p>
        </p:txBody>
      </p:sp>
      <p:sp>
        <p:nvSpPr>
          <p:cNvPr id="5" name="m0-box"/>
          <p:cNvSpPr/>
          <p:nvPr/>
        </p:nvSpPr>
        <p:spPr>
          <a:xfrm>
            <a:off x="548640" y="1691640"/>
            <a:ext cx="2602382" cy="1417320"/>
          </a:xfrm>
          <a:prstGeom prst="roundRect">
            <a:avLst>
              <a:gd name="adj" fmla="val 7742"/>
            </a:avLst>
          </a:prstGeom>
          <a:solidFill>
            <a:schemeClr val="bg1"/>
          </a:solidFill>
          <a:ln w="9525">
            <a:solidFill>
              <a:schemeClr val="accent5"/>
            </a:solidFill>
            <a:prstDash val="solid"/>
          </a:ln>
        </p:spPr>
      </p:sp>
      <p:sp>
        <p:nvSpPr>
          <p:cNvPr id="6" name="m0-t0"/>
          <p:cNvSpPr txBox="1"/>
          <p:nvPr/>
        </p:nvSpPr>
        <p:spPr>
          <a:xfrm>
            <a:off x="822960" y="1965960"/>
            <a:ext cx="2053742" cy="640080"/>
          </a:xfrm>
          <a:prstGeom prst="rect">
            <a:avLst/>
          </a:prstGeom>
          <a:noFill/>
          <a:ln/>
        </p:spPr>
        <p:txBody>
          <a:bodyPr wrap="square" lIns="0" tIns="0" rIns="0" bIns="0" rtlCol="0" anchor="t"/>
          <a:lstStyle/>
          <a:p>
            <a:pPr indent="0" marL="0">
              <a:lnSpc>
                <a:spcPct val="105000"/>
              </a:lnSpc>
              <a:buNone/>
            </a:pPr>
            <a:r>
              <a:rPr lang="en-US" sz="4000" b="1" dirty="0">
                <a:solidFill>
                  <a:schemeClr val="accent1"/>
                </a:solidFill>
              </a:rPr>
              <a:t>3 s</a:t>
            </a:r>
            <a:endParaRPr lang="en-US" sz="4000" dirty="0"/>
          </a:p>
        </p:txBody>
      </p:sp>
      <p:sp>
        <p:nvSpPr>
          <p:cNvPr id="7" name="m0-t1"/>
          <p:cNvSpPr txBox="1"/>
          <p:nvPr/>
        </p:nvSpPr>
        <p:spPr>
          <a:xfrm>
            <a:off x="822960" y="2651760"/>
            <a:ext cx="2053742" cy="411480"/>
          </a:xfrm>
          <a:prstGeom prst="rect">
            <a:avLst/>
          </a:prstGeom>
          <a:noFill/>
          <a:ln/>
        </p:spPr>
        <p:txBody>
          <a:bodyPr wrap="square" lIns="0" tIns="0" rIns="0" bIns="0" rtlCol="0" anchor="t"/>
          <a:lstStyle/>
          <a:p>
            <a:pPr indent="0" marL="0">
              <a:lnSpc>
                <a:spcPct val="105000"/>
              </a:lnSpc>
              <a:buNone/>
            </a:pPr>
            <a:r>
              <a:rPr lang="en-US" sz="1300" dirty="0">
                <a:solidFill>
                  <a:schemeClr val="accent6"/>
                </a:solidFill>
              </a:rPr>
              <a:t>update interval</a:t>
            </a:r>
            <a:endParaRPr lang="en-US" sz="1300" dirty="0"/>
          </a:p>
        </p:txBody>
      </p:sp>
      <p:sp>
        <p:nvSpPr>
          <p:cNvPr id="8" name="m1-box"/>
          <p:cNvSpPr/>
          <p:nvPr/>
        </p:nvSpPr>
        <p:spPr>
          <a:xfrm>
            <a:off x="3379622" y="1691640"/>
            <a:ext cx="2602382" cy="1417320"/>
          </a:xfrm>
          <a:prstGeom prst="roundRect">
            <a:avLst>
              <a:gd name="adj" fmla="val 7742"/>
            </a:avLst>
          </a:prstGeom>
          <a:solidFill>
            <a:schemeClr val="bg1"/>
          </a:solidFill>
          <a:ln w="9525">
            <a:solidFill>
              <a:schemeClr val="accent5"/>
            </a:solidFill>
            <a:prstDash val="solid"/>
          </a:ln>
        </p:spPr>
      </p:sp>
      <p:sp>
        <p:nvSpPr>
          <p:cNvPr id="9" name="m1-t0"/>
          <p:cNvSpPr txBox="1"/>
          <p:nvPr/>
        </p:nvSpPr>
        <p:spPr>
          <a:xfrm>
            <a:off x="3653942" y="1965960"/>
            <a:ext cx="2053742" cy="640080"/>
          </a:xfrm>
          <a:prstGeom prst="rect">
            <a:avLst/>
          </a:prstGeom>
          <a:noFill/>
          <a:ln/>
        </p:spPr>
        <p:txBody>
          <a:bodyPr wrap="square" lIns="0" tIns="0" rIns="0" bIns="0" rtlCol="0" anchor="t"/>
          <a:lstStyle/>
          <a:p>
            <a:pPr indent="0" marL="0">
              <a:lnSpc>
                <a:spcPct val="105000"/>
              </a:lnSpc>
              <a:buNone/>
            </a:pPr>
            <a:r>
              <a:rPr lang="en-US" sz="4000" b="1" dirty="0">
                <a:solidFill>
                  <a:schemeClr val="accent1"/>
                </a:solidFill>
              </a:rPr>
              <a:t>11</a:t>
            </a:r>
            <a:endParaRPr lang="en-US" sz="4000" dirty="0"/>
          </a:p>
        </p:txBody>
      </p:sp>
      <p:sp>
        <p:nvSpPr>
          <p:cNvPr id="10" name="m1-t1"/>
          <p:cNvSpPr txBox="1"/>
          <p:nvPr/>
        </p:nvSpPr>
        <p:spPr>
          <a:xfrm>
            <a:off x="3653942" y="2651760"/>
            <a:ext cx="2053742" cy="411480"/>
          </a:xfrm>
          <a:prstGeom prst="rect">
            <a:avLst/>
          </a:prstGeom>
          <a:noFill/>
          <a:ln/>
        </p:spPr>
        <p:txBody>
          <a:bodyPr wrap="square" lIns="0" tIns="0" rIns="0" bIns="0" rtlCol="0" anchor="t"/>
          <a:lstStyle/>
          <a:p>
            <a:pPr indent="0" marL="0">
              <a:lnSpc>
                <a:spcPct val="105000"/>
              </a:lnSpc>
              <a:buNone/>
            </a:pPr>
            <a:r>
              <a:rPr lang="en-US" sz="1300" dirty="0">
                <a:solidFill>
                  <a:schemeClr val="accent6"/>
                </a:solidFill>
              </a:rPr>
              <a:t>resources: AWS, Azure, GCP + this PC</a:t>
            </a:r>
            <a:endParaRPr lang="en-US" sz="1300" dirty="0"/>
          </a:p>
        </p:txBody>
      </p:sp>
      <p:sp>
        <p:nvSpPr>
          <p:cNvPr id="11" name="m2-box"/>
          <p:cNvSpPr/>
          <p:nvPr/>
        </p:nvSpPr>
        <p:spPr>
          <a:xfrm>
            <a:off x="6210605" y="1691640"/>
            <a:ext cx="2602382" cy="1417320"/>
          </a:xfrm>
          <a:prstGeom prst="roundRect">
            <a:avLst>
              <a:gd name="adj" fmla="val 7742"/>
            </a:avLst>
          </a:prstGeom>
          <a:solidFill>
            <a:schemeClr val="bg1"/>
          </a:solidFill>
          <a:ln w="9525">
            <a:solidFill>
              <a:schemeClr val="accent5"/>
            </a:solidFill>
            <a:prstDash val="solid"/>
          </a:ln>
        </p:spPr>
      </p:sp>
      <p:sp>
        <p:nvSpPr>
          <p:cNvPr id="12" name="m2-t0"/>
          <p:cNvSpPr txBox="1"/>
          <p:nvPr/>
        </p:nvSpPr>
        <p:spPr>
          <a:xfrm>
            <a:off x="6484925" y="1965960"/>
            <a:ext cx="2053742" cy="640080"/>
          </a:xfrm>
          <a:prstGeom prst="rect">
            <a:avLst/>
          </a:prstGeom>
          <a:noFill/>
          <a:ln/>
        </p:spPr>
        <p:txBody>
          <a:bodyPr wrap="square" lIns="0" tIns="0" rIns="0" bIns="0" rtlCol="0" anchor="t"/>
          <a:lstStyle/>
          <a:p>
            <a:pPr indent="0" marL="0">
              <a:lnSpc>
                <a:spcPct val="105000"/>
              </a:lnSpc>
              <a:buNone/>
            </a:pPr>
            <a:r>
              <a:rPr lang="en-US" sz="4000" b="1" dirty="0">
                <a:solidFill>
                  <a:schemeClr val="accent1"/>
                </a:solidFill>
              </a:rPr>
              <a:t>24 h</a:t>
            </a:r>
            <a:endParaRPr lang="en-US" sz="4000" dirty="0"/>
          </a:p>
        </p:txBody>
      </p:sp>
      <p:sp>
        <p:nvSpPr>
          <p:cNvPr id="13" name="m2-t1"/>
          <p:cNvSpPr txBox="1"/>
          <p:nvPr/>
        </p:nvSpPr>
        <p:spPr>
          <a:xfrm>
            <a:off x="6484925" y="2651760"/>
            <a:ext cx="2053742" cy="411480"/>
          </a:xfrm>
          <a:prstGeom prst="rect">
            <a:avLst/>
          </a:prstGeom>
          <a:noFill/>
          <a:ln/>
        </p:spPr>
        <p:txBody>
          <a:bodyPr wrap="square" lIns="0" tIns="0" rIns="0" bIns="0" rtlCol="0" anchor="t"/>
          <a:lstStyle/>
          <a:p>
            <a:pPr indent="0" marL="0">
              <a:lnSpc>
                <a:spcPct val="105000"/>
              </a:lnSpc>
              <a:buNone/>
            </a:pPr>
            <a:r>
              <a:rPr lang="en-US" sz="1300" dirty="0">
                <a:solidFill>
                  <a:schemeClr val="accent6"/>
                </a:solidFill>
              </a:rPr>
              <a:t>of history, 15 min to 24 h charts</a:t>
            </a:r>
            <a:endParaRPr lang="en-US" sz="1300" dirty="0"/>
          </a:p>
        </p:txBody>
      </p:sp>
      <p:sp>
        <p:nvSpPr>
          <p:cNvPr id="14" name="m3-box"/>
          <p:cNvSpPr/>
          <p:nvPr/>
        </p:nvSpPr>
        <p:spPr>
          <a:xfrm>
            <a:off x="9041587" y="1691640"/>
            <a:ext cx="2602382" cy="1417320"/>
          </a:xfrm>
          <a:prstGeom prst="roundRect">
            <a:avLst>
              <a:gd name="adj" fmla="val 7742"/>
            </a:avLst>
          </a:prstGeom>
          <a:solidFill>
            <a:schemeClr val="bg1"/>
          </a:solidFill>
          <a:ln w="9525">
            <a:solidFill>
              <a:schemeClr val="accent5"/>
            </a:solidFill>
            <a:prstDash val="solid"/>
          </a:ln>
        </p:spPr>
      </p:sp>
      <p:sp>
        <p:nvSpPr>
          <p:cNvPr id="15" name="m3-t0"/>
          <p:cNvSpPr txBox="1"/>
          <p:nvPr/>
        </p:nvSpPr>
        <p:spPr>
          <a:xfrm>
            <a:off x="9315907" y="1965960"/>
            <a:ext cx="2053742" cy="640080"/>
          </a:xfrm>
          <a:prstGeom prst="rect">
            <a:avLst/>
          </a:prstGeom>
          <a:noFill/>
          <a:ln/>
        </p:spPr>
        <p:txBody>
          <a:bodyPr wrap="square" lIns="0" tIns="0" rIns="0" bIns="0" rtlCol="0" anchor="t"/>
          <a:lstStyle/>
          <a:p>
            <a:pPr indent="0" marL="0">
              <a:lnSpc>
                <a:spcPct val="105000"/>
              </a:lnSpc>
              <a:buNone/>
            </a:pPr>
            <a:r>
              <a:rPr lang="en-US" sz="4000" b="1" dirty="0">
                <a:solidFill>
                  <a:schemeClr val="accent2"/>
                </a:solidFill>
              </a:rPr>
              <a:t>89%</a:t>
            </a:r>
            <a:endParaRPr lang="en-US" sz="4000" dirty="0"/>
          </a:p>
        </p:txBody>
      </p:sp>
      <p:sp>
        <p:nvSpPr>
          <p:cNvPr id="16" name="m3-t1"/>
          <p:cNvSpPr txBox="1"/>
          <p:nvPr/>
        </p:nvSpPr>
        <p:spPr>
          <a:xfrm>
            <a:off x="9315907" y="2651760"/>
            <a:ext cx="2053742" cy="411480"/>
          </a:xfrm>
          <a:prstGeom prst="rect">
            <a:avLst/>
          </a:prstGeom>
          <a:noFill/>
          <a:ln/>
        </p:spPr>
        <p:txBody>
          <a:bodyPr wrap="square" lIns="0" tIns="0" rIns="0" bIns="0" rtlCol="0" anchor="t"/>
          <a:lstStyle/>
          <a:p>
            <a:pPr indent="0" marL="0">
              <a:lnSpc>
                <a:spcPct val="105000"/>
              </a:lnSpc>
              <a:buNone/>
            </a:pPr>
            <a:r>
              <a:rPr lang="en-US" sz="1300" dirty="0">
                <a:solidFill>
                  <a:schemeClr val="accent6"/>
                </a:solidFill>
              </a:rPr>
              <a:t>PC memory, same as Task Manager</a:t>
            </a:r>
            <a:endParaRPr lang="en-US" sz="1300" dirty="0"/>
          </a:p>
        </p:txBody>
      </p:sp>
      <p:graphicFrame>
        <p:nvGraphicFramePr>
          <p:cNvPr id="17" name="m-chart" descr=""/>
          <p:cNvGraphicFramePr/>
          <p:nvPr/>
        </p:nvGraphicFramePr>
        <p:xfrm>
          <a:off x="548640" y="3337560"/>
          <a:ext cx="6949440" cy="2788920"/>
        </p:xfrm>
        <a:graphic xmlns:a="http://schemas.openxmlformats.org/drawingml/2006/main">
          <a:graphicData uri="http://schemas.openxmlformats.org/drawingml/2006/chart">
            <c:chart xmlns:c="http://schemas.openxmlformats.org/drawingml/2006/chart" r:id="rId2"/>
          </a:graphicData>
        </a:graphic>
      </p:graphicFrame>
      <p:sp>
        <p:nvSpPr>
          <p:cNvPr id="18" name="m-note"/>
          <p:cNvSpPr txBox="1"/>
          <p:nvPr/>
        </p:nvSpPr>
        <p:spPr>
          <a:xfrm>
            <a:off x="7818120" y="3429000"/>
            <a:ext cx="3822192" cy="2560320"/>
          </a:xfrm>
          <a:prstGeom prst="rect">
            <a:avLst/>
          </a:prstGeom>
          <a:noFill/>
          <a:ln/>
        </p:spPr>
        <p:txBody>
          <a:bodyPr wrap="square" lIns="0" tIns="0" rIns="0" bIns="0" rtlCol="0" anchor="t"/>
          <a:lstStyle/>
          <a:p>
            <a:pPr indent="0" marL="0">
              <a:buNone/>
            </a:pPr>
            <a:r>
              <a:rPr lang="en-US" sz="1600" dirty="0">
                <a:solidFill>
                  <a:schemeClr val="tx1"/>
                </a:solidFill>
              </a:rPr>
              <a:t>Cloud servers follow a daily load curve (busiest in the afternoon) with random spikes. The PC row is real: OSHI reads its CPU, memory, disk, network and Windows uptime, and the values matched Task Manager.</a:t>
            </a:r>
            <a:endParaRPr lang="en-US" sz="16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5568"/>
                </a:solidFill>
              </a:defRPr>
            </a:lvl1pPr>
          </a:lstStyle>
          <a:p>
            <a:pPr algn="r"/>
            <a:fld id="{F7021451-1387-4CA6-816F-3879F97B5CBC}" type="slidenum">
              <a:rPr b="0" lang="en-US"/>
              <a:t>9</a:t>
            </a:fld>
            <a:endParaRPr lang="en-US"/>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additive="base">
                                        <p:cTn id="6" dur="400" fill="hold"/>
                                        <p:tgtEl>
                                          <p:spTgt spid="5"/>
                                        </p:tgtEl>
                                        <p:attrNameLst>
                                          <p:attrName>ppt_w</p:attrName>
                                        </p:attrNameLst>
                                      </p:cBhvr>
                                      <p:tavLst>
                                        <p:tav tm="0">
                                          <p:val>
                                            <p:strVal val="0"/>
                                          </p:val>
                                        </p:tav>
                                        <p:tav tm="100000">
                                          <p:val>
                                            <p:strVal val="#ppt_w"/>
                                          </p:val>
                                        </p:tav>
                                      </p:tavLst>
                                    </p:anim>
                                    <p:anim calcmode="lin" valueType="num">
                                      <p:cBhvr additive="base">
                                        <p:cTn id="7" dur="400" fill="hold"/>
                                        <p:tgtEl>
                                          <p:spTgt spid="5"/>
                                        </p:tgtEl>
                                        <p:attrNameLst>
                                          <p:attrName>ppt_h</p:attrName>
                                        </p:attrNameLst>
                                      </p:cBhvr>
                                      <p:tavLst>
                                        <p:tav tm="0">
                                          <p:val>
                                            <p:strVal val="0"/>
                                          </p:val>
                                        </p:tav>
                                        <p:tav tm="100000">
                                          <p:val>
                                            <p:strVal val="#ppt_h"/>
                                          </p:val>
                                        </p:tav>
                                      </p:tavLst>
                                    </p:anim>
                                    <p:animEffect transition="in" filter="fade">
                                      <p:cBhvr>
                                        <p:cTn id="8" dur="400"/>
                                        <p:tgtEl>
                                          <p:spTgt spid="5"/>
                                        </p:tgtEl>
                                      </p:cBhvr>
                                    </p:animEffect>
                                  </p:childTnLst>
                                </p:cTn>
                              </p:par>
                              <p:par>
                                <p:cTn id="14" presetID="53" presetClass="entr" presetSubtype="16"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400" fill="hold"/>
                                        <p:tgtEl>
                                          <p:spTgt spid="6"/>
                                        </p:tgtEl>
                                        <p:attrNameLst>
                                          <p:attrName>ppt_w</p:attrName>
                                        </p:attrNameLst>
                                      </p:cBhvr>
                                      <p:tavLst>
                                        <p:tav tm="0">
                                          <p:val>
                                            <p:strVal val="0"/>
                                          </p:val>
                                        </p:tav>
                                        <p:tav tm="100000">
                                          <p:val>
                                            <p:strVal val="#ppt_w"/>
                                          </p:val>
                                        </p:tav>
                                      </p:tavLst>
                                    </p:anim>
                                    <p:anim calcmode="lin" valueType="num">
                                      <p:cBhvr additive="base">
                                        <p:cTn id="12" dur="400" fill="hold"/>
                                        <p:tgtEl>
                                          <p:spTgt spid="6"/>
                                        </p:tgtEl>
                                        <p:attrNameLst>
                                          <p:attrName>ppt_h</p:attrName>
                                        </p:attrNameLst>
                                      </p:cBhvr>
                                      <p:tavLst>
                                        <p:tav tm="0">
                                          <p:val>
                                            <p:strVal val="0"/>
                                          </p:val>
                                        </p:tav>
                                        <p:tav tm="100000">
                                          <p:val>
                                            <p:strVal val="#ppt_h"/>
                                          </p:val>
                                        </p:tav>
                                      </p:tavLst>
                                    </p:anim>
                                    <p:animEffect transition="in" filter="fade">
                                      <p:cBhvr>
                                        <p:cTn id="13" dur="400"/>
                                        <p:tgtEl>
                                          <p:spTgt spid="6"/>
                                        </p:tgtEl>
                                      </p:cBhvr>
                                    </p:animEffect>
                                  </p:childTnLst>
                                </p:cTn>
                              </p:par>
                              <p:par>
                                <p:cTn id="19" presetID="53" presetClass="entr" presetSubtype="16"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additive="base">
                                        <p:cTn id="16" dur="400" fill="hold"/>
                                        <p:tgtEl>
                                          <p:spTgt spid="7"/>
                                        </p:tgtEl>
                                        <p:attrNameLst>
                                          <p:attrName>ppt_w</p:attrName>
                                        </p:attrNameLst>
                                      </p:cBhvr>
                                      <p:tavLst>
                                        <p:tav tm="0">
                                          <p:val>
                                            <p:strVal val="0"/>
                                          </p:val>
                                        </p:tav>
                                        <p:tav tm="100000">
                                          <p:val>
                                            <p:strVal val="#ppt_w"/>
                                          </p:val>
                                        </p:tav>
                                      </p:tavLst>
                                    </p:anim>
                                    <p:anim calcmode="lin" valueType="num">
                                      <p:cBhvr additive="base">
                                        <p:cTn id="17" dur="400" fill="hold"/>
                                        <p:tgtEl>
                                          <p:spTgt spid="7"/>
                                        </p:tgtEl>
                                        <p:attrNameLst>
                                          <p:attrName>ppt_h</p:attrName>
                                        </p:attrNameLst>
                                      </p:cBhvr>
                                      <p:tavLst>
                                        <p:tav tm="0">
                                          <p:val>
                                            <p:strVal val="0"/>
                                          </p:val>
                                        </p:tav>
                                        <p:tav tm="100000">
                                          <p:val>
                                            <p:strVal val="#ppt_h"/>
                                          </p:val>
                                        </p:tav>
                                      </p:tavLst>
                                    </p:anim>
                                    <p:animEffect transition="in" filter="fade">
                                      <p:cBhvr>
                                        <p:cTn id="18" dur="400"/>
                                        <p:tgtEl>
                                          <p:spTgt spid="7"/>
                                        </p:tgtEl>
                                      </p:cBhvr>
                                    </p:animEffect>
                                  </p:childTnLst>
                                </p:cTn>
                              </p:par>
                            </p:childTnLst>
                          </p:cTn>
                        </p:par>
                        <p:par>
                          <p:cTn id="20" fill="hold">
                            <p:stCondLst>
                              <p:cond delay="400"/>
                            </p:stCondLst>
                            <p:childTnLst>
                              <p:par>
                                <p:cTn id="25" presetID="53" presetClass="entr" presetSubtype="16" fill="hold" grpId="0" nodeType="after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additive="base">
                                        <p:cTn id="22" dur="400" fill="hold"/>
                                        <p:tgtEl>
                                          <p:spTgt spid="8"/>
                                        </p:tgtEl>
                                        <p:attrNameLst>
                                          <p:attrName>ppt_w</p:attrName>
                                        </p:attrNameLst>
                                      </p:cBhvr>
                                      <p:tavLst>
                                        <p:tav tm="0">
                                          <p:val>
                                            <p:strVal val="0"/>
                                          </p:val>
                                        </p:tav>
                                        <p:tav tm="100000">
                                          <p:val>
                                            <p:strVal val="#ppt_w"/>
                                          </p:val>
                                        </p:tav>
                                      </p:tavLst>
                                    </p:anim>
                                    <p:anim calcmode="lin" valueType="num">
                                      <p:cBhvr additive="base">
                                        <p:cTn id="23" dur="400" fill="hold"/>
                                        <p:tgtEl>
                                          <p:spTgt spid="8"/>
                                        </p:tgtEl>
                                        <p:attrNameLst>
                                          <p:attrName>ppt_h</p:attrName>
                                        </p:attrNameLst>
                                      </p:cBhvr>
                                      <p:tavLst>
                                        <p:tav tm="0">
                                          <p:val>
                                            <p:strVal val="0"/>
                                          </p:val>
                                        </p:tav>
                                        <p:tav tm="100000">
                                          <p:val>
                                            <p:strVal val="#ppt_h"/>
                                          </p:val>
                                        </p:tav>
                                      </p:tavLst>
                                    </p:anim>
                                    <p:animEffect transition="in" filter="fade">
                                      <p:cBhvr>
                                        <p:cTn id="24" dur="400"/>
                                        <p:tgtEl>
                                          <p:spTgt spid="8"/>
                                        </p:tgtEl>
                                      </p:cBhvr>
                                    </p:animEffect>
                                  </p:childTnLst>
                                </p:cTn>
                              </p:par>
                              <p:par>
                                <p:cTn id="30" presetID="53" presetClass="entr" presetSubtype="16"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400" fill="hold"/>
                                        <p:tgtEl>
                                          <p:spTgt spid="9"/>
                                        </p:tgtEl>
                                        <p:attrNameLst>
                                          <p:attrName>ppt_w</p:attrName>
                                        </p:attrNameLst>
                                      </p:cBhvr>
                                      <p:tavLst>
                                        <p:tav tm="0">
                                          <p:val>
                                            <p:strVal val="0"/>
                                          </p:val>
                                        </p:tav>
                                        <p:tav tm="100000">
                                          <p:val>
                                            <p:strVal val="#ppt_w"/>
                                          </p:val>
                                        </p:tav>
                                      </p:tavLst>
                                    </p:anim>
                                    <p:anim calcmode="lin" valueType="num">
                                      <p:cBhvr additive="base">
                                        <p:cTn id="28" dur="400" fill="hold"/>
                                        <p:tgtEl>
                                          <p:spTgt spid="9"/>
                                        </p:tgtEl>
                                        <p:attrNameLst>
                                          <p:attrName>ppt_h</p:attrName>
                                        </p:attrNameLst>
                                      </p:cBhvr>
                                      <p:tavLst>
                                        <p:tav tm="0">
                                          <p:val>
                                            <p:strVal val="0"/>
                                          </p:val>
                                        </p:tav>
                                        <p:tav tm="100000">
                                          <p:val>
                                            <p:strVal val="#ppt_h"/>
                                          </p:val>
                                        </p:tav>
                                      </p:tavLst>
                                    </p:anim>
                                    <p:animEffect transition="in" filter="fade">
                                      <p:cBhvr>
                                        <p:cTn id="29" dur="400"/>
                                        <p:tgtEl>
                                          <p:spTgt spid="9"/>
                                        </p:tgtEl>
                                      </p:cBhvr>
                                    </p:animEffect>
                                  </p:childTnLst>
                                </p:cTn>
                              </p:par>
                              <p:par>
                                <p:cTn id="35" presetID="53" presetClass="entr" presetSubtype="16"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 calcmode="lin" valueType="num">
                                      <p:cBhvr additive="base">
                                        <p:cTn id="32" dur="400" fill="hold"/>
                                        <p:tgtEl>
                                          <p:spTgt spid="10"/>
                                        </p:tgtEl>
                                        <p:attrNameLst>
                                          <p:attrName>ppt_w</p:attrName>
                                        </p:attrNameLst>
                                      </p:cBhvr>
                                      <p:tavLst>
                                        <p:tav tm="0">
                                          <p:val>
                                            <p:strVal val="0"/>
                                          </p:val>
                                        </p:tav>
                                        <p:tav tm="100000">
                                          <p:val>
                                            <p:strVal val="#ppt_w"/>
                                          </p:val>
                                        </p:tav>
                                      </p:tavLst>
                                    </p:anim>
                                    <p:anim calcmode="lin" valueType="num">
                                      <p:cBhvr additive="base">
                                        <p:cTn id="33" dur="400" fill="hold"/>
                                        <p:tgtEl>
                                          <p:spTgt spid="10"/>
                                        </p:tgtEl>
                                        <p:attrNameLst>
                                          <p:attrName>ppt_h</p:attrName>
                                        </p:attrNameLst>
                                      </p:cBhvr>
                                      <p:tavLst>
                                        <p:tav tm="0">
                                          <p:val>
                                            <p:strVal val="0"/>
                                          </p:val>
                                        </p:tav>
                                        <p:tav tm="100000">
                                          <p:val>
                                            <p:strVal val="#ppt_h"/>
                                          </p:val>
                                        </p:tav>
                                      </p:tavLst>
                                    </p:anim>
                                    <p:animEffect transition="in" filter="fade">
                                      <p:cBhvr>
                                        <p:cTn id="34" dur="400"/>
                                        <p:tgtEl>
                                          <p:spTgt spid="10"/>
                                        </p:tgtEl>
                                      </p:cBhvr>
                                    </p:animEffect>
                                  </p:childTnLst>
                                </p:cTn>
                              </p:par>
                            </p:childTnLst>
                          </p:cTn>
                        </p:par>
                        <p:par>
                          <p:cTn id="36" fill="hold">
                            <p:stCondLst>
                              <p:cond delay="800"/>
                            </p:stCondLst>
                            <p:childTnLst>
                              <p:par>
                                <p:cTn id="41" presetID="53" presetClass="entr" presetSubtype="16" fill="hold" grpId="0" nodeType="afterEffect">
                                  <p:stCondLst>
                                    <p:cond delay="0"/>
                                  </p:stCondLst>
                                  <p:childTnLst>
                                    <p:set>
                                      <p:cBhvr>
                                        <p:cTn id="37" dur="1" fill="hold">
                                          <p:stCondLst>
                                            <p:cond delay="0"/>
                                          </p:stCondLst>
                                        </p:cTn>
                                        <p:tgtEl>
                                          <p:spTgt spid="11"/>
                                        </p:tgtEl>
                                        <p:attrNameLst>
                                          <p:attrName>style.visibility</p:attrName>
                                        </p:attrNameLst>
                                      </p:cBhvr>
                                      <p:to>
                                        <p:strVal val="visible"/>
                                      </p:to>
                                    </p:set>
                                    <p:anim calcmode="lin" valueType="num">
                                      <p:cBhvr additive="base">
                                        <p:cTn id="38" dur="400" fill="hold"/>
                                        <p:tgtEl>
                                          <p:spTgt spid="11"/>
                                        </p:tgtEl>
                                        <p:attrNameLst>
                                          <p:attrName>ppt_w</p:attrName>
                                        </p:attrNameLst>
                                      </p:cBhvr>
                                      <p:tavLst>
                                        <p:tav tm="0">
                                          <p:val>
                                            <p:strVal val="0"/>
                                          </p:val>
                                        </p:tav>
                                        <p:tav tm="100000">
                                          <p:val>
                                            <p:strVal val="#ppt_w"/>
                                          </p:val>
                                        </p:tav>
                                      </p:tavLst>
                                    </p:anim>
                                    <p:anim calcmode="lin" valueType="num">
                                      <p:cBhvr additive="base">
                                        <p:cTn id="39" dur="400" fill="hold"/>
                                        <p:tgtEl>
                                          <p:spTgt spid="11"/>
                                        </p:tgtEl>
                                        <p:attrNameLst>
                                          <p:attrName>ppt_h</p:attrName>
                                        </p:attrNameLst>
                                      </p:cBhvr>
                                      <p:tavLst>
                                        <p:tav tm="0">
                                          <p:val>
                                            <p:strVal val="0"/>
                                          </p:val>
                                        </p:tav>
                                        <p:tav tm="100000">
                                          <p:val>
                                            <p:strVal val="#ppt_h"/>
                                          </p:val>
                                        </p:tav>
                                      </p:tavLst>
                                    </p:anim>
                                    <p:animEffect transition="in" filter="fade">
                                      <p:cBhvr>
                                        <p:cTn id="40" dur="400"/>
                                        <p:tgtEl>
                                          <p:spTgt spid="11"/>
                                        </p:tgtEl>
                                      </p:cBhvr>
                                    </p:animEffect>
                                  </p:childTnLst>
                                </p:cTn>
                              </p:par>
                              <p:par>
                                <p:cTn id="46" presetID="53" presetClass="entr" presetSubtype="16"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anim calcmode="lin" valueType="num">
                                      <p:cBhvr additive="base">
                                        <p:cTn id="43" dur="400" fill="hold"/>
                                        <p:tgtEl>
                                          <p:spTgt spid="12"/>
                                        </p:tgtEl>
                                        <p:attrNameLst>
                                          <p:attrName>ppt_w</p:attrName>
                                        </p:attrNameLst>
                                      </p:cBhvr>
                                      <p:tavLst>
                                        <p:tav tm="0">
                                          <p:val>
                                            <p:strVal val="0"/>
                                          </p:val>
                                        </p:tav>
                                        <p:tav tm="100000">
                                          <p:val>
                                            <p:strVal val="#ppt_w"/>
                                          </p:val>
                                        </p:tav>
                                      </p:tavLst>
                                    </p:anim>
                                    <p:anim calcmode="lin" valueType="num">
                                      <p:cBhvr additive="base">
                                        <p:cTn id="44" dur="400" fill="hold"/>
                                        <p:tgtEl>
                                          <p:spTgt spid="12"/>
                                        </p:tgtEl>
                                        <p:attrNameLst>
                                          <p:attrName>ppt_h</p:attrName>
                                        </p:attrNameLst>
                                      </p:cBhvr>
                                      <p:tavLst>
                                        <p:tav tm="0">
                                          <p:val>
                                            <p:strVal val="0"/>
                                          </p:val>
                                        </p:tav>
                                        <p:tav tm="100000">
                                          <p:val>
                                            <p:strVal val="#ppt_h"/>
                                          </p:val>
                                        </p:tav>
                                      </p:tavLst>
                                    </p:anim>
                                    <p:animEffect transition="in" filter="fade">
                                      <p:cBhvr>
                                        <p:cTn id="45" dur="400"/>
                                        <p:tgtEl>
                                          <p:spTgt spid="12"/>
                                        </p:tgtEl>
                                      </p:cBhvr>
                                    </p:animEffect>
                                  </p:childTnLst>
                                </p:cTn>
                              </p:par>
                              <p:par>
                                <p:cTn id="51" presetID="53" presetClass="entr" presetSubtype="16" fill="hold" grpId="0" nodeType="withEffect">
                                  <p:stCondLst>
                                    <p:cond delay="0"/>
                                  </p:stCondLst>
                                  <p:childTnLst>
                                    <p:set>
                                      <p:cBhvr>
                                        <p:cTn id="47" dur="1" fill="hold">
                                          <p:stCondLst>
                                            <p:cond delay="0"/>
                                          </p:stCondLst>
                                        </p:cTn>
                                        <p:tgtEl>
                                          <p:spTgt spid="13"/>
                                        </p:tgtEl>
                                        <p:attrNameLst>
                                          <p:attrName>style.visibility</p:attrName>
                                        </p:attrNameLst>
                                      </p:cBhvr>
                                      <p:to>
                                        <p:strVal val="visible"/>
                                      </p:to>
                                    </p:set>
                                    <p:anim calcmode="lin" valueType="num">
                                      <p:cBhvr additive="base">
                                        <p:cTn id="48" dur="400" fill="hold"/>
                                        <p:tgtEl>
                                          <p:spTgt spid="13"/>
                                        </p:tgtEl>
                                        <p:attrNameLst>
                                          <p:attrName>ppt_w</p:attrName>
                                        </p:attrNameLst>
                                      </p:cBhvr>
                                      <p:tavLst>
                                        <p:tav tm="0">
                                          <p:val>
                                            <p:strVal val="0"/>
                                          </p:val>
                                        </p:tav>
                                        <p:tav tm="100000">
                                          <p:val>
                                            <p:strVal val="#ppt_w"/>
                                          </p:val>
                                        </p:tav>
                                      </p:tavLst>
                                    </p:anim>
                                    <p:anim calcmode="lin" valueType="num">
                                      <p:cBhvr additive="base">
                                        <p:cTn id="49" dur="400" fill="hold"/>
                                        <p:tgtEl>
                                          <p:spTgt spid="13"/>
                                        </p:tgtEl>
                                        <p:attrNameLst>
                                          <p:attrName>ppt_h</p:attrName>
                                        </p:attrNameLst>
                                      </p:cBhvr>
                                      <p:tavLst>
                                        <p:tav tm="0">
                                          <p:val>
                                            <p:strVal val="0"/>
                                          </p:val>
                                        </p:tav>
                                        <p:tav tm="100000">
                                          <p:val>
                                            <p:strVal val="#ppt_h"/>
                                          </p:val>
                                        </p:tav>
                                      </p:tavLst>
                                    </p:anim>
                                    <p:animEffect transition="in" filter="fade">
                                      <p:cBhvr>
                                        <p:cTn id="50" dur="400"/>
                                        <p:tgtEl>
                                          <p:spTgt spid="13"/>
                                        </p:tgtEl>
                                      </p:cBhvr>
                                    </p:animEffect>
                                  </p:childTnLst>
                                </p:cTn>
                              </p:par>
                            </p:childTnLst>
                          </p:cTn>
                        </p:par>
                        <p:par>
                          <p:cTn id="52" fill="hold">
                            <p:stCondLst>
                              <p:cond delay="1200"/>
                            </p:stCondLst>
                            <p:childTnLst>
                              <p:par>
                                <p:cTn id="57" presetID="53" presetClass="entr" presetSubtype="16" fill="hold" grpId="0" nodeType="afterEffect">
                                  <p:stCondLst>
                                    <p:cond delay="0"/>
                                  </p:stCondLst>
                                  <p:childTnLst>
                                    <p:set>
                                      <p:cBhvr>
                                        <p:cTn id="53" dur="1" fill="hold">
                                          <p:stCondLst>
                                            <p:cond delay="0"/>
                                          </p:stCondLst>
                                        </p:cTn>
                                        <p:tgtEl>
                                          <p:spTgt spid="14"/>
                                        </p:tgtEl>
                                        <p:attrNameLst>
                                          <p:attrName>style.visibility</p:attrName>
                                        </p:attrNameLst>
                                      </p:cBhvr>
                                      <p:to>
                                        <p:strVal val="visible"/>
                                      </p:to>
                                    </p:set>
                                    <p:anim calcmode="lin" valueType="num">
                                      <p:cBhvr additive="base">
                                        <p:cTn id="54" dur="400" fill="hold"/>
                                        <p:tgtEl>
                                          <p:spTgt spid="14"/>
                                        </p:tgtEl>
                                        <p:attrNameLst>
                                          <p:attrName>ppt_w</p:attrName>
                                        </p:attrNameLst>
                                      </p:cBhvr>
                                      <p:tavLst>
                                        <p:tav tm="0">
                                          <p:val>
                                            <p:strVal val="0"/>
                                          </p:val>
                                        </p:tav>
                                        <p:tav tm="100000">
                                          <p:val>
                                            <p:strVal val="#ppt_w"/>
                                          </p:val>
                                        </p:tav>
                                      </p:tavLst>
                                    </p:anim>
                                    <p:anim calcmode="lin" valueType="num">
                                      <p:cBhvr additive="base">
                                        <p:cTn id="55" dur="400" fill="hold"/>
                                        <p:tgtEl>
                                          <p:spTgt spid="14"/>
                                        </p:tgtEl>
                                        <p:attrNameLst>
                                          <p:attrName>ppt_h</p:attrName>
                                        </p:attrNameLst>
                                      </p:cBhvr>
                                      <p:tavLst>
                                        <p:tav tm="0">
                                          <p:val>
                                            <p:strVal val="0"/>
                                          </p:val>
                                        </p:tav>
                                        <p:tav tm="100000">
                                          <p:val>
                                            <p:strVal val="#ppt_h"/>
                                          </p:val>
                                        </p:tav>
                                      </p:tavLst>
                                    </p:anim>
                                    <p:animEffect transition="in" filter="fade">
                                      <p:cBhvr>
                                        <p:cTn id="56" dur="400"/>
                                        <p:tgtEl>
                                          <p:spTgt spid="14"/>
                                        </p:tgtEl>
                                      </p:cBhvr>
                                    </p:animEffect>
                                  </p:childTnLst>
                                </p:cTn>
                              </p:par>
                              <p:par>
                                <p:cTn id="62" presetID="53" presetClass="entr" presetSubtype="16" fill="hold" grpId="0" nodeType="withEffect">
                                  <p:stCondLst>
                                    <p:cond delay="0"/>
                                  </p:stCondLst>
                                  <p:childTnLst>
                                    <p:set>
                                      <p:cBhvr>
                                        <p:cTn id="58" dur="1" fill="hold">
                                          <p:stCondLst>
                                            <p:cond delay="0"/>
                                          </p:stCondLst>
                                        </p:cTn>
                                        <p:tgtEl>
                                          <p:spTgt spid="15"/>
                                        </p:tgtEl>
                                        <p:attrNameLst>
                                          <p:attrName>style.visibility</p:attrName>
                                        </p:attrNameLst>
                                      </p:cBhvr>
                                      <p:to>
                                        <p:strVal val="visible"/>
                                      </p:to>
                                    </p:set>
                                    <p:anim calcmode="lin" valueType="num">
                                      <p:cBhvr additive="base">
                                        <p:cTn id="59" dur="400" fill="hold"/>
                                        <p:tgtEl>
                                          <p:spTgt spid="15"/>
                                        </p:tgtEl>
                                        <p:attrNameLst>
                                          <p:attrName>ppt_w</p:attrName>
                                        </p:attrNameLst>
                                      </p:cBhvr>
                                      <p:tavLst>
                                        <p:tav tm="0">
                                          <p:val>
                                            <p:strVal val="0"/>
                                          </p:val>
                                        </p:tav>
                                        <p:tav tm="100000">
                                          <p:val>
                                            <p:strVal val="#ppt_w"/>
                                          </p:val>
                                        </p:tav>
                                      </p:tavLst>
                                    </p:anim>
                                    <p:anim calcmode="lin" valueType="num">
                                      <p:cBhvr additive="base">
                                        <p:cTn id="60" dur="400" fill="hold"/>
                                        <p:tgtEl>
                                          <p:spTgt spid="15"/>
                                        </p:tgtEl>
                                        <p:attrNameLst>
                                          <p:attrName>ppt_h</p:attrName>
                                        </p:attrNameLst>
                                      </p:cBhvr>
                                      <p:tavLst>
                                        <p:tav tm="0">
                                          <p:val>
                                            <p:strVal val="0"/>
                                          </p:val>
                                        </p:tav>
                                        <p:tav tm="100000">
                                          <p:val>
                                            <p:strVal val="#ppt_h"/>
                                          </p:val>
                                        </p:tav>
                                      </p:tavLst>
                                    </p:anim>
                                    <p:animEffect transition="in" filter="fade">
                                      <p:cBhvr>
                                        <p:cTn id="61" dur="400"/>
                                        <p:tgtEl>
                                          <p:spTgt spid="15"/>
                                        </p:tgtEl>
                                      </p:cBhvr>
                                    </p:animEffect>
                                  </p:childTnLst>
                                </p:cTn>
                              </p:par>
                              <p:par>
                                <p:cTn id="67" presetID="53" presetClass="entr" presetSubtype="16" fill="hold" grpId="0" nodeType="withEffect">
                                  <p:stCondLst>
                                    <p:cond delay="0"/>
                                  </p:stCondLst>
                                  <p:childTnLst>
                                    <p:set>
                                      <p:cBhvr>
                                        <p:cTn id="63" dur="1" fill="hold">
                                          <p:stCondLst>
                                            <p:cond delay="0"/>
                                          </p:stCondLst>
                                        </p:cTn>
                                        <p:tgtEl>
                                          <p:spTgt spid="16"/>
                                        </p:tgtEl>
                                        <p:attrNameLst>
                                          <p:attrName>style.visibility</p:attrName>
                                        </p:attrNameLst>
                                      </p:cBhvr>
                                      <p:to>
                                        <p:strVal val="visible"/>
                                      </p:to>
                                    </p:set>
                                    <p:anim calcmode="lin" valueType="num">
                                      <p:cBhvr additive="base">
                                        <p:cTn id="64" dur="400" fill="hold"/>
                                        <p:tgtEl>
                                          <p:spTgt spid="16"/>
                                        </p:tgtEl>
                                        <p:attrNameLst>
                                          <p:attrName>ppt_w</p:attrName>
                                        </p:attrNameLst>
                                      </p:cBhvr>
                                      <p:tavLst>
                                        <p:tav tm="0">
                                          <p:val>
                                            <p:strVal val="0"/>
                                          </p:val>
                                        </p:tav>
                                        <p:tav tm="100000">
                                          <p:val>
                                            <p:strVal val="#ppt_w"/>
                                          </p:val>
                                        </p:tav>
                                      </p:tavLst>
                                    </p:anim>
                                    <p:anim calcmode="lin" valueType="num">
                                      <p:cBhvr additive="base">
                                        <p:cTn id="65" dur="400" fill="hold"/>
                                        <p:tgtEl>
                                          <p:spTgt spid="16"/>
                                        </p:tgtEl>
                                        <p:attrNameLst>
                                          <p:attrName>ppt_h</p:attrName>
                                        </p:attrNameLst>
                                      </p:cBhvr>
                                      <p:tavLst>
                                        <p:tav tm="0">
                                          <p:val>
                                            <p:strVal val="0"/>
                                          </p:val>
                                        </p:tav>
                                        <p:tav tm="100000">
                                          <p:val>
                                            <p:strVal val="#ppt_h"/>
                                          </p:val>
                                        </p:tav>
                                      </p:tavLst>
                                    </p:anim>
                                    <p:animEffect transition="in" filter="fade">
                                      <p:cBhvr>
                                        <p:cTn id="66" dur="400"/>
                                        <p:tgtEl>
                                          <p:spTgt spid="16"/>
                                        </p:tgtEl>
                                      </p:cBhvr>
                                    </p:animEffect>
                                  </p:childTnLst>
                                </p:cTn>
                              </p:par>
                            </p:childTnLst>
                          </p:cTn>
                        </p:par>
                      </p:childTnLst>
                    </p:cTn>
                  </p:par>
                  <p:par>
                    <p:cTn id="68" fill="hold">
                      <p:stCondLst>
                        <p:cond delay="indefinite"/>
                      </p:stCondLst>
                      <p:childTnLst>
                        <p:par>
                          <p:cTn id="69" fill="hold">
                            <p:stCondLst>
                              <p:cond delay="0"/>
                            </p:stCondLst>
                            <p:childTnLst>
                              <p:par>
                                <p:cTn id="72" presetID="22" presetClass="entr" presetSubtype="8" fill="hold" grpId="0" nodeType="clickEffect">
                                  <p:stCondLst>
                                    <p:cond delay="0"/>
                                  </p:stCondLst>
                                  <p:childTnLst>
                                    <p:set>
                                      <p:cBhvr>
                                        <p:cTn id="70" dur="1" fill="hold">
                                          <p:stCondLst>
                                            <p:cond delay="0"/>
                                          </p:stCondLst>
                                        </p:cTn>
                                        <p:tgtEl>
                                          <p:spTgt spid="17"/>
                                        </p:tgtEl>
                                        <p:attrNameLst>
                                          <p:attrName>style.visibility</p:attrName>
                                        </p:attrNameLst>
                                      </p:cBhvr>
                                      <p:to>
                                        <p:strVal val="visible"/>
                                      </p:to>
                                    </p:set>
                                    <p:animEffect transition="in" filter="wipe(left)">
                                      <p:cBhvr>
                                        <p:cTn id="71" dur="1500"/>
                                        <p:tgtEl>
                                          <p:spTgt spid="17"/>
                                        </p:tgtEl>
                                      </p:cBhvr>
                                    </p:animEffect>
                                  </p:childTnLst>
                                </p:cTn>
                              </p:par>
                              <p:par>
                                <p:cTn id="75" presetID="10" presetClass="entr" presetSubtype="0" fill="hold" grpId="0" nodeType="withEffect">
                                  <p:stCondLst>
                                    <p:cond delay="0"/>
                                  </p:stCondLst>
                                  <p:childTnLst>
                                    <p:set>
                                      <p:cBhvr>
                                        <p:cTn id="73" dur="1" fill="hold">
                                          <p:stCondLst>
                                            <p:cond delay="0"/>
                                          </p:stCondLst>
                                        </p:cTn>
                                        <p:tgtEl>
                                          <p:spTgt spid="18"/>
                                        </p:tgtEl>
                                        <p:attrNameLst>
                                          <p:attrName>style.visibility</p:attrName>
                                        </p:attrNameLst>
                                      </p:cBhvr>
                                      <p:to>
                                        <p:strVal val="visible"/>
                                      </p:to>
                                    </p:set>
                                    <p:animEffect transition="in" filter="fade">
                                      <p:cBhvr>
                                        <p:cTn id="74"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Graphic spid="17" grpId="0">
        <p:bldAsOne/>
      </p:bldGraphic>
      <p:bldP spid="1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686800" cy="320040"/>
          </a:xfrm>
          <a:prstGeom prst="rect">
            <a:avLst/>
          </a:prstGeom>
          <a:noFill/>
          <a:ln/>
        </p:spPr>
        <p:txBody>
          <a:bodyPr wrap="square" lIns="0" tIns="0" rIns="0" bIns="0" rtlCol="0" anchor="t"/>
          <a:lstStyle/>
          <a:p>
            <a:pPr indent="0" marL="0">
              <a:buNone/>
            </a:pPr>
            <a:r>
              <a:rPr lang="en-US" sz="1300" b="1" spc="200" kern="0" dirty="0">
                <a:solidFill>
                  <a:schemeClr val="accent3"/>
                </a:solidFill>
              </a:rPr>
              <a:t>ALERTS AND EMAIL</a:t>
            </a:r>
            <a:endParaRPr lang="en-US" sz="1300" dirty="0"/>
          </a:p>
        </p:txBody>
      </p:sp>
      <p:sp>
        <p:nvSpPr>
          <p:cNvPr id="3" name="Text 0"/>
          <p:cNvSpPr/>
          <p:nvPr>
            <p:ph idx="101" type="title" hasCustomPrompt="1"/>
          </p:nvPr>
        </p:nvSpPr>
        <p:spPr>
          <a:xfrm>
            <a:off x="548640" y="713232"/>
            <a:ext cx="11091672" cy="822960"/>
          </a:xfrm>
          <a:prstGeom prst="rect">
            <a:avLst/>
          </a:prstGeom>
          <a:noFill/>
          <a:ln/>
        </p:spPr>
        <p:txBody>
          <a:bodyPr wrap="square" lIns="0" tIns="0" rIns="0" bIns="0" rtlCol="0" anchor="t"/>
          <a:lstStyle/>
          <a:p>
            <a:pPr indent="0" marL="0">
              <a:buNone/>
            </a:pPr>
            <a:r>
              <a:rPr lang="en-US" sz="3200" b="1" dirty="0">
                <a:solidFill>
                  <a:schemeClr val="bg2"/>
                </a:solidFill>
              </a:rPr>
              <a:t>A broken rule reaches you within seconds</a:t>
            </a:r>
            <a:endParaRPr lang="en-US" sz="3200" dirty="0"/>
          </a:p>
        </p:txBody>
      </p:sp>
      <p:sp>
        <p:nvSpPr>
          <p:cNvPr id="4" name="nav-contents"/>
          <p:cNvSpPr txBox="1"/>
          <p:nvPr/>
        </p:nvSpPr>
        <p:spPr>
          <a:xfrm>
            <a:off x="10451592" y="365760"/>
            <a:ext cx="1188720" cy="292608"/>
          </a:xfrm>
          <a:prstGeom prst="rect">
            <a:avLst/>
          </a:prstGeom>
          <a:noFill/>
          <a:ln/>
        </p:spPr>
        <p:txBody>
          <a:bodyPr wrap="square" lIns="0" tIns="0" rIns="0" bIns="0" rtlCol="0" anchor="ctr"/>
          <a:lstStyle/>
          <a:p>
            <a:pPr algn="r" indent="0" marL="0">
              <a:buNone/>
            </a:pPr>
            <a:r>
              <a:rPr lang="en-US" sz="1100" u="sng" dirty="0">
                <a:solidFill>
                  <a:schemeClr val="accent3"/>
                </a:solidFill>
                <a:hlinkClick r:id="rId1" action="ppaction://hlinksldjump" tooltip="Back to contents">
                  <a:extLst>
                    <a:ext uri="{A12FA001-AC4F-418D-AE19-62706E023703}">
                      <ahyp:hlinkClr xmlns:ahyp="http://schemas.microsoft.com/office/drawing/2018/hyperlinkcolor" val="tx"/>
                    </a:ext>
                  </a:extLst>
                </a:hlinkClick>
              </a:rPr>
              <a:t>Contents ↩</a:t>
            </a:r>
            <a:endParaRPr lang="en-US" sz="1100" dirty="0"/>
          </a:p>
        </p:txBody>
      </p:sp>
      <p:sp>
        <p:nvSpPr>
          <p:cNvPr id="5" name="r-box"/>
          <p:cNvSpPr/>
          <p:nvPr/>
        </p:nvSpPr>
        <p:spPr>
          <a:xfrm>
            <a:off x="548640" y="1783080"/>
            <a:ext cx="4023360" cy="3154680"/>
          </a:xfrm>
          <a:prstGeom prst="roundRect">
            <a:avLst>
              <a:gd name="adj" fmla="val 3478"/>
            </a:avLst>
          </a:prstGeom>
          <a:solidFill>
            <a:schemeClr val="accent4"/>
          </a:solidFill>
          <a:ln w="9525">
            <a:solidFill>
              <a:schemeClr val="accent4"/>
            </a:solidFill>
            <a:prstDash val="solid"/>
          </a:ln>
        </p:spPr>
      </p:sp>
      <p:sp>
        <p:nvSpPr>
          <p:cNvPr id="6" name="r-t0"/>
          <p:cNvSpPr txBox="1"/>
          <p:nvPr/>
        </p:nvSpPr>
        <p:spPr>
          <a:xfrm>
            <a:off x="822960" y="2057400"/>
            <a:ext cx="3474720" cy="320040"/>
          </a:xfrm>
          <a:prstGeom prst="rect">
            <a:avLst/>
          </a:prstGeom>
          <a:noFill/>
          <a:ln/>
        </p:spPr>
        <p:txBody>
          <a:bodyPr wrap="square" lIns="0" tIns="0" rIns="0" bIns="0" rtlCol="0" anchor="t"/>
          <a:lstStyle/>
          <a:p>
            <a:pPr indent="0" marL="0">
              <a:lnSpc>
                <a:spcPct val="105000"/>
              </a:lnSpc>
              <a:buNone/>
            </a:pPr>
            <a:r>
              <a:rPr lang="en-US" sz="1400" dirty="0">
                <a:solidFill>
                  <a:schemeClr val="accent5"/>
                </a:solidFill>
              </a:rPr>
              <a:t>Example rule</a:t>
            </a:r>
            <a:endParaRPr lang="en-US" sz="1400" dirty="0"/>
          </a:p>
        </p:txBody>
      </p:sp>
      <p:sp>
        <p:nvSpPr>
          <p:cNvPr id="7" name="r-t1"/>
          <p:cNvSpPr txBox="1"/>
          <p:nvPr/>
        </p:nvSpPr>
        <p:spPr>
          <a:xfrm>
            <a:off x="822960" y="2450592"/>
            <a:ext cx="3474720" cy="548640"/>
          </a:xfrm>
          <a:prstGeom prst="rect">
            <a:avLst/>
          </a:prstGeom>
          <a:noFill/>
          <a:ln/>
        </p:spPr>
        <p:txBody>
          <a:bodyPr wrap="square" lIns="0" tIns="0" rIns="0" bIns="0" rtlCol="0" anchor="t"/>
          <a:lstStyle/>
          <a:p>
            <a:pPr indent="0" marL="0">
              <a:lnSpc>
                <a:spcPct val="105000"/>
              </a:lnSpc>
              <a:buNone/>
            </a:pPr>
            <a:r>
              <a:rPr lang="en-US" sz="3000" b="1" dirty="0">
                <a:solidFill>
                  <a:schemeClr val="bg2"/>
                </a:solidFill>
                <a:latin typeface="Courier New" pitchFamily="34" charset="0"/>
                <a:ea typeface="Courier New" pitchFamily="34" charset="-122"/>
                <a:cs typeface="Courier New" pitchFamily="34" charset="-120"/>
              </a:rPr>
              <a:t>CPU &gt; 95%</a:t>
            </a:r>
            <a:endParaRPr lang="en-US" sz="3000" dirty="0"/>
          </a:p>
        </p:txBody>
      </p:sp>
      <p:sp>
        <p:nvSpPr>
          <p:cNvPr id="8" name="r-t2"/>
          <p:cNvSpPr txBox="1"/>
          <p:nvPr/>
        </p:nvSpPr>
        <p:spPr>
          <a:xfrm>
            <a:off x="822960" y="3072384"/>
            <a:ext cx="3474720" cy="411480"/>
          </a:xfrm>
          <a:prstGeom prst="rect">
            <a:avLst/>
          </a:prstGeom>
          <a:noFill/>
          <a:ln/>
        </p:spPr>
        <p:txBody>
          <a:bodyPr wrap="square" lIns="0" tIns="0" rIns="0" bIns="0" rtlCol="0" anchor="t"/>
          <a:lstStyle/>
          <a:p>
            <a:pPr indent="0" marL="0">
              <a:lnSpc>
                <a:spcPct val="105000"/>
              </a:lnSpc>
              <a:buNone/>
            </a:pPr>
            <a:r>
              <a:rPr lang="en-US" sz="1800" b="1" dirty="0">
                <a:solidFill>
                  <a:srgbClr val="F08A4B"/>
                </a:solidFill>
              </a:rPr>
              <a:t>Severity: Critical</a:t>
            </a:r>
            <a:endParaRPr lang="en-US" sz="1800" dirty="0"/>
          </a:p>
        </p:txBody>
      </p:sp>
      <p:sp>
        <p:nvSpPr>
          <p:cNvPr id="9" name="r-t3"/>
          <p:cNvSpPr txBox="1"/>
          <p:nvPr/>
        </p:nvSpPr>
        <p:spPr>
          <a:xfrm>
            <a:off x="822960" y="3557016"/>
            <a:ext cx="3474720" cy="914400"/>
          </a:xfrm>
          <a:prstGeom prst="rect">
            <a:avLst/>
          </a:prstGeom>
          <a:noFill/>
          <a:ln/>
        </p:spPr>
        <p:txBody>
          <a:bodyPr wrap="square" lIns="0" tIns="0" rIns="0" bIns="0" rtlCol="0" anchor="t"/>
          <a:lstStyle/>
          <a:p>
            <a:pPr indent="0" marL="0">
              <a:lnSpc>
                <a:spcPct val="105000"/>
              </a:lnSpc>
              <a:buNone/>
            </a:pPr>
            <a:r>
              <a:rPr lang="en-US" sz="1400" dirty="0">
                <a:solidFill>
                  <a:schemeClr val="accent5"/>
                </a:solidFill>
              </a:rPr>
              <a:t>Admins add, edit, switch off or delete rules for all servers or one server.</a:t>
            </a:r>
            <a:endParaRPr lang="en-US" sz="1400" dirty="0"/>
          </a:p>
        </p:txBody>
      </p:sp>
      <p:sp>
        <p:nvSpPr>
          <p:cNvPr id="10" name="as0-c"/>
          <p:cNvSpPr/>
          <p:nvPr/>
        </p:nvSpPr>
        <p:spPr>
          <a:xfrm>
            <a:off x="4937760" y="1828800"/>
            <a:ext cx="420624" cy="420624"/>
          </a:xfrm>
          <a:prstGeom prst="ellipse">
            <a:avLst/>
          </a:prstGeom>
          <a:solidFill>
            <a:srgbClr val="1F4F8F"/>
          </a:solidFill>
          <a:ln w="12700">
            <a:solidFill>
              <a:srgbClr val="5EA2EF"/>
            </a:solidFill>
            <a:prstDash val="solid"/>
          </a:ln>
        </p:spPr>
      </p:sp>
      <p:sp>
        <p:nvSpPr>
          <p:cNvPr id="11" name="as0-n"/>
          <p:cNvSpPr txBox="1"/>
          <p:nvPr/>
        </p:nvSpPr>
        <p:spPr>
          <a:xfrm>
            <a:off x="4937760" y="1828800"/>
            <a:ext cx="420624" cy="420624"/>
          </a:xfrm>
          <a:prstGeom prst="rect">
            <a:avLst/>
          </a:prstGeom>
          <a:noFill/>
          <a:ln/>
        </p:spPr>
        <p:txBody>
          <a:bodyPr wrap="square" lIns="0" tIns="0" rIns="0" bIns="0" rtlCol="0" anchor="ctr"/>
          <a:lstStyle/>
          <a:p>
            <a:pPr algn="ctr" indent="0" marL="0">
              <a:buNone/>
            </a:pPr>
            <a:r>
              <a:rPr lang="en-US" sz="1500" b="1" dirty="0">
                <a:solidFill>
                  <a:srgbClr val="EEF2F6"/>
                </a:solidFill>
              </a:rPr>
              <a:t>1</a:t>
            </a:r>
            <a:endParaRPr lang="en-US" sz="1500" dirty="0"/>
          </a:p>
        </p:txBody>
      </p:sp>
      <p:sp>
        <p:nvSpPr>
          <p:cNvPr id="12" name="as0-t"/>
          <p:cNvSpPr txBox="1"/>
          <p:nvPr/>
        </p:nvSpPr>
        <p:spPr>
          <a:xfrm>
            <a:off x="5532120" y="1828800"/>
            <a:ext cx="6108192" cy="420624"/>
          </a:xfrm>
          <a:prstGeom prst="rect">
            <a:avLst/>
          </a:prstGeom>
          <a:noFill/>
          <a:ln/>
        </p:spPr>
        <p:txBody>
          <a:bodyPr wrap="square" lIns="0" tIns="0" rIns="0" bIns="0" rtlCol="0" anchor="ctr"/>
          <a:lstStyle/>
          <a:p>
            <a:pPr indent="0" marL="0">
              <a:buNone/>
            </a:pPr>
            <a:r>
              <a:rPr lang="en-US" sz="1800" dirty="0">
                <a:solidFill>
                  <a:srgbClr val="EEF2F6"/>
                </a:solidFill>
              </a:rPr>
              <a:t>Pop-up appears instantly in every browser</a:t>
            </a:r>
            <a:endParaRPr lang="en-US" sz="1800" dirty="0"/>
          </a:p>
        </p:txBody>
      </p:sp>
      <p:sp>
        <p:nvSpPr>
          <p:cNvPr id="13" name="as1-c"/>
          <p:cNvSpPr/>
          <p:nvPr/>
        </p:nvSpPr>
        <p:spPr>
          <a:xfrm>
            <a:off x="4937760" y="2450592"/>
            <a:ext cx="420624" cy="420624"/>
          </a:xfrm>
          <a:prstGeom prst="ellipse">
            <a:avLst/>
          </a:prstGeom>
          <a:solidFill>
            <a:srgbClr val="1F4F8F"/>
          </a:solidFill>
          <a:ln w="12700">
            <a:solidFill>
              <a:srgbClr val="5EA2EF"/>
            </a:solidFill>
            <a:prstDash val="solid"/>
          </a:ln>
        </p:spPr>
      </p:sp>
      <p:sp>
        <p:nvSpPr>
          <p:cNvPr id="14" name="as1-n"/>
          <p:cNvSpPr txBox="1"/>
          <p:nvPr/>
        </p:nvSpPr>
        <p:spPr>
          <a:xfrm>
            <a:off x="4937760" y="2450592"/>
            <a:ext cx="420624" cy="420624"/>
          </a:xfrm>
          <a:prstGeom prst="rect">
            <a:avLst/>
          </a:prstGeom>
          <a:noFill/>
          <a:ln/>
        </p:spPr>
        <p:txBody>
          <a:bodyPr wrap="square" lIns="0" tIns="0" rIns="0" bIns="0" rtlCol="0" anchor="ctr"/>
          <a:lstStyle/>
          <a:p>
            <a:pPr algn="ctr" indent="0" marL="0">
              <a:buNone/>
            </a:pPr>
            <a:r>
              <a:rPr lang="en-US" sz="1500" b="1" dirty="0">
                <a:solidFill>
                  <a:srgbClr val="EEF2F6"/>
                </a:solidFill>
              </a:rPr>
              <a:t>2</a:t>
            </a:r>
            <a:endParaRPr lang="en-US" sz="1500" dirty="0"/>
          </a:p>
        </p:txBody>
      </p:sp>
      <p:sp>
        <p:nvSpPr>
          <p:cNvPr id="15" name="as1-t"/>
          <p:cNvSpPr txBox="1"/>
          <p:nvPr/>
        </p:nvSpPr>
        <p:spPr>
          <a:xfrm>
            <a:off x="5532120" y="2450592"/>
            <a:ext cx="6108192" cy="420624"/>
          </a:xfrm>
          <a:prstGeom prst="rect">
            <a:avLst/>
          </a:prstGeom>
          <a:noFill/>
          <a:ln/>
        </p:spPr>
        <p:txBody>
          <a:bodyPr wrap="square" lIns="0" tIns="0" rIns="0" bIns="0" rtlCol="0" anchor="ctr"/>
          <a:lstStyle/>
          <a:p>
            <a:pPr indent="0" marL="0">
              <a:buNone/>
            </a:pPr>
            <a:r>
              <a:rPr lang="en-US" sz="1800" dirty="0">
                <a:solidFill>
                  <a:srgbClr val="EEF2F6"/>
                </a:solidFill>
              </a:rPr>
              <a:t>Saved in MySQL and listed under Active alerts</a:t>
            </a:r>
            <a:endParaRPr lang="en-US" sz="1800" dirty="0"/>
          </a:p>
        </p:txBody>
      </p:sp>
      <p:sp>
        <p:nvSpPr>
          <p:cNvPr id="16" name="as2-c"/>
          <p:cNvSpPr/>
          <p:nvPr/>
        </p:nvSpPr>
        <p:spPr>
          <a:xfrm>
            <a:off x="4937760" y="3072384"/>
            <a:ext cx="420624" cy="420624"/>
          </a:xfrm>
          <a:prstGeom prst="ellipse">
            <a:avLst/>
          </a:prstGeom>
          <a:solidFill>
            <a:srgbClr val="1F4F8F"/>
          </a:solidFill>
          <a:ln w="12700">
            <a:solidFill>
              <a:srgbClr val="5EA2EF"/>
            </a:solidFill>
            <a:prstDash val="solid"/>
          </a:ln>
        </p:spPr>
      </p:sp>
      <p:sp>
        <p:nvSpPr>
          <p:cNvPr id="17" name="as2-n"/>
          <p:cNvSpPr txBox="1"/>
          <p:nvPr/>
        </p:nvSpPr>
        <p:spPr>
          <a:xfrm>
            <a:off x="4937760" y="3072384"/>
            <a:ext cx="420624" cy="420624"/>
          </a:xfrm>
          <a:prstGeom prst="rect">
            <a:avLst/>
          </a:prstGeom>
          <a:noFill/>
          <a:ln/>
        </p:spPr>
        <p:txBody>
          <a:bodyPr wrap="square" lIns="0" tIns="0" rIns="0" bIns="0" rtlCol="0" anchor="ctr"/>
          <a:lstStyle/>
          <a:p>
            <a:pPr algn="ctr" indent="0" marL="0">
              <a:buNone/>
            </a:pPr>
            <a:r>
              <a:rPr lang="en-US" sz="1500" b="1" dirty="0">
                <a:solidFill>
                  <a:srgbClr val="EEF2F6"/>
                </a:solidFill>
              </a:rPr>
              <a:t>3</a:t>
            </a:r>
            <a:endParaRPr lang="en-US" sz="1500" dirty="0"/>
          </a:p>
        </p:txBody>
      </p:sp>
      <p:sp>
        <p:nvSpPr>
          <p:cNvPr id="18" name="as2-t"/>
          <p:cNvSpPr txBox="1"/>
          <p:nvPr/>
        </p:nvSpPr>
        <p:spPr>
          <a:xfrm>
            <a:off x="5532120" y="3072384"/>
            <a:ext cx="6108192" cy="420624"/>
          </a:xfrm>
          <a:prstGeom prst="rect">
            <a:avLst/>
          </a:prstGeom>
          <a:noFill/>
          <a:ln/>
        </p:spPr>
        <p:txBody>
          <a:bodyPr wrap="square" lIns="0" tIns="0" rIns="0" bIns="0" rtlCol="0" anchor="ctr"/>
          <a:lstStyle/>
          <a:p>
            <a:pPr indent="0" marL="0">
              <a:buNone/>
            </a:pPr>
            <a:r>
              <a:rPr lang="en-US" sz="1800" dirty="0">
                <a:solidFill>
                  <a:srgbClr val="EEF2F6"/>
                </a:solidFill>
              </a:rPr>
              <a:t>Written to the live logs</a:t>
            </a:r>
            <a:endParaRPr lang="en-US" sz="1800" dirty="0"/>
          </a:p>
        </p:txBody>
      </p:sp>
      <p:sp>
        <p:nvSpPr>
          <p:cNvPr id="19" name="as3-c"/>
          <p:cNvSpPr/>
          <p:nvPr/>
        </p:nvSpPr>
        <p:spPr>
          <a:xfrm>
            <a:off x="4937760" y="3694176"/>
            <a:ext cx="420624" cy="420624"/>
          </a:xfrm>
          <a:prstGeom prst="ellipse">
            <a:avLst/>
          </a:prstGeom>
          <a:solidFill>
            <a:srgbClr val="1F4F8F"/>
          </a:solidFill>
          <a:ln w="12700">
            <a:solidFill>
              <a:srgbClr val="5EA2EF"/>
            </a:solidFill>
            <a:prstDash val="solid"/>
          </a:ln>
        </p:spPr>
      </p:sp>
      <p:sp>
        <p:nvSpPr>
          <p:cNvPr id="20" name="as3-n"/>
          <p:cNvSpPr txBox="1"/>
          <p:nvPr/>
        </p:nvSpPr>
        <p:spPr>
          <a:xfrm>
            <a:off x="4937760" y="3694176"/>
            <a:ext cx="420624" cy="420624"/>
          </a:xfrm>
          <a:prstGeom prst="rect">
            <a:avLst/>
          </a:prstGeom>
          <a:noFill/>
          <a:ln/>
        </p:spPr>
        <p:txBody>
          <a:bodyPr wrap="square" lIns="0" tIns="0" rIns="0" bIns="0" rtlCol="0" anchor="ctr"/>
          <a:lstStyle/>
          <a:p>
            <a:pPr algn="ctr" indent="0" marL="0">
              <a:buNone/>
            </a:pPr>
            <a:r>
              <a:rPr lang="en-US" sz="1500" b="1" dirty="0">
                <a:solidFill>
                  <a:srgbClr val="EEF2F6"/>
                </a:solidFill>
              </a:rPr>
              <a:t>4</a:t>
            </a:r>
            <a:endParaRPr lang="en-US" sz="1500" dirty="0"/>
          </a:p>
        </p:txBody>
      </p:sp>
      <p:sp>
        <p:nvSpPr>
          <p:cNvPr id="21" name="as3-t"/>
          <p:cNvSpPr txBox="1"/>
          <p:nvPr/>
        </p:nvSpPr>
        <p:spPr>
          <a:xfrm>
            <a:off x="5532120" y="3694176"/>
            <a:ext cx="6108192" cy="420624"/>
          </a:xfrm>
          <a:prstGeom prst="rect">
            <a:avLst/>
          </a:prstGeom>
          <a:noFill/>
          <a:ln/>
        </p:spPr>
        <p:txBody>
          <a:bodyPr wrap="square" lIns="0" tIns="0" rIns="0" bIns="0" rtlCol="0" anchor="ctr"/>
          <a:lstStyle/>
          <a:p>
            <a:pPr indent="0" marL="0">
              <a:buNone/>
            </a:pPr>
            <a:r>
              <a:rPr lang="en-US" sz="1800" dirty="0">
                <a:solidFill>
                  <a:srgbClr val="EEF2F6"/>
                </a:solidFill>
              </a:rPr>
              <a:t>Critical: HTML email to up to 5 people via Gmail</a:t>
            </a:r>
            <a:endParaRPr lang="en-US" sz="1800" dirty="0"/>
          </a:p>
        </p:txBody>
      </p:sp>
      <p:sp>
        <p:nvSpPr>
          <p:cNvPr id="22" name="as4-c"/>
          <p:cNvSpPr/>
          <p:nvPr/>
        </p:nvSpPr>
        <p:spPr>
          <a:xfrm>
            <a:off x="4937760" y="4315968"/>
            <a:ext cx="420624" cy="420624"/>
          </a:xfrm>
          <a:prstGeom prst="ellipse">
            <a:avLst/>
          </a:prstGeom>
          <a:solidFill>
            <a:srgbClr val="1F4F8F"/>
          </a:solidFill>
          <a:ln w="12700">
            <a:solidFill>
              <a:srgbClr val="5EA2EF"/>
            </a:solidFill>
            <a:prstDash val="solid"/>
          </a:ln>
        </p:spPr>
      </p:sp>
      <p:sp>
        <p:nvSpPr>
          <p:cNvPr id="23" name="as4-n"/>
          <p:cNvSpPr txBox="1"/>
          <p:nvPr/>
        </p:nvSpPr>
        <p:spPr>
          <a:xfrm>
            <a:off x="4937760" y="4315968"/>
            <a:ext cx="420624" cy="420624"/>
          </a:xfrm>
          <a:prstGeom prst="rect">
            <a:avLst/>
          </a:prstGeom>
          <a:noFill/>
          <a:ln/>
        </p:spPr>
        <p:txBody>
          <a:bodyPr wrap="square" lIns="0" tIns="0" rIns="0" bIns="0" rtlCol="0" anchor="ctr"/>
          <a:lstStyle/>
          <a:p>
            <a:pPr algn="ctr" indent="0" marL="0">
              <a:buNone/>
            </a:pPr>
            <a:r>
              <a:rPr lang="en-US" sz="1500" b="1" dirty="0">
                <a:solidFill>
                  <a:srgbClr val="EEF2F6"/>
                </a:solidFill>
              </a:rPr>
              <a:t>5</a:t>
            </a:r>
            <a:endParaRPr lang="en-US" sz="1500" dirty="0"/>
          </a:p>
        </p:txBody>
      </p:sp>
      <p:sp>
        <p:nvSpPr>
          <p:cNvPr id="24" name="as4-t"/>
          <p:cNvSpPr txBox="1"/>
          <p:nvPr/>
        </p:nvSpPr>
        <p:spPr>
          <a:xfrm>
            <a:off x="5532120" y="4315968"/>
            <a:ext cx="6108192" cy="420624"/>
          </a:xfrm>
          <a:prstGeom prst="rect">
            <a:avLst/>
          </a:prstGeom>
          <a:noFill/>
          <a:ln/>
        </p:spPr>
        <p:txBody>
          <a:bodyPr wrap="square" lIns="0" tIns="0" rIns="0" bIns="0" rtlCol="0" anchor="ctr"/>
          <a:lstStyle/>
          <a:p>
            <a:pPr indent="0" marL="0">
              <a:buNone/>
            </a:pPr>
            <a:r>
              <a:rPr lang="en-US" sz="1800" dirty="0">
                <a:solidFill>
                  <a:srgbClr val="EEF2F6"/>
                </a:solidFill>
              </a:rPr>
              <a:t>Acknowledged one by one or all; the user's name is saved</a:t>
            </a:r>
            <a:endParaRPr lang="en-US" sz="1800" dirty="0"/>
          </a:p>
        </p:txBody>
      </p:sp>
      <p:sp>
        <p:nvSpPr>
          <p:cNvPr id="25" name="a-spam"/>
          <p:cNvSpPr txBox="1"/>
          <p:nvPr/>
        </p:nvSpPr>
        <p:spPr>
          <a:xfrm>
            <a:off x="548640" y="5257800"/>
            <a:ext cx="11091672" cy="548640"/>
          </a:xfrm>
          <a:prstGeom prst="rect">
            <a:avLst/>
          </a:prstGeom>
          <a:noFill/>
          <a:ln/>
        </p:spPr>
        <p:txBody>
          <a:bodyPr wrap="square" lIns="0" tIns="0" rIns="0" bIns="0" rtlCol="0" anchor="ctr"/>
          <a:lstStyle/>
          <a:p>
            <a:pPr indent="0" marL="0">
              <a:buNone/>
            </a:pPr>
            <a:r>
              <a:rPr lang="en-US" sz="1600" dirty="0">
                <a:solidFill>
                  <a:srgbClr val="A9B8CA"/>
                </a:solidFill>
              </a:rPr>
              <a:t>Spam guards: the same rule repeats at most every 2 minutes per server, and at most 20 emails are sent per hour.</a:t>
            </a:r>
            <a:endParaRPr lang="en-US" sz="1600" dirty="0"/>
          </a:p>
        </p:txBody>
      </p:sp>
      <p:sp>
        <p:nvSpPr>
          <p:cNvPr id="26"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9B8CA"/>
                </a:solidFill>
              </a:defRPr>
            </a:lvl1pPr>
          </a:lstStyle>
          <a:p>
            <a:pPr algn="r"/>
            <a:fld id="{F7021451-1387-4CA6-816F-3879F97B5CBC}" type="slidenum">
              <a:rPr b="0" lang="en-US"/>
              <a:t>10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additive="base">
                                        <p:cTn id="6" dur="500" fill="hold"/>
                                        <p:tgtEl>
                                          <p:spTgt spid="5"/>
                                        </p:tgtEl>
                                        <p:attrNameLst>
                                          <p:attrName>ppt_w</p:attrName>
                                        </p:attrNameLst>
                                      </p:cBhvr>
                                      <p:tavLst>
                                        <p:tav tm="0">
                                          <p:val>
                                            <p:strVal val="0"/>
                                          </p:val>
                                        </p:tav>
                                        <p:tav tm="100000">
                                          <p:val>
                                            <p:strVal val="#ppt_w"/>
                                          </p:val>
                                        </p:tav>
                                      </p:tavLst>
                                    </p:anim>
                                    <p:anim calcmode="lin" valueType="num">
                                      <p:cBhvr additive="base">
                                        <p:cTn id="7" dur="500" fill="hold"/>
                                        <p:tgtEl>
                                          <p:spTgt spid="5"/>
                                        </p:tgtEl>
                                        <p:attrNameLst>
                                          <p:attrName>ppt_h</p:attrName>
                                        </p:attrNameLst>
                                      </p:cBhvr>
                                      <p:tavLst>
                                        <p:tav tm="0">
                                          <p:val>
                                            <p:strVal val="0"/>
                                          </p:val>
                                        </p:tav>
                                        <p:tav tm="100000">
                                          <p:val>
                                            <p:strVal val="#ppt_h"/>
                                          </p:val>
                                        </p:tav>
                                      </p:tavLst>
                                    </p:anim>
                                    <p:animEffect transition="in" filter="fade">
                                      <p:cBhvr>
                                        <p:cTn id="8" dur="500"/>
                                        <p:tgtEl>
                                          <p:spTgt spid="5"/>
                                        </p:tgtEl>
                                      </p:cBhvr>
                                    </p:animEffect>
                                  </p:childTnLst>
                                </p:cTn>
                              </p:par>
                              <p:par>
                                <p:cTn id="14" presetID="53" presetClass="entr" presetSubtype="16"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ppt_w</p:attrName>
                                        </p:attrNameLst>
                                      </p:cBhvr>
                                      <p:tavLst>
                                        <p:tav tm="0">
                                          <p:val>
                                            <p:strVal val="0"/>
                                          </p:val>
                                        </p:tav>
                                        <p:tav tm="100000">
                                          <p:val>
                                            <p:strVal val="#ppt_w"/>
                                          </p:val>
                                        </p:tav>
                                      </p:tavLst>
                                    </p:anim>
                                    <p:anim calcmode="lin" valueType="num">
                                      <p:cBhvr additive="base">
                                        <p:cTn id="12" dur="500" fill="hold"/>
                                        <p:tgtEl>
                                          <p:spTgt spid="6"/>
                                        </p:tgtEl>
                                        <p:attrNameLst>
                                          <p:attrName>ppt_h</p:attrName>
                                        </p:attrNameLst>
                                      </p:cBhvr>
                                      <p:tavLst>
                                        <p:tav tm="0">
                                          <p:val>
                                            <p:strVal val="0"/>
                                          </p:val>
                                        </p:tav>
                                        <p:tav tm="100000">
                                          <p:val>
                                            <p:strVal val="#ppt_h"/>
                                          </p:val>
                                        </p:tav>
                                      </p:tavLst>
                                    </p:anim>
                                    <p:animEffect transition="in" filter="fade">
                                      <p:cBhvr>
                                        <p:cTn id="13" dur="500"/>
                                        <p:tgtEl>
                                          <p:spTgt spid="6"/>
                                        </p:tgtEl>
                                      </p:cBhvr>
                                    </p:animEffect>
                                  </p:childTnLst>
                                </p:cTn>
                              </p:par>
                              <p:par>
                                <p:cTn id="19" presetID="53" presetClass="entr" presetSubtype="16"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additive="base">
                                        <p:cTn id="16" dur="500" fill="hold"/>
                                        <p:tgtEl>
                                          <p:spTgt spid="7"/>
                                        </p:tgtEl>
                                        <p:attrNameLst>
                                          <p:attrName>ppt_w</p:attrName>
                                        </p:attrNameLst>
                                      </p:cBhvr>
                                      <p:tavLst>
                                        <p:tav tm="0">
                                          <p:val>
                                            <p:strVal val="0"/>
                                          </p:val>
                                        </p:tav>
                                        <p:tav tm="100000">
                                          <p:val>
                                            <p:strVal val="#ppt_w"/>
                                          </p:val>
                                        </p:tav>
                                      </p:tavLst>
                                    </p:anim>
                                    <p:anim calcmode="lin" valueType="num">
                                      <p:cBhvr additive="base">
                                        <p:cTn id="17" dur="500" fill="hold"/>
                                        <p:tgtEl>
                                          <p:spTgt spid="7"/>
                                        </p:tgtEl>
                                        <p:attrNameLst>
                                          <p:attrName>ppt_h</p:attrName>
                                        </p:attrNameLst>
                                      </p:cBhvr>
                                      <p:tavLst>
                                        <p:tav tm="0">
                                          <p:val>
                                            <p:strVal val="0"/>
                                          </p:val>
                                        </p:tav>
                                        <p:tav tm="100000">
                                          <p:val>
                                            <p:strVal val="#ppt_h"/>
                                          </p:val>
                                        </p:tav>
                                      </p:tavLst>
                                    </p:anim>
                                    <p:animEffect transition="in" filter="fade">
                                      <p:cBhvr>
                                        <p:cTn id="18" dur="500"/>
                                        <p:tgtEl>
                                          <p:spTgt spid="7"/>
                                        </p:tgtEl>
                                      </p:cBhvr>
                                    </p:animEffect>
                                  </p:childTnLst>
                                </p:cTn>
                              </p:par>
                              <p:par>
                                <p:cTn id="24" presetID="53" presetClass="entr" presetSubtype="16"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fill="hold"/>
                                        <p:tgtEl>
                                          <p:spTgt spid="8"/>
                                        </p:tgtEl>
                                        <p:attrNameLst>
                                          <p:attrName>ppt_w</p:attrName>
                                        </p:attrNameLst>
                                      </p:cBhvr>
                                      <p:tavLst>
                                        <p:tav tm="0">
                                          <p:val>
                                            <p:strVal val="0"/>
                                          </p:val>
                                        </p:tav>
                                        <p:tav tm="100000">
                                          <p:val>
                                            <p:strVal val="#ppt_w"/>
                                          </p:val>
                                        </p:tav>
                                      </p:tavLst>
                                    </p:anim>
                                    <p:anim calcmode="lin" valueType="num">
                                      <p:cBhvr additive="base">
                                        <p:cTn id="22" dur="500" fill="hold"/>
                                        <p:tgtEl>
                                          <p:spTgt spid="8"/>
                                        </p:tgtEl>
                                        <p:attrNameLst>
                                          <p:attrName>ppt_h</p:attrName>
                                        </p:attrNameLst>
                                      </p:cBhvr>
                                      <p:tavLst>
                                        <p:tav tm="0">
                                          <p:val>
                                            <p:strVal val="0"/>
                                          </p:val>
                                        </p:tav>
                                        <p:tav tm="100000">
                                          <p:val>
                                            <p:strVal val="#ppt_h"/>
                                          </p:val>
                                        </p:tav>
                                      </p:tavLst>
                                    </p:anim>
                                    <p:animEffect transition="in" filter="fade">
                                      <p:cBhvr>
                                        <p:cTn id="23" dur="500"/>
                                        <p:tgtEl>
                                          <p:spTgt spid="8"/>
                                        </p:tgtEl>
                                      </p:cBhvr>
                                    </p:animEffect>
                                  </p:childTnLst>
                                </p:cTn>
                              </p:par>
                              <p:par>
                                <p:cTn id="29" presetID="53" presetClass="entr" presetSubtype="16"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 calcmode="lin" valueType="num">
                                      <p:cBhvr additive="base">
                                        <p:cTn id="26" dur="500" fill="hold"/>
                                        <p:tgtEl>
                                          <p:spTgt spid="9"/>
                                        </p:tgtEl>
                                        <p:attrNameLst>
                                          <p:attrName>ppt_w</p:attrName>
                                        </p:attrNameLst>
                                      </p:cBhvr>
                                      <p:tavLst>
                                        <p:tav tm="0">
                                          <p:val>
                                            <p:strVal val="0"/>
                                          </p:val>
                                        </p:tav>
                                        <p:tav tm="100000">
                                          <p:val>
                                            <p:strVal val="#ppt_w"/>
                                          </p:val>
                                        </p:tav>
                                      </p:tavLst>
                                    </p:anim>
                                    <p:anim calcmode="lin" valueType="num">
                                      <p:cBhvr additive="base">
                                        <p:cTn id="27" dur="500" fill="hold"/>
                                        <p:tgtEl>
                                          <p:spTgt spid="9"/>
                                        </p:tgtEl>
                                        <p:attrNameLst>
                                          <p:attrName>ppt_h</p:attrName>
                                        </p:attrNameLst>
                                      </p:cBhvr>
                                      <p:tavLst>
                                        <p:tav tm="0">
                                          <p:val>
                                            <p:strVal val="0"/>
                                          </p:val>
                                        </p:tav>
                                        <p:tav tm="100000">
                                          <p:val>
                                            <p:strVal val="#ppt_h"/>
                                          </p:val>
                                        </p:tav>
                                      </p:tavLst>
                                    </p:anim>
                                    <p:animEffect transition="in" filter="fade">
                                      <p:cBhvr>
                                        <p:cTn id="28" dur="500"/>
                                        <p:tgtEl>
                                          <p:spTgt spid="9"/>
                                        </p:tgtEl>
                                      </p:cBhvr>
                                    </p:animEffect>
                                  </p:childTnLst>
                                </p:cTn>
                              </p:par>
                            </p:childTnLst>
                          </p:cTn>
                        </p:par>
                      </p:childTnLst>
                    </p:cTn>
                  </p:par>
                  <p:par>
                    <p:cTn id="30" fill="hold">
                      <p:stCondLst>
                        <p:cond delay="indefinite"/>
                      </p:stCondLst>
                      <p:childTnLst>
                        <p:par>
                          <p:cTn id="31" fill="hold">
                            <p:stCondLst>
                              <p:cond delay="0"/>
                            </p:stCondLst>
                            <p:childTnLst>
                              <p:par>
                                <p:cTn id="35" presetID="2" presetClass="entr" presetSubtype="8"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anim calcmode="lin" valueType="num">
                                      <p:cBhvr additive="base">
                                        <p:cTn id="33" dur="450" fill="hold"/>
                                        <p:tgtEl>
                                          <p:spTgt spid="10"/>
                                        </p:tgtEl>
                                        <p:attrNameLst>
                                          <p:attrName>ppt_x</p:attrName>
                                        </p:attrNameLst>
                                      </p:cBhvr>
                                      <p:tavLst>
                                        <p:tav tm="0">
                                          <p:val>
                                            <p:strVal val="0-#ppt_w/2"/>
                                          </p:val>
                                        </p:tav>
                                        <p:tav tm="100000">
                                          <p:val>
                                            <p:strVal val="#ppt_x"/>
                                          </p:val>
                                        </p:tav>
                                      </p:tavLst>
                                    </p:anim>
                                    <p:anim calcmode="lin" valueType="num">
                                      <p:cBhvr additive="base">
                                        <p:cTn id="34" dur="450" fill="hold"/>
                                        <p:tgtEl>
                                          <p:spTgt spid="10"/>
                                        </p:tgtEl>
                                        <p:attrNameLst>
                                          <p:attrName>ppt_y</p:attrName>
                                        </p:attrNameLst>
                                      </p:cBhvr>
                                      <p:tavLst>
                                        <p:tav tm="0">
                                          <p:val>
                                            <p:strVal val="#ppt_y"/>
                                          </p:val>
                                        </p:tav>
                                        <p:tav tm="100000">
                                          <p:val>
                                            <p:strVal val="#ppt_y"/>
                                          </p:val>
                                        </p:tav>
                                      </p:tavLst>
                                    </p:anim>
                                  </p:childTnLst>
                                </p:cTn>
                              </p:par>
                              <p:par>
                                <p:cTn id="39" presetID="2" presetClass="entr" presetSubtype="8"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additive="base">
                                        <p:cTn id="37" dur="450" fill="hold"/>
                                        <p:tgtEl>
                                          <p:spTgt spid="11"/>
                                        </p:tgtEl>
                                        <p:attrNameLst>
                                          <p:attrName>ppt_x</p:attrName>
                                        </p:attrNameLst>
                                      </p:cBhvr>
                                      <p:tavLst>
                                        <p:tav tm="0">
                                          <p:val>
                                            <p:strVal val="0-#ppt_w/2"/>
                                          </p:val>
                                        </p:tav>
                                        <p:tav tm="100000">
                                          <p:val>
                                            <p:strVal val="#ppt_x"/>
                                          </p:val>
                                        </p:tav>
                                      </p:tavLst>
                                    </p:anim>
                                    <p:anim calcmode="lin" valueType="num">
                                      <p:cBhvr additive="base">
                                        <p:cTn id="38" dur="450" fill="hold"/>
                                        <p:tgtEl>
                                          <p:spTgt spid="11"/>
                                        </p:tgtEl>
                                        <p:attrNameLst>
                                          <p:attrName>ppt_y</p:attrName>
                                        </p:attrNameLst>
                                      </p:cBhvr>
                                      <p:tavLst>
                                        <p:tav tm="0">
                                          <p:val>
                                            <p:strVal val="#ppt_y"/>
                                          </p:val>
                                        </p:tav>
                                        <p:tav tm="100000">
                                          <p:val>
                                            <p:strVal val="#ppt_y"/>
                                          </p:val>
                                        </p:tav>
                                      </p:tavLst>
                                    </p:anim>
                                  </p:childTnLst>
                                </p:cTn>
                              </p:par>
                              <p:par>
                                <p:cTn id="43" presetID="2" presetClass="entr" presetSubtype="8"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anim calcmode="lin" valueType="num">
                                      <p:cBhvr additive="base">
                                        <p:cTn id="41" dur="450" fill="hold"/>
                                        <p:tgtEl>
                                          <p:spTgt spid="12"/>
                                        </p:tgtEl>
                                        <p:attrNameLst>
                                          <p:attrName>ppt_x</p:attrName>
                                        </p:attrNameLst>
                                      </p:cBhvr>
                                      <p:tavLst>
                                        <p:tav tm="0">
                                          <p:val>
                                            <p:strVal val="0-#ppt_w/2"/>
                                          </p:val>
                                        </p:tav>
                                        <p:tav tm="100000">
                                          <p:val>
                                            <p:strVal val="#ppt_x"/>
                                          </p:val>
                                        </p:tav>
                                      </p:tavLst>
                                    </p:anim>
                                    <p:anim calcmode="lin" valueType="num">
                                      <p:cBhvr additive="base">
                                        <p:cTn id="42" dur="45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9" presetID="2" presetClass="entr" presetSubtype="8"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anim calcmode="lin" valueType="num">
                                      <p:cBhvr additive="base">
                                        <p:cTn id="47" dur="450" fill="hold"/>
                                        <p:tgtEl>
                                          <p:spTgt spid="13"/>
                                        </p:tgtEl>
                                        <p:attrNameLst>
                                          <p:attrName>ppt_x</p:attrName>
                                        </p:attrNameLst>
                                      </p:cBhvr>
                                      <p:tavLst>
                                        <p:tav tm="0">
                                          <p:val>
                                            <p:strVal val="0-#ppt_w/2"/>
                                          </p:val>
                                        </p:tav>
                                        <p:tav tm="100000">
                                          <p:val>
                                            <p:strVal val="#ppt_x"/>
                                          </p:val>
                                        </p:tav>
                                      </p:tavLst>
                                    </p:anim>
                                    <p:anim calcmode="lin" valueType="num">
                                      <p:cBhvr additive="base">
                                        <p:cTn id="48" dur="450" fill="hold"/>
                                        <p:tgtEl>
                                          <p:spTgt spid="13"/>
                                        </p:tgtEl>
                                        <p:attrNameLst>
                                          <p:attrName>ppt_y</p:attrName>
                                        </p:attrNameLst>
                                      </p:cBhvr>
                                      <p:tavLst>
                                        <p:tav tm="0">
                                          <p:val>
                                            <p:strVal val="#ppt_y"/>
                                          </p:val>
                                        </p:tav>
                                        <p:tav tm="100000">
                                          <p:val>
                                            <p:strVal val="#ppt_y"/>
                                          </p:val>
                                        </p:tav>
                                      </p:tavLst>
                                    </p:anim>
                                  </p:childTnLst>
                                </p:cTn>
                              </p:par>
                              <p:par>
                                <p:cTn id="53" presetID="2" presetClass="entr" presetSubtype="8" fill="hold" grpId="0" nodeType="withEffect">
                                  <p:stCondLst>
                                    <p:cond delay="0"/>
                                  </p:stCondLst>
                                  <p:childTnLst>
                                    <p:set>
                                      <p:cBhvr>
                                        <p:cTn id="50" dur="1" fill="hold">
                                          <p:stCondLst>
                                            <p:cond delay="0"/>
                                          </p:stCondLst>
                                        </p:cTn>
                                        <p:tgtEl>
                                          <p:spTgt spid="14"/>
                                        </p:tgtEl>
                                        <p:attrNameLst>
                                          <p:attrName>style.visibility</p:attrName>
                                        </p:attrNameLst>
                                      </p:cBhvr>
                                      <p:to>
                                        <p:strVal val="visible"/>
                                      </p:to>
                                    </p:set>
                                    <p:anim calcmode="lin" valueType="num">
                                      <p:cBhvr additive="base">
                                        <p:cTn id="51" dur="450" fill="hold"/>
                                        <p:tgtEl>
                                          <p:spTgt spid="14"/>
                                        </p:tgtEl>
                                        <p:attrNameLst>
                                          <p:attrName>ppt_x</p:attrName>
                                        </p:attrNameLst>
                                      </p:cBhvr>
                                      <p:tavLst>
                                        <p:tav tm="0">
                                          <p:val>
                                            <p:strVal val="0-#ppt_w/2"/>
                                          </p:val>
                                        </p:tav>
                                        <p:tav tm="100000">
                                          <p:val>
                                            <p:strVal val="#ppt_x"/>
                                          </p:val>
                                        </p:tav>
                                      </p:tavLst>
                                    </p:anim>
                                    <p:anim calcmode="lin" valueType="num">
                                      <p:cBhvr additive="base">
                                        <p:cTn id="52" dur="450" fill="hold"/>
                                        <p:tgtEl>
                                          <p:spTgt spid="14"/>
                                        </p:tgtEl>
                                        <p:attrNameLst>
                                          <p:attrName>ppt_y</p:attrName>
                                        </p:attrNameLst>
                                      </p:cBhvr>
                                      <p:tavLst>
                                        <p:tav tm="0">
                                          <p:val>
                                            <p:strVal val="#ppt_y"/>
                                          </p:val>
                                        </p:tav>
                                        <p:tav tm="100000">
                                          <p:val>
                                            <p:strVal val="#ppt_y"/>
                                          </p:val>
                                        </p:tav>
                                      </p:tavLst>
                                    </p:anim>
                                  </p:childTnLst>
                                </p:cTn>
                              </p:par>
                              <p:par>
                                <p:cTn id="57" presetID="2" presetClass="entr" presetSubtype="8" fill="hold" grpId="0" nodeType="withEffect">
                                  <p:stCondLst>
                                    <p:cond delay="0"/>
                                  </p:stCondLst>
                                  <p:childTnLst>
                                    <p:set>
                                      <p:cBhvr>
                                        <p:cTn id="54" dur="1" fill="hold">
                                          <p:stCondLst>
                                            <p:cond delay="0"/>
                                          </p:stCondLst>
                                        </p:cTn>
                                        <p:tgtEl>
                                          <p:spTgt spid="15"/>
                                        </p:tgtEl>
                                        <p:attrNameLst>
                                          <p:attrName>style.visibility</p:attrName>
                                        </p:attrNameLst>
                                      </p:cBhvr>
                                      <p:to>
                                        <p:strVal val="visible"/>
                                      </p:to>
                                    </p:set>
                                    <p:anim calcmode="lin" valueType="num">
                                      <p:cBhvr additive="base">
                                        <p:cTn id="55" dur="450" fill="hold"/>
                                        <p:tgtEl>
                                          <p:spTgt spid="15"/>
                                        </p:tgtEl>
                                        <p:attrNameLst>
                                          <p:attrName>ppt_x</p:attrName>
                                        </p:attrNameLst>
                                      </p:cBhvr>
                                      <p:tavLst>
                                        <p:tav tm="0">
                                          <p:val>
                                            <p:strVal val="0-#ppt_w/2"/>
                                          </p:val>
                                        </p:tav>
                                        <p:tav tm="100000">
                                          <p:val>
                                            <p:strVal val="#ppt_x"/>
                                          </p:val>
                                        </p:tav>
                                      </p:tavLst>
                                    </p:anim>
                                    <p:anim calcmode="lin" valueType="num">
                                      <p:cBhvr additive="base">
                                        <p:cTn id="56" dur="45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3" presetID="2" presetClass="entr" presetSubtype="8" fill="hold" grpId="0" nodeType="clickEffect">
                                  <p:stCondLst>
                                    <p:cond delay="0"/>
                                  </p:stCondLst>
                                  <p:childTnLst>
                                    <p:set>
                                      <p:cBhvr>
                                        <p:cTn id="60" dur="1" fill="hold">
                                          <p:stCondLst>
                                            <p:cond delay="0"/>
                                          </p:stCondLst>
                                        </p:cTn>
                                        <p:tgtEl>
                                          <p:spTgt spid="16"/>
                                        </p:tgtEl>
                                        <p:attrNameLst>
                                          <p:attrName>style.visibility</p:attrName>
                                        </p:attrNameLst>
                                      </p:cBhvr>
                                      <p:to>
                                        <p:strVal val="visible"/>
                                      </p:to>
                                    </p:set>
                                    <p:anim calcmode="lin" valueType="num">
                                      <p:cBhvr additive="base">
                                        <p:cTn id="61" dur="450" fill="hold"/>
                                        <p:tgtEl>
                                          <p:spTgt spid="16"/>
                                        </p:tgtEl>
                                        <p:attrNameLst>
                                          <p:attrName>ppt_x</p:attrName>
                                        </p:attrNameLst>
                                      </p:cBhvr>
                                      <p:tavLst>
                                        <p:tav tm="0">
                                          <p:val>
                                            <p:strVal val="0-#ppt_w/2"/>
                                          </p:val>
                                        </p:tav>
                                        <p:tav tm="100000">
                                          <p:val>
                                            <p:strVal val="#ppt_x"/>
                                          </p:val>
                                        </p:tav>
                                      </p:tavLst>
                                    </p:anim>
                                    <p:anim calcmode="lin" valueType="num">
                                      <p:cBhvr additive="base">
                                        <p:cTn id="62" dur="450" fill="hold"/>
                                        <p:tgtEl>
                                          <p:spTgt spid="16"/>
                                        </p:tgtEl>
                                        <p:attrNameLst>
                                          <p:attrName>ppt_y</p:attrName>
                                        </p:attrNameLst>
                                      </p:cBhvr>
                                      <p:tavLst>
                                        <p:tav tm="0">
                                          <p:val>
                                            <p:strVal val="#ppt_y"/>
                                          </p:val>
                                        </p:tav>
                                        <p:tav tm="100000">
                                          <p:val>
                                            <p:strVal val="#ppt_y"/>
                                          </p:val>
                                        </p:tav>
                                      </p:tavLst>
                                    </p:anim>
                                  </p:childTnLst>
                                </p:cTn>
                              </p:par>
                              <p:par>
                                <p:cTn id="67" presetID="2" presetClass="entr" presetSubtype="8" fill="hold" grpId="0" nodeType="withEffect">
                                  <p:stCondLst>
                                    <p:cond delay="0"/>
                                  </p:stCondLst>
                                  <p:childTnLst>
                                    <p:set>
                                      <p:cBhvr>
                                        <p:cTn id="64" dur="1" fill="hold">
                                          <p:stCondLst>
                                            <p:cond delay="0"/>
                                          </p:stCondLst>
                                        </p:cTn>
                                        <p:tgtEl>
                                          <p:spTgt spid="17"/>
                                        </p:tgtEl>
                                        <p:attrNameLst>
                                          <p:attrName>style.visibility</p:attrName>
                                        </p:attrNameLst>
                                      </p:cBhvr>
                                      <p:to>
                                        <p:strVal val="visible"/>
                                      </p:to>
                                    </p:set>
                                    <p:anim calcmode="lin" valueType="num">
                                      <p:cBhvr additive="base">
                                        <p:cTn id="65" dur="450" fill="hold"/>
                                        <p:tgtEl>
                                          <p:spTgt spid="17"/>
                                        </p:tgtEl>
                                        <p:attrNameLst>
                                          <p:attrName>ppt_x</p:attrName>
                                        </p:attrNameLst>
                                      </p:cBhvr>
                                      <p:tavLst>
                                        <p:tav tm="0">
                                          <p:val>
                                            <p:strVal val="0-#ppt_w/2"/>
                                          </p:val>
                                        </p:tav>
                                        <p:tav tm="100000">
                                          <p:val>
                                            <p:strVal val="#ppt_x"/>
                                          </p:val>
                                        </p:tav>
                                      </p:tavLst>
                                    </p:anim>
                                    <p:anim calcmode="lin" valueType="num">
                                      <p:cBhvr additive="base">
                                        <p:cTn id="66" dur="450" fill="hold"/>
                                        <p:tgtEl>
                                          <p:spTgt spid="17"/>
                                        </p:tgtEl>
                                        <p:attrNameLst>
                                          <p:attrName>ppt_y</p:attrName>
                                        </p:attrNameLst>
                                      </p:cBhvr>
                                      <p:tavLst>
                                        <p:tav tm="0">
                                          <p:val>
                                            <p:strVal val="#ppt_y"/>
                                          </p:val>
                                        </p:tav>
                                        <p:tav tm="100000">
                                          <p:val>
                                            <p:strVal val="#ppt_y"/>
                                          </p:val>
                                        </p:tav>
                                      </p:tavLst>
                                    </p:anim>
                                  </p:childTnLst>
                                </p:cTn>
                              </p:par>
                              <p:par>
                                <p:cTn id="71" presetID="2" presetClass="entr" presetSubtype="8" fill="hold" grpId="0" nodeType="withEffect">
                                  <p:stCondLst>
                                    <p:cond delay="0"/>
                                  </p:stCondLst>
                                  <p:childTnLst>
                                    <p:set>
                                      <p:cBhvr>
                                        <p:cTn id="68" dur="1" fill="hold">
                                          <p:stCondLst>
                                            <p:cond delay="0"/>
                                          </p:stCondLst>
                                        </p:cTn>
                                        <p:tgtEl>
                                          <p:spTgt spid="18"/>
                                        </p:tgtEl>
                                        <p:attrNameLst>
                                          <p:attrName>style.visibility</p:attrName>
                                        </p:attrNameLst>
                                      </p:cBhvr>
                                      <p:to>
                                        <p:strVal val="visible"/>
                                      </p:to>
                                    </p:set>
                                    <p:anim calcmode="lin" valueType="num">
                                      <p:cBhvr additive="base">
                                        <p:cTn id="69" dur="450" fill="hold"/>
                                        <p:tgtEl>
                                          <p:spTgt spid="18"/>
                                        </p:tgtEl>
                                        <p:attrNameLst>
                                          <p:attrName>ppt_x</p:attrName>
                                        </p:attrNameLst>
                                      </p:cBhvr>
                                      <p:tavLst>
                                        <p:tav tm="0">
                                          <p:val>
                                            <p:strVal val="0-#ppt_w/2"/>
                                          </p:val>
                                        </p:tav>
                                        <p:tav tm="100000">
                                          <p:val>
                                            <p:strVal val="#ppt_x"/>
                                          </p:val>
                                        </p:tav>
                                      </p:tavLst>
                                    </p:anim>
                                    <p:anim calcmode="lin" valueType="num">
                                      <p:cBhvr additive="base">
                                        <p:cTn id="70" dur="45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7" presetID="2" presetClass="entr" presetSubtype="8" fill="hold" grpId="0" nodeType="clickEffect">
                                  <p:stCondLst>
                                    <p:cond delay="0"/>
                                  </p:stCondLst>
                                  <p:childTnLst>
                                    <p:set>
                                      <p:cBhvr>
                                        <p:cTn id="74" dur="1" fill="hold">
                                          <p:stCondLst>
                                            <p:cond delay="0"/>
                                          </p:stCondLst>
                                        </p:cTn>
                                        <p:tgtEl>
                                          <p:spTgt spid="19"/>
                                        </p:tgtEl>
                                        <p:attrNameLst>
                                          <p:attrName>style.visibility</p:attrName>
                                        </p:attrNameLst>
                                      </p:cBhvr>
                                      <p:to>
                                        <p:strVal val="visible"/>
                                      </p:to>
                                    </p:set>
                                    <p:anim calcmode="lin" valueType="num">
                                      <p:cBhvr additive="base">
                                        <p:cTn id="75" dur="450" fill="hold"/>
                                        <p:tgtEl>
                                          <p:spTgt spid="19"/>
                                        </p:tgtEl>
                                        <p:attrNameLst>
                                          <p:attrName>ppt_x</p:attrName>
                                        </p:attrNameLst>
                                      </p:cBhvr>
                                      <p:tavLst>
                                        <p:tav tm="0">
                                          <p:val>
                                            <p:strVal val="0-#ppt_w/2"/>
                                          </p:val>
                                        </p:tav>
                                        <p:tav tm="100000">
                                          <p:val>
                                            <p:strVal val="#ppt_x"/>
                                          </p:val>
                                        </p:tav>
                                      </p:tavLst>
                                    </p:anim>
                                    <p:anim calcmode="lin" valueType="num">
                                      <p:cBhvr additive="base">
                                        <p:cTn id="76" dur="450" fill="hold"/>
                                        <p:tgtEl>
                                          <p:spTgt spid="19"/>
                                        </p:tgtEl>
                                        <p:attrNameLst>
                                          <p:attrName>ppt_y</p:attrName>
                                        </p:attrNameLst>
                                      </p:cBhvr>
                                      <p:tavLst>
                                        <p:tav tm="0">
                                          <p:val>
                                            <p:strVal val="#ppt_y"/>
                                          </p:val>
                                        </p:tav>
                                        <p:tav tm="100000">
                                          <p:val>
                                            <p:strVal val="#ppt_y"/>
                                          </p:val>
                                        </p:tav>
                                      </p:tavLst>
                                    </p:anim>
                                  </p:childTnLst>
                                </p:cTn>
                              </p:par>
                              <p:par>
                                <p:cTn id="81" presetID="2" presetClass="entr" presetSubtype="8" fill="hold" grpId="0" nodeType="withEffect">
                                  <p:stCondLst>
                                    <p:cond delay="0"/>
                                  </p:stCondLst>
                                  <p:childTnLst>
                                    <p:set>
                                      <p:cBhvr>
                                        <p:cTn id="78" dur="1" fill="hold">
                                          <p:stCondLst>
                                            <p:cond delay="0"/>
                                          </p:stCondLst>
                                        </p:cTn>
                                        <p:tgtEl>
                                          <p:spTgt spid="20"/>
                                        </p:tgtEl>
                                        <p:attrNameLst>
                                          <p:attrName>style.visibility</p:attrName>
                                        </p:attrNameLst>
                                      </p:cBhvr>
                                      <p:to>
                                        <p:strVal val="visible"/>
                                      </p:to>
                                    </p:set>
                                    <p:anim calcmode="lin" valueType="num">
                                      <p:cBhvr additive="base">
                                        <p:cTn id="79" dur="450" fill="hold"/>
                                        <p:tgtEl>
                                          <p:spTgt spid="20"/>
                                        </p:tgtEl>
                                        <p:attrNameLst>
                                          <p:attrName>ppt_x</p:attrName>
                                        </p:attrNameLst>
                                      </p:cBhvr>
                                      <p:tavLst>
                                        <p:tav tm="0">
                                          <p:val>
                                            <p:strVal val="0-#ppt_w/2"/>
                                          </p:val>
                                        </p:tav>
                                        <p:tav tm="100000">
                                          <p:val>
                                            <p:strVal val="#ppt_x"/>
                                          </p:val>
                                        </p:tav>
                                      </p:tavLst>
                                    </p:anim>
                                    <p:anim calcmode="lin" valueType="num">
                                      <p:cBhvr additive="base">
                                        <p:cTn id="80" dur="450" fill="hold"/>
                                        <p:tgtEl>
                                          <p:spTgt spid="20"/>
                                        </p:tgtEl>
                                        <p:attrNameLst>
                                          <p:attrName>ppt_y</p:attrName>
                                        </p:attrNameLst>
                                      </p:cBhvr>
                                      <p:tavLst>
                                        <p:tav tm="0">
                                          <p:val>
                                            <p:strVal val="#ppt_y"/>
                                          </p:val>
                                        </p:tav>
                                        <p:tav tm="100000">
                                          <p:val>
                                            <p:strVal val="#ppt_y"/>
                                          </p:val>
                                        </p:tav>
                                      </p:tavLst>
                                    </p:anim>
                                  </p:childTnLst>
                                </p:cTn>
                              </p:par>
                              <p:par>
                                <p:cTn id="85" presetID="2" presetClass="entr" presetSubtype="8" fill="hold" grpId="0" nodeType="withEffect">
                                  <p:stCondLst>
                                    <p:cond delay="0"/>
                                  </p:stCondLst>
                                  <p:childTnLst>
                                    <p:set>
                                      <p:cBhvr>
                                        <p:cTn id="82" dur="1" fill="hold">
                                          <p:stCondLst>
                                            <p:cond delay="0"/>
                                          </p:stCondLst>
                                        </p:cTn>
                                        <p:tgtEl>
                                          <p:spTgt spid="21"/>
                                        </p:tgtEl>
                                        <p:attrNameLst>
                                          <p:attrName>style.visibility</p:attrName>
                                        </p:attrNameLst>
                                      </p:cBhvr>
                                      <p:to>
                                        <p:strVal val="visible"/>
                                      </p:to>
                                    </p:set>
                                    <p:anim calcmode="lin" valueType="num">
                                      <p:cBhvr additive="base">
                                        <p:cTn id="83" dur="450" fill="hold"/>
                                        <p:tgtEl>
                                          <p:spTgt spid="21"/>
                                        </p:tgtEl>
                                        <p:attrNameLst>
                                          <p:attrName>ppt_x</p:attrName>
                                        </p:attrNameLst>
                                      </p:cBhvr>
                                      <p:tavLst>
                                        <p:tav tm="0">
                                          <p:val>
                                            <p:strVal val="0-#ppt_w/2"/>
                                          </p:val>
                                        </p:tav>
                                        <p:tav tm="100000">
                                          <p:val>
                                            <p:strVal val="#ppt_x"/>
                                          </p:val>
                                        </p:tav>
                                      </p:tavLst>
                                    </p:anim>
                                    <p:anim calcmode="lin" valueType="num">
                                      <p:cBhvr additive="base">
                                        <p:cTn id="84" dur="45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86" fill="hold">
                      <p:stCondLst>
                        <p:cond delay="indefinite"/>
                      </p:stCondLst>
                      <p:childTnLst>
                        <p:par>
                          <p:cTn id="87" fill="hold">
                            <p:stCondLst>
                              <p:cond delay="0"/>
                            </p:stCondLst>
                            <p:childTnLst>
                              <p:par>
                                <p:cTn id="91" presetID="2" presetClass="entr" presetSubtype="8" fill="hold" grpId="0" nodeType="clickEffect">
                                  <p:stCondLst>
                                    <p:cond delay="0"/>
                                  </p:stCondLst>
                                  <p:childTnLst>
                                    <p:set>
                                      <p:cBhvr>
                                        <p:cTn id="88" dur="1" fill="hold">
                                          <p:stCondLst>
                                            <p:cond delay="0"/>
                                          </p:stCondLst>
                                        </p:cTn>
                                        <p:tgtEl>
                                          <p:spTgt spid="22"/>
                                        </p:tgtEl>
                                        <p:attrNameLst>
                                          <p:attrName>style.visibility</p:attrName>
                                        </p:attrNameLst>
                                      </p:cBhvr>
                                      <p:to>
                                        <p:strVal val="visible"/>
                                      </p:to>
                                    </p:set>
                                    <p:anim calcmode="lin" valueType="num">
                                      <p:cBhvr additive="base">
                                        <p:cTn id="89" dur="450" fill="hold"/>
                                        <p:tgtEl>
                                          <p:spTgt spid="22"/>
                                        </p:tgtEl>
                                        <p:attrNameLst>
                                          <p:attrName>ppt_x</p:attrName>
                                        </p:attrNameLst>
                                      </p:cBhvr>
                                      <p:tavLst>
                                        <p:tav tm="0">
                                          <p:val>
                                            <p:strVal val="0-#ppt_w/2"/>
                                          </p:val>
                                        </p:tav>
                                        <p:tav tm="100000">
                                          <p:val>
                                            <p:strVal val="#ppt_x"/>
                                          </p:val>
                                        </p:tav>
                                      </p:tavLst>
                                    </p:anim>
                                    <p:anim calcmode="lin" valueType="num">
                                      <p:cBhvr additive="base">
                                        <p:cTn id="90" dur="450" fill="hold"/>
                                        <p:tgtEl>
                                          <p:spTgt spid="22"/>
                                        </p:tgtEl>
                                        <p:attrNameLst>
                                          <p:attrName>ppt_y</p:attrName>
                                        </p:attrNameLst>
                                      </p:cBhvr>
                                      <p:tavLst>
                                        <p:tav tm="0">
                                          <p:val>
                                            <p:strVal val="#ppt_y"/>
                                          </p:val>
                                        </p:tav>
                                        <p:tav tm="100000">
                                          <p:val>
                                            <p:strVal val="#ppt_y"/>
                                          </p:val>
                                        </p:tav>
                                      </p:tavLst>
                                    </p:anim>
                                  </p:childTnLst>
                                </p:cTn>
                              </p:par>
                              <p:par>
                                <p:cTn id="95" presetID="2" presetClass="entr" presetSubtype="8" fill="hold" grpId="0" nodeType="withEffect">
                                  <p:stCondLst>
                                    <p:cond delay="0"/>
                                  </p:stCondLst>
                                  <p:childTnLst>
                                    <p:set>
                                      <p:cBhvr>
                                        <p:cTn id="92" dur="1" fill="hold">
                                          <p:stCondLst>
                                            <p:cond delay="0"/>
                                          </p:stCondLst>
                                        </p:cTn>
                                        <p:tgtEl>
                                          <p:spTgt spid="23"/>
                                        </p:tgtEl>
                                        <p:attrNameLst>
                                          <p:attrName>style.visibility</p:attrName>
                                        </p:attrNameLst>
                                      </p:cBhvr>
                                      <p:to>
                                        <p:strVal val="visible"/>
                                      </p:to>
                                    </p:set>
                                    <p:anim calcmode="lin" valueType="num">
                                      <p:cBhvr additive="base">
                                        <p:cTn id="93" dur="450" fill="hold"/>
                                        <p:tgtEl>
                                          <p:spTgt spid="23"/>
                                        </p:tgtEl>
                                        <p:attrNameLst>
                                          <p:attrName>ppt_x</p:attrName>
                                        </p:attrNameLst>
                                      </p:cBhvr>
                                      <p:tavLst>
                                        <p:tav tm="0">
                                          <p:val>
                                            <p:strVal val="0-#ppt_w/2"/>
                                          </p:val>
                                        </p:tav>
                                        <p:tav tm="100000">
                                          <p:val>
                                            <p:strVal val="#ppt_x"/>
                                          </p:val>
                                        </p:tav>
                                      </p:tavLst>
                                    </p:anim>
                                    <p:anim calcmode="lin" valueType="num">
                                      <p:cBhvr additive="base">
                                        <p:cTn id="94" dur="450" fill="hold"/>
                                        <p:tgtEl>
                                          <p:spTgt spid="23"/>
                                        </p:tgtEl>
                                        <p:attrNameLst>
                                          <p:attrName>ppt_y</p:attrName>
                                        </p:attrNameLst>
                                      </p:cBhvr>
                                      <p:tavLst>
                                        <p:tav tm="0">
                                          <p:val>
                                            <p:strVal val="#ppt_y"/>
                                          </p:val>
                                        </p:tav>
                                        <p:tav tm="100000">
                                          <p:val>
                                            <p:strVal val="#ppt_y"/>
                                          </p:val>
                                        </p:tav>
                                      </p:tavLst>
                                    </p:anim>
                                  </p:childTnLst>
                                </p:cTn>
                              </p:par>
                              <p:par>
                                <p:cTn id="99" presetID="2" presetClass="entr" presetSubtype="8" fill="hold" grpId="0" nodeType="withEffect">
                                  <p:stCondLst>
                                    <p:cond delay="0"/>
                                  </p:stCondLst>
                                  <p:childTnLst>
                                    <p:set>
                                      <p:cBhvr>
                                        <p:cTn id="96" dur="1" fill="hold">
                                          <p:stCondLst>
                                            <p:cond delay="0"/>
                                          </p:stCondLst>
                                        </p:cTn>
                                        <p:tgtEl>
                                          <p:spTgt spid="24"/>
                                        </p:tgtEl>
                                        <p:attrNameLst>
                                          <p:attrName>style.visibility</p:attrName>
                                        </p:attrNameLst>
                                      </p:cBhvr>
                                      <p:to>
                                        <p:strVal val="visible"/>
                                      </p:to>
                                    </p:set>
                                    <p:anim calcmode="lin" valueType="num">
                                      <p:cBhvr additive="base">
                                        <p:cTn id="97" dur="450" fill="hold"/>
                                        <p:tgtEl>
                                          <p:spTgt spid="24"/>
                                        </p:tgtEl>
                                        <p:attrNameLst>
                                          <p:attrName>ppt_x</p:attrName>
                                        </p:attrNameLst>
                                      </p:cBhvr>
                                      <p:tavLst>
                                        <p:tav tm="0">
                                          <p:val>
                                            <p:strVal val="0-#ppt_w/2"/>
                                          </p:val>
                                        </p:tav>
                                        <p:tav tm="100000">
                                          <p:val>
                                            <p:strVal val="#ppt_x"/>
                                          </p:val>
                                        </p:tav>
                                      </p:tavLst>
                                    </p:anim>
                                    <p:anim calcmode="lin" valueType="num">
                                      <p:cBhvr additive="base">
                                        <p:cTn id="98" dur="450" fill="hold"/>
                                        <p:tgtEl>
                                          <p:spTgt spid="24"/>
                                        </p:tgtEl>
                                        <p:attrNameLst>
                                          <p:attrName>ppt_y</p:attrName>
                                        </p:attrNameLst>
                                      </p:cBhvr>
                                      <p:tavLst>
                                        <p:tav tm="0">
                                          <p:val>
                                            <p:strVal val="#ppt_y"/>
                                          </p:val>
                                        </p:tav>
                                        <p:tav tm="100000">
                                          <p:val>
                                            <p:strVal val="#ppt_y"/>
                                          </p:val>
                                        </p:tav>
                                      </p:tavLst>
                                    </p:anim>
                                  </p:childTnLst>
                                </p:cTn>
                              </p:par>
                            </p:childTnLst>
                          </p:cTn>
                        </p:par>
                      </p:childTnLst>
                    </p:cTn>
                  </p:par>
                  <p:par>
                    <p:cTn id="100" fill="hold">
                      <p:stCondLst>
                        <p:cond delay="indefinite"/>
                      </p:stCondLst>
                      <p:childTnLst>
                        <p:par>
                          <p:cTn id="101" fill="hold">
                            <p:stCondLst>
                              <p:cond delay="0"/>
                            </p:stCondLst>
                            <p:childTnLst>
                              <p:par>
                                <p:cTn id="104" presetID="10" presetClass="entr" presetSubtype="0" fill="hold" grpId="0" nodeType="clickEffect">
                                  <p:stCondLst>
                                    <p:cond delay="0"/>
                                  </p:stCondLst>
                                  <p:childTnLst>
                                    <p:set>
                                      <p:cBhvr>
                                        <p:cTn id="102" dur="1" fill="hold">
                                          <p:stCondLst>
                                            <p:cond delay="0"/>
                                          </p:stCondLst>
                                        </p:cTn>
                                        <p:tgtEl>
                                          <p:spTgt spid="25"/>
                                        </p:tgtEl>
                                        <p:attrNameLst>
                                          <p:attrName>style.visibility</p:attrName>
                                        </p:attrNameLst>
                                      </p:cBhvr>
                                      <p:to>
                                        <p:strVal val="visible"/>
                                      </p:to>
                                    </p:set>
                                    <p:animEffect transition="in" filter="fade">
                                      <p:cBhvr>
                                        <p:cTn id="10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686800" cy="320040"/>
          </a:xfrm>
          <a:prstGeom prst="rect">
            <a:avLst/>
          </a:prstGeom>
          <a:noFill/>
          <a:ln/>
        </p:spPr>
        <p:txBody>
          <a:bodyPr wrap="square" lIns="0" tIns="0" rIns="0" bIns="0" rtlCol="0" anchor="t"/>
          <a:lstStyle/>
          <a:p>
            <a:pPr indent="0" marL="0">
              <a:buNone/>
            </a:pPr>
            <a:r>
              <a:rPr lang="en-US" sz="1300" b="1" spc="200" kern="0" dirty="0">
                <a:solidFill>
                  <a:schemeClr val="accent1"/>
                </a:solidFill>
              </a:rPr>
              <a:t>COSTS, LOGS AND REPORTS</a:t>
            </a:r>
            <a:endParaRPr lang="en-US" sz="1300" dirty="0"/>
          </a:p>
        </p:txBody>
      </p:sp>
      <p:sp>
        <p:nvSpPr>
          <p:cNvPr id="3" name="Text 0"/>
          <p:cNvSpPr/>
          <p:nvPr>
            <p:ph idx="101" type="title" hasCustomPrompt="1"/>
          </p:nvPr>
        </p:nvSpPr>
        <p:spPr>
          <a:xfrm>
            <a:off x="548640" y="713232"/>
            <a:ext cx="11091672" cy="822960"/>
          </a:xfrm>
          <a:prstGeom prst="rect">
            <a:avLst/>
          </a:prstGeom>
          <a:noFill/>
          <a:ln/>
        </p:spPr>
        <p:txBody>
          <a:bodyPr wrap="square" lIns="0" tIns="0" rIns="0" bIns="0" rtlCol="0" anchor="t"/>
          <a:lstStyle/>
          <a:p>
            <a:pPr indent="0" marL="0">
              <a:buNone/>
            </a:pPr>
            <a:r>
              <a:rPr lang="en-US" sz="3200" b="1" dirty="0">
                <a:solidFill>
                  <a:schemeClr val="tx1"/>
                </a:solidFill>
              </a:rPr>
              <a:t>Beyond health: money, logs and paperwork</a:t>
            </a:r>
            <a:endParaRPr lang="en-US" sz="3200" dirty="0"/>
          </a:p>
        </p:txBody>
      </p:sp>
      <p:sp>
        <p:nvSpPr>
          <p:cNvPr id="4" name="nav-contents"/>
          <p:cNvSpPr txBox="1"/>
          <p:nvPr/>
        </p:nvSpPr>
        <p:spPr>
          <a:xfrm>
            <a:off x="10451592" y="365760"/>
            <a:ext cx="1188720" cy="292608"/>
          </a:xfrm>
          <a:prstGeom prst="rect">
            <a:avLst/>
          </a:prstGeom>
          <a:noFill/>
          <a:ln/>
        </p:spPr>
        <p:txBody>
          <a:bodyPr wrap="square" lIns="0" tIns="0" rIns="0" bIns="0" rtlCol="0" anchor="ctr"/>
          <a:lstStyle/>
          <a:p>
            <a:pPr algn="r" indent="0" marL="0">
              <a:buNone/>
            </a:pPr>
            <a:r>
              <a:rPr lang="en-US" sz="1100" u="sng" dirty="0">
                <a:solidFill>
                  <a:schemeClr val="accent1"/>
                </a:solidFill>
                <a:hlinkClick r:id="rId1" action="ppaction://hlinksldjump" tooltip="Back to contents">
                  <a:extLst>
                    <a:ext uri="{A12FA001-AC4F-418D-AE19-62706E023703}">
                      <ahyp:hlinkClr xmlns:ahyp="http://schemas.microsoft.com/office/drawing/2018/hyperlinkcolor" val="tx"/>
                    </a:ext>
                  </a:extLst>
                </a:hlinkClick>
              </a:rPr>
              <a:t>Contents ↩</a:t>
            </a:r>
            <a:endParaRPr lang="en-US" sz="1100" dirty="0"/>
          </a:p>
        </p:txBody>
      </p:sp>
      <p:sp>
        <p:nvSpPr>
          <p:cNvPr id="5" name="c1-box"/>
          <p:cNvSpPr/>
          <p:nvPr/>
        </p:nvSpPr>
        <p:spPr>
          <a:xfrm>
            <a:off x="548640" y="1783080"/>
            <a:ext cx="3514039" cy="3566160"/>
          </a:xfrm>
          <a:prstGeom prst="roundRect">
            <a:avLst>
              <a:gd name="adj" fmla="val 3123"/>
            </a:avLst>
          </a:prstGeom>
          <a:solidFill>
            <a:schemeClr val="bg1"/>
          </a:solidFill>
          <a:ln w="9525">
            <a:solidFill>
              <a:schemeClr val="accent5"/>
            </a:solidFill>
            <a:prstDash val="solid"/>
          </a:ln>
        </p:spPr>
      </p:sp>
      <p:pic>
        <p:nvPicPr>
          <p:cNvPr id="6" name="c1-icon" descr="preencoded.png">    </p:cNvPr>
          <p:cNvPicPr>
            <a:picLocks noChangeAspect="1"/>
          </p:cNvPicPr>
          <p:nvPr/>
        </p:nvPicPr>
        <p:blipFill>
          <a:blip r:embed="rId2"/>
          <a:stretch>
            <a:fillRect/>
          </a:stretch>
        </p:blipFill>
        <p:spPr>
          <a:xfrm>
            <a:off x="822960" y="2057400"/>
            <a:ext cx="457200" cy="457200"/>
          </a:xfrm>
          <a:prstGeom prst="rect">
            <a:avLst/>
          </a:prstGeom>
        </p:spPr>
      </p:pic>
      <p:sp>
        <p:nvSpPr>
          <p:cNvPr id="7" name="c1-t0"/>
          <p:cNvSpPr txBox="1"/>
          <p:nvPr/>
        </p:nvSpPr>
        <p:spPr>
          <a:xfrm>
            <a:off x="822960" y="2651760"/>
            <a:ext cx="2965399" cy="411480"/>
          </a:xfrm>
          <a:prstGeom prst="rect">
            <a:avLst/>
          </a:prstGeom>
          <a:noFill/>
          <a:ln/>
        </p:spPr>
        <p:txBody>
          <a:bodyPr wrap="square" lIns="0" tIns="0" rIns="0" bIns="0" rtlCol="0" anchor="t"/>
          <a:lstStyle/>
          <a:p>
            <a:pPr indent="0" marL="0">
              <a:lnSpc>
                <a:spcPct val="105000"/>
              </a:lnSpc>
              <a:buNone/>
            </a:pPr>
            <a:r>
              <a:rPr lang="en-US" sz="2000" b="1" dirty="0">
                <a:solidFill>
                  <a:schemeClr val="tx1"/>
                </a:solidFill>
              </a:rPr>
              <a:t>Costs</a:t>
            </a:r>
            <a:endParaRPr lang="en-US" sz="2000" dirty="0"/>
          </a:p>
        </p:txBody>
      </p:sp>
      <p:sp>
        <p:nvSpPr>
          <p:cNvPr id="8" name="c1-t1"/>
          <p:cNvSpPr txBox="1"/>
          <p:nvPr/>
        </p:nvSpPr>
        <p:spPr>
          <a:xfrm>
            <a:off x="822960" y="3136392"/>
            <a:ext cx="2965399" cy="1828800"/>
          </a:xfrm>
          <a:prstGeom prst="rect">
            <a:avLst/>
          </a:prstGeom>
          <a:noFill/>
          <a:ln/>
        </p:spPr>
        <p:txBody>
          <a:bodyPr wrap="square" lIns="0" tIns="0" rIns="0" bIns="0" rtlCol="0" anchor="t"/>
          <a:lstStyle/>
          <a:p>
            <a:pPr indent="0" marL="0">
              <a:lnSpc>
                <a:spcPct val="105000"/>
              </a:lnSpc>
              <a:buNone/>
            </a:pPr>
            <a:r>
              <a:rPr lang="en-US" sz="1500" dirty="0">
                <a:solidFill>
                  <a:schemeClr val="accent6"/>
                </a:solidFill>
              </a:rPr>
              <a:t>Burn rate × 730 hours = projected month, against a budget bar. Tips from 24 h usage, e.g. run the GPU server only in working hours to save half its cost.</a:t>
            </a:r>
            <a:endParaRPr lang="en-US" sz="1500" dirty="0"/>
          </a:p>
        </p:txBody>
      </p:sp>
      <p:sp>
        <p:nvSpPr>
          <p:cNvPr id="9" name="c2-box"/>
          <p:cNvSpPr/>
          <p:nvPr/>
        </p:nvSpPr>
        <p:spPr>
          <a:xfrm>
            <a:off x="4336999" y="1783080"/>
            <a:ext cx="3514039" cy="3566160"/>
          </a:xfrm>
          <a:prstGeom prst="roundRect">
            <a:avLst>
              <a:gd name="adj" fmla="val 3123"/>
            </a:avLst>
          </a:prstGeom>
          <a:solidFill>
            <a:schemeClr val="bg1"/>
          </a:solidFill>
          <a:ln w="9525">
            <a:solidFill>
              <a:schemeClr val="accent5"/>
            </a:solidFill>
            <a:prstDash val="solid"/>
          </a:ln>
        </p:spPr>
      </p:sp>
      <p:pic>
        <p:nvPicPr>
          <p:cNvPr id="10" name="c2-icon" descr="preencoded.png">    </p:cNvPr>
          <p:cNvPicPr>
            <a:picLocks noChangeAspect="1"/>
          </p:cNvPicPr>
          <p:nvPr/>
        </p:nvPicPr>
        <p:blipFill>
          <a:blip r:embed="rId3"/>
          <a:stretch>
            <a:fillRect/>
          </a:stretch>
        </p:blipFill>
        <p:spPr>
          <a:xfrm>
            <a:off x="4611319" y="2057400"/>
            <a:ext cx="457200" cy="457200"/>
          </a:xfrm>
          <a:prstGeom prst="rect">
            <a:avLst/>
          </a:prstGeom>
        </p:spPr>
      </p:pic>
      <p:sp>
        <p:nvSpPr>
          <p:cNvPr id="11" name="c2-t0"/>
          <p:cNvSpPr txBox="1"/>
          <p:nvPr/>
        </p:nvSpPr>
        <p:spPr>
          <a:xfrm>
            <a:off x="4611319" y="2651760"/>
            <a:ext cx="2965399" cy="411480"/>
          </a:xfrm>
          <a:prstGeom prst="rect">
            <a:avLst/>
          </a:prstGeom>
          <a:noFill/>
          <a:ln/>
        </p:spPr>
        <p:txBody>
          <a:bodyPr wrap="square" lIns="0" tIns="0" rIns="0" bIns="0" rtlCol="0" anchor="t"/>
          <a:lstStyle/>
          <a:p>
            <a:pPr indent="0" marL="0">
              <a:lnSpc>
                <a:spcPct val="105000"/>
              </a:lnSpc>
              <a:buNone/>
            </a:pPr>
            <a:r>
              <a:rPr lang="en-US" sz="2000" b="1" dirty="0">
                <a:solidFill>
                  <a:schemeClr val="tx1"/>
                </a:solidFill>
              </a:rPr>
              <a:t>Live logs</a:t>
            </a:r>
            <a:endParaRPr lang="en-US" sz="2000" dirty="0"/>
          </a:p>
        </p:txBody>
      </p:sp>
      <p:sp>
        <p:nvSpPr>
          <p:cNvPr id="12" name="c2-t1"/>
          <p:cNvSpPr txBox="1"/>
          <p:nvPr/>
        </p:nvSpPr>
        <p:spPr>
          <a:xfrm>
            <a:off x="4611319" y="3136392"/>
            <a:ext cx="2965399" cy="1828800"/>
          </a:xfrm>
          <a:prstGeom prst="rect">
            <a:avLst/>
          </a:prstGeom>
          <a:noFill/>
          <a:ln/>
        </p:spPr>
        <p:txBody>
          <a:bodyPr wrap="square" lIns="0" tIns="0" rIns="0" bIns="0" rtlCol="0" anchor="t"/>
          <a:lstStyle/>
          <a:p>
            <a:pPr indent="0" marL="0">
              <a:lnSpc>
                <a:spcPct val="105000"/>
              </a:lnSpc>
              <a:buNone/>
            </a:pPr>
            <a:r>
              <a:rPr lang="en-US" sz="1500" dirty="0">
                <a:solidFill>
                  <a:schemeClr val="accent6"/>
                </a:solidFill>
              </a:rPr>
              <a:t>Terminal-style stream of the last 5,000 lines. Filter by server and level, search, pause, download as .log.</a:t>
            </a:r>
            <a:endParaRPr lang="en-US" sz="1500" dirty="0"/>
          </a:p>
        </p:txBody>
      </p:sp>
      <p:sp>
        <p:nvSpPr>
          <p:cNvPr id="13" name="c3-box"/>
          <p:cNvSpPr/>
          <p:nvPr/>
        </p:nvSpPr>
        <p:spPr>
          <a:xfrm>
            <a:off x="8125358" y="1783080"/>
            <a:ext cx="3514039" cy="3566160"/>
          </a:xfrm>
          <a:prstGeom prst="roundRect">
            <a:avLst>
              <a:gd name="adj" fmla="val 3123"/>
            </a:avLst>
          </a:prstGeom>
          <a:solidFill>
            <a:schemeClr val="bg1"/>
          </a:solidFill>
          <a:ln w="9525">
            <a:solidFill>
              <a:schemeClr val="accent5"/>
            </a:solidFill>
            <a:prstDash val="solid"/>
          </a:ln>
        </p:spPr>
      </p:sp>
      <p:pic>
        <p:nvPicPr>
          <p:cNvPr id="14" name="c3-icon" descr="preencoded.png">    </p:cNvPr>
          <p:cNvPicPr>
            <a:picLocks noChangeAspect="1"/>
          </p:cNvPicPr>
          <p:nvPr/>
        </p:nvPicPr>
        <p:blipFill>
          <a:blip r:embed="rId4"/>
          <a:stretch>
            <a:fillRect/>
          </a:stretch>
        </p:blipFill>
        <p:spPr>
          <a:xfrm>
            <a:off x="8399678" y="2057400"/>
            <a:ext cx="457200" cy="457200"/>
          </a:xfrm>
          <a:prstGeom prst="rect">
            <a:avLst/>
          </a:prstGeom>
        </p:spPr>
      </p:pic>
      <p:sp>
        <p:nvSpPr>
          <p:cNvPr id="15" name="c3-t0"/>
          <p:cNvSpPr txBox="1"/>
          <p:nvPr/>
        </p:nvSpPr>
        <p:spPr>
          <a:xfrm>
            <a:off x="8399678" y="2651760"/>
            <a:ext cx="2965399" cy="411480"/>
          </a:xfrm>
          <a:prstGeom prst="rect">
            <a:avLst/>
          </a:prstGeom>
          <a:noFill/>
          <a:ln/>
        </p:spPr>
        <p:txBody>
          <a:bodyPr wrap="square" lIns="0" tIns="0" rIns="0" bIns="0" rtlCol="0" anchor="t"/>
          <a:lstStyle/>
          <a:p>
            <a:pPr indent="0" marL="0">
              <a:lnSpc>
                <a:spcPct val="105000"/>
              </a:lnSpc>
              <a:buNone/>
            </a:pPr>
            <a:r>
              <a:rPr lang="en-US" sz="2000" b="1" dirty="0">
                <a:solidFill>
                  <a:schemeClr val="tx1"/>
                </a:solidFill>
              </a:rPr>
              <a:t>Export</a:t>
            </a:r>
            <a:endParaRPr lang="en-US" sz="2000" dirty="0"/>
          </a:p>
        </p:txBody>
      </p:sp>
      <p:sp>
        <p:nvSpPr>
          <p:cNvPr id="16" name="c3-t1"/>
          <p:cNvSpPr txBox="1"/>
          <p:nvPr/>
        </p:nvSpPr>
        <p:spPr>
          <a:xfrm>
            <a:off x="8399678" y="3136392"/>
            <a:ext cx="2965399" cy="1828800"/>
          </a:xfrm>
          <a:prstGeom prst="rect">
            <a:avLst/>
          </a:prstGeom>
          <a:noFill/>
          <a:ln/>
        </p:spPr>
        <p:txBody>
          <a:bodyPr wrap="square" lIns="0" tIns="0" rIns="0" bIns="0" rtlCol="0" anchor="t"/>
          <a:lstStyle/>
          <a:p>
            <a:pPr indent="0" marL="0">
              <a:lnSpc>
                <a:spcPct val="105000"/>
              </a:lnSpc>
              <a:buNone/>
            </a:pPr>
            <a:r>
              <a:rPr lang="en-US" sz="1500" dirty="0">
                <a:solidFill>
                  <a:schemeClr val="accent6"/>
                </a:solidFill>
              </a:rPr>
              <a:t>Two-page PDF report built in Java with OpenPDF, plus CSV files of resources, alerts and costs for Excel.</a:t>
            </a:r>
            <a:endParaRPr lang="en-US" sz="15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5568"/>
                </a:solidFill>
              </a:defRPr>
            </a:lvl1pPr>
          </a:lstStyle>
          <a:p>
            <a:pPr algn="r"/>
            <a:fld id="{F7021451-1387-4CA6-816F-3879F97B5CBC}" type="slidenum">
              <a:rPr b="0" lang="en-US"/>
              <a:t>11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600"/>
                                        <p:tgtEl>
                                          <p:spTgt spid="5"/>
                                        </p:tgtEl>
                                      </p:cBhvr>
                                    </p:animEffect>
                                    <p:anim calcmode="lin" valueType="num">
                                      <p:cBhvr additive="base">
                                        <p:cTn id="7" dur="600" fill="hold"/>
                                        <p:tgtEl>
                                          <p:spTgt spid="5"/>
                                        </p:tgtEl>
                                        <p:attrNameLst>
                                          <p:attrName>ppt_x</p:attrName>
                                        </p:attrNameLst>
                                      </p:cBhvr>
                                      <p:tavLst>
                                        <p:tav tm="0">
                                          <p:val>
                                            <p:strVal val="#ppt_x"/>
                                          </p:val>
                                        </p:tav>
                                        <p:tav tm="100000">
                                          <p:val>
                                            <p:strVal val="#ppt_x"/>
                                          </p:val>
                                        </p:tav>
                                      </p:tavLst>
                                    </p:anim>
                                    <p:anim calcmode="lin" valueType="num">
                                      <p:cBhvr additive="base">
                                        <p:cTn id="8" dur="600" fill="hold"/>
                                        <p:tgtEl>
                                          <p:spTgt spid="5"/>
                                        </p:tgtEl>
                                        <p:attrNameLst>
                                          <p:attrName>ppt_y</p:attrName>
                                        </p:attrNameLst>
                                      </p:cBhvr>
                                      <p:tavLst>
                                        <p:tav tm="0">
                                          <p:val>
                                            <p:strVal val="#ppt_y+.1"/>
                                          </p:val>
                                        </p:tav>
                                        <p:tav tm="100000">
                                          <p:val>
                                            <p:strVal val="#ppt_y"/>
                                          </p:val>
                                        </p:tav>
                                      </p:tavLst>
                                    </p:anim>
                                  </p:childTnLst>
                                </p:cTn>
                              </p:par>
                              <p:par>
                                <p:cTn id="14" presetID="42"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600"/>
                                        <p:tgtEl>
                                          <p:spTgt spid="6"/>
                                        </p:tgtEl>
                                      </p:cBhvr>
                                    </p:animEffect>
                                    <p:anim calcmode="lin" valueType="num">
                                      <p:cBhvr additive="base">
                                        <p:cTn id="12" dur="600" fill="hold"/>
                                        <p:tgtEl>
                                          <p:spTgt spid="6"/>
                                        </p:tgtEl>
                                        <p:attrNameLst>
                                          <p:attrName>ppt_x</p:attrName>
                                        </p:attrNameLst>
                                      </p:cBhvr>
                                      <p:tavLst>
                                        <p:tav tm="0">
                                          <p:val>
                                            <p:strVal val="#ppt_x"/>
                                          </p:val>
                                        </p:tav>
                                        <p:tav tm="100000">
                                          <p:val>
                                            <p:strVal val="#ppt_x"/>
                                          </p:val>
                                        </p:tav>
                                      </p:tavLst>
                                    </p:anim>
                                    <p:anim calcmode="lin" valueType="num">
                                      <p:cBhvr additive="base">
                                        <p:cTn id="13" dur="600" fill="hold"/>
                                        <p:tgtEl>
                                          <p:spTgt spid="6"/>
                                        </p:tgtEl>
                                        <p:attrNameLst>
                                          <p:attrName>ppt_y</p:attrName>
                                        </p:attrNameLst>
                                      </p:cBhvr>
                                      <p:tavLst>
                                        <p:tav tm="0">
                                          <p:val>
                                            <p:strVal val="#ppt_y+.1"/>
                                          </p:val>
                                        </p:tav>
                                        <p:tav tm="100000">
                                          <p:val>
                                            <p:strVal val="#ppt_y"/>
                                          </p:val>
                                        </p:tav>
                                      </p:tavLst>
                                    </p:anim>
                                  </p:childTnLst>
                                </p:cTn>
                              </p:par>
                              <p:par>
                                <p:cTn id="19" presetID="42"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600"/>
                                        <p:tgtEl>
                                          <p:spTgt spid="7"/>
                                        </p:tgtEl>
                                      </p:cBhvr>
                                    </p:animEffect>
                                    <p:anim calcmode="lin" valueType="num">
                                      <p:cBhvr additive="base">
                                        <p:cTn id="17" dur="600" fill="hold"/>
                                        <p:tgtEl>
                                          <p:spTgt spid="7"/>
                                        </p:tgtEl>
                                        <p:attrNameLst>
                                          <p:attrName>ppt_x</p:attrName>
                                        </p:attrNameLst>
                                      </p:cBhvr>
                                      <p:tavLst>
                                        <p:tav tm="0">
                                          <p:val>
                                            <p:strVal val="#ppt_x"/>
                                          </p:val>
                                        </p:tav>
                                        <p:tav tm="100000">
                                          <p:val>
                                            <p:strVal val="#ppt_x"/>
                                          </p:val>
                                        </p:tav>
                                      </p:tavLst>
                                    </p:anim>
                                    <p:anim calcmode="lin" valueType="num">
                                      <p:cBhvr additive="base">
                                        <p:cTn id="18" dur="600" fill="hold"/>
                                        <p:tgtEl>
                                          <p:spTgt spid="7"/>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600"/>
                                        <p:tgtEl>
                                          <p:spTgt spid="8"/>
                                        </p:tgtEl>
                                      </p:cBhvr>
                                    </p:animEffect>
                                    <p:anim calcmode="lin" valueType="num">
                                      <p:cBhvr additive="base">
                                        <p:cTn id="22" dur="600" fill="hold"/>
                                        <p:tgtEl>
                                          <p:spTgt spid="8"/>
                                        </p:tgtEl>
                                        <p:attrNameLst>
                                          <p:attrName>ppt_x</p:attrName>
                                        </p:attrNameLst>
                                      </p:cBhvr>
                                      <p:tavLst>
                                        <p:tav tm="0">
                                          <p:val>
                                            <p:strVal val="#ppt_x"/>
                                          </p:val>
                                        </p:tav>
                                        <p:tav tm="100000">
                                          <p:val>
                                            <p:strVal val="#ppt_x"/>
                                          </p:val>
                                        </p:tav>
                                      </p:tavLst>
                                    </p:anim>
                                    <p:anim calcmode="lin" valueType="num">
                                      <p:cBhvr additive="base">
                                        <p:cTn id="23" dur="6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31" presetID="42"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600"/>
                                        <p:tgtEl>
                                          <p:spTgt spid="9"/>
                                        </p:tgtEl>
                                      </p:cBhvr>
                                    </p:animEffect>
                                    <p:anim calcmode="lin" valueType="num">
                                      <p:cBhvr additive="base">
                                        <p:cTn id="29" dur="600" fill="hold"/>
                                        <p:tgtEl>
                                          <p:spTgt spid="9"/>
                                        </p:tgtEl>
                                        <p:attrNameLst>
                                          <p:attrName>ppt_x</p:attrName>
                                        </p:attrNameLst>
                                      </p:cBhvr>
                                      <p:tavLst>
                                        <p:tav tm="0">
                                          <p:val>
                                            <p:strVal val="#ppt_x"/>
                                          </p:val>
                                        </p:tav>
                                        <p:tav tm="100000">
                                          <p:val>
                                            <p:strVal val="#ppt_x"/>
                                          </p:val>
                                        </p:tav>
                                      </p:tavLst>
                                    </p:anim>
                                    <p:anim calcmode="lin" valueType="num">
                                      <p:cBhvr additive="base">
                                        <p:cTn id="30" dur="600" fill="hold"/>
                                        <p:tgtEl>
                                          <p:spTgt spid="9"/>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600"/>
                                        <p:tgtEl>
                                          <p:spTgt spid="10"/>
                                        </p:tgtEl>
                                      </p:cBhvr>
                                    </p:animEffect>
                                    <p:anim calcmode="lin" valueType="num">
                                      <p:cBhvr additive="base">
                                        <p:cTn id="34" dur="600" fill="hold"/>
                                        <p:tgtEl>
                                          <p:spTgt spid="10"/>
                                        </p:tgtEl>
                                        <p:attrNameLst>
                                          <p:attrName>ppt_x</p:attrName>
                                        </p:attrNameLst>
                                      </p:cBhvr>
                                      <p:tavLst>
                                        <p:tav tm="0">
                                          <p:val>
                                            <p:strVal val="#ppt_x"/>
                                          </p:val>
                                        </p:tav>
                                        <p:tav tm="100000">
                                          <p:val>
                                            <p:strVal val="#ppt_x"/>
                                          </p:val>
                                        </p:tav>
                                      </p:tavLst>
                                    </p:anim>
                                    <p:anim calcmode="lin" valueType="num">
                                      <p:cBhvr additive="base">
                                        <p:cTn id="35" dur="600" fill="hold"/>
                                        <p:tgtEl>
                                          <p:spTgt spid="10"/>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600"/>
                                        <p:tgtEl>
                                          <p:spTgt spid="11"/>
                                        </p:tgtEl>
                                      </p:cBhvr>
                                    </p:animEffect>
                                    <p:anim calcmode="lin" valueType="num">
                                      <p:cBhvr additive="base">
                                        <p:cTn id="39" dur="600" fill="hold"/>
                                        <p:tgtEl>
                                          <p:spTgt spid="11"/>
                                        </p:tgtEl>
                                        <p:attrNameLst>
                                          <p:attrName>ppt_x</p:attrName>
                                        </p:attrNameLst>
                                      </p:cBhvr>
                                      <p:tavLst>
                                        <p:tav tm="0">
                                          <p:val>
                                            <p:strVal val="#ppt_x"/>
                                          </p:val>
                                        </p:tav>
                                        <p:tav tm="100000">
                                          <p:val>
                                            <p:strVal val="#ppt_x"/>
                                          </p:val>
                                        </p:tav>
                                      </p:tavLst>
                                    </p:anim>
                                    <p:anim calcmode="lin" valueType="num">
                                      <p:cBhvr additive="base">
                                        <p:cTn id="40" dur="600" fill="hold"/>
                                        <p:tgtEl>
                                          <p:spTgt spid="11"/>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600"/>
                                        <p:tgtEl>
                                          <p:spTgt spid="12"/>
                                        </p:tgtEl>
                                      </p:cBhvr>
                                    </p:animEffect>
                                    <p:anim calcmode="lin" valueType="num">
                                      <p:cBhvr additive="base">
                                        <p:cTn id="44" dur="600" fill="hold"/>
                                        <p:tgtEl>
                                          <p:spTgt spid="12"/>
                                        </p:tgtEl>
                                        <p:attrNameLst>
                                          <p:attrName>ppt_x</p:attrName>
                                        </p:attrNameLst>
                                      </p:cBhvr>
                                      <p:tavLst>
                                        <p:tav tm="0">
                                          <p:val>
                                            <p:strVal val="#ppt_x"/>
                                          </p:val>
                                        </p:tav>
                                        <p:tav tm="100000">
                                          <p:val>
                                            <p:strVal val="#ppt_x"/>
                                          </p:val>
                                        </p:tav>
                                      </p:tavLst>
                                    </p:anim>
                                    <p:anim calcmode="lin" valueType="num">
                                      <p:cBhvr additive="base">
                                        <p:cTn id="45" dur="6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53" presetID="42" presetClass="entr" presetSubtype="0" fill="hold" grpId="0" nodeType="click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600"/>
                                        <p:tgtEl>
                                          <p:spTgt spid="13"/>
                                        </p:tgtEl>
                                      </p:cBhvr>
                                    </p:animEffect>
                                    <p:anim calcmode="lin" valueType="num">
                                      <p:cBhvr additive="base">
                                        <p:cTn id="51" dur="600" fill="hold"/>
                                        <p:tgtEl>
                                          <p:spTgt spid="13"/>
                                        </p:tgtEl>
                                        <p:attrNameLst>
                                          <p:attrName>ppt_x</p:attrName>
                                        </p:attrNameLst>
                                      </p:cBhvr>
                                      <p:tavLst>
                                        <p:tav tm="0">
                                          <p:val>
                                            <p:strVal val="#ppt_x"/>
                                          </p:val>
                                        </p:tav>
                                        <p:tav tm="100000">
                                          <p:val>
                                            <p:strVal val="#ppt_x"/>
                                          </p:val>
                                        </p:tav>
                                      </p:tavLst>
                                    </p:anim>
                                    <p:anim calcmode="lin" valueType="num">
                                      <p:cBhvr additive="base">
                                        <p:cTn id="52" dur="600" fill="hold"/>
                                        <p:tgtEl>
                                          <p:spTgt spid="13"/>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600"/>
                                        <p:tgtEl>
                                          <p:spTgt spid="14"/>
                                        </p:tgtEl>
                                      </p:cBhvr>
                                    </p:animEffect>
                                    <p:anim calcmode="lin" valueType="num">
                                      <p:cBhvr additive="base">
                                        <p:cTn id="56" dur="600" fill="hold"/>
                                        <p:tgtEl>
                                          <p:spTgt spid="14"/>
                                        </p:tgtEl>
                                        <p:attrNameLst>
                                          <p:attrName>ppt_x</p:attrName>
                                        </p:attrNameLst>
                                      </p:cBhvr>
                                      <p:tavLst>
                                        <p:tav tm="0">
                                          <p:val>
                                            <p:strVal val="#ppt_x"/>
                                          </p:val>
                                        </p:tav>
                                        <p:tav tm="100000">
                                          <p:val>
                                            <p:strVal val="#ppt_x"/>
                                          </p:val>
                                        </p:tav>
                                      </p:tavLst>
                                    </p:anim>
                                    <p:anim calcmode="lin" valueType="num">
                                      <p:cBhvr additive="base">
                                        <p:cTn id="57" dur="600" fill="hold"/>
                                        <p:tgtEl>
                                          <p:spTgt spid="14"/>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600"/>
                                        <p:tgtEl>
                                          <p:spTgt spid="15"/>
                                        </p:tgtEl>
                                      </p:cBhvr>
                                    </p:animEffect>
                                    <p:anim calcmode="lin" valueType="num">
                                      <p:cBhvr additive="base">
                                        <p:cTn id="61" dur="600" fill="hold"/>
                                        <p:tgtEl>
                                          <p:spTgt spid="15"/>
                                        </p:tgtEl>
                                        <p:attrNameLst>
                                          <p:attrName>ppt_x</p:attrName>
                                        </p:attrNameLst>
                                      </p:cBhvr>
                                      <p:tavLst>
                                        <p:tav tm="0">
                                          <p:val>
                                            <p:strVal val="#ppt_x"/>
                                          </p:val>
                                        </p:tav>
                                        <p:tav tm="100000">
                                          <p:val>
                                            <p:strVal val="#ppt_x"/>
                                          </p:val>
                                        </p:tav>
                                      </p:tavLst>
                                    </p:anim>
                                    <p:anim calcmode="lin" valueType="num">
                                      <p:cBhvr additive="base">
                                        <p:cTn id="62" dur="600" fill="hold"/>
                                        <p:tgtEl>
                                          <p:spTgt spid="15"/>
                                        </p:tgtEl>
                                        <p:attrNameLst>
                                          <p:attrName>ppt_y</p:attrName>
                                        </p:attrNameLst>
                                      </p:cBhvr>
                                      <p:tavLst>
                                        <p:tav tm="0">
                                          <p:val>
                                            <p:strVal val="#ppt_y+.1"/>
                                          </p:val>
                                        </p:tav>
                                        <p:tav tm="100000">
                                          <p:val>
                                            <p:strVal val="#ppt_y"/>
                                          </p:val>
                                        </p:tav>
                                      </p:tavLst>
                                    </p:anim>
                                  </p:childTnLst>
                                </p:cTn>
                              </p:par>
                              <p:par>
                                <p:cTn id="68" presetID="42" presetClass="entr" presetSubtype="0" fill="hold" grpId="0" nodeType="withEffect">
                                  <p:stCondLst>
                                    <p:cond delay="0"/>
                                  </p:stCondLst>
                                  <p:childTnLst>
                                    <p:set>
                                      <p:cBhvr>
                                        <p:cTn id="64" dur="1" fill="hold">
                                          <p:stCondLst>
                                            <p:cond delay="0"/>
                                          </p:stCondLst>
                                        </p:cTn>
                                        <p:tgtEl>
                                          <p:spTgt spid="16"/>
                                        </p:tgtEl>
                                        <p:attrNameLst>
                                          <p:attrName>style.visibility</p:attrName>
                                        </p:attrNameLst>
                                      </p:cBhvr>
                                      <p:to>
                                        <p:strVal val="visible"/>
                                      </p:to>
                                    </p:set>
                                    <p:animEffect transition="in" filter="fade">
                                      <p:cBhvr>
                                        <p:cTn id="65" dur="600"/>
                                        <p:tgtEl>
                                          <p:spTgt spid="16"/>
                                        </p:tgtEl>
                                      </p:cBhvr>
                                    </p:animEffect>
                                    <p:anim calcmode="lin" valueType="num">
                                      <p:cBhvr additive="base">
                                        <p:cTn id="66" dur="600" fill="hold"/>
                                        <p:tgtEl>
                                          <p:spTgt spid="16"/>
                                        </p:tgtEl>
                                        <p:attrNameLst>
                                          <p:attrName>ppt_x</p:attrName>
                                        </p:attrNameLst>
                                      </p:cBhvr>
                                      <p:tavLst>
                                        <p:tav tm="0">
                                          <p:val>
                                            <p:strVal val="#ppt_x"/>
                                          </p:val>
                                        </p:tav>
                                        <p:tav tm="100000">
                                          <p:val>
                                            <p:strVal val="#ppt_x"/>
                                          </p:val>
                                        </p:tav>
                                      </p:tavLst>
                                    </p:anim>
                                    <p:anim calcmode="lin" valueType="num">
                                      <p:cBhvr additive="base">
                                        <p:cTn id="67" dur="6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686800" cy="320040"/>
          </a:xfrm>
          <a:prstGeom prst="rect">
            <a:avLst/>
          </a:prstGeom>
          <a:noFill/>
          <a:ln/>
        </p:spPr>
        <p:txBody>
          <a:bodyPr wrap="square" lIns="0" tIns="0" rIns="0" bIns="0" rtlCol="0" anchor="t"/>
          <a:lstStyle/>
          <a:p>
            <a:pPr indent="0" marL="0">
              <a:buNone/>
            </a:pPr>
            <a:r>
              <a:rPr lang="en-US" sz="1300" b="1" spc="200" kern="0" dirty="0">
                <a:solidFill>
                  <a:schemeClr val="accent3"/>
                </a:solidFill>
              </a:rPr>
              <a:t>SECURITY AND ROLES</a:t>
            </a:r>
            <a:endParaRPr lang="en-US" sz="1300" dirty="0"/>
          </a:p>
        </p:txBody>
      </p:sp>
      <p:sp>
        <p:nvSpPr>
          <p:cNvPr id="3" name="Text 0"/>
          <p:cNvSpPr/>
          <p:nvPr>
            <p:ph idx="101" type="title" hasCustomPrompt="1"/>
          </p:nvPr>
        </p:nvSpPr>
        <p:spPr>
          <a:xfrm>
            <a:off x="548640" y="713232"/>
            <a:ext cx="11091672" cy="822960"/>
          </a:xfrm>
          <a:prstGeom prst="rect">
            <a:avLst/>
          </a:prstGeom>
          <a:noFill/>
          <a:ln/>
        </p:spPr>
        <p:txBody>
          <a:bodyPr wrap="square" lIns="0" tIns="0" rIns="0" bIns="0" rtlCol="0" anchor="t"/>
          <a:lstStyle/>
          <a:p>
            <a:pPr indent="0" marL="0">
              <a:buNone/>
            </a:pPr>
            <a:r>
              <a:rPr lang="en-US" sz="3200" b="1" dirty="0">
                <a:solidFill>
                  <a:schemeClr val="bg2"/>
                </a:solidFill>
              </a:rPr>
              <a:t>Viewers can watch; only admins can change things</a:t>
            </a:r>
            <a:endParaRPr lang="en-US" sz="3200" dirty="0"/>
          </a:p>
        </p:txBody>
      </p:sp>
      <p:sp>
        <p:nvSpPr>
          <p:cNvPr id="4" name="nav-contents"/>
          <p:cNvSpPr txBox="1"/>
          <p:nvPr/>
        </p:nvSpPr>
        <p:spPr>
          <a:xfrm>
            <a:off x="10451592" y="365760"/>
            <a:ext cx="1188720" cy="292608"/>
          </a:xfrm>
          <a:prstGeom prst="rect">
            <a:avLst/>
          </a:prstGeom>
          <a:noFill/>
          <a:ln/>
        </p:spPr>
        <p:txBody>
          <a:bodyPr wrap="square" lIns="0" tIns="0" rIns="0" bIns="0" rtlCol="0" anchor="ctr"/>
          <a:lstStyle/>
          <a:p>
            <a:pPr algn="r" indent="0" marL="0">
              <a:buNone/>
            </a:pPr>
            <a:r>
              <a:rPr lang="en-US" sz="1100" u="sng" dirty="0">
                <a:solidFill>
                  <a:schemeClr val="accent3"/>
                </a:solidFill>
                <a:hlinkClick r:id="rId1" action="ppaction://hlinksldjump" tooltip="Back to contents">
                  <a:extLst>
                    <a:ext uri="{A12FA001-AC4F-418D-AE19-62706E023703}">
                      <ahyp:hlinkClr xmlns:ahyp="http://schemas.microsoft.com/office/drawing/2018/hyperlinkcolor" val="tx"/>
                    </a:ext>
                  </a:extLst>
                </a:hlinkClick>
              </a:rPr>
              <a:t>Contents ↩</a:t>
            </a:r>
            <a:endParaRPr lang="en-US" sz="1100" dirty="0"/>
          </a:p>
        </p:txBody>
      </p:sp>
      <p:graphicFrame>
        <p:nvGraphicFramePr>
          <p:cNvPr id="13" name="sec-table"/>
          <p:cNvGraphicFramePr>
            <a:graphicFrameLocks noGrp="1"/>
          </p:cNvGraphicFramePr>
          <p:nvPr>
            <p:extLst>
              <p:ext uri="{D42A27DB-BD31-4B8C-83A1-F6EECF244321}">
                <p14:modId xmlns:p14="http://schemas.microsoft.com/office/powerpoint/2010/main" val="1579011935"/>
              </p:ext>
            </p:extLst>
          </p:nvPr>
        </p:nvGraphicFramePr>
        <p:xfrm>
          <a:off x="548640" y="1783080"/>
          <a:ext cx="6035040" cy="914400"/>
        </p:xfrm>
        <a:graphic>
          <a:graphicData uri="http://schemas.openxmlformats.org/drawingml/2006/table">
            <a:tbl>
              <a:tblPr/>
              <a:tblGrid>
                <a:gridCol w="3657600"/>
                <a:gridCol w="1188720"/>
                <a:gridCol w="1188720"/>
              </a:tblGrid>
              <a:tr h="475488">
                <a:tc>
                  <a:txBody>
                    <a:bodyPr/>
                    <a:lstStyle/>
                    <a:p>
                      <a:pPr indent="0" marL="0">
                        <a:buNone/>
                      </a:pPr>
                      <a:r>
                        <a:rPr lang="en-US" sz="1600" b="1" dirty="0">
                          <a:solidFill>
                            <a:srgbClr val="5EA2EF"/>
                          </a:solidFill>
                          <a:latin typeface="Calibri" pitchFamily="34" charset="0"/>
                          <a:ea typeface="Calibri" pitchFamily="34" charset="-122"/>
                          <a:cs typeface="Calibri" pitchFamily="34" charset="-120"/>
                        </a:rPr>
                        <a:t>Action</a:t>
                      </a:r>
                      <a:endParaRPr lang="en-US" sz="1600" dirty="0">
                        <a:latin typeface="Calibri" charset="0"/>
                        <a:ea typeface="Calibri" charset="0"/>
                        <a:cs typeface="Calibri" charset="0"/>
                      </a:endParaRPr>
                    </a:p>
                  </a:txBody>
                  <a:tcPr marL="109728" marR="109728" marT="54864" marB="54864">
                    <a:lnL w="0" cap="flat" cmpd="sng" algn="ctr">
                      <a:noFill/>
                    </a:lnL>
                    <a:lnR w="0" cap="flat" cmpd="sng" algn="ctr">
                      <a:noFill/>
                    </a:lnR>
                    <a:lnT w="0" cap="flat" cmpd="sng" algn="ctr">
                      <a:noFill/>
                    </a:lnT>
                    <a:lnB w="12700" cap="flat" cmpd="sng" algn="ctr">
                      <a:solidFill>
                        <a:srgbClr val="5EA2EF"/>
                      </a:solidFill>
                      <a:prstDash val="solid"/>
                      <a:round/>
                      <a:headEnd type="none" w="med" len="med"/>
                      <a:tailEnd type="none" w="med" len="med"/>
                    </a:lnB>
                  </a:tcPr>
                </a:tc>
                <a:tc>
                  <a:txBody>
                    <a:bodyPr/>
                    <a:lstStyle/>
                    <a:p>
                      <a:pPr indent="0" marL="0">
                        <a:buNone/>
                      </a:pPr>
                      <a:r>
                        <a:rPr lang="en-US" sz="1600" b="1" dirty="0">
                          <a:solidFill>
                            <a:srgbClr val="5EA2EF"/>
                          </a:solidFill>
                          <a:latin typeface="Calibri" pitchFamily="34" charset="0"/>
                          <a:ea typeface="Calibri" pitchFamily="34" charset="-122"/>
                          <a:cs typeface="Calibri" pitchFamily="34" charset="-120"/>
                        </a:rPr>
                        <a:t>Admin</a:t>
                      </a:r>
                      <a:endParaRPr lang="en-US" sz="1600" dirty="0">
                        <a:latin typeface="Calibri" charset="0"/>
                        <a:ea typeface="Calibri" charset="0"/>
                        <a:cs typeface="Calibri" charset="0"/>
                      </a:endParaRPr>
                    </a:p>
                  </a:txBody>
                  <a:tcPr marL="109728" marR="109728" marT="54864" marB="54864">
                    <a:lnL w="0" cap="flat" cmpd="sng" algn="ctr">
                      <a:noFill/>
                    </a:lnL>
                    <a:lnR w="0" cap="flat" cmpd="sng" algn="ctr">
                      <a:noFill/>
                    </a:lnR>
                    <a:lnT w="0" cap="flat" cmpd="sng" algn="ctr">
                      <a:noFill/>
                    </a:lnT>
                    <a:lnB w="12700" cap="flat" cmpd="sng" algn="ctr">
                      <a:solidFill>
                        <a:srgbClr val="5EA2EF"/>
                      </a:solidFill>
                      <a:prstDash val="solid"/>
                      <a:round/>
                      <a:headEnd type="none" w="med" len="med"/>
                      <a:tailEnd type="none" w="med" len="med"/>
                    </a:lnB>
                  </a:tcPr>
                </a:tc>
                <a:tc>
                  <a:txBody>
                    <a:bodyPr/>
                    <a:lstStyle/>
                    <a:p>
                      <a:pPr indent="0" marL="0">
                        <a:buNone/>
                      </a:pPr>
                      <a:r>
                        <a:rPr lang="en-US" sz="1600" b="1" dirty="0">
                          <a:solidFill>
                            <a:srgbClr val="5EA2EF"/>
                          </a:solidFill>
                          <a:latin typeface="Calibri" pitchFamily="34" charset="0"/>
                          <a:ea typeface="Calibri" pitchFamily="34" charset="-122"/>
                          <a:cs typeface="Calibri" pitchFamily="34" charset="-120"/>
                        </a:rPr>
                        <a:t>Viewer</a:t>
                      </a:r>
                      <a:endParaRPr lang="en-US" sz="1600" dirty="0">
                        <a:latin typeface="Calibri" charset="0"/>
                        <a:ea typeface="Calibri" charset="0"/>
                        <a:cs typeface="Calibri" charset="0"/>
                      </a:endParaRPr>
                    </a:p>
                  </a:txBody>
                  <a:tcPr marL="109728" marR="109728" marT="54864" marB="54864">
                    <a:lnL w="0" cap="flat" cmpd="sng" algn="ctr">
                      <a:noFill/>
                    </a:lnL>
                    <a:lnR w="0" cap="flat" cmpd="sng" algn="ctr">
                      <a:noFill/>
                    </a:lnR>
                    <a:lnT w="0" cap="flat" cmpd="sng" algn="ctr">
                      <a:noFill/>
                    </a:lnT>
                    <a:lnB w="12700" cap="flat" cmpd="sng" algn="ctr">
                      <a:solidFill>
                        <a:srgbClr val="5EA2EF"/>
                      </a:solidFill>
                      <a:prstDash val="solid"/>
                      <a:round/>
                      <a:headEnd type="none" w="med" len="med"/>
                      <a:tailEnd type="none" w="med" len="med"/>
                    </a:lnB>
                  </a:tcPr>
                </a:tc>
              </a:tr>
              <a:tr h="475488">
                <a:tc>
                  <a:txBody>
                    <a:bodyPr/>
                    <a:lstStyle/>
                    <a:p>
                      <a:pPr indent="0" marL="0">
                        <a:buNone/>
                      </a:pPr>
                      <a:r>
                        <a:rPr lang="en-US" sz="1600" dirty="0">
                          <a:solidFill>
                            <a:srgbClr val="EEF2F6"/>
                          </a:solidFill>
                          <a:latin typeface="Calibri" pitchFamily="34" charset="0"/>
                          <a:ea typeface="Calibri" pitchFamily="34" charset="-122"/>
                          <a:cs typeface="Calibri" pitchFamily="34" charset="-120"/>
                        </a:rPr>
                        <a:t>See dashboards, logs, costs</a:t>
                      </a:r>
                      <a:endParaRPr lang="en-US" sz="1600" dirty="0">
                        <a:latin typeface="Calibri" charset="0"/>
                        <a:ea typeface="Calibri" charset="0"/>
                        <a:cs typeface="Calibri" charset="0"/>
                      </a:endParaRPr>
                    </a:p>
                  </a:txBody>
                  <a:tcPr marL="109728" marR="109728" marT="54864" marB="54864">
                    <a:lnL w="0" cap="flat" cmpd="sng" algn="ctr">
                      <a:noFill/>
                    </a:lnL>
                    <a:lnR w="0" cap="flat" cmpd="sng" algn="ctr">
                      <a:noFill/>
                    </a:lnR>
                    <a:lnT w="0" cap="flat" cmpd="sng" algn="ctr">
                      <a:noFill/>
                    </a:lnT>
                    <a:lnB w="9525" cap="flat" cmpd="sng" algn="ctr">
                      <a:solidFill>
                        <a:srgbClr val="2A4566"/>
                      </a:solidFill>
                      <a:prstDash val="solid"/>
                      <a:round/>
                      <a:headEnd type="none" w="med" len="med"/>
                      <a:tailEnd type="none" w="med" len="med"/>
                    </a:lnB>
                  </a:tcPr>
                </a:tc>
                <a:tc>
                  <a:txBody>
                    <a:bodyPr/>
                    <a:lstStyle/>
                    <a:p>
                      <a:pPr indent="0" marL="0">
                        <a:buNone/>
                      </a:pPr>
                      <a:r>
                        <a:rPr lang="en-US" sz="1600" b="1" dirty="0">
                          <a:solidFill>
                            <a:srgbClr val="7FD39B"/>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109728" marR="109728" marT="54864" marB="54864">
                    <a:lnL w="0" cap="flat" cmpd="sng" algn="ctr">
                      <a:noFill/>
                    </a:lnL>
                    <a:lnR w="0" cap="flat" cmpd="sng" algn="ctr">
                      <a:noFill/>
                    </a:lnR>
                    <a:lnT w="0" cap="flat" cmpd="sng" algn="ctr">
                      <a:noFill/>
                    </a:lnT>
                    <a:lnB w="9525" cap="flat" cmpd="sng" algn="ctr">
                      <a:solidFill>
                        <a:srgbClr val="2A4566"/>
                      </a:solidFill>
                      <a:prstDash val="solid"/>
                      <a:round/>
                      <a:headEnd type="none" w="med" len="med"/>
                      <a:tailEnd type="none" w="med" len="med"/>
                    </a:lnB>
                  </a:tcPr>
                </a:tc>
                <a:tc>
                  <a:txBody>
                    <a:bodyPr/>
                    <a:lstStyle/>
                    <a:p>
                      <a:pPr indent="0" marL="0">
                        <a:buNone/>
                      </a:pPr>
                      <a:r>
                        <a:rPr lang="en-US" sz="1600" b="1" dirty="0">
                          <a:solidFill>
                            <a:srgbClr val="7FD39B"/>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109728" marR="109728" marT="54864" marB="54864">
                    <a:lnL w="0" cap="flat" cmpd="sng" algn="ctr">
                      <a:noFill/>
                    </a:lnL>
                    <a:lnR w="0" cap="flat" cmpd="sng" algn="ctr">
                      <a:noFill/>
                    </a:lnR>
                    <a:lnT w="0" cap="flat" cmpd="sng" algn="ctr">
                      <a:noFill/>
                    </a:lnT>
                    <a:lnB w="9525" cap="flat" cmpd="sng" algn="ctr">
                      <a:solidFill>
                        <a:srgbClr val="2A4566"/>
                      </a:solidFill>
                      <a:prstDash val="solid"/>
                      <a:round/>
                      <a:headEnd type="none" w="med" len="med"/>
                      <a:tailEnd type="none" w="med" len="med"/>
                    </a:lnB>
                  </a:tcPr>
                </a:tc>
              </a:tr>
              <a:tr h="475488">
                <a:tc>
                  <a:txBody>
                    <a:bodyPr/>
                    <a:lstStyle/>
                    <a:p>
                      <a:pPr indent="0" marL="0">
                        <a:buNone/>
                      </a:pPr>
                      <a:r>
                        <a:rPr lang="en-US" sz="1600" dirty="0">
                          <a:solidFill>
                            <a:srgbClr val="EEF2F6"/>
                          </a:solidFill>
                          <a:latin typeface="Calibri" pitchFamily="34" charset="0"/>
                          <a:ea typeface="Calibri" pitchFamily="34" charset="-122"/>
                          <a:cs typeface="Calibri" pitchFamily="34" charset="-120"/>
                        </a:rPr>
                        <a:t>Acknowledge alerts, export</a:t>
                      </a:r>
                      <a:endParaRPr lang="en-US" sz="1600" dirty="0">
                        <a:latin typeface="Calibri" charset="0"/>
                        <a:ea typeface="Calibri" charset="0"/>
                        <a:cs typeface="Calibri" charset="0"/>
                      </a:endParaRPr>
                    </a:p>
                  </a:txBody>
                  <a:tcPr marL="109728" marR="109728" marT="54864" marB="54864">
                    <a:lnL w="0" cap="flat" cmpd="sng" algn="ctr">
                      <a:noFill/>
                    </a:lnL>
                    <a:lnR w="0" cap="flat" cmpd="sng" algn="ctr">
                      <a:noFill/>
                    </a:lnR>
                    <a:lnT w="0" cap="flat" cmpd="sng" algn="ctr">
                      <a:noFill/>
                    </a:lnT>
                    <a:lnB w="9525" cap="flat" cmpd="sng" algn="ctr">
                      <a:solidFill>
                        <a:srgbClr val="2A4566"/>
                      </a:solidFill>
                      <a:prstDash val="solid"/>
                      <a:round/>
                      <a:headEnd type="none" w="med" len="med"/>
                      <a:tailEnd type="none" w="med" len="med"/>
                    </a:lnB>
                  </a:tcPr>
                </a:tc>
                <a:tc>
                  <a:txBody>
                    <a:bodyPr/>
                    <a:lstStyle/>
                    <a:p>
                      <a:pPr indent="0" marL="0">
                        <a:buNone/>
                      </a:pPr>
                      <a:r>
                        <a:rPr lang="en-US" sz="1600" b="1" dirty="0">
                          <a:solidFill>
                            <a:srgbClr val="7FD39B"/>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109728" marR="109728" marT="54864" marB="54864">
                    <a:lnL w="0" cap="flat" cmpd="sng" algn="ctr">
                      <a:noFill/>
                    </a:lnL>
                    <a:lnR w="0" cap="flat" cmpd="sng" algn="ctr">
                      <a:noFill/>
                    </a:lnR>
                    <a:lnT w="0" cap="flat" cmpd="sng" algn="ctr">
                      <a:noFill/>
                    </a:lnT>
                    <a:lnB w="9525" cap="flat" cmpd="sng" algn="ctr">
                      <a:solidFill>
                        <a:srgbClr val="2A4566"/>
                      </a:solidFill>
                      <a:prstDash val="solid"/>
                      <a:round/>
                      <a:headEnd type="none" w="med" len="med"/>
                      <a:tailEnd type="none" w="med" len="med"/>
                    </a:lnB>
                  </a:tcPr>
                </a:tc>
                <a:tc>
                  <a:txBody>
                    <a:bodyPr/>
                    <a:lstStyle/>
                    <a:p>
                      <a:pPr indent="0" marL="0">
                        <a:buNone/>
                      </a:pPr>
                      <a:r>
                        <a:rPr lang="en-US" sz="1600" b="1" dirty="0">
                          <a:solidFill>
                            <a:srgbClr val="7FD39B"/>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109728" marR="109728" marT="54864" marB="54864">
                    <a:lnL w="0" cap="flat" cmpd="sng" algn="ctr">
                      <a:noFill/>
                    </a:lnL>
                    <a:lnR w="0" cap="flat" cmpd="sng" algn="ctr">
                      <a:noFill/>
                    </a:lnR>
                    <a:lnT w="0" cap="flat" cmpd="sng" algn="ctr">
                      <a:noFill/>
                    </a:lnT>
                    <a:lnB w="9525" cap="flat" cmpd="sng" algn="ctr">
                      <a:solidFill>
                        <a:srgbClr val="2A4566"/>
                      </a:solidFill>
                      <a:prstDash val="solid"/>
                      <a:round/>
                      <a:headEnd type="none" w="med" len="med"/>
                      <a:tailEnd type="none" w="med" len="med"/>
                    </a:lnB>
                  </a:tcPr>
                </a:tc>
              </a:tr>
              <a:tr h="475488">
                <a:tc>
                  <a:txBody>
                    <a:bodyPr/>
                    <a:lstStyle/>
                    <a:p>
                      <a:pPr indent="0" marL="0">
                        <a:buNone/>
                      </a:pPr>
                      <a:r>
                        <a:rPr lang="en-US" sz="1600" dirty="0">
                          <a:solidFill>
                            <a:srgbClr val="EEF2F6"/>
                          </a:solidFill>
                          <a:latin typeface="Calibri" pitchFamily="34" charset="0"/>
                          <a:ea typeface="Calibri" pitchFamily="34" charset="-122"/>
                          <a:cs typeface="Calibri" pitchFamily="34" charset="-120"/>
                        </a:rPr>
                        <a:t>Start, stop, restart servers</a:t>
                      </a:r>
                      <a:endParaRPr lang="en-US" sz="1600" dirty="0">
                        <a:latin typeface="Calibri" charset="0"/>
                        <a:ea typeface="Calibri" charset="0"/>
                        <a:cs typeface="Calibri" charset="0"/>
                      </a:endParaRPr>
                    </a:p>
                  </a:txBody>
                  <a:tcPr marL="109728" marR="109728" marT="54864" marB="54864">
                    <a:lnL w="0" cap="flat" cmpd="sng" algn="ctr">
                      <a:noFill/>
                    </a:lnL>
                    <a:lnR w="0" cap="flat" cmpd="sng" algn="ctr">
                      <a:noFill/>
                    </a:lnR>
                    <a:lnT w="0" cap="flat" cmpd="sng" algn="ctr">
                      <a:noFill/>
                    </a:lnT>
                    <a:lnB w="9525" cap="flat" cmpd="sng" algn="ctr">
                      <a:solidFill>
                        <a:srgbClr val="2A4566"/>
                      </a:solidFill>
                      <a:prstDash val="solid"/>
                      <a:round/>
                      <a:headEnd type="none" w="med" len="med"/>
                      <a:tailEnd type="none" w="med" len="med"/>
                    </a:lnB>
                  </a:tcPr>
                </a:tc>
                <a:tc>
                  <a:txBody>
                    <a:bodyPr/>
                    <a:lstStyle/>
                    <a:p>
                      <a:pPr indent="0" marL="0">
                        <a:buNone/>
                      </a:pPr>
                      <a:r>
                        <a:rPr lang="en-US" sz="1600" b="1" dirty="0">
                          <a:solidFill>
                            <a:srgbClr val="7FD39B"/>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109728" marR="109728" marT="54864" marB="54864">
                    <a:lnL w="0" cap="flat" cmpd="sng" algn="ctr">
                      <a:noFill/>
                    </a:lnL>
                    <a:lnR w="0" cap="flat" cmpd="sng" algn="ctr">
                      <a:noFill/>
                    </a:lnR>
                    <a:lnT w="0" cap="flat" cmpd="sng" algn="ctr">
                      <a:noFill/>
                    </a:lnT>
                    <a:lnB w="9525" cap="flat" cmpd="sng" algn="ctr">
                      <a:solidFill>
                        <a:srgbClr val="2A4566"/>
                      </a:solidFill>
                      <a:prstDash val="solid"/>
                      <a:round/>
                      <a:headEnd type="none" w="med" len="med"/>
                      <a:tailEnd type="none" w="med" len="med"/>
                    </a:lnB>
                  </a:tcPr>
                </a:tc>
                <a:tc>
                  <a:txBody>
                    <a:bodyPr/>
                    <a:lstStyle/>
                    <a:p>
                      <a:pPr indent="0" marL="0">
                        <a:buNone/>
                      </a:pPr>
                      <a:r>
                        <a:rPr lang="en-US" sz="1600" b="1" dirty="0">
                          <a:solidFill>
                            <a:srgbClr val="F08A4B"/>
                          </a:solidFill>
                          <a:latin typeface="Calibri" pitchFamily="34" charset="0"/>
                          <a:ea typeface="Calibri" pitchFamily="34" charset="-122"/>
                          <a:cs typeface="Calibri" pitchFamily="34" charset="-120"/>
                        </a:rPr>
                        <a:t>No</a:t>
                      </a:r>
                      <a:endParaRPr lang="en-US" sz="1600" dirty="0">
                        <a:latin typeface="Calibri" charset="0"/>
                        <a:ea typeface="Calibri" charset="0"/>
                        <a:cs typeface="Calibri" charset="0"/>
                      </a:endParaRPr>
                    </a:p>
                  </a:txBody>
                  <a:tcPr marL="109728" marR="109728" marT="54864" marB="54864">
                    <a:lnL w="0" cap="flat" cmpd="sng" algn="ctr">
                      <a:noFill/>
                    </a:lnL>
                    <a:lnR w="0" cap="flat" cmpd="sng" algn="ctr">
                      <a:noFill/>
                    </a:lnR>
                    <a:lnT w="0" cap="flat" cmpd="sng" algn="ctr">
                      <a:noFill/>
                    </a:lnT>
                    <a:lnB w="9525" cap="flat" cmpd="sng" algn="ctr">
                      <a:solidFill>
                        <a:srgbClr val="2A4566"/>
                      </a:solidFill>
                      <a:prstDash val="solid"/>
                      <a:round/>
                      <a:headEnd type="none" w="med" len="med"/>
                      <a:tailEnd type="none" w="med" len="med"/>
                    </a:lnB>
                  </a:tcPr>
                </a:tc>
              </a:tr>
              <a:tr h="475488">
                <a:tc>
                  <a:txBody>
                    <a:bodyPr/>
                    <a:lstStyle/>
                    <a:p>
                      <a:pPr indent="0" marL="0">
                        <a:buNone/>
                      </a:pPr>
                      <a:r>
                        <a:rPr lang="en-US" sz="1600" dirty="0">
                          <a:solidFill>
                            <a:srgbClr val="EEF2F6"/>
                          </a:solidFill>
                          <a:latin typeface="Calibri" pitchFamily="34" charset="0"/>
                          <a:ea typeface="Calibri" pitchFamily="34" charset="-122"/>
                          <a:cs typeface="Calibri" pitchFamily="34" charset="-120"/>
                        </a:rPr>
                        <a:t>Edit alert rules</a:t>
                      </a:r>
                      <a:endParaRPr lang="en-US" sz="1600" dirty="0">
                        <a:latin typeface="Calibri" charset="0"/>
                        <a:ea typeface="Calibri" charset="0"/>
                        <a:cs typeface="Calibri" charset="0"/>
                      </a:endParaRPr>
                    </a:p>
                  </a:txBody>
                  <a:tcPr marL="109728" marR="109728" marT="54864" marB="54864">
                    <a:lnL w="0" cap="flat" cmpd="sng" algn="ctr">
                      <a:noFill/>
                    </a:lnL>
                    <a:lnR w="0" cap="flat" cmpd="sng" algn="ctr">
                      <a:noFill/>
                    </a:lnR>
                    <a:lnT w="0" cap="flat" cmpd="sng" algn="ctr">
                      <a:noFill/>
                    </a:lnT>
                    <a:lnB w="9525" cap="flat" cmpd="sng" algn="ctr">
                      <a:solidFill>
                        <a:srgbClr val="2A4566"/>
                      </a:solidFill>
                      <a:prstDash val="solid"/>
                      <a:round/>
                      <a:headEnd type="none" w="med" len="med"/>
                      <a:tailEnd type="none" w="med" len="med"/>
                    </a:lnB>
                  </a:tcPr>
                </a:tc>
                <a:tc>
                  <a:txBody>
                    <a:bodyPr/>
                    <a:lstStyle/>
                    <a:p>
                      <a:pPr indent="0" marL="0">
                        <a:buNone/>
                      </a:pPr>
                      <a:r>
                        <a:rPr lang="en-US" sz="1600" b="1" dirty="0">
                          <a:solidFill>
                            <a:srgbClr val="7FD39B"/>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109728" marR="109728" marT="54864" marB="54864">
                    <a:lnL w="0" cap="flat" cmpd="sng" algn="ctr">
                      <a:noFill/>
                    </a:lnL>
                    <a:lnR w="0" cap="flat" cmpd="sng" algn="ctr">
                      <a:noFill/>
                    </a:lnR>
                    <a:lnT w="0" cap="flat" cmpd="sng" algn="ctr">
                      <a:noFill/>
                    </a:lnT>
                    <a:lnB w="9525" cap="flat" cmpd="sng" algn="ctr">
                      <a:solidFill>
                        <a:srgbClr val="2A4566"/>
                      </a:solidFill>
                      <a:prstDash val="solid"/>
                      <a:round/>
                      <a:headEnd type="none" w="med" len="med"/>
                      <a:tailEnd type="none" w="med" len="med"/>
                    </a:lnB>
                  </a:tcPr>
                </a:tc>
                <a:tc>
                  <a:txBody>
                    <a:bodyPr/>
                    <a:lstStyle/>
                    <a:p>
                      <a:pPr indent="0" marL="0">
                        <a:buNone/>
                      </a:pPr>
                      <a:r>
                        <a:rPr lang="en-US" sz="1600" b="1" dirty="0">
                          <a:solidFill>
                            <a:srgbClr val="F08A4B"/>
                          </a:solidFill>
                          <a:latin typeface="Calibri" pitchFamily="34" charset="0"/>
                          <a:ea typeface="Calibri" pitchFamily="34" charset="-122"/>
                          <a:cs typeface="Calibri" pitchFamily="34" charset="-120"/>
                        </a:rPr>
                        <a:t>No</a:t>
                      </a:r>
                      <a:endParaRPr lang="en-US" sz="1600" dirty="0">
                        <a:latin typeface="Calibri" charset="0"/>
                        <a:ea typeface="Calibri" charset="0"/>
                        <a:cs typeface="Calibri" charset="0"/>
                      </a:endParaRPr>
                    </a:p>
                  </a:txBody>
                  <a:tcPr marL="109728" marR="109728" marT="54864" marB="54864">
                    <a:lnL w="0" cap="flat" cmpd="sng" algn="ctr">
                      <a:noFill/>
                    </a:lnL>
                    <a:lnR w="0" cap="flat" cmpd="sng" algn="ctr">
                      <a:noFill/>
                    </a:lnR>
                    <a:lnT w="0" cap="flat" cmpd="sng" algn="ctr">
                      <a:noFill/>
                    </a:lnT>
                    <a:lnB w="9525" cap="flat" cmpd="sng" algn="ctr">
                      <a:solidFill>
                        <a:srgbClr val="2A4566"/>
                      </a:solidFill>
                      <a:prstDash val="solid"/>
                      <a:round/>
                      <a:headEnd type="none" w="med" len="med"/>
                      <a:tailEnd type="none" w="med" len="med"/>
                    </a:lnB>
                  </a:tcPr>
                </a:tc>
              </a:tr>
              <a:tr h="475488">
                <a:tc>
                  <a:txBody>
                    <a:bodyPr/>
                    <a:lstStyle/>
                    <a:p>
                      <a:pPr indent="0" marL="0">
                        <a:buNone/>
                      </a:pPr>
                      <a:r>
                        <a:rPr lang="en-US" sz="1600" dirty="0">
                          <a:solidFill>
                            <a:srgbClr val="EEF2F6"/>
                          </a:solidFill>
                          <a:latin typeface="Calibri" pitchFamily="34" charset="0"/>
                          <a:ea typeface="Calibri" pitchFamily="34" charset="-122"/>
                          <a:cs typeface="Calibri" pitchFamily="34" charset="-120"/>
                        </a:rPr>
                        <a:t>Change budget and email</a:t>
                      </a:r>
                      <a:endParaRPr lang="en-US" sz="1600" dirty="0">
                        <a:latin typeface="Calibri" charset="0"/>
                        <a:ea typeface="Calibri" charset="0"/>
                        <a:cs typeface="Calibri" charset="0"/>
                      </a:endParaRPr>
                    </a:p>
                  </a:txBody>
                  <a:tcPr marL="109728" marR="109728" marT="54864" marB="54864">
                    <a:lnL w="0" cap="flat" cmpd="sng" algn="ctr">
                      <a:noFill/>
                    </a:lnL>
                    <a:lnR w="0" cap="flat" cmpd="sng" algn="ctr">
                      <a:noFill/>
                    </a:lnR>
                    <a:lnT w="0" cap="flat" cmpd="sng" algn="ctr">
                      <a:noFill/>
                    </a:lnT>
                    <a:lnB w="9525" cap="flat" cmpd="sng" algn="ctr">
                      <a:solidFill>
                        <a:srgbClr val="2A4566"/>
                      </a:solidFill>
                      <a:prstDash val="solid"/>
                      <a:round/>
                      <a:headEnd type="none" w="med" len="med"/>
                      <a:tailEnd type="none" w="med" len="med"/>
                    </a:lnB>
                  </a:tcPr>
                </a:tc>
                <a:tc>
                  <a:txBody>
                    <a:bodyPr/>
                    <a:lstStyle/>
                    <a:p>
                      <a:pPr indent="0" marL="0">
                        <a:buNone/>
                      </a:pPr>
                      <a:r>
                        <a:rPr lang="en-US" sz="1600" b="1" dirty="0">
                          <a:solidFill>
                            <a:srgbClr val="7FD39B"/>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109728" marR="109728" marT="54864" marB="54864">
                    <a:lnL w="0" cap="flat" cmpd="sng" algn="ctr">
                      <a:noFill/>
                    </a:lnL>
                    <a:lnR w="0" cap="flat" cmpd="sng" algn="ctr">
                      <a:noFill/>
                    </a:lnR>
                    <a:lnT w="0" cap="flat" cmpd="sng" algn="ctr">
                      <a:noFill/>
                    </a:lnT>
                    <a:lnB w="9525" cap="flat" cmpd="sng" algn="ctr">
                      <a:solidFill>
                        <a:srgbClr val="2A4566"/>
                      </a:solidFill>
                      <a:prstDash val="solid"/>
                      <a:round/>
                      <a:headEnd type="none" w="med" len="med"/>
                      <a:tailEnd type="none" w="med" len="med"/>
                    </a:lnB>
                  </a:tcPr>
                </a:tc>
                <a:tc>
                  <a:txBody>
                    <a:bodyPr/>
                    <a:lstStyle/>
                    <a:p>
                      <a:pPr indent="0" marL="0">
                        <a:buNone/>
                      </a:pPr>
                      <a:r>
                        <a:rPr lang="en-US" sz="1600" b="1" dirty="0">
                          <a:solidFill>
                            <a:srgbClr val="F08A4B"/>
                          </a:solidFill>
                          <a:latin typeface="Calibri" pitchFamily="34" charset="0"/>
                          <a:ea typeface="Calibri" pitchFamily="34" charset="-122"/>
                          <a:cs typeface="Calibri" pitchFamily="34" charset="-120"/>
                        </a:rPr>
                        <a:t>No</a:t>
                      </a:r>
                      <a:endParaRPr lang="en-US" sz="1600" dirty="0">
                        <a:latin typeface="Calibri" charset="0"/>
                        <a:ea typeface="Calibri" charset="0"/>
                        <a:cs typeface="Calibri" charset="0"/>
                      </a:endParaRPr>
                    </a:p>
                  </a:txBody>
                  <a:tcPr marL="109728" marR="109728" marT="54864" marB="54864">
                    <a:lnL w="0" cap="flat" cmpd="sng" algn="ctr">
                      <a:noFill/>
                    </a:lnL>
                    <a:lnR w="0" cap="flat" cmpd="sng" algn="ctr">
                      <a:noFill/>
                    </a:lnR>
                    <a:lnT w="0" cap="flat" cmpd="sng" algn="ctr">
                      <a:noFill/>
                    </a:lnT>
                    <a:lnB w="9525" cap="flat" cmpd="sng" algn="ctr">
                      <a:solidFill>
                        <a:srgbClr val="2A4566"/>
                      </a:solidFill>
                      <a:prstDash val="solid"/>
                      <a:round/>
                      <a:headEnd type="none" w="med" len="med"/>
                      <a:tailEnd type="none" w="med" len="med"/>
                    </a:lnB>
                  </a:tcPr>
                </a:tc>
              </a:tr>
            </a:tbl>
          </a:graphicData>
        </a:graphic>
      </p:graphicFrame>
      <p:sp>
        <p:nvSpPr>
          <p:cNvPr id="6" name="sec-list"/>
          <p:cNvSpPr txBox="1"/>
          <p:nvPr/>
        </p:nvSpPr>
        <p:spPr>
          <a:xfrm>
            <a:off x="6949440" y="1783080"/>
            <a:ext cx="4690872" cy="310896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rgbClr val="EEF2F6"/>
                </a:solidFill>
              </a:rPr>
              <a:t>Passwords stored as BCrypt hashes</a:t>
            </a:r>
            <a:endParaRPr lang="en-US" sz="1700" dirty="0"/>
          </a:p>
          <a:p>
            <a:pPr marL="342900" indent="-342900">
              <a:spcAft>
                <a:spcPts val="1000"/>
              </a:spcAft>
              <a:buSzPct val="100000"/>
              <a:buChar char="•"/>
            </a:pPr>
            <a:r>
              <a:rPr lang="en-US" sz="1700" dirty="0">
                <a:solidFill>
                  <a:srgbClr val="EEF2F6"/>
                </a:solidFill>
              </a:rPr>
              <a:t>JWT token on every request, valid 8 hours</a:t>
            </a:r>
            <a:endParaRPr lang="en-US" sz="1700" dirty="0"/>
          </a:p>
          <a:p>
            <a:pPr marL="342900" indent="-342900">
              <a:spcAft>
                <a:spcPts val="1000"/>
              </a:spcAft>
              <a:buSzPct val="100000"/>
              <a:buChar char="•"/>
            </a:pPr>
            <a:r>
              <a:rPr lang="en-US" sz="1700" dirty="0">
                <a:solidFill>
                  <a:srgbClr val="EEF2F6"/>
                </a:solidFill>
              </a:rPr>
              <a:t>WebSocket checks the token too</a:t>
            </a:r>
            <a:endParaRPr lang="en-US" sz="1700" dirty="0"/>
          </a:p>
          <a:p>
            <a:pPr marL="342900" indent="-342900">
              <a:spcAft>
                <a:spcPts val="1000"/>
              </a:spcAft>
              <a:buSzPct val="100000"/>
              <a:buChar char="•"/>
            </a:pPr>
            <a:r>
              <a:rPr lang="en-US" sz="1700" dirty="0">
                <a:solidFill>
                  <a:srgbClr val="EEF2F6"/>
                </a:solidFill>
              </a:rPr>
              <a:t>Admin rules checked on the server with @PreAuthorize</a:t>
            </a:r>
            <a:endParaRPr lang="en-US" sz="1700" dirty="0"/>
          </a:p>
          <a:p>
            <a:pPr marL="342900" indent="-342900">
              <a:spcAft>
                <a:spcPts val="1000"/>
              </a:spcAft>
              <a:buSzPct val="100000"/>
              <a:buChar char="•"/>
            </a:pPr>
            <a:r>
              <a:rPr lang="en-US" sz="1700" dirty="0">
                <a:solidFill>
                  <a:srgbClr val="EEF2F6"/>
                </a:solidFill>
              </a:rPr>
              <a:t>Gmail password only in environment variables</a:t>
            </a:r>
            <a:endParaRPr lang="en-US" sz="17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9B8CA"/>
                </a:solidFill>
              </a:defRPr>
            </a:lvl1pPr>
          </a:lstStyle>
          <a:p>
            <a:pPr algn="r"/>
            <a:fld id="{F7021451-1387-4CA6-816F-3879F97B5CBC}" type="slidenum">
              <a:rPr b="0" lang="en-US"/>
              <a:t>12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22" presetClass="entr" presetSubtype="1" fill="hold" grpId="0" nodeType="clickEffect">
                                  <p:stCondLst>
                                    <p:cond delay="0"/>
                                  </p:stCondLst>
                                  <p:childTnLst>
                                    <p:set>
                                      <p:cBhvr>
                                        <p:cTn id="5" dur="1" fill="hold">
                                          <p:stCondLst>
                                            <p:cond delay="0"/>
                                          </p:stCondLst>
                                        </p:cTn>
                                        <p:tgtEl>
                                          <p:spTgt spid="13"/>
                                        </p:tgtEl>
                                        <p:attrNameLst>
                                          <p:attrName>style.visibility</p:attrName>
                                        </p:attrNameLst>
                                      </p:cBhvr>
                                      <p:to>
                                        <p:strVal val="visible"/>
                                      </p:to>
                                    </p:set>
                                    <p:animEffect transition="in" filter="wipe(down)">
                                      <p:cBhvr>
                                        <p:cTn id="6" dur="800"/>
                                        <p:tgtEl>
                                          <p:spTgt spid="13"/>
                                        </p:tgtEl>
                                      </p:cBhvr>
                                    </p:animEffect>
                                  </p:childTnLst>
                                </p:cTn>
                              </p:par>
                            </p:childTnLst>
                          </p:cTn>
                        </p:par>
                      </p:childTnLst>
                    </p:cTn>
                  </p:par>
                  <p:par>
                    <p:cTn id="8" fill="hold">
                      <p:stCondLst>
                        <p:cond delay="indefinite"/>
                      </p:stCondLst>
                      <p:childTnLst>
                        <p:par>
                          <p:cTn id="9" fill="hold">
                            <p:stCondLst>
                              <p:cond delay="0"/>
                            </p:stCondLst>
                            <p:childTnLst>
                              <p:par>
                                <p:cTn id="13" presetID="2" presetClass="entr" presetSubtype="2"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1+#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Graphic spid="13" grpId="0">
        <p:bldAsOne/>
      </p:bldGraphic>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686800" cy="320040"/>
          </a:xfrm>
          <a:prstGeom prst="rect">
            <a:avLst/>
          </a:prstGeom>
          <a:noFill/>
          <a:ln/>
        </p:spPr>
        <p:txBody>
          <a:bodyPr wrap="square" lIns="0" tIns="0" rIns="0" bIns="0" rtlCol="0" anchor="t"/>
          <a:lstStyle/>
          <a:p>
            <a:pPr indent="0" marL="0">
              <a:buNone/>
            </a:pPr>
            <a:r>
              <a:rPr lang="en-US" sz="1300" b="1" spc="200" kern="0" dirty="0">
                <a:solidFill>
                  <a:schemeClr val="accent1"/>
                </a:solidFill>
              </a:rPr>
              <a:t>TESTING</a:t>
            </a:r>
            <a:endParaRPr lang="en-US" sz="1300" dirty="0"/>
          </a:p>
        </p:txBody>
      </p:sp>
      <p:sp>
        <p:nvSpPr>
          <p:cNvPr id="3" name="Text 0"/>
          <p:cNvSpPr/>
          <p:nvPr>
            <p:ph idx="101" type="title" hasCustomPrompt="1"/>
          </p:nvPr>
        </p:nvSpPr>
        <p:spPr>
          <a:xfrm>
            <a:off x="548640" y="713232"/>
            <a:ext cx="11091672" cy="822960"/>
          </a:xfrm>
          <a:prstGeom prst="rect">
            <a:avLst/>
          </a:prstGeom>
          <a:noFill/>
          <a:ln/>
        </p:spPr>
        <p:txBody>
          <a:bodyPr wrap="square" lIns="0" tIns="0" rIns="0" bIns="0" rtlCol="0" anchor="t"/>
          <a:lstStyle/>
          <a:p>
            <a:pPr indent="0" marL="0">
              <a:buNone/>
            </a:pPr>
            <a:r>
              <a:rPr lang="en-US" sz="3200" b="1" dirty="0">
                <a:solidFill>
                  <a:schemeClr val="tx1"/>
                </a:solidFill>
              </a:rPr>
              <a:t>All 16 test cases pass after four real bugs were fixed</a:t>
            </a:r>
            <a:endParaRPr lang="en-US" sz="3200" dirty="0"/>
          </a:p>
        </p:txBody>
      </p:sp>
      <p:sp>
        <p:nvSpPr>
          <p:cNvPr id="4" name="nav-contents"/>
          <p:cNvSpPr txBox="1"/>
          <p:nvPr/>
        </p:nvSpPr>
        <p:spPr>
          <a:xfrm>
            <a:off x="10451592" y="365760"/>
            <a:ext cx="1188720" cy="292608"/>
          </a:xfrm>
          <a:prstGeom prst="rect">
            <a:avLst/>
          </a:prstGeom>
          <a:noFill/>
          <a:ln/>
        </p:spPr>
        <p:txBody>
          <a:bodyPr wrap="square" lIns="0" tIns="0" rIns="0" bIns="0" rtlCol="0" anchor="ctr"/>
          <a:lstStyle/>
          <a:p>
            <a:pPr algn="r" indent="0" marL="0">
              <a:buNone/>
            </a:pPr>
            <a:r>
              <a:rPr lang="en-US" sz="1100" u="sng" dirty="0">
                <a:solidFill>
                  <a:schemeClr val="accent1"/>
                </a:solidFill>
                <a:hlinkClick r:id="rId1" action="ppaction://hlinksldjump" tooltip="Back to contents">
                  <a:extLst>
                    <a:ext uri="{A12FA001-AC4F-418D-AE19-62706E023703}">
                      <ahyp:hlinkClr xmlns:ahyp="http://schemas.microsoft.com/office/drawing/2018/hyperlinkcolor" val="tx"/>
                    </a:ext>
                  </a:extLst>
                </a:hlinkClick>
              </a:rPr>
              <a:t>Contents ↩</a:t>
            </a:r>
            <a:endParaRPr lang="en-US" sz="1100" dirty="0"/>
          </a:p>
        </p:txBody>
      </p:sp>
      <p:sp>
        <p:nvSpPr>
          <p:cNvPr id="5" name="t-box"/>
          <p:cNvSpPr/>
          <p:nvPr/>
        </p:nvSpPr>
        <p:spPr>
          <a:xfrm>
            <a:off x="548640" y="1783080"/>
            <a:ext cx="3200400" cy="3108960"/>
          </a:xfrm>
          <a:prstGeom prst="roundRect">
            <a:avLst>
              <a:gd name="adj" fmla="val 3529"/>
            </a:avLst>
          </a:prstGeom>
          <a:solidFill>
            <a:schemeClr val="bg1"/>
          </a:solidFill>
          <a:ln w="25400">
            <a:solidFill>
              <a:schemeClr val="accent1"/>
            </a:solidFill>
            <a:prstDash val="solid"/>
          </a:ln>
        </p:spPr>
      </p:sp>
      <p:sp>
        <p:nvSpPr>
          <p:cNvPr id="6" name="t-t0"/>
          <p:cNvSpPr txBox="1"/>
          <p:nvPr/>
        </p:nvSpPr>
        <p:spPr>
          <a:xfrm>
            <a:off x="822960" y="2057400"/>
            <a:ext cx="2651760" cy="960120"/>
          </a:xfrm>
          <a:prstGeom prst="rect">
            <a:avLst/>
          </a:prstGeom>
          <a:noFill/>
          <a:ln/>
        </p:spPr>
        <p:txBody>
          <a:bodyPr wrap="square" lIns="0" tIns="0" rIns="0" bIns="0" rtlCol="0" anchor="t"/>
          <a:lstStyle/>
          <a:p>
            <a:pPr indent="0" marL="0">
              <a:lnSpc>
                <a:spcPct val="105000"/>
              </a:lnSpc>
              <a:buNone/>
            </a:pPr>
            <a:r>
              <a:rPr lang="en-US" sz="6000" b="1" dirty="0">
                <a:solidFill>
                  <a:schemeClr val="accent1"/>
                </a:solidFill>
              </a:rPr>
              <a:t>16/16</a:t>
            </a:r>
            <a:endParaRPr lang="en-US" sz="6000" dirty="0"/>
          </a:p>
        </p:txBody>
      </p:sp>
      <p:sp>
        <p:nvSpPr>
          <p:cNvPr id="7" name="t-t1"/>
          <p:cNvSpPr txBox="1"/>
          <p:nvPr/>
        </p:nvSpPr>
        <p:spPr>
          <a:xfrm>
            <a:off x="822960" y="3090672"/>
            <a:ext cx="2651760" cy="1280160"/>
          </a:xfrm>
          <a:prstGeom prst="rect">
            <a:avLst/>
          </a:prstGeom>
          <a:noFill/>
          <a:ln/>
        </p:spPr>
        <p:txBody>
          <a:bodyPr wrap="square" lIns="0" tIns="0" rIns="0" bIns="0" rtlCol="0" anchor="t"/>
          <a:lstStyle/>
          <a:p>
            <a:pPr indent="0" marL="0">
              <a:lnSpc>
                <a:spcPct val="105000"/>
              </a:lnSpc>
              <a:buNone/>
            </a:pPr>
            <a:r>
              <a:rPr lang="en-US" sz="1400" dirty="0">
                <a:solidFill>
                  <a:schemeClr val="accent6"/>
                </a:solidFill>
              </a:rPr>
              <a:t>manual test cases passed: login, roles, live data, alerts, email, costs, PDF, logs, MySQL, mobile</a:t>
            </a:r>
            <a:endParaRPr lang="en-US" sz="1400" dirty="0"/>
          </a:p>
        </p:txBody>
      </p:sp>
      <p:graphicFrame>
        <p:nvGraphicFramePr>
          <p:cNvPr id="14" name="bug-table"/>
          <p:cNvGraphicFramePr>
            <a:graphicFrameLocks noGrp="1"/>
          </p:cNvGraphicFramePr>
          <p:nvPr>
            <p:extLst>
              <p:ext uri="{D42A27DB-BD31-4B8C-83A1-F6EECF244321}">
                <p14:modId xmlns:p14="http://schemas.microsoft.com/office/powerpoint/2010/main" val="1579011935"/>
              </p:ext>
            </p:extLst>
          </p:nvPr>
        </p:nvGraphicFramePr>
        <p:xfrm>
          <a:off x="4114800" y="1783080"/>
          <a:ext cx="7525512" cy="914400"/>
        </p:xfrm>
        <a:graphic>
          <a:graphicData uri="http://schemas.openxmlformats.org/drawingml/2006/table">
            <a:tbl>
              <a:tblPr/>
              <a:tblGrid>
                <a:gridCol w="4023360"/>
                <a:gridCol w="3502152"/>
              </a:tblGrid>
              <a:tr h="502920">
                <a:tc>
                  <a:txBody>
                    <a:bodyPr/>
                    <a:lstStyle/>
                    <a:p>
                      <a:pPr indent="0" marL="0">
                        <a:buNone/>
                      </a:pPr>
                      <a:r>
                        <a:rPr lang="en-US" sz="1600" b="1" dirty="0">
                          <a:solidFill>
                            <a:srgbClr val="1F5FB5"/>
                          </a:solidFill>
                          <a:latin typeface="Calibri" pitchFamily="34" charset="0"/>
                          <a:ea typeface="Calibri" pitchFamily="34" charset="-122"/>
                          <a:cs typeface="Calibri" pitchFamily="34" charset="-120"/>
                        </a:rPr>
                        <a:t>Bug found</a:t>
                      </a:r>
                      <a:endParaRPr lang="en-US" sz="1600" dirty="0">
                        <a:latin typeface="Calibri" charset="0"/>
                        <a:ea typeface="Calibri" charset="0"/>
                        <a:cs typeface="Calibri" charset="0"/>
                      </a:endParaRPr>
                    </a:p>
                  </a:txBody>
                  <a:tcPr marL="109728" marR="109728" marT="54864" marB="54864">
                    <a:lnL w="0" cap="flat" cmpd="sng" algn="ctr">
                      <a:noFill/>
                    </a:lnL>
                    <a:lnR w="0" cap="flat" cmpd="sng" algn="ctr">
                      <a:noFill/>
                    </a:lnR>
                    <a:lnT w="0" cap="flat" cmpd="sng" algn="ctr">
                      <a:noFill/>
                    </a:lnT>
                    <a:lnB w="12700" cap="flat" cmpd="sng" algn="ctr">
                      <a:solidFill>
                        <a:srgbClr val="1F5FB5"/>
                      </a:solidFill>
                      <a:prstDash val="solid"/>
                      <a:round/>
                      <a:headEnd type="none" w="med" len="med"/>
                      <a:tailEnd type="none" w="med" len="med"/>
                    </a:lnB>
                  </a:tcPr>
                </a:tc>
                <a:tc>
                  <a:txBody>
                    <a:bodyPr/>
                    <a:lstStyle/>
                    <a:p>
                      <a:pPr indent="0" marL="0">
                        <a:buNone/>
                      </a:pPr>
                      <a:r>
                        <a:rPr lang="en-US" sz="1600" b="1" dirty="0">
                          <a:solidFill>
                            <a:srgbClr val="1F5FB5"/>
                          </a:solidFill>
                          <a:latin typeface="Calibri" pitchFamily="34" charset="0"/>
                          <a:ea typeface="Calibri" pitchFamily="34" charset="-122"/>
                          <a:cs typeface="Calibri" pitchFamily="34" charset="-120"/>
                        </a:rPr>
                        <a:t>Fix</a:t>
                      </a:r>
                      <a:endParaRPr lang="en-US" sz="1600" dirty="0">
                        <a:latin typeface="Calibri" charset="0"/>
                        <a:ea typeface="Calibri" charset="0"/>
                        <a:cs typeface="Calibri" charset="0"/>
                      </a:endParaRPr>
                    </a:p>
                  </a:txBody>
                  <a:tcPr marL="109728" marR="109728" marT="54864" marB="54864">
                    <a:lnL w="0" cap="flat" cmpd="sng" algn="ctr">
                      <a:noFill/>
                    </a:lnL>
                    <a:lnR w="0" cap="flat" cmpd="sng" algn="ctr">
                      <a:noFill/>
                    </a:lnR>
                    <a:lnT w="0" cap="flat" cmpd="sng" algn="ctr">
                      <a:noFill/>
                    </a:lnT>
                    <a:lnB w="12700" cap="flat" cmpd="sng" algn="ctr">
                      <a:solidFill>
                        <a:srgbClr val="1F5FB5"/>
                      </a:solidFill>
                      <a:prstDash val="solid"/>
                      <a:round/>
                      <a:headEnd type="none" w="med" len="med"/>
                      <a:tailEnd type="none" w="med" len="med"/>
                    </a:lnB>
                  </a:tcPr>
                </a:tc>
              </a:tr>
              <a:tr h="502920">
                <a:tc>
                  <a:txBody>
                    <a:bodyPr/>
                    <a:lstStyle/>
                    <a:p>
                      <a:pPr indent="0" marL="0">
                        <a:buNone/>
                      </a:pPr>
                      <a:r>
                        <a:rPr lang="en-US" sz="1600" dirty="0">
                          <a:solidFill>
                            <a:srgbClr val="14213D"/>
                          </a:solidFill>
                          <a:latin typeface="Calibri" pitchFamily="34" charset="0"/>
                          <a:ea typeface="Calibri" pitchFamily="34" charset="-122"/>
                          <a:cs typeface="Calibri" pitchFamily="34" charset="-120"/>
                        </a:rPr>
                        <a:t>Column "value" is reserved in SQL</a:t>
                      </a:r>
                      <a:endParaRPr lang="en-US" sz="1600" dirty="0">
                        <a:latin typeface="Calibri" charset="0"/>
                        <a:ea typeface="Calibri" charset="0"/>
                        <a:cs typeface="Calibri" charset="0"/>
                      </a:endParaRPr>
                    </a:p>
                  </a:txBody>
                  <a:tcPr marL="109728" marR="109728" marT="54864" marB="54864">
                    <a:lnL w="0" cap="flat" cmpd="sng" algn="ctr">
                      <a:noFill/>
                    </a:lnL>
                    <a:lnR w="0" cap="flat" cmpd="sng" algn="ctr">
                      <a:noFill/>
                    </a:lnR>
                    <a:lnT w="0" cap="flat" cmpd="sng" algn="ctr">
                      <a:noFill/>
                    </a:lnT>
                    <a:lnB w="9525" cap="flat" cmpd="sng" algn="ctr">
                      <a:solidFill>
                        <a:srgbClr val="D6DDE6"/>
                      </a:solidFill>
                      <a:prstDash val="solid"/>
                      <a:round/>
                      <a:headEnd type="none" w="med" len="med"/>
                      <a:tailEnd type="none" w="med" len="med"/>
                    </a:lnB>
                  </a:tcPr>
                </a:tc>
                <a:tc>
                  <a:txBody>
                    <a:bodyPr/>
                    <a:lstStyle/>
                    <a:p>
                      <a:pPr indent="0" marL="0">
                        <a:buNone/>
                      </a:pPr>
                      <a:r>
                        <a:rPr lang="en-US" sz="1600" dirty="0">
                          <a:solidFill>
                            <a:srgbClr val="14213D"/>
                          </a:solidFill>
                          <a:latin typeface="Calibri" pitchFamily="34" charset="0"/>
                          <a:ea typeface="Calibri" pitchFamily="34" charset="-122"/>
                          <a:cs typeface="Calibri" pitchFamily="34" charset="-120"/>
                        </a:rPr>
                        <a:t>Renamed to metric_value</a:t>
                      </a:r>
                      <a:endParaRPr lang="en-US" sz="1600" dirty="0">
                        <a:latin typeface="Calibri" charset="0"/>
                        <a:ea typeface="Calibri" charset="0"/>
                        <a:cs typeface="Calibri" charset="0"/>
                      </a:endParaRPr>
                    </a:p>
                  </a:txBody>
                  <a:tcPr marL="109728" marR="109728" marT="54864" marB="54864">
                    <a:lnL w="0" cap="flat" cmpd="sng" algn="ctr">
                      <a:noFill/>
                    </a:lnL>
                    <a:lnR w="0" cap="flat" cmpd="sng" algn="ctr">
                      <a:noFill/>
                    </a:lnR>
                    <a:lnT w="0" cap="flat" cmpd="sng" algn="ctr">
                      <a:noFill/>
                    </a:lnT>
                    <a:lnB w="9525" cap="flat" cmpd="sng" algn="ctr">
                      <a:solidFill>
                        <a:srgbClr val="D6DDE6"/>
                      </a:solidFill>
                      <a:prstDash val="solid"/>
                      <a:round/>
                      <a:headEnd type="none" w="med" len="med"/>
                      <a:tailEnd type="none" w="med" len="med"/>
                    </a:lnB>
                  </a:tcPr>
                </a:tc>
              </a:tr>
              <a:tr h="502920">
                <a:tc>
                  <a:txBody>
                    <a:bodyPr/>
                    <a:lstStyle/>
                    <a:p>
                      <a:pPr indent="0" marL="0">
                        <a:buNone/>
                      </a:pPr>
                      <a:r>
                        <a:rPr lang="en-US" sz="1600" dirty="0">
                          <a:solidFill>
                            <a:srgbClr val="14213D"/>
                          </a:solidFill>
                          <a:latin typeface="Calibri" pitchFamily="34" charset="0"/>
                          <a:ea typeface="Calibri" pitchFamily="34" charset="-122"/>
                          <a:cs typeface="Calibri" pitchFamily="34" charset="-120"/>
                        </a:rPr>
                        <a:t>H2 security rule broke after MySQL</a:t>
                      </a:r>
                      <a:endParaRPr lang="en-US" sz="1600" dirty="0">
                        <a:latin typeface="Calibri" charset="0"/>
                        <a:ea typeface="Calibri" charset="0"/>
                        <a:cs typeface="Calibri" charset="0"/>
                      </a:endParaRPr>
                    </a:p>
                  </a:txBody>
                  <a:tcPr marL="109728" marR="109728" marT="54864" marB="54864">
                    <a:lnL w="0" cap="flat" cmpd="sng" algn="ctr">
                      <a:noFill/>
                    </a:lnL>
                    <a:lnR w="0" cap="flat" cmpd="sng" algn="ctr">
                      <a:noFill/>
                    </a:lnR>
                    <a:lnT w="0" cap="flat" cmpd="sng" algn="ctr">
                      <a:noFill/>
                    </a:lnT>
                    <a:lnB w="9525" cap="flat" cmpd="sng" algn="ctr">
                      <a:solidFill>
                        <a:srgbClr val="D6DDE6"/>
                      </a:solidFill>
                      <a:prstDash val="solid"/>
                      <a:round/>
                      <a:headEnd type="none" w="med" len="med"/>
                      <a:tailEnd type="none" w="med" len="med"/>
                    </a:lnB>
                  </a:tcPr>
                </a:tc>
                <a:tc>
                  <a:txBody>
                    <a:bodyPr/>
                    <a:lstStyle/>
                    <a:p>
                      <a:pPr indent="0" marL="0">
                        <a:buNone/>
                      </a:pPr>
                      <a:r>
                        <a:rPr lang="en-US" sz="1600" dirty="0">
                          <a:solidFill>
                            <a:srgbClr val="14213D"/>
                          </a:solidFill>
                          <a:latin typeface="Calibri" pitchFamily="34" charset="0"/>
                          <a:ea typeface="Calibri" pitchFamily="34" charset="-122"/>
                          <a:cs typeface="Calibri" pitchFamily="34" charset="-120"/>
                        </a:rPr>
                        <a:t>Replaced with a plain path rule</a:t>
                      </a:r>
                      <a:endParaRPr lang="en-US" sz="1600" dirty="0">
                        <a:latin typeface="Calibri" charset="0"/>
                        <a:ea typeface="Calibri" charset="0"/>
                        <a:cs typeface="Calibri" charset="0"/>
                      </a:endParaRPr>
                    </a:p>
                  </a:txBody>
                  <a:tcPr marL="109728" marR="109728" marT="54864" marB="54864">
                    <a:lnL w="0" cap="flat" cmpd="sng" algn="ctr">
                      <a:noFill/>
                    </a:lnL>
                    <a:lnR w="0" cap="flat" cmpd="sng" algn="ctr">
                      <a:noFill/>
                    </a:lnR>
                    <a:lnT w="0" cap="flat" cmpd="sng" algn="ctr">
                      <a:noFill/>
                    </a:lnT>
                    <a:lnB w="9525" cap="flat" cmpd="sng" algn="ctr">
                      <a:solidFill>
                        <a:srgbClr val="D6DDE6"/>
                      </a:solidFill>
                      <a:prstDash val="solid"/>
                      <a:round/>
                      <a:headEnd type="none" w="med" len="med"/>
                      <a:tailEnd type="none" w="med" len="med"/>
                    </a:lnB>
                  </a:tcPr>
                </a:tc>
              </a:tr>
              <a:tr h="502920">
                <a:tc>
                  <a:txBody>
                    <a:bodyPr/>
                    <a:lstStyle/>
                    <a:p>
                      <a:pPr indent="0" marL="0">
                        <a:buNone/>
                      </a:pPr>
                      <a:r>
                        <a:rPr lang="en-US" sz="1600" dirty="0">
                          <a:solidFill>
                            <a:srgbClr val="14213D"/>
                          </a:solidFill>
                          <a:latin typeface="Calibri" pitchFamily="34" charset="0"/>
                          <a:ea typeface="Calibri" pitchFamily="34" charset="-122"/>
                          <a:cs typeface="Calibri" pitchFamily="34" charset="-120"/>
                        </a:rPr>
                        <a:t>150+ alerts in 15 minutes</a:t>
                      </a:r>
                      <a:endParaRPr lang="en-US" sz="1600" dirty="0">
                        <a:latin typeface="Calibri" charset="0"/>
                        <a:ea typeface="Calibri" charset="0"/>
                        <a:cs typeface="Calibri" charset="0"/>
                      </a:endParaRPr>
                    </a:p>
                  </a:txBody>
                  <a:tcPr marL="109728" marR="109728" marT="54864" marB="54864">
                    <a:lnL w="0" cap="flat" cmpd="sng" algn="ctr">
                      <a:noFill/>
                    </a:lnL>
                    <a:lnR w="0" cap="flat" cmpd="sng" algn="ctr">
                      <a:noFill/>
                    </a:lnR>
                    <a:lnT w="0" cap="flat" cmpd="sng" algn="ctr">
                      <a:noFill/>
                    </a:lnT>
                    <a:lnB w="9525" cap="flat" cmpd="sng" algn="ctr">
                      <a:solidFill>
                        <a:srgbClr val="D6DDE6"/>
                      </a:solidFill>
                      <a:prstDash val="solid"/>
                      <a:round/>
                      <a:headEnd type="none" w="med" len="med"/>
                      <a:tailEnd type="none" w="med" len="med"/>
                    </a:lnB>
                  </a:tcPr>
                </a:tc>
                <a:tc>
                  <a:txBody>
                    <a:bodyPr/>
                    <a:lstStyle/>
                    <a:p>
                      <a:pPr indent="0" marL="0">
                        <a:buNone/>
                      </a:pPr>
                      <a:r>
                        <a:rPr lang="en-US" sz="1600" dirty="0">
                          <a:solidFill>
                            <a:srgbClr val="14213D"/>
                          </a:solidFill>
                          <a:latin typeface="Calibri" pitchFamily="34" charset="0"/>
                          <a:ea typeface="Calibri" pitchFamily="34" charset="-122"/>
                          <a:cs typeface="Calibri" pitchFamily="34" charset="-120"/>
                        </a:rPr>
                        <a:t>Spike chance 0.6% to 0.15%</a:t>
                      </a:r>
                      <a:endParaRPr lang="en-US" sz="1600" dirty="0">
                        <a:latin typeface="Calibri" charset="0"/>
                        <a:ea typeface="Calibri" charset="0"/>
                        <a:cs typeface="Calibri" charset="0"/>
                      </a:endParaRPr>
                    </a:p>
                  </a:txBody>
                  <a:tcPr marL="109728" marR="109728" marT="54864" marB="54864">
                    <a:lnL w="0" cap="flat" cmpd="sng" algn="ctr">
                      <a:noFill/>
                    </a:lnL>
                    <a:lnR w="0" cap="flat" cmpd="sng" algn="ctr">
                      <a:noFill/>
                    </a:lnR>
                    <a:lnT w="0" cap="flat" cmpd="sng" algn="ctr">
                      <a:noFill/>
                    </a:lnT>
                    <a:lnB w="9525" cap="flat" cmpd="sng" algn="ctr">
                      <a:solidFill>
                        <a:srgbClr val="D6DDE6"/>
                      </a:solidFill>
                      <a:prstDash val="solid"/>
                      <a:round/>
                      <a:headEnd type="none" w="med" len="med"/>
                      <a:tailEnd type="none" w="med" len="med"/>
                    </a:lnB>
                  </a:tcPr>
                </a:tc>
              </a:tr>
              <a:tr h="502920">
                <a:tc>
                  <a:txBody>
                    <a:bodyPr/>
                    <a:lstStyle/>
                    <a:p>
                      <a:pPr indent="0" marL="0">
                        <a:buNone/>
                      </a:pPr>
                      <a:r>
                        <a:rPr lang="en-US" sz="1600" dirty="0">
                          <a:solidFill>
                            <a:srgbClr val="14213D"/>
                          </a:solidFill>
                          <a:latin typeface="Calibri" pitchFamily="34" charset="0"/>
                          <a:ea typeface="Calibri" pitchFamily="34" charset="-122"/>
                          <a:cs typeface="Calibri" pitchFamily="34" charset="-120"/>
                        </a:rPr>
                        <a:t>Email "Not set up"</a:t>
                      </a:r>
                      <a:endParaRPr lang="en-US" sz="1600" dirty="0">
                        <a:latin typeface="Calibri" charset="0"/>
                        <a:ea typeface="Calibri" charset="0"/>
                        <a:cs typeface="Calibri" charset="0"/>
                      </a:endParaRPr>
                    </a:p>
                  </a:txBody>
                  <a:tcPr marL="109728" marR="109728" marT="54864" marB="54864">
                    <a:lnL w="0" cap="flat" cmpd="sng" algn="ctr">
                      <a:noFill/>
                    </a:lnL>
                    <a:lnR w="0" cap="flat" cmpd="sng" algn="ctr">
                      <a:noFill/>
                    </a:lnR>
                    <a:lnT w="0" cap="flat" cmpd="sng" algn="ctr">
                      <a:noFill/>
                    </a:lnT>
                    <a:lnB w="9525" cap="flat" cmpd="sng" algn="ctr">
                      <a:solidFill>
                        <a:srgbClr val="D6DDE6"/>
                      </a:solidFill>
                      <a:prstDash val="solid"/>
                      <a:round/>
                      <a:headEnd type="none" w="med" len="med"/>
                      <a:tailEnd type="none" w="med" len="med"/>
                    </a:lnB>
                  </a:tcPr>
                </a:tc>
                <a:tc>
                  <a:txBody>
                    <a:bodyPr/>
                    <a:lstStyle/>
                    <a:p>
                      <a:pPr indent="0" marL="0">
                        <a:buNone/>
                      </a:pPr>
                      <a:r>
                        <a:rPr lang="en-US" sz="1600" dirty="0">
                          <a:solidFill>
                            <a:srgbClr val="14213D"/>
                          </a:solidFill>
                          <a:latin typeface="Calibri" pitchFamily="34" charset="0"/>
                          <a:ea typeface="Calibri" pitchFamily="34" charset="-122"/>
                          <a:cs typeface="Calibri" pitchFamily="34" charset="-120"/>
                        </a:rPr>
                        <a:t>Trim spaces in variable names</a:t>
                      </a:r>
                      <a:endParaRPr lang="en-US" sz="1600" dirty="0">
                        <a:latin typeface="Calibri" charset="0"/>
                        <a:ea typeface="Calibri" charset="0"/>
                        <a:cs typeface="Calibri" charset="0"/>
                      </a:endParaRPr>
                    </a:p>
                  </a:txBody>
                  <a:tcPr marL="109728" marR="109728" marT="54864" marB="54864">
                    <a:lnL w="0" cap="flat" cmpd="sng" algn="ctr">
                      <a:noFill/>
                    </a:lnL>
                    <a:lnR w="0" cap="flat" cmpd="sng" algn="ctr">
                      <a:noFill/>
                    </a:lnR>
                    <a:lnT w="0" cap="flat" cmpd="sng" algn="ctr">
                      <a:noFill/>
                    </a:lnT>
                    <a:lnB w="9525" cap="flat" cmpd="sng" algn="ctr">
                      <a:solidFill>
                        <a:srgbClr val="D6DD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5568"/>
                </a:solidFill>
              </a:defRPr>
            </a:lvl1pPr>
          </a:lstStyle>
          <a:p>
            <a:pPr algn="r"/>
            <a:fld id="{F7021451-1387-4CA6-816F-3879F97B5CBC}" type="slidenum">
              <a:rPr b="0" lang="en-US"/>
              <a:t>13</a:t>
            </a:fld>
            <a:endParaRPr lang="en-US"/>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additive="base">
                                        <p:cTn id="6" dur="500" fill="hold"/>
                                        <p:tgtEl>
                                          <p:spTgt spid="5"/>
                                        </p:tgtEl>
                                        <p:attrNameLst>
                                          <p:attrName>ppt_w</p:attrName>
                                        </p:attrNameLst>
                                      </p:cBhvr>
                                      <p:tavLst>
                                        <p:tav tm="0">
                                          <p:val>
                                            <p:strVal val="0"/>
                                          </p:val>
                                        </p:tav>
                                        <p:tav tm="100000">
                                          <p:val>
                                            <p:strVal val="#ppt_w"/>
                                          </p:val>
                                        </p:tav>
                                      </p:tavLst>
                                    </p:anim>
                                    <p:anim calcmode="lin" valueType="num">
                                      <p:cBhvr additive="base">
                                        <p:cTn id="7" dur="500" fill="hold"/>
                                        <p:tgtEl>
                                          <p:spTgt spid="5"/>
                                        </p:tgtEl>
                                        <p:attrNameLst>
                                          <p:attrName>ppt_h</p:attrName>
                                        </p:attrNameLst>
                                      </p:cBhvr>
                                      <p:tavLst>
                                        <p:tav tm="0">
                                          <p:val>
                                            <p:strVal val="0"/>
                                          </p:val>
                                        </p:tav>
                                        <p:tav tm="100000">
                                          <p:val>
                                            <p:strVal val="#ppt_h"/>
                                          </p:val>
                                        </p:tav>
                                      </p:tavLst>
                                    </p:anim>
                                    <p:animEffect transition="in" filter="fade">
                                      <p:cBhvr>
                                        <p:cTn id="8" dur="500"/>
                                        <p:tgtEl>
                                          <p:spTgt spid="5"/>
                                        </p:tgtEl>
                                      </p:cBhvr>
                                    </p:animEffect>
                                  </p:childTnLst>
                                </p:cTn>
                              </p:par>
                              <p:par>
                                <p:cTn id="14" presetID="53" presetClass="entr" presetSubtype="16"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ppt_w</p:attrName>
                                        </p:attrNameLst>
                                      </p:cBhvr>
                                      <p:tavLst>
                                        <p:tav tm="0">
                                          <p:val>
                                            <p:strVal val="0"/>
                                          </p:val>
                                        </p:tav>
                                        <p:tav tm="100000">
                                          <p:val>
                                            <p:strVal val="#ppt_w"/>
                                          </p:val>
                                        </p:tav>
                                      </p:tavLst>
                                    </p:anim>
                                    <p:anim calcmode="lin" valueType="num">
                                      <p:cBhvr additive="base">
                                        <p:cTn id="12" dur="500" fill="hold"/>
                                        <p:tgtEl>
                                          <p:spTgt spid="6"/>
                                        </p:tgtEl>
                                        <p:attrNameLst>
                                          <p:attrName>ppt_h</p:attrName>
                                        </p:attrNameLst>
                                      </p:cBhvr>
                                      <p:tavLst>
                                        <p:tav tm="0">
                                          <p:val>
                                            <p:strVal val="0"/>
                                          </p:val>
                                        </p:tav>
                                        <p:tav tm="100000">
                                          <p:val>
                                            <p:strVal val="#ppt_h"/>
                                          </p:val>
                                        </p:tav>
                                      </p:tavLst>
                                    </p:anim>
                                    <p:animEffect transition="in" filter="fade">
                                      <p:cBhvr>
                                        <p:cTn id="13" dur="500"/>
                                        <p:tgtEl>
                                          <p:spTgt spid="6"/>
                                        </p:tgtEl>
                                      </p:cBhvr>
                                    </p:animEffect>
                                  </p:childTnLst>
                                </p:cTn>
                              </p:par>
                              <p:par>
                                <p:cTn id="19" presetID="53" presetClass="entr" presetSubtype="16"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additive="base">
                                        <p:cTn id="16" dur="500" fill="hold"/>
                                        <p:tgtEl>
                                          <p:spTgt spid="7"/>
                                        </p:tgtEl>
                                        <p:attrNameLst>
                                          <p:attrName>ppt_w</p:attrName>
                                        </p:attrNameLst>
                                      </p:cBhvr>
                                      <p:tavLst>
                                        <p:tav tm="0">
                                          <p:val>
                                            <p:strVal val="0"/>
                                          </p:val>
                                        </p:tav>
                                        <p:tav tm="100000">
                                          <p:val>
                                            <p:strVal val="#ppt_w"/>
                                          </p:val>
                                        </p:tav>
                                      </p:tavLst>
                                    </p:anim>
                                    <p:anim calcmode="lin" valueType="num">
                                      <p:cBhvr additive="base">
                                        <p:cTn id="17" dur="500" fill="hold"/>
                                        <p:tgtEl>
                                          <p:spTgt spid="7"/>
                                        </p:tgtEl>
                                        <p:attrNameLst>
                                          <p:attrName>ppt_h</p:attrName>
                                        </p:attrNameLst>
                                      </p:cBhvr>
                                      <p:tavLst>
                                        <p:tav tm="0">
                                          <p:val>
                                            <p:strVal val="0"/>
                                          </p:val>
                                        </p:tav>
                                        <p:tav tm="100000">
                                          <p:val>
                                            <p:strVal val="#ppt_h"/>
                                          </p:val>
                                        </p:tav>
                                      </p:tavLst>
                                    </p:anim>
                                    <p:animEffect transition="in" filter="fade">
                                      <p:cBhvr>
                                        <p:cTn id="18"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4" presetID="22" presetClass="entr" presetSubtype="1"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wipe(down)">
                                      <p:cBhvr>
                                        <p:cTn id="23" dur="8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Graphic spid="14" grpId="0">
        <p:bldAsOne/>
      </p:bldGraphic>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686800" cy="320040"/>
          </a:xfrm>
          <a:prstGeom prst="rect">
            <a:avLst/>
          </a:prstGeom>
          <a:noFill/>
          <a:ln/>
        </p:spPr>
        <p:txBody>
          <a:bodyPr wrap="square" lIns="0" tIns="0" rIns="0" bIns="0" rtlCol="0" anchor="t"/>
          <a:lstStyle/>
          <a:p>
            <a:pPr indent="0" marL="0">
              <a:buNone/>
            </a:pPr>
            <a:r>
              <a:rPr lang="en-US" sz="1300" b="1" spc="200" kern="0" dirty="0">
                <a:solidFill>
                  <a:schemeClr val="accent3"/>
                </a:solidFill>
              </a:rPr>
              <a:t>LIMITATIONS AND FUTURE SCOPE</a:t>
            </a:r>
            <a:endParaRPr lang="en-US" sz="1300" dirty="0"/>
          </a:p>
        </p:txBody>
      </p:sp>
      <p:sp>
        <p:nvSpPr>
          <p:cNvPr id="3" name="Text 0"/>
          <p:cNvSpPr/>
          <p:nvPr>
            <p:ph idx="101" type="title" hasCustomPrompt="1"/>
          </p:nvPr>
        </p:nvSpPr>
        <p:spPr>
          <a:xfrm>
            <a:off x="548640" y="713232"/>
            <a:ext cx="11091672" cy="822960"/>
          </a:xfrm>
          <a:prstGeom prst="rect">
            <a:avLst/>
          </a:prstGeom>
          <a:noFill/>
          <a:ln/>
        </p:spPr>
        <p:txBody>
          <a:bodyPr wrap="square" lIns="0" tIns="0" rIns="0" bIns="0" rtlCol="0" anchor="t"/>
          <a:lstStyle/>
          <a:p>
            <a:pPr indent="0" marL="0">
              <a:buNone/>
            </a:pPr>
            <a:r>
              <a:rPr lang="en-US" sz="3200" b="1" dirty="0">
                <a:solidFill>
                  <a:schemeClr val="bg2"/>
                </a:solidFill>
              </a:rPr>
              <a:t>The design is ready for real cloud accounts</a:t>
            </a:r>
            <a:endParaRPr lang="en-US" sz="3200" dirty="0"/>
          </a:p>
        </p:txBody>
      </p:sp>
      <p:sp>
        <p:nvSpPr>
          <p:cNvPr id="4" name="nav-contents"/>
          <p:cNvSpPr txBox="1"/>
          <p:nvPr/>
        </p:nvSpPr>
        <p:spPr>
          <a:xfrm>
            <a:off x="10451592" y="365760"/>
            <a:ext cx="1188720" cy="292608"/>
          </a:xfrm>
          <a:prstGeom prst="rect">
            <a:avLst/>
          </a:prstGeom>
          <a:noFill/>
          <a:ln/>
        </p:spPr>
        <p:txBody>
          <a:bodyPr wrap="square" lIns="0" tIns="0" rIns="0" bIns="0" rtlCol="0" anchor="ctr"/>
          <a:lstStyle/>
          <a:p>
            <a:pPr algn="r" indent="0" marL="0">
              <a:buNone/>
            </a:pPr>
            <a:r>
              <a:rPr lang="en-US" sz="1100" u="sng" dirty="0">
                <a:solidFill>
                  <a:schemeClr val="accent3"/>
                </a:solidFill>
                <a:hlinkClick r:id="rId1" action="ppaction://hlinksldjump" tooltip="Back to contents">
                  <a:extLst>
                    <a:ext uri="{A12FA001-AC4F-418D-AE19-62706E023703}">
                      <ahyp:hlinkClr xmlns:ahyp="http://schemas.microsoft.com/office/drawing/2018/hyperlinkcolor" val="tx"/>
                    </a:ext>
                  </a:extLst>
                </a:hlinkClick>
              </a:rPr>
              <a:t>Contents ↩</a:t>
            </a:r>
            <a:endParaRPr lang="en-US" sz="1100" dirty="0"/>
          </a:p>
        </p:txBody>
      </p:sp>
      <p:sp>
        <p:nvSpPr>
          <p:cNvPr id="5" name="fut1-box"/>
          <p:cNvSpPr/>
          <p:nvPr/>
        </p:nvSpPr>
        <p:spPr>
          <a:xfrm>
            <a:off x="548640" y="1783080"/>
            <a:ext cx="5408676" cy="3566160"/>
          </a:xfrm>
          <a:prstGeom prst="roundRect">
            <a:avLst>
              <a:gd name="adj" fmla="val 3077"/>
            </a:avLst>
          </a:prstGeom>
          <a:solidFill>
            <a:schemeClr val="accent4"/>
          </a:solidFill>
          <a:ln w="9525">
            <a:solidFill>
              <a:schemeClr val="accent4"/>
            </a:solidFill>
            <a:prstDash val="solid"/>
          </a:ln>
        </p:spPr>
      </p:sp>
      <p:sp>
        <p:nvSpPr>
          <p:cNvPr id="6" name="fut1-t0"/>
          <p:cNvSpPr txBox="1"/>
          <p:nvPr/>
        </p:nvSpPr>
        <p:spPr>
          <a:xfrm>
            <a:off x="822960" y="2057400"/>
            <a:ext cx="4860036" cy="502920"/>
          </a:xfrm>
          <a:prstGeom prst="rect">
            <a:avLst/>
          </a:prstGeom>
          <a:noFill/>
          <a:ln/>
        </p:spPr>
        <p:txBody>
          <a:bodyPr wrap="square" lIns="0" tIns="0" rIns="0" bIns="0" rtlCol="0" anchor="t"/>
          <a:lstStyle/>
          <a:p>
            <a:pPr indent="0" marL="0">
              <a:lnSpc>
                <a:spcPct val="105000"/>
              </a:lnSpc>
              <a:buNone/>
            </a:pPr>
            <a:r>
              <a:rPr lang="en-US" sz="2400" b="1" dirty="0">
                <a:solidFill>
                  <a:srgbClr val="F08A4B"/>
                </a:solidFill>
              </a:rPr>
              <a:t>Today</a:t>
            </a:r>
            <a:endParaRPr lang="en-US" sz="2400" dirty="0"/>
          </a:p>
        </p:txBody>
      </p:sp>
      <p:sp>
        <p:nvSpPr>
          <p:cNvPr id="7" name="fut1-list"/>
          <p:cNvSpPr txBox="1"/>
          <p:nvPr/>
        </p:nvSpPr>
        <p:spPr>
          <a:xfrm>
            <a:off x="822960" y="2514600"/>
            <a:ext cx="4846320" cy="256032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EEF2F6"/>
                </a:solidFill>
              </a:rPr>
              <a:t>Cloud servers are simulated</a:t>
            </a:r>
            <a:endParaRPr lang="en-US" sz="1800" dirty="0"/>
          </a:p>
          <a:p>
            <a:pPr marL="342900" indent="-342900">
              <a:spcAft>
                <a:spcPts val="1000"/>
              </a:spcAft>
              <a:buSzPct val="100000"/>
              <a:buChar char="•"/>
            </a:pPr>
            <a:r>
              <a:rPr lang="en-US" sz="1800" dirty="0">
                <a:solidFill>
                  <a:srgbClr val="EEF2F6"/>
                </a:solidFill>
              </a:rPr>
              <a:t>Logs kept in memory only</a:t>
            </a:r>
            <a:endParaRPr lang="en-US" sz="1800" dirty="0"/>
          </a:p>
          <a:p>
            <a:pPr marL="342900" indent="-342900">
              <a:spcAft>
                <a:spcPts val="1000"/>
              </a:spcAft>
              <a:buSzPct val="100000"/>
              <a:buChar char="•"/>
            </a:pPr>
            <a:r>
              <a:rPr lang="en-US" sz="1800" dirty="0">
                <a:solidFill>
                  <a:srgbClr val="EEF2F6"/>
                </a:solidFill>
              </a:rPr>
              <a:t>Fixed hourly prices</a:t>
            </a:r>
            <a:endParaRPr lang="en-US" sz="1800" dirty="0"/>
          </a:p>
          <a:p>
            <a:pPr marL="342900" indent="-342900">
              <a:spcAft>
                <a:spcPts val="1000"/>
              </a:spcAft>
              <a:buSzPct val="100000"/>
              <a:buChar char="•"/>
            </a:pPr>
            <a:r>
              <a:rPr lang="en-US" sz="1800" dirty="0">
                <a:solidFill>
                  <a:srgbClr val="EEF2F6"/>
                </a:solidFill>
              </a:rPr>
              <a:t>Manual testing</a:t>
            </a:r>
            <a:endParaRPr lang="en-US" sz="1800" dirty="0"/>
          </a:p>
        </p:txBody>
      </p:sp>
      <p:sp>
        <p:nvSpPr>
          <p:cNvPr id="8" name="fut2-box"/>
          <p:cNvSpPr/>
          <p:nvPr/>
        </p:nvSpPr>
        <p:spPr>
          <a:xfrm>
            <a:off x="6231636" y="1783080"/>
            <a:ext cx="5408676" cy="3566160"/>
          </a:xfrm>
          <a:prstGeom prst="roundRect">
            <a:avLst>
              <a:gd name="adj" fmla="val 3077"/>
            </a:avLst>
          </a:prstGeom>
          <a:solidFill>
            <a:schemeClr val="accent4"/>
          </a:solidFill>
          <a:ln w="9525">
            <a:solidFill>
              <a:schemeClr val="accent4"/>
            </a:solidFill>
            <a:prstDash val="solid"/>
          </a:ln>
        </p:spPr>
      </p:sp>
      <p:sp>
        <p:nvSpPr>
          <p:cNvPr id="9" name="fut2-t0"/>
          <p:cNvSpPr txBox="1"/>
          <p:nvPr/>
        </p:nvSpPr>
        <p:spPr>
          <a:xfrm>
            <a:off x="6505956" y="2057400"/>
            <a:ext cx="4860036" cy="502920"/>
          </a:xfrm>
          <a:prstGeom prst="rect">
            <a:avLst/>
          </a:prstGeom>
          <a:noFill/>
          <a:ln/>
        </p:spPr>
        <p:txBody>
          <a:bodyPr wrap="square" lIns="0" tIns="0" rIns="0" bIns="0" rtlCol="0" anchor="t"/>
          <a:lstStyle/>
          <a:p>
            <a:pPr indent="0" marL="0">
              <a:lnSpc>
                <a:spcPct val="105000"/>
              </a:lnSpc>
              <a:buNone/>
            </a:pPr>
            <a:r>
              <a:rPr lang="en-US" sz="2400" b="1" dirty="0">
                <a:solidFill>
                  <a:srgbClr val="5EA2EF"/>
                </a:solidFill>
              </a:rPr>
              <a:t>Next</a:t>
            </a:r>
            <a:endParaRPr lang="en-US" sz="2400" dirty="0"/>
          </a:p>
        </p:txBody>
      </p:sp>
      <p:sp>
        <p:nvSpPr>
          <p:cNvPr id="10" name="fut2-list"/>
          <p:cNvSpPr txBox="1"/>
          <p:nvPr/>
        </p:nvSpPr>
        <p:spPr>
          <a:xfrm>
            <a:off x="6505956" y="2514600"/>
            <a:ext cx="4846320" cy="256032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EEF2F6"/>
                </a:solidFill>
              </a:rPr>
              <a:t>AWS CloudWatch and Azure Monitor APIs</a:t>
            </a:r>
            <a:endParaRPr lang="en-US" sz="1800" dirty="0"/>
          </a:p>
          <a:p>
            <a:pPr marL="342900" indent="-342900">
              <a:spcAft>
                <a:spcPts val="1000"/>
              </a:spcAft>
              <a:buSzPct val="100000"/>
              <a:buChar char="•"/>
            </a:pPr>
            <a:r>
              <a:rPr lang="en-US" sz="1800" dirty="0">
                <a:solidFill>
                  <a:srgbClr val="EEF2F6"/>
                </a:solidFill>
              </a:rPr>
              <a:t>Store logs in a database</a:t>
            </a:r>
            <a:endParaRPr lang="en-US" sz="1800" dirty="0"/>
          </a:p>
          <a:p>
            <a:pPr marL="342900" indent="-342900">
              <a:spcAft>
                <a:spcPts val="1000"/>
              </a:spcAft>
              <a:buSzPct val="100000"/>
              <a:buChar char="•"/>
            </a:pPr>
            <a:r>
              <a:rPr lang="en-US" sz="1800" dirty="0">
                <a:solidFill>
                  <a:srgbClr val="EEF2F6"/>
                </a:solidFill>
              </a:rPr>
              <a:t>Predict "disk full in 3 days"</a:t>
            </a:r>
            <a:endParaRPr lang="en-US" sz="1800" dirty="0"/>
          </a:p>
          <a:p>
            <a:pPr marL="342900" indent="-342900">
              <a:spcAft>
                <a:spcPts val="1000"/>
              </a:spcAft>
              <a:buSzPct val="100000"/>
              <a:buChar char="•"/>
            </a:pPr>
            <a:r>
              <a:rPr lang="en-US" sz="1800" dirty="0">
                <a:solidFill>
                  <a:srgbClr val="EEF2F6"/>
                </a:solidFill>
              </a:rPr>
              <a:t>JUnit tests, Docker deployment</a:t>
            </a:r>
            <a:endParaRPr lang="en-US" sz="18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9B8CA"/>
                </a:solidFill>
              </a:defRPr>
            </a:lvl1pPr>
          </a:lstStyle>
          <a:p>
            <a:pPr algn="r"/>
            <a:fld id="{F7021451-1387-4CA6-816F-3879F97B5CBC}" type="slidenum">
              <a:rPr b="0" lang="en-US"/>
              <a:t>14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2" presetClass="entr" presetSubtype="8"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additive="base">
                                        <p:cTn id="6" dur="500" fill="hold"/>
                                        <p:tgtEl>
                                          <p:spTgt spid="5"/>
                                        </p:tgtEl>
                                        <p:attrNameLst>
                                          <p:attrName>ppt_x</p:attrName>
                                        </p:attrNameLst>
                                      </p:cBhvr>
                                      <p:tavLst>
                                        <p:tav tm="0">
                                          <p:val>
                                            <p:strVal val="0-#ppt_w/2"/>
                                          </p:val>
                                        </p:tav>
                                        <p:tav tm="100000">
                                          <p:val>
                                            <p:strVal val="#ppt_x"/>
                                          </p:val>
                                        </p:tav>
                                      </p:tavLst>
                                    </p:anim>
                                    <p:anim calcmode="lin" valueType="num">
                                      <p:cBhvr additive="base">
                                        <p:cTn id="7" dur="500" fill="hold"/>
                                        <p:tgtEl>
                                          <p:spTgt spid="5"/>
                                        </p:tgtEl>
                                        <p:attrNameLst>
                                          <p:attrName>ppt_y</p:attrName>
                                        </p:attrNameLst>
                                      </p:cBhvr>
                                      <p:tavLst>
                                        <p:tav tm="0">
                                          <p:val>
                                            <p:strVal val="#ppt_y"/>
                                          </p:val>
                                        </p:tav>
                                        <p:tav tm="100000">
                                          <p:val>
                                            <p:strVal val="#ppt_y"/>
                                          </p:val>
                                        </p:tav>
                                      </p:tavLst>
                                    </p:anim>
                                  </p:childTnLst>
                                </p:cTn>
                              </p:par>
                              <p:par>
                                <p:cTn id="12" presetID="2" presetClass="entr" presetSubtype="8"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 calcmode="lin" valueType="num">
                                      <p:cBhvr additive="base">
                                        <p:cTn id="10" dur="500" fill="hold"/>
                                        <p:tgtEl>
                                          <p:spTgt spid="6"/>
                                        </p:tgtEl>
                                        <p:attrNameLst>
                                          <p:attrName>ppt_x</p:attrName>
                                        </p:attrNameLst>
                                      </p:cBhvr>
                                      <p:tavLst>
                                        <p:tav tm="0">
                                          <p:val>
                                            <p:strVal val="0-#ppt_w/2"/>
                                          </p:val>
                                        </p:tav>
                                        <p:tav tm="100000">
                                          <p:val>
                                            <p:strVal val="#ppt_x"/>
                                          </p:val>
                                        </p:tav>
                                      </p:tavLst>
                                    </p:anim>
                                    <p:anim calcmode="lin" valueType="num">
                                      <p:cBhvr additive="base">
                                        <p:cTn id="11" dur="500" fill="hold"/>
                                        <p:tgtEl>
                                          <p:spTgt spid="6"/>
                                        </p:tgtEl>
                                        <p:attrNameLst>
                                          <p:attrName>ppt_y</p:attrName>
                                        </p:attrNameLst>
                                      </p:cBhvr>
                                      <p:tavLst>
                                        <p:tav tm="0">
                                          <p:val>
                                            <p:strVal val="#ppt_y"/>
                                          </p:val>
                                        </p:tav>
                                        <p:tav tm="100000">
                                          <p:val>
                                            <p:strVal val="#ppt_y"/>
                                          </p:val>
                                        </p:tav>
                                      </p:tavLst>
                                    </p:anim>
                                  </p:childTnLst>
                                </p:cTn>
                              </p:par>
                              <p:par>
                                <p:cTn id="16" presetID="2" presetClass="entr" presetSubtype="8"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500" fill="hold"/>
                                        <p:tgtEl>
                                          <p:spTgt spid="7"/>
                                        </p:tgtEl>
                                        <p:attrNameLst>
                                          <p:attrName>ppt_x</p:attrName>
                                        </p:attrNameLst>
                                      </p:cBhvr>
                                      <p:tavLst>
                                        <p:tav tm="0">
                                          <p:val>
                                            <p:strVal val="0-#ppt_w/2"/>
                                          </p:val>
                                        </p:tav>
                                        <p:tav tm="100000">
                                          <p:val>
                                            <p:strVal val="#ppt_x"/>
                                          </p:val>
                                        </p:tav>
                                      </p:tavLst>
                                    </p:anim>
                                    <p:anim calcmode="lin" valueType="num">
                                      <p:cBhvr additive="base">
                                        <p:cTn id="15"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22" presetID="2" presetClass="entr" presetSubtype="2"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additive="base">
                                        <p:cTn id="20" dur="500" fill="hold"/>
                                        <p:tgtEl>
                                          <p:spTgt spid="8"/>
                                        </p:tgtEl>
                                        <p:attrNameLst>
                                          <p:attrName>ppt_x</p:attrName>
                                        </p:attrNameLst>
                                      </p:cBhvr>
                                      <p:tavLst>
                                        <p:tav tm="0">
                                          <p:val>
                                            <p:strVal val="1+#ppt_w/2"/>
                                          </p:val>
                                        </p:tav>
                                        <p:tav tm="100000">
                                          <p:val>
                                            <p:strVal val="#ppt_x"/>
                                          </p:val>
                                        </p:tav>
                                      </p:tavLst>
                                    </p:anim>
                                    <p:anim calcmode="lin" valueType="num">
                                      <p:cBhvr additive="base">
                                        <p:cTn id="21" dur="500" fill="hold"/>
                                        <p:tgtEl>
                                          <p:spTgt spid="8"/>
                                        </p:tgtEl>
                                        <p:attrNameLst>
                                          <p:attrName>ppt_y</p:attrName>
                                        </p:attrNameLst>
                                      </p:cBhvr>
                                      <p:tavLst>
                                        <p:tav tm="0">
                                          <p:val>
                                            <p:strVal val="#ppt_y"/>
                                          </p:val>
                                        </p:tav>
                                        <p:tav tm="100000">
                                          <p:val>
                                            <p:strVal val="#ppt_y"/>
                                          </p:val>
                                        </p:tav>
                                      </p:tavLst>
                                    </p:anim>
                                  </p:childTnLst>
                                </p:cTn>
                              </p:par>
                              <p:par>
                                <p:cTn id="26" presetID="2" presetClass="entr" presetSubtype="2"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 calcmode="lin" valueType="num">
                                      <p:cBhvr additive="base">
                                        <p:cTn id="24" dur="500" fill="hold"/>
                                        <p:tgtEl>
                                          <p:spTgt spid="9"/>
                                        </p:tgtEl>
                                        <p:attrNameLst>
                                          <p:attrName>ppt_x</p:attrName>
                                        </p:attrNameLst>
                                      </p:cBhvr>
                                      <p:tavLst>
                                        <p:tav tm="0">
                                          <p:val>
                                            <p:strVal val="1+#ppt_w/2"/>
                                          </p:val>
                                        </p:tav>
                                        <p:tav tm="100000">
                                          <p:val>
                                            <p:strVal val="#ppt_x"/>
                                          </p:val>
                                        </p:tav>
                                      </p:tavLst>
                                    </p:anim>
                                    <p:anim calcmode="lin" valueType="num">
                                      <p:cBhvr additive="base">
                                        <p:cTn id="25" dur="500" fill="hold"/>
                                        <p:tgtEl>
                                          <p:spTgt spid="9"/>
                                        </p:tgtEl>
                                        <p:attrNameLst>
                                          <p:attrName>ppt_y</p:attrName>
                                        </p:attrNameLst>
                                      </p:cBhvr>
                                      <p:tavLst>
                                        <p:tav tm="0">
                                          <p:val>
                                            <p:strVal val="#ppt_y"/>
                                          </p:val>
                                        </p:tav>
                                        <p:tav tm="100000">
                                          <p:val>
                                            <p:strVal val="#ppt_y"/>
                                          </p:val>
                                        </p:tav>
                                      </p:tavLst>
                                    </p:anim>
                                  </p:childTnLst>
                                </p:cTn>
                              </p:par>
                              <p:par>
                                <p:cTn id="30" presetID="2" presetClass="entr" presetSubtype="2"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 calcmode="lin" valueType="num">
                                      <p:cBhvr additive="base">
                                        <p:cTn id="28" dur="500" fill="hold"/>
                                        <p:tgtEl>
                                          <p:spTgt spid="10"/>
                                        </p:tgtEl>
                                        <p:attrNameLst>
                                          <p:attrName>ppt_x</p:attrName>
                                        </p:attrNameLst>
                                      </p:cBhvr>
                                      <p:tavLst>
                                        <p:tav tm="0">
                                          <p:val>
                                            <p:strVal val="1+#ppt_w/2"/>
                                          </p:val>
                                        </p:tav>
                                        <p:tav tm="100000">
                                          <p:val>
                                            <p:strVal val="#ppt_x"/>
                                          </p:val>
                                        </p:tav>
                                      </p:tavLst>
                                    </p:anim>
                                    <p:anim calcmode="lin" valueType="num">
                                      <p:cBhvr additive="base">
                                        <p:cTn id="29"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y-title"/>
          <p:cNvSpPr txBox="1"/>
          <p:nvPr/>
        </p:nvSpPr>
        <p:spPr>
          <a:xfrm>
            <a:off x="548640" y="1920240"/>
            <a:ext cx="9144000" cy="1188720"/>
          </a:xfrm>
          <a:prstGeom prst="rect">
            <a:avLst/>
          </a:prstGeom>
          <a:noFill/>
          <a:ln/>
        </p:spPr>
        <p:txBody>
          <a:bodyPr wrap="square" lIns="0" tIns="0" rIns="0" bIns="0" rtlCol="0" anchor="ctr"/>
          <a:lstStyle/>
          <a:p>
            <a:pPr indent="0" marL="0">
              <a:buNone/>
            </a:pPr>
            <a:r>
              <a:rPr lang="en-US" sz="7200" b="1" dirty="0">
                <a:solidFill>
                  <a:srgbClr val="F4F6F9"/>
                </a:solidFill>
              </a:rPr>
              <a:t>Thank you</a:t>
            </a:r>
            <a:endParaRPr lang="en-US" sz="7200" dirty="0"/>
          </a:p>
        </p:txBody>
      </p:sp>
      <p:sp>
        <p:nvSpPr>
          <p:cNvPr id="3" name="ty-sub"/>
          <p:cNvSpPr txBox="1"/>
          <p:nvPr/>
        </p:nvSpPr>
        <p:spPr>
          <a:xfrm>
            <a:off x="548640" y="3154680"/>
            <a:ext cx="9144000" cy="548640"/>
          </a:xfrm>
          <a:prstGeom prst="rect">
            <a:avLst/>
          </a:prstGeom>
          <a:noFill/>
          <a:ln/>
        </p:spPr>
        <p:txBody>
          <a:bodyPr wrap="square" lIns="0" tIns="0" rIns="0" bIns="0" rtlCol="0" anchor="ctr"/>
          <a:lstStyle/>
          <a:p>
            <a:pPr indent="0" marL="0">
              <a:buNone/>
            </a:pPr>
            <a:r>
              <a:rPr lang="en-US" sz="2800" dirty="0">
                <a:solidFill>
                  <a:srgbClr val="F4F6F9"/>
                </a:solidFill>
              </a:rPr>
              <a:t>Live demo, then questions</a:t>
            </a:r>
            <a:endParaRPr lang="en-US" sz="2800" dirty="0"/>
          </a:p>
        </p:txBody>
      </p:sp>
      <p:sp>
        <p:nvSpPr>
          <p:cNvPr id="4" name="ty-src"/>
          <p:cNvSpPr txBox="1"/>
          <p:nvPr/>
        </p:nvSpPr>
        <p:spPr>
          <a:xfrm>
            <a:off x="548640" y="3794760"/>
            <a:ext cx="9144000" cy="411480"/>
          </a:xfrm>
          <a:prstGeom prst="rect">
            <a:avLst/>
          </a:prstGeom>
          <a:noFill/>
          <a:ln/>
        </p:spPr>
        <p:txBody>
          <a:bodyPr wrap="square" lIns="0" tIns="0" rIns="0" bIns="0" rtlCol="0" anchor="ctr"/>
          <a:lstStyle/>
          <a:p>
            <a:pPr indent="0" marL="0">
              <a:buNone/>
            </a:pPr>
            <a:r>
              <a:rPr lang="en-US" sz="1600" dirty="0">
                <a:solidFill>
                  <a:srgbClr val="DCE7F5"/>
                </a:solidFill>
              </a:rPr>
              <a:t>Source code: github.com/[your-username]/cloud-monitor</a:t>
            </a:r>
            <a:endParaRPr lang="en-US" sz="1600" dirty="0"/>
          </a:p>
        </p:txBody>
      </p:sp>
      <p:sp>
        <p:nvSpPr>
          <p:cNvPr id="5" name="ty-name"/>
          <p:cNvSpPr txBox="1"/>
          <p:nvPr/>
        </p:nvSpPr>
        <p:spPr>
          <a:xfrm>
            <a:off x="548640" y="5669280"/>
            <a:ext cx="9144000" cy="365760"/>
          </a:xfrm>
          <a:prstGeom prst="rect">
            <a:avLst/>
          </a:prstGeom>
          <a:noFill/>
          <a:ln/>
        </p:spPr>
        <p:txBody>
          <a:bodyPr wrap="square" lIns="0" tIns="0" rIns="0" bIns="0" rtlCol="0" anchor="ctr"/>
          <a:lstStyle/>
          <a:p>
            <a:pPr indent="0" marL="0">
              <a:buNone/>
            </a:pPr>
            <a:r>
              <a:rPr lang="en-US" sz="1400" dirty="0">
                <a:solidFill>
                  <a:srgbClr val="DCE7F5"/>
                </a:solidFill>
              </a:rPr>
              <a:t>Cecil Baraik · 2025-BSCIT/004A · Amity University Jharkhand</a:t>
            </a:r>
            <a:endParaRPr lang="en-US" sz="1400" dirty="0"/>
          </a:p>
        </p:txBody>
      </p:sp>
      <p:sp>
        <p:nvSpPr>
          <p:cNvPr id="6" name="ty-nav"/>
          <p:cNvSpPr txBox="1"/>
          <p:nvPr/>
        </p:nvSpPr>
        <p:spPr>
          <a:xfrm>
            <a:off x="9692640" y="5669280"/>
            <a:ext cx="1947672" cy="365760"/>
          </a:xfrm>
          <a:prstGeom prst="rect">
            <a:avLst/>
          </a:prstGeom>
          <a:noFill/>
          <a:ln/>
        </p:spPr>
        <p:txBody>
          <a:bodyPr wrap="square" lIns="0" tIns="0" rIns="0" bIns="0" rtlCol="0" anchor="ctr"/>
          <a:lstStyle/>
          <a:p>
            <a:pPr algn="r" indent="0" marL="0">
              <a:buNone/>
            </a:pPr>
            <a:r>
              <a:rPr lang="en-US" sz="1300" u="sng" dirty="0">
                <a:solidFill>
                  <a:srgbClr val="F4F6F9"/>
                </a:solidFill>
                <a:hlinkClick r:id="rId1" action="ppaction://hlinksldjump" tooltip="Back to contents">
                  <a:extLst>
                    <a:ext uri="{A12FA001-AC4F-418D-AE19-62706E023703}">
                      <ahyp:hlinkClr xmlns:ahyp="http://schemas.microsoft.com/office/drawing/2018/hyperlinkcolor" val="tx"/>
                    </a:ext>
                  </a:extLst>
                </a:hlinkClick>
              </a:rPr>
              <a:t>Back to contents ↩</a:t>
            </a:r>
            <a:endParaRPr lang="en-US" sz="1300"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9" presetID="53" presetClass="entr" presetSubtype="16" fill="hold" grpId="0" nodeType="afterEffect">
                                  <p:stCondLst>
                                    <p:cond delay="0"/>
                                  </p:stCondLst>
                                  <p:childTnLst>
                                    <p:set>
                                      <p:cBhvr>
                                        <p:cTn id="5" dur="1" fill="hold">
                                          <p:stCondLst>
                                            <p:cond delay="0"/>
                                          </p:stCondLst>
                                        </p:cTn>
                                        <p:tgtEl>
                                          <p:spTgt spid="2"/>
                                        </p:tgtEl>
                                        <p:attrNameLst>
                                          <p:attrName>style.visibility</p:attrName>
                                        </p:attrNameLst>
                                      </p:cBhvr>
                                      <p:to>
                                        <p:strVal val="visible"/>
                                      </p:to>
                                    </p:set>
                                    <p:anim calcmode="lin" valueType="num">
                                      <p:cBhvr additive="base">
                                        <p:cTn id="6" dur="700" fill="hold"/>
                                        <p:tgtEl>
                                          <p:spTgt spid="2"/>
                                        </p:tgtEl>
                                        <p:attrNameLst>
                                          <p:attrName>ppt_w</p:attrName>
                                        </p:attrNameLst>
                                      </p:cBhvr>
                                      <p:tavLst>
                                        <p:tav tm="0">
                                          <p:val>
                                            <p:strVal val="0"/>
                                          </p:val>
                                        </p:tav>
                                        <p:tav tm="100000">
                                          <p:val>
                                            <p:strVal val="#ppt_w"/>
                                          </p:val>
                                        </p:tav>
                                      </p:tavLst>
                                    </p:anim>
                                    <p:anim calcmode="lin" valueType="num">
                                      <p:cBhvr additive="base">
                                        <p:cTn id="7" dur="700" fill="hold"/>
                                        <p:tgtEl>
                                          <p:spTgt spid="2"/>
                                        </p:tgtEl>
                                        <p:attrNameLst>
                                          <p:attrName>ppt_h</p:attrName>
                                        </p:attrNameLst>
                                      </p:cBhvr>
                                      <p:tavLst>
                                        <p:tav tm="0">
                                          <p:val>
                                            <p:strVal val="0"/>
                                          </p:val>
                                        </p:tav>
                                        <p:tav tm="100000">
                                          <p:val>
                                            <p:strVal val="#ppt_h"/>
                                          </p:val>
                                        </p:tav>
                                      </p:tavLst>
                                    </p:anim>
                                    <p:animEffect transition="in" filter="fade">
                                      <p:cBhvr>
                                        <p:cTn id="8" dur="700"/>
                                        <p:tgtEl>
                                          <p:spTgt spid="2"/>
                                        </p:tgtEl>
                                      </p:cBhvr>
                                    </p:animEffect>
                                  </p:childTnLst>
                                </p:cTn>
                              </p:par>
                            </p:childTnLst>
                          </p:cTn>
                        </p:par>
                        <p:par>
                          <p:cTn id="10" fill="hold">
                            <p:stCondLst>
                              <p:cond delay="700"/>
                            </p:stCondLst>
                            <p:childTnLst>
                              <p:par>
                                <p:cTn id="15" presetID="42" presetClass="entr" presetSubtype="0"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600"/>
                                        <p:tgtEl>
                                          <p:spTgt spid="3"/>
                                        </p:tgtEl>
                                      </p:cBhvr>
                                    </p:animEffect>
                                    <p:anim calcmode="lin" valueType="num">
                                      <p:cBhvr additive="base">
                                        <p:cTn id="13" dur="600" fill="hold"/>
                                        <p:tgtEl>
                                          <p:spTgt spid="3"/>
                                        </p:tgtEl>
                                        <p:attrNameLst>
                                          <p:attrName>ppt_x</p:attrName>
                                        </p:attrNameLst>
                                      </p:cBhvr>
                                      <p:tavLst>
                                        <p:tav tm="0">
                                          <p:val>
                                            <p:strVal val="#ppt_x"/>
                                          </p:val>
                                        </p:tav>
                                        <p:tav tm="100000">
                                          <p:val>
                                            <p:strVal val="#ppt_x"/>
                                          </p:val>
                                        </p:tav>
                                      </p:tavLst>
                                    </p:anim>
                                    <p:anim calcmode="lin" valueType="num">
                                      <p:cBhvr additive="base">
                                        <p:cTn id="14" dur="600" fill="hold"/>
                                        <p:tgtEl>
                                          <p:spTgt spid="3"/>
                                        </p:tgtEl>
                                        <p:attrNameLst>
                                          <p:attrName>ppt_y</p:attrName>
                                        </p:attrNameLst>
                                      </p:cBhvr>
                                      <p:tavLst>
                                        <p:tav tm="0">
                                          <p:val>
                                            <p:strVal val="#ppt_y+.1"/>
                                          </p:val>
                                        </p:tav>
                                        <p:tav tm="100000">
                                          <p:val>
                                            <p:strVal val="#ppt_y"/>
                                          </p:val>
                                        </p:tav>
                                      </p:tavLst>
                                    </p:anim>
                                  </p:childTnLst>
                                </p:cTn>
                              </p:par>
                            </p:childTnLst>
                          </p:cTn>
                        </p:par>
                        <p:par>
                          <p:cTn id="16" fill="hold">
                            <p:stCondLst>
                              <p:cond delay="1300"/>
                            </p:stCondLst>
                            <p:childTnLst>
                              <p:par>
                                <p:cTn id="19" presetID="10" presetClass="entr" presetSubtype="0" fill="hold" grpId="0" nodeType="after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500"/>
                                        <p:tgtEl>
                                          <p:spTgt spid="4"/>
                                        </p:tgtEl>
                                      </p:cBhvr>
                                    </p:animEffect>
                                  </p:childTnLst>
                                </p:cTn>
                              </p:par>
                              <p:par>
                                <p:cTn id="22" presetID="10"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Lst>
  </p:timing>
</p:sld>
</file>

<file path=ppt/theme/theme1.xml><?xml version="1.0" encoding="utf-8"?>
<a:theme xmlns:a="http://schemas.openxmlformats.org/drawingml/2006/main" name="CloudPulse">
  <a:themeElements>
    <a:clrScheme name="CloudPulse">
      <a:dk1>
        <a:srgbClr val="14213D"/>
      </a:dk1>
      <a:lt1>
        <a:srgbClr val="FFFFFF"/>
      </a:lt1>
      <a:dk2>
        <a:srgbClr val="0E1A2B"/>
      </a:dk2>
      <a:lt2>
        <a:srgbClr val="EEF2F6"/>
      </a:lt2>
      <a:accent1>
        <a:srgbClr val="1F5FB5"/>
      </a:accent1>
      <a:accent2>
        <a:srgbClr val="C2521C"/>
      </a:accent2>
      <a:accent3>
        <a:srgbClr val="5EA2EF"/>
      </a:accent3>
      <a:accent4>
        <a:srgbClr val="16263C"/>
      </a:accent4>
      <a:accent5>
        <a:srgbClr val="A9B8CA"/>
      </a:accent5>
      <a:accent6>
        <a:srgbClr val="4A5568"/>
      </a:accent6>
      <a:hlink>
        <a:srgbClr val="1F5FB5"/>
      </a:hlink>
      <a:folHlink>
        <a:srgbClr val="5EA2EF"/>
      </a:folHlink>
    </a:clrScheme>
    <a:fontScheme name="CloudPuls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CloudPulse – Cloud Resource Monitoring Dashboard</dc:title>
  <dc:subject>PptxGenJS Presentation</dc:subject>
  <dc:creator>Cecil Baraik</dc:creator>
  <cp:lastModifiedBy>Cecil Baraik</cp:lastModifiedBy>
  <cp:revision>1</cp:revision>
  <dcterms:created xsi:type="dcterms:W3CDTF">2026-10-02T19:31:33Z</dcterms:created>
  <dcterms:modified xsi:type="dcterms:W3CDTF">2026-10-02T19:31:33Z</dcterms:modified>
</cp:coreProperties>
</file>