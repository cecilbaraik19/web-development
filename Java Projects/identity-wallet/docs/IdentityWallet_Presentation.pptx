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e63c2cb-f1a6-8284-e0a0-abc5c94c440e}">
          <p14:sldIdLst>
            <p14:sldId id="256"/>
            <p14:sldId id="257"/>
            <p14:sldId id="258"/>
            <p14:sldId id="259"/>
          </p14:sldIdLst>
        </p14:section>
        <p14:section name="Solution" id="{6fd20a6d-0d76-1615-5d90-e8b5d9c0b0df}">
          <p14:sldIdLst>
            <p14:sldId id="260"/>
            <p14:sldId id="261"/>
            <p14:sldId id="262"/>
            <p14:sldId id="263"/>
            <p14:sldId id="264"/>
            <p14:sldId id="265"/>
          </p14:sldIdLst>
        </p14:section>
        <p14:section name="Security" id="{001cbb9a-987e-4229-6027-8cdc422e8ed6}">
          <p14:sldIdLst>
            <p14:sldId id="266"/>
            <p14:sldId id="267"/>
            <p14:sldId id="268"/>
          </p14:sldIdLst>
        </p14:section>
        <p14:section name="Results" id="{ea474013-0cc2-e62c-76d1-ed4317facee3}">
          <p14:sldIdLst>
            <p14:sldId id="269"/>
            <p14:sldId id="270"/>
            <p14:sldId id="271"/>
          </p14:sldIdLst>
        </p14:section>
        <p14:section name="Conclusion" id="{5ea9a337-fc3c-e3bd-ee8e-79e73af6671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IdentityWallet, a digital identity wallet. Organisations issue digitally signed credentials into a person's wallet, and the person shares only the details a verifier needs, for example proving they are over 18 without revealing their date of birth. It is built with Spring Boot and React, using ECDSA signatures, AES-256-GCM encryption and two-factor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share photocopies. A cinema only needs to know I am over 18, but the photocopy shows eight details. Copies are easy to forge, there is no consent or expiry, and nothing can be revoked. These four problems are what the project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follows the W3C verifiable credentials model: an issuer signs a credential, the holder keeps it and chooses what to share, and the verifier checks the signature. The verifier never needs to contact the issuer.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objectives. Each one maps to a module in the system, and each is covered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eight key features. Three roles use them: holders, issuers and administrators, plus verifiers who need no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three-tier architecture. The React app talks to Spring Boot over REST. The backend is layered: controllers, services, crypto utilities and repositories. Sensitive data is encrypted, and the master key is stored outside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and Spring Boot for the backend because of strong typing and the built-in Java Cryptography Architecture. React for an interactive UI. All cryptography uses standard, well-reviewed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is turned into a disclosure: salt, name and value. Only its SHA-256 hash goes into the signed credential. To share, the holder sends only the chosen disclosures. The verifier hashes them and finds the hash in the signed list. Hidden claims stay secret, and the random salt stops guessing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lifecycle: the issuer signs, the wallet stores the claims encrypted, the holder gives consent and gets a QR code, the verifier checks, and each view is logged. The issuer can revoke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runs five independent checks. One: is the issuer in the trust registry? Two: is the issuer signature valid? Three: do the revealed details match the signed hashes? Four: did the holder sign this share for this recipient? Five: is it within the time window and not revoked? Only if all pass is it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numbers: AES-256-GCM encryption, P-256 ECDSA signatures, 210 thousand PBKDF2 iterations, time-based two-factor codes, lockout after five wrong passwords, and a SHA-256 hash chain for the audit log. Envelope encryption means a stolen database is only ciphertext.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Envelope encryption: one master key, kept outside the database, wraps each user's data key, which encrypts their data. If the database is stolen, the attacker only gets hashes and ciphertext. I also handle IDOR, brute force, account enumeration, fake file uploads and replay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tables. Users, issuers as the trust registry, credentials, shares with their access logs, vault items and audit events. Every column ending in enc is encrypted and every hash column is a one-way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walkthrough. The holder sees their DID and credentials. They open a credential, choose Age check only, enter City Cinema and get a QR code. The cinema scans it and sees only Age over 18, with all five checks green. I can also show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 genuine share: all checks pass. On the right, someone edited the revealed name to Someone Else. Its hash no longer matches the issuer-signed list, so Revealed details fails and the result is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automated tests pass. They are not just happy-path tests: they try to forge claims, exceed view limits, use revoked credentials, access other users' data, upload fake files and brute-force passwords. Every attack is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keys are custodial, the format is not yet fully standard, and revocation needs an online check. Future work includes a mobile wallet with hardware-backed keys, passkeys, standard formats and zero-knowledge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IdentityWallet shows that digital identity can be verifiable and private at the same time. Credentials cannot be forged, holders share only what is needed, and they stay in control of every share. Thank you, I am happy to take questions or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ECTION_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D647D"/>
                </a:solidFill>
              </a:rPr>
              <a:t>IdentityWallet  ·  Digital Identity Wallet</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9144000" cy="10972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3.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_1" descr="/home/claude/docs-build/assets/logo.png">    </p:cNvPr>
          <p:cNvPicPr>
            <a:picLocks noChangeAspect="1"/>
          </p:cNvPicPr>
          <p:nvPr/>
        </p:nvPicPr>
        <p:blipFill>
          <a:blip r:embed="rId1"/>
          <a:stretch>
            <a:fillRect/>
          </a:stretch>
        </p:blipFill>
        <p:spPr>
          <a:xfrm>
            <a:off x="731520" y="685800"/>
            <a:ext cx="502920" cy="502920"/>
          </a:xfrm>
          <a:prstGeom prst="rect">
            <a:avLst/>
          </a:prstGeom>
        </p:spPr>
      </p:pic>
      <p:sp>
        <p:nvSpPr>
          <p:cNvPr id="3" name="o_2"/>
          <p:cNvSpPr txBox="1"/>
          <p:nvPr/>
        </p:nvSpPr>
        <p:spPr>
          <a:xfrm>
            <a:off x="1371600" y="713232"/>
            <a:ext cx="3657600" cy="457200"/>
          </a:xfrm>
          <a:prstGeom prst="rect">
            <a:avLst/>
          </a:prstGeom>
          <a:noFill/>
          <a:ln/>
        </p:spPr>
        <p:txBody>
          <a:bodyPr wrap="square" lIns="0" tIns="0" rIns="0" bIns="0" rtlCol="0" anchor="ctr"/>
          <a:lstStyle/>
          <a:p>
            <a:pPr indent="0" marL="0">
              <a:buNone/>
            </a:pPr>
            <a:r>
              <a:rPr lang="en-US" sz="2000" b="1" dirty="0">
                <a:solidFill>
                  <a:schemeClr val="bg1"/>
                </a:solidFill>
              </a:rPr>
              <a:t>IdentityWallet</a:t>
            </a:r>
            <a:endParaRPr lang="en-US" sz="2000" dirty="0"/>
          </a:p>
        </p:txBody>
      </p:sp>
      <p:sp>
        <p:nvSpPr>
          <p:cNvPr id="4" name="a_3"/>
          <p:cNvSpPr txBox="1"/>
          <p:nvPr/>
        </p:nvSpPr>
        <p:spPr>
          <a:xfrm>
            <a:off x="731520" y="1920240"/>
            <a:ext cx="6400800" cy="320040"/>
          </a:xfrm>
          <a:prstGeom prst="rect">
            <a:avLst/>
          </a:prstGeom>
          <a:noFill/>
          <a:ln/>
        </p:spPr>
        <p:txBody>
          <a:bodyPr wrap="square" lIns="0" tIns="0" rIns="0" bIns="0" rtlCol="0" anchor="t"/>
          <a:lstStyle/>
          <a:p>
            <a:pPr indent="0" marL="0">
              <a:buNone/>
            </a:pPr>
            <a:r>
              <a:rPr lang="en-US" sz="1300" b="1" spc="400" kern="0" dirty="0">
                <a:solidFill>
                  <a:srgbClr val="A5B4FC"/>
                </a:solidFill>
              </a:rPr>
              <a:t>B.SC. IT PROJECT PRESENTATION</a:t>
            </a:r>
            <a:endParaRPr lang="en-US" sz="1300" dirty="0"/>
          </a:p>
        </p:txBody>
      </p:sp>
      <p:sp>
        <p:nvSpPr>
          <p:cNvPr id="5" name="a_4"/>
          <p:cNvSpPr txBox="1"/>
          <p:nvPr/>
        </p:nvSpPr>
        <p:spPr>
          <a:xfrm>
            <a:off x="731520" y="2286000"/>
            <a:ext cx="6949440" cy="914400"/>
          </a:xfrm>
          <a:prstGeom prst="rect">
            <a:avLst/>
          </a:prstGeom>
          <a:noFill/>
          <a:ln/>
        </p:spPr>
        <p:txBody>
          <a:bodyPr wrap="square" lIns="0" tIns="0" rIns="0" bIns="0" rtlCol="0" anchor="t"/>
          <a:lstStyle/>
          <a:p>
            <a:pPr indent="0" marL="0">
              <a:buNone/>
            </a:pPr>
            <a:r>
              <a:rPr lang="en-US" sz="4800" b="1" dirty="0">
                <a:solidFill>
                  <a:schemeClr val="bg1"/>
                </a:solidFill>
              </a:rPr>
              <a:t>Digital Identity Wallet</a:t>
            </a:r>
            <a:endParaRPr lang="en-US" sz="4800" dirty="0"/>
          </a:p>
        </p:txBody>
      </p:sp>
      <p:sp>
        <p:nvSpPr>
          <p:cNvPr id="6" name="a_5"/>
          <p:cNvSpPr txBox="1"/>
          <p:nvPr/>
        </p:nvSpPr>
        <p:spPr>
          <a:xfrm>
            <a:off x="731520" y="3246120"/>
            <a:ext cx="6583680" cy="914400"/>
          </a:xfrm>
          <a:prstGeom prst="rect">
            <a:avLst/>
          </a:prstGeom>
          <a:noFill/>
          <a:ln/>
        </p:spPr>
        <p:txBody>
          <a:bodyPr wrap="square" lIns="0" tIns="0" rIns="0" bIns="0" rtlCol="0" anchor="t"/>
          <a:lstStyle/>
          <a:p>
            <a:pPr indent="0" marL="0">
              <a:buNone/>
            </a:pPr>
            <a:r>
              <a:rPr lang="en-US" sz="1800" dirty="0">
                <a:solidFill>
                  <a:srgbClr val="C9CBF2"/>
                </a:solidFill>
              </a:rPr>
              <a:t>Privacy-preserving digital identity management with verifiable credentials, selective disclosure and an encrypted vault</a:t>
            </a:r>
            <a:endParaRPr lang="en-US" sz="1800" dirty="0"/>
          </a:p>
        </p:txBody>
      </p:sp>
      <p:sp>
        <p:nvSpPr>
          <p:cNvPr id="7" name="o_6"/>
          <p:cNvSpPr/>
          <p:nvPr/>
        </p:nvSpPr>
        <p:spPr>
          <a:xfrm>
            <a:off x="731520" y="4343400"/>
            <a:ext cx="873252" cy="347472"/>
          </a:xfrm>
          <a:prstGeom prst="roundRect">
            <a:avLst>
              <a:gd name="adj" fmla="val 50000"/>
            </a:avLst>
          </a:prstGeom>
          <a:solidFill>
            <a:srgbClr val="2A2C66"/>
          </a:solidFill>
          <a:ln w="9525">
            <a:solidFill>
              <a:srgbClr val="6B6FD8"/>
            </a:solidFill>
            <a:prstDash val="solid"/>
          </a:ln>
        </p:spPr>
      </p:sp>
      <p:sp>
        <p:nvSpPr>
          <p:cNvPr id="8" name="o_7"/>
          <p:cNvSpPr txBox="1"/>
          <p:nvPr/>
        </p:nvSpPr>
        <p:spPr>
          <a:xfrm>
            <a:off x="731520" y="4343400"/>
            <a:ext cx="873252" cy="347472"/>
          </a:xfrm>
          <a:prstGeom prst="rect">
            <a:avLst/>
          </a:prstGeom>
          <a:noFill/>
          <a:ln/>
        </p:spPr>
        <p:txBody>
          <a:bodyPr wrap="square" lIns="0" tIns="0" rIns="0" bIns="0" rtlCol="0" anchor="ctr"/>
          <a:lstStyle/>
          <a:p>
            <a:pPr algn="ctr" indent="0" marL="0">
              <a:buNone/>
            </a:pPr>
            <a:r>
              <a:rPr lang="en-US" sz="1200" dirty="0">
                <a:solidFill>
                  <a:srgbClr val="E0E2FF"/>
                </a:solidFill>
              </a:rPr>
              <a:t>Java 17</a:t>
            </a:r>
            <a:endParaRPr lang="en-US" sz="1200" dirty="0"/>
          </a:p>
        </p:txBody>
      </p:sp>
      <p:sp>
        <p:nvSpPr>
          <p:cNvPr id="9" name="o_8"/>
          <p:cNvSpPr/>
          <p:nvPr/>
        </p:nvSpPr>
        <p:spPr>
          <a:xfrm>
            <a:off x="1714500" y="4343400"/>
            <a:ext cx="1257300" cy="347472"/>
          </a:xfrm>
          <a:prstGeom prst="roundRect">
            <a:avLst>
              <a:gd name="adj" fmla="val 50000"/>
            </a:avLst>
          </a:prstGeom>
          <a:solidFill>
            <a:srgbClr val="2A2C66"/>
          </a:solidFill>
          <a:ln w="9525">
            <a:solidFill>
              <a:srgbClr val="6B6FD8"/>
            </a:solidFill>
            <a:prstDash val="solid"/>
          </a:ln>
        </p:spPr>
      </p:sp>
      <p:sp>
        <p:nvSpPr>
          <p:cNvPr id="10" name="o_9"/>
          <p:cNvSpPr txBox="1"/>
          <p:nvPr/>
        </p:nvSpPr>
        <p:spPr>
          <a:xfrm>
            <a:off x="1714500" y="4343400"/>
            <a:ext cx="1257300" cy="347472"/>
          </a:xfrm>
          <a:prstGeom prst="rect">
            <a:avLst/>
          </a:prstGeom>
          <a:noFill/>
          <a:ln/>
        </p:spPr>
        <p:txBody>
          <a:bodyPr wrap="square" lIns="0" tIns="0" rIns="0" bIns="0" rtlCol="0" anchor="ctr"/>
          <a:lstStyle/>
          <a:p>
            <a:pPr algn="ctr" indent="0" marL="0">
              <a:buNone/>
            </a:pPr>
            <a:r>
              <a:rPr lang="en-US" sz="1200" dirty="0">
                <a:solidFill>
                  <a:srgbClr val="E0E2FF"/>
                </a:solidFill>
              </a:rPr>
              <a:t>Spring Boot</a:t>
            </a:r>
            <a:endParaRPr lang="en-US" sz="1200" dirty="0"/>
          </a:p>
        </p:txBody>
      </p:sp>
      <p:sp>
        <p:nvSpPr>
          <p:cNvPr id="11" name="o_10"/>
          <p:cNvSpPr/>
          <p:nvPr/>
        </p:nvSpPr>
        <p:spPr>
          <a:xfrm>
            <a:off x="3081528" y="4343400"/>
            <a:ext cx="681228" cy="347472"/>
          </a:xfrm>
          <a:prstGeom prst="roundRect">
            <a:avLst>
              <a:gd name="adj" fmla="val 50000"/>
            </a:avLst>
          </a:prstGeom>
          <a:solidFill>
            <a:srgbClr val="2A2C66"/>
          </a:solidFill>
          <a:ln w="9525">
            <a:solidFill>
              <a:srgbClr val="6B6FD8"/>
            </a:solidFill>
            <a:prstDash val="solid"/>
          </a:ln>
        </p:spPr>
      </p:sp>
      <p:sp>
        <p:nvSpPr>
          <p:cNvPr id="12" name="o_11"/>
          <p:cNvSpPr txBox="1"/>
          <p:nvPr/>
        </p:nvSpPr>
        <p:spPr>
          <a:xfrm>
            <a:off x="3081528" y="4343400"/>
            <a:ext cx="681228" cy="347472"/>
          </a:xfrm>
          <a:prstGeom prst="rect">
            <a:avLst/>
          </a:prstGeom>
          <a:noFill/>
          <a:ln/>
        </p:spPr>
        <p:txBody>
          <a:bodyPr wrap="square" lIns="0" tIns="0" rIns="0" bIns="0" rtlCol="0" anchor="ctr"/>
          <a:lstStyle/>
          <a:p>
            <a:pPr algn="ctr" indent="0" marL="0">
              <a:buNone/>
            </a:pPr>
            <a:r>
              <a:rPr lang="en-US" sz="1200" dirty="0">
                <a:solidFill>
                  <a:srgbClr val="E0E2FF"/>
                </a:solidFill>
              </a:rPr>
              <a:t>React</a:t>
            </a:r>
            <a:endParaRPr lang="en-US" sz="1200" dirty="0"/>
          </a:p>
        </p:txBody>
      </p:sp>
      <p:sp>
        <p:nvSpPr>
          <p:cNvPr id="13" name="o_12"/>
          <p:cNvSpPr/>
          <p:nvPr/>
        </p:nvSpPr>
        <p:spPr>
          <a:xfrm>
            <a:off x="3872484" y="4343400"/>
            <a:ext cx="1257300" cy="347472"/>
          </a:xfrm>
          <a:prstGeom prst="roundRect">
            <a:avLst>
              <a:gd name="adj" fmla="val 50000"/>
            </a:avLst>
          </a:prstGeom>
          <a:solidFill>
            <a:srgbClr val="2A2C66"/>
          </a:solidFill>
          <a:ln w="9525">
            <a:solidFill>
              <a:srgbClr val="6B6FD8"/>
            </a:solidFill>
            <a:prstDash val="solid"/>
          </a:ln>
        </p:spPr>
      </p:sp>
      <p:sp>
        <p:nvSpPr>
          <p:cNvPr id="14" name="o_13"/>
          <p:cNvSpPr txBox="1"/>
          <p:nvPr/>
        </p:nvSpPr>
        <p:spPr>
          <a:xfrm>
            <a:off x="3872484" y="4343400"/>
            <a:ext cx="1257300" cy="347472"/>
          </a:xfrm>
          <a:prstGeom prst="rect">
            <a:avLst/>
          </a:prstGeom>
          <a:noFill/>
          <a:ln/>
        </p:spPr>
        <p:txBody>
          <a:bodyPr wrap="square" lIns="0" tIns="0" rIns="0" bIns="0" rtlCol="0" anchor="ctr"/>
          <a:lstStyle/>
          <a:p>
            <a:pPr algn="ctr" indent="0" marL="0">
              <a:buNone/>
            </a:pPr>
            <a:r>
              <a:rPr lang="en-US" sz="1200" dirty="0">
                <a:solidFill>
                  <a:srgbClr val="E0E2FF"/>
                </a:solidFill>
              </a:rPr>
              <a:t>ECDSA P-256</a:t>
            </a:r>
            <a:endParaRPr lang="en-US" sz="1200" dirty="0"/>
          </a:p>
        </p:txBody>
      </p:sp>
      <p:sp>
        <p:nvSpPr>
          <p:cNvPr id="15" name="o_14"/>
          <p:cNvSpPr/>
          <p:nvPr/>
        </p:nvSpPr>
        <p:spPr>
          <a:xfrm>
            <a:off x="5239512" y="4343400"/>
            <a:ext cx="1257300" cy="347472"/>
          </a:xfrm>
          <a:prstGeom prst="roundRect">
            <a:avLst>
              <a:gd name="adj" fmla="val 50000"/>
            </a:avLst>
          </a:prstGeom>
          <a:solidFill>
            <a:srgbClr val="2A2C66"/>
          </a:solidFill>
          <a:ln w="9525">
            <a:solidFill>
              <a:srgbClr val="6B6FD8"/>
            </a:solidFill>
            <a:prstDash val="solid"/>
          </a:ln>
        </p:spPr>
      </p:sp>
      <p:sp>
        <p:nvSpPr>
          <p:cNvPr id="16" name="o_15"/>
          <p:cNvSpPr txBox="1"/>
          <p:nvPr/>
        </p:nvSpPr>
        <p:spPr>
          <a:xfrm>
            <a:off x="5239512" y="4343400"/>
            <a:ext cx="1257300" cy="347472"/>
          </a:xfrm>
          <a:prstGeom prst="rect">
            <a:avLst/>
          </a:prstGeom>
          <a:noFill/>
          <a:ln/>
        </p:spPr>
        <p:txBody>
          <a:bodyPr wrap="square" lIns="0" tIns="0" rIns="0" bIns="0" rtlCol="0" anchor="ctr"/>
          <a:lstStyle/>
          <a:p>
            <a:pPr algn="ctr" indent="0" marL="0">
              <a:buNone/>
            </a:pPr>
            <a:r>
              <a:rPr lang="en-US" sz="1200" dirty="0">
                <a:solidFill>
                  <a:srgbClr val="E0E2FF"/>
                </a:solidFill>
              </a:rPr>
              <a:t>AES-256-GCM</a:t>
            </a:r>
            <a:endParaRPr lang="en-US" sz="1200" dirty="0"/>
          </a:p>
        </p:txBody>
      </p:sp>
      <p:sp>
        <p:nvSpPr>
          <p:cNvPr id="17" name="o_16"/>
          <p:cNvSpPr/>
          <p:nvPr/>
        </p:nvSpPr>
        <p:spPr>
          <a:xfrm>
            <a:off x="6606540" y="4343400"/>
            <a:ext cx="969264" cy="347472"/>
          </a:xfrm>
          <a:prstGeom prst="roundRect">
            <a:avLst>
              <a:gd name="adj" fmla="val 50000"/>
            </a:avLst>
          </a:prstGeom>
          <a:solidFill>
            <a:srgbClr val="2A2C66"/>
          </a:solidFill>
          <a:ln w="9525">
            <a:solidFill>
              <a:srgbClr val="6B6FD8"/>
            </a:solidFill>
            <a:prstDash val="solid"/>
          </a:ln>
        </p:spPr>
      </p:sp>
      <p:sp>
        <p:nvSpPr>
          <p:cNvPr id="18" name="o_17"/>
          <p:cNvSpPr txBox="1"/>
          <p:nvPr/>
        </p:nvSpPr>
        <p:spPr>
          <a:xfrm>
            <a:off x="6606540" y="4343400"/>
            <a:ext cx="969264" cy="347472"/>
          </a:xfrm>
          <a:prstGeom prst="rect">
            <a:avLst/>
          </a:prstGeom>
          <a:noFill/>
          <a:ln/>
        </p:spPr>
        <p:txBody>
          <a:bodyPr wrap="square" lIns="0" tIns="0" rIns="0" bIns="0" rtlCol="0" anchor="ctr"/>
          <a:lstStyle/>
          <a:p>
            <a:pPr algn="ctr" indent="0" marL="0">
              <a:buNone/>
            </a:pPr>
            <a:r>
              <a:rPr lang="en-US" sz="1200" dirty="0">
                <a:solidFill>
                  <a:srgbClr val="E0E2FF"/>
                </a:solidFill>
              </a:rPr>
              <a:t>TOTP 2FA</a:t>
            </a:r>
            <a:endParaRPr lang="en-US" sz="1200" dirty="0"/>
          </a:p>
        </p:txBody>
      </p:sp>
      <p:sp>
        <p:nvSpPr>
          <p:cNvPr id="19" name="a_18"/>
          <p:cNvSpPr txBox="1"/>
          <p:nvPr/>
        </p:nvSpPr>
        <p:spPr>
          <a:xfrm>
            <a:off x="731520" y="5166360"/>
            <a:ext cx="6400800" cy="1005840"/>
          </a:xfrm>
          <a:prstGeom prst="rect">
            <a:avLst/>
          </a:prstGeom>
          <a:noFill/>
          <a:ln/>
        </p:spPr>
        <p:txBody>
          <a:bodyPr wrap="square" lIns="0" tIns="0" rIns="0" bIns="0" rtlCol="0" anchor="t"/>
          <a:lstStyle/>
          <a:p>
            <a:pPr indent="0" marL="0">
              <a:buNone/>
            </a:pPr>
            <a:r>
              <a:rPr lang="en-US" sz="1500" b="1" dirty="0">
                <a:solidFill>
                  <a:srgbClr val="FFFFFF"/>
                </a:solidFill>
              </a:rPr>
              <a:t>Cecil Baraik</a:t>
            </a:r>
            <a:endParaRPr lang="en-US" sz="1500" dirty="0"/>
          </a:p>
          <a:p>
            <a:pPr indent="0" marL="0">
              <a:buNone/>
            </a:pPr>
            <a:r>
              <a:rPr lang="en-US" sz="1500" dirty="0">
                <a:solidFill>
                  <a:srgbClr val="C9CBF2"/>
                </a:solidFill>
              </a:rPr>
              <a:t>Roll No. 2025-BSCIT/004A  ·  B.Sc. Information Technology</a:t>
            </a:r>
            <a:endParaRPr lang="en-US" sz="1500" dirty="0"/>
          </a:p>
          <a:p>
            <a:pPr indent="0" marL="0">
              <a:buNone/>
            </a:pPr>
            <a:r>
              <a:rPr lang="en-US" sz="1500" dirty="0">
                <a:solidFill>
                  <a:srgbClr val="C9CBF2"/>
                </a:solidFill>
              </a:rPr>
              <a:t>Amity University Jharkhand</a:t>
            </a:r>
            <a:endParaRPr lang="en-US" sz="1500" dirty="0"/>
          </a:p>
        </p:txBody>
      </p:sp>
      <p:sp>
        <p:nvSpPr>
          <p:cNvPr id="20" name="a_19"/>
          <p:cNvSpPr/>
          <p:nvPr/>
        </p:nvSpPr>
        <p:spPr>
          <a:xfrm rot="360000">
            <a:off x="8001000" y="1600200"/>
            <a:ext cx="3566160" cy="2240280"/>
          </a:xfrm>
          <a:prstGeom prst="roundRect">
            <a:avLst>
              <a:gd name="adj" fmla="val 8163"/>
            </a:avLst>
          </a:prstGeom>
          <a:solidFill>
            <a:srgbClr val="0E7490"/>
          </a:solidFill>
          <a:ln/>
        </p:spPr>
      </p:sp>
      <p:sp>
        <p:nvSpPr>
          <p:cNvPr id="21" name="a_20"/>
          <p:cNvSpPr/>
          <p:nvPr/>
        </p:nvSpPr>
        <p:spPr>
          <a:xfrm>
            <a:off x="7635240" y="2011680"/>
            <a:ext cx="3749040" cy="2377440"/>
          </a:xfrm>
          <a:prstGeom prst="roundRect">
            <a:avLst>
              <a:gd name="adj" fmla="val 7692"/>
            </a:avLst>
          </a:prstGeom>
          <a:solidFill>
            <a:srgbClr val="5B5BF6"/>
          </a:solidFill>
          <a:ln/>
          <a:effectLst>
            <a:outerShdw sx="100000" sy="100000" kx="0" ky="0" algn="bl" rotWithShape="0" blurRad="228600" dist="76200" dir="5400000">
              <a:srgbClr val="000000">
                <a:alpha val="35000"/>
              </a:srgbClr>
            </a:outerShdw>
          </a:effectLst>
        </p:spPr>
      </p:sp>
      <p:pic>
        <p:nvPicPr>
          <p:cNvPr id="22" name="o_21" descr="preencoded.png">    </p:cNvPr>
          <p:cNvPicPr>
            <a:picLocks noChangeAspect="1"/>
          </p:cNvPicPr>
          <p:nvPr/>
        </p:nvPicPr>
        <p:blipFill>
          <a:blip r:embed="rId2"/>
          <a:stretch>
            <a:fillRect/>
          </a:stretch>
        </p:blipFill>
        <p:spPr>
          <a:xfrm>
            <a:off x="7909560" y="2240280"/>
            <a:ext cx="411480" cy="411480"/>
          </a:xfrm>
          <a:prstGeom prst="rect">
            <a:avLst/>
          </a:prstGeom>
        </p:spPr>
      </p:pic>
      <p:sp>
        <p:nvSpPr>
          <p:cNvPr id="23" name="o_22"/>
          <p:cNvSpPr txBox="1"/>
          <p:nvPr/>
        </p:nvSpPr>
        <p:spPr>
          <a:xfrm>
            <a:off x="7909560" y="3246120"/>
            <a:ext cx="3291840" cy="411480"/>
          </a:xfrm>
          <a:prstGeom prst="rect">
            <a:avLst/>
          </a:prstGeom>
          <a:noFill/>
          <a:ln/>
        </p:spPr>
        <p:txBody>
          <a:bodyPr wrap="square" lIns="0" tIns="0" rIns="0" bIns="0" rtlCol="0" anchor="t"/>
          <a:lstStyle/>
          <a:p>
            <a:pPr indent="0" marL="0">
              <a:buNone/>
            </a:pPr>
            <a:r>
              <a:rPr lang="en-US" sz="2000" b="1" dirty="0">
                <a:solidFill>
                  <a:srgbClr val="FFFFFF"/>
                </a:solidFill>
              </a:rPr>
              <a:t>National Identity Card</a:t>
            </a:r>
            <a:endParaRPr lang="en-US" sz="2000" dirty="0"/>
          </a:p>
        </p:txBody>
      </p:sp>
      <p:sp>
        <p:nvSpPr>
          <p:cNvPr id="24" name="o_23"/>
          <p:cNvSpPr txBox="1"/>
          <p:nvPr/>
        </p:nvSpPr>
        <p:spPr>
          <a:xfrm>
            <a:off x="7909560" y="3639312"/>
            <a:ext cx="3291840" cy="320040"/>
          </a:xfrm>
          <a:prstGeom prst="rect">
            <a:avLst/>
          </a:prstGeom>
          <a:noFill/>
          <a:ln/>
        </p:spPr>
        <p:txBody>
          <a:bodyPr wrap="square" lIns="0" tIns="0" rIns="0" bIns="0" rtlCol="0" anchor="t"/>
          <a:lstStyle/>
          <a:p>
            <a:pPr indent="0" marL="0">
              <a:buNone/>
            </a:pPr>
            <a:r>
              <a:rPr lang="en-US" sz="1200" dirty="0">
                <a:solidFill>
                  <a:srgbClr val="DADBFF"/>
                </a:solidFill>
              </a:rPr>
              <a:t>National Identity Authority (Demo)</a:t>
            </a:r>
            <a:endParaRPr lang="en-US" sz="1200" dirty="0"/>
          </a:p>
        </p:txBody>
      </p:sp>
      <p:sp>
        <p:nvSpPr>
          <p:cNvPr id="25" name="a_24"/>
          <p:cNvSpPr/>
          <p:nvPr/>
        </p:nvSpPr>
        <p:spPr>
          <a:xfrm>
            <a:off x="8732520" y="4800600"/>
            <a:ext cx="2651760" cy="566928"/>
          </a:xfrm>
          <a:prstGeom prst="roundRect">
            <a:avLst>
              <a:gd name="adj" fmla="val 50000"/>
            </a:avLst>
          </a:prstGeom>
          <a:solidFill>
            <a:srgbClr val="10915D"/>
          </a:solidFill>
          <a:ln/>
          <a:effectLst>
            <a:outerShdw sx="100000" sy="100000" kx="0" ky="0" algn="bl" rotWithShape="0" blurRad="127000" dist="38100" dir="5400000">
              <a:srgbClr val="000000">
                <a:alpha val="30000"/>
              </a:srgbClr>
            </a:outerShdw>
          </a:effectLst>
        </p:spPr>
      </p:sp>
      <p:pic>
        <p:nvPicPr>
          <p:cNvPr id="26" name="o_25" descr="preencoded.png">    </p:cNvPr>
          <p:cNvPicPr>
            <a:picLocks noChangeAspect="1"/>
          </p:cNvPicPr>
          <p:nvPr/>
        </p:nvPicPr>
        <p:blipFill>
          <a:blip r:embed="rId3"/>
          <a:stretch>
            <a:fillRect/>
          </a:stretch>
        </p:blipFill>
        <p:spPr>
          <a:xfrm>
            <a:off x="8887968" y="4901184"/>
            <a:ext cx="365760" cy="365760"/>
          </a:xfrm>
          <a:prstGeom prst="rect">
            <a:avLst/>
          </a:prstGeom>
        </p:spPr>
      </p:pic>
      <p:sp>
        <p:nvSpPr>
          <p:cNvPr id="27" name="o_26"/>
          <p:cNvSpPr txBox="1"/>
          <p:nvPr/>
        </p:nvSpPr>
        <p:spPr>
          <a:xfrm>
            <a:off x="9326880" y="4800600"/>
            <a:ext cx="2011680" cy="566928"/>
          </a:xfrm>
          <a:prstGeom prst="rect">
            <a:avLst/>
          </a:prstGeom>
          <a:noFill/>
          <a:ln/>
        </p:spPr>
        <p:txBody>
          <a:bodyPr wrap="square" lIns="0" tIns="0" rIns="0" bIns="0" rtlCol="0" anchor="ctr"/>
          <a:lstStyle/>
          <a:p>
            <a:pPr indent="0" marL="0">
              <a:buNone/>
            </a:pPr>
            <a:r>
              <a:rPr lang="en-US" sz="1400" b="1" dirty="0">
                <a:solidFill>
                  <a:srgbClr val="FFFFFF"/>
                </a:solidFill>
              </a:rPr>
              <a:t>Age over 18 · Verified</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decel="100000" fill="hold"/>
                                        <p:tgtEl>
                                          <p:spTgt spid="5"/>
                                        </p:tgtEl>
                                        <p:attrNameLst>
                                          <p:attrName>ppt_x</p:attrName>
                                        </p:attrNameLst>
                                      </p:cBhvr>
                                      <p:tavLst>
                                        <p:tav tm="0">
                                          <p:val>
                                            <p:strVal val="#ppt_x"/>
                                          </p:val>
                                        </p:tav>
                                        <p:tav tm="100000">
                                          <p:val>
                                            <p:strVal val="#ppt_x"/>
                                          </p:val>
                                        </p:tav>
                                      </p:tavLst>
                                    </p:anim>
                                    <p:anim calcmode="lin" valueType="num">
                                      <p:cBhvr>
                                        <p:cTn id="15" dur="500" decel="100000" fill="hold"/>
                                        <p:tgtEl>
                                          <p:spTgt spid="5"/>
                                        </p:tgtEl>
                                        <p:attrNameLst>
                                          <p:attrName>ppt_y</p:attrName>
                                        </p:attrNameLst>
                                      </p:cBhvr>
                                      <p:tavLst>
                                        <p:tav tm="0">
                                          <p:val>
                                            <p:strVal val="#ppt_y+.04"/>
                                          </p:val>
                                        </p:tav>
                                        <p:tav tm="100000">
                                          <p:val>
                                            <p:strVal val="#ppt_y"/>
                                          </p:val>
                                        </p:tav>
                                      </p:tavLst>
                                    </p:anim>
                                  </p:childTnLst>
                                </p:cTn>
                              </p:par>
                            </p:childTnLst>
                          </p:cTn>
                        </p:par>
                        <p:par>
                          <p:cTn id="16" fill="hold">
                            <p:stCondLst>
                              <p:cond delay="700"/>
                            </p:stCondLst>
                            <p:childTnLst>
                              <p:par>
                                <p:cTn id="17" presetID="42"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decel="100000" fill="hold"/>
                                        <p:tgtEl>
                                          <p:spTgt spid="6"/>
                                        </p:tgtEl>
                                        <p:attrNameLst>
                                          <p:attrName>ppt_x</p:attrName>
                                        </p:attrNameLst>
                                      </p:cBhvr>
                                      <p:tavLst>
                                        <p:tav tm="0">
                                          <p:val>
                                            <p:strVal val="#ppt_x"/>
                                          </p:val>
                                        </p:tav>
                                        <p:tav tm="100000">
                                          <p:val>
                                            <p:strVal val="#ppt_x"/>
                                          </p:val>
                                        </p:tav>
                                      </p:tavLst>
                                    </p:anim>
                                    <p:anim calcmode="lin" valueType="num">
                                      <p:cBhvr>
                                        <p:cTn id="21" dur="500" decel="100000" fill="hold"/>
                                        <p:tgtEl>
                                          <p:spTgt spid="6"/>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decel="100000" fill="hold"/>
                                        <p:tgtEl>
                                          <p:spTgt spid="7"/>
                                        </p:tgtEl>
                                        <p:attrNameLst>
                                          <p:attrName>ppt_x</p:attrName>
                                        </p:attrNameLst>
                                      </p:cBhvr>
                                      <p:tavLst>
                                        <p:tav tm="0">
                                          <p:val>
                                            <p:strVal val="#ppt_x"/>
                                          </p:val>
                                        </p:tav>
                                        <p:tav tm="100000">
                                          <p:val>
                                            <p:strVal val="#ppt_x"/>
                                          </p:val>
                                        </p:tav>
                                      </p:tavLst>
                                    </p:anim>
                                    <p:anim calcmode="lin" valueType="num">
                                      <p:cBhvr>
                                        <p:cTn id="26" dur="500" decel="100000" fill="hold"/>
                                        <p:tgtEl>
                                          <p:spTgt spid="7"/>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decel="100000" fill="hold"/>
                                        <p:tgtEl>
                                          <p:spTgt spid="8"/>
                                        </p:tgtEl>
                                        <p:attrNameLst>
                                          <p:attrName>ppt_x</p:attrName>
                                        </p:attrNameLst>
                                      </p:cBhvr>
                                      <p:tavLst>
                                        <p:tav tm="0">
                                          <p:val>
                                            <p:strVal val="#ppt_x"/>
                                          </p:val>
                                        </p:tav>
                                        <p:tav tm="100000">
                                          <p:val>
                                            <p:strVal val="#ppt_x"/>
                                          </p:val>
                                        </p:tav>
                                      </p:tavLst>
                                    </p:anim>
                                    <p:anim calcmode="lin" valueType="num">
                                      <p:cBhvr>
                                        <p:cTn id="31" dur="500" decel="100000" fill="hold"/>
                                        <p:tgtEl>
                                          <p:spTgt spid="8"/>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anim calcmode="lin" valueType="num">
                                      <p:cBhvr>
                                        <p:cTn id="35" dur="500" decel="100000" fill="hold"/>
                                        <p:tgtEl>
                                          <p:spTgt spid="9"/>
                                        </p:tgtEl>
                                        <p:attrNameLst>
                                          <p:attrName>ppt_x</p:attrName>
                                        </p:attrNameLst>
                                      </p:cBhvr>
                                      <p:tavLst>
                                        <p:tav tm="0">
                                          <p:val>
                                            <p:strVal val="#ppt_x"/>
                                          </p:val>
                                        </p:tav>
                                        <p:tav tm="100000">
                                          <p:val>
                                            <p:strVal val="#ppt_x"/>
                                          </p:val>
                                        </p:tav>
                                      </p:tavLst>
                                    </p:anim>
                                    <p:anim calcmode="lin" valueType="num">
                                      <p:cBhvr>
                                        <p:cTn id="36" dur="500" decel="100000" fill="hold"/>
                                        <p:tgtEl>
                                          <p:spTgt spid="9"/>
                                        </p:tgtEl>
                                        <p:attrNameLst>
                                          <p:attrName>ppt_y</p:attrName>
                                        </p:attrNameLst>
                                      </p:cBhvr>
                                      <p:tavLst>
                                        <p:tav tm="0">
                                          <p:val>
                                            <p:strVal val="#ppt_y+.04"/>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decel="100000" fill="hold"/>
                                        <p:tgtEl>
                                          <p:spTgt spid="10"/>
                                        </p:tgtEl>
                                        <p:attrNameLst>
                                          <p:attrName>ppt_x</p:attrName>
                                        </p:attrNameLst>
                                      </p:cBhvr>
                                      <p:tavLst>
                                        <p:tav tm="0">
                                          <p:val>
                                            <p:strVal val="#ppt_x"/>
                                          </p:val>
                                        </p:tav>
                                        <p:tav tm="100000">
                                          <p:val>
                                            <p:strVal val="#ppt_x"/>
                                          </p:val>
                                        </p:tav>
                                      </p:tavLst>
                                    </p:anim>
                                    <p:anim calcmode="lin" valueType="num">
                                      <p:cBhvr>
                                        <p:cTn id="41" dur="500" decel="100000" fill="hold"/>
                                        <p:tgtEl>
                                          <p:spTgt spid="10"/>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anim calcmode="lin" valueType="num">
                                      <p:cBhvr>
                                        <p:cTn id="45" dur="500" decel="100000" fill="hold"/>
                                        <p:tgtEl>
                                          <p:spTgt spid="11"/>
                                        </p:tgtEl>
                                        <p:attrNameLst>
                                          <p:attrName>ppt_x</p:attrName>
                                        </p:attrNameLst>
                                      </p:cBhvr>
                                      <p:tavLst>
                                        <p:tav tm="0">
                                          <p:val>
                                            <p:strVal val="#ppt_x"/>
                                          </p:val>
                                        </p:tav>
                                        <p:tav tm="100000">
                                          <p:val>
                                            <p:strVal val="#ppt_x"/>
                                          </p:val>
                                        </p:tav>
                                      </p:tavLst>
                                    </p:anim>
                                    <p:anim calcmode="lin" valueType="num">
                                      <p:cBhvr>
                                        <p:cTn id="46" dur="500" decel="100000" fill="hold"/>
                                        <p:tgtEl>
                                          <p:spTgt spid="11"/>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anim calcmode="lin" valueType="num">
                                      <p:cBhvr>
                                        <p:cTn id="50" dur="500" decel="100000" fill="hold"/>
                                        <p:tgtEl>
                                          <p:spTgt spid="12"/>
                                        </p:tgtEl>
                                        <p:attrNameLst>
                                          <p:attrName>ppt_x</p:attrName>
                                        </p:attrNameLst>
                                      </p:cBhvr>
                                      <p:tavLst>
                                        <p:tav tm="0">
                                          <p:val>
                                            <p:strVal val="#ppt_x"/>
                                          </p:val>
                                        </p:tav>
                                        <p:tav tm="100000">
                                          <p:val>
                                            <p:strVal val="#ppt_x"/>
                                          </p:val>
                                        </p:tav>
                                      </p:tavLst>
                                    </p:anim>
                                    <p:anim calcmode="lin" valueType="num">
                                      <p:cBhvr>
                                        <p:cTn id="51" dur="500" decel="100000" fill="hold"/>
                                        <p:tgtEl>
                                          <p:spTgt spid="12"/>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anim calcmode="lin" valueType="num">
                                      <p:cBhvr>
                                        <p:cTn id="55" dur="500" decel="100000" fill="hold"/>
                                        <p:tgtEl>
                                          <p:spTgt spid="13"/>
                                        </p:tgtEl>
                                        <p:attrNameLst>
                                          <p:attrName>ppt_x</p:attrName>
                                        </p:attrNameLst>
                                      </p:cBhvr>
                                      <p:tavLst>
                                        <p:tav tm="0">
                                          <p:val>
                                            <p:strVal val="#ppt_x"/>
                                          </p:val>
                                        </p:tav>
                                        <p:tav tm="100000">
                                          <p:val>
                                            <p:strVal val="#ppt_x"/>
                                          </p:val>
                                        </p:tav>
                                      </p:tavLst>
                                    </p:anim>
                                    <p:anim calcmode="lin" valueType="num">
                                      <p:cBhvr>
                                        <p:cTn id="56" dur="500" decel="100000" fill="hold"/>
                                        <p:tgtEl>
                                          <p:spTgt spid="13"/>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anim calcmode="lin" valueType="num">
                                      <p:cBhvr>
                                        <p:cTn id="60" dur="500" decel="100000" fill="hold"/>
                                        <p:tgtEl>
                                          <p:spTgt spid="14"/>
                                        </p:tgtEl>
                                        <p:attrNameLst>
                                          <p:attrName>ppt_x</p:attrName>
                                        </p:attrNameLst>
                                      </p:cBhvr>
                                      <p:tavLst>
                                        <p:tav tm="0">
                                          <p:val>
                                            <p:strVal val="#ppt_x"/>
                                          </p:val>
                                        </p:tav>
                                        <p:tav tm="100000">
                                          <p:val>
                                            <p:strVal val="#ppt_x"/>
                                          </p:val>
                                        </p:tav>
                                      </p:tavLst>
                                    </p:anim>
                                    <p:anim calcmode="lin" valueType="num">
                                      <p:cBhvr>
                                        <p:cTn id="61" dur="500" decel="100000" fill="hold"/>
                                        <p:tgtEl>
                                          <p:spTgt spid="14"/>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anim calcmode="lin" valueType="num">
                                      <p:cBhvr>
                                        <p:cTn id="65" dur="500" decel="100000" fill="hold"/>
                                        <p:tgtEl>
                                          <p:spTgt spid="15"/>
                                        </p:tgtEl>
                                        <p:attrNameLst>
                                          <p:attrName>ppt_x</p:attrName>
                                        </p:attrNameLst>
                                      </p:cBhvr>
                                      <p:tavLst>
                                        <p:tav tm="0">
                                          <p:val>
                                            <p:strVal val="#ppt_x"/>
                                          </p:val>
                                        </p:tav>
                                        <p:tav tm="100000">
                                          <p:val>
                                            <p:strVal val="#ppt_x"/>
                                          </p:val>
                                        </p:tav>
                                      </p:tavLst>
                                    </p:anim>
                                    <p:anim calcmode="lin" valueType="num">
                                      <p:cBhvr>
                                        <p:cTn id="66" dur="500" decel="100000" fill="hold"/>
                                        <p:tgtEl>
                                          <p:spTgt spid="15"/>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anim calcmode="lin" valueType="num">
                                      <p:cBhvr>
                                        <p:cTn id="70" dur="500" decel="100000" fill="hold"/>
                                        <p:tgtEl>
                                          <p:spTgt spid="16"/>
                                        </p:tgtEl>
                                        <p:attrNameLst>
                                          <p:attrName>ppt_x</p:attrName>
                                        </p:attrNameLst>
                                      </p:cBhvr>
                                      <p:tavLst>
                                        <p:tav tm="0">
                                          <p:val>
                                            <p:strVal val="#ppt_x"/>
                                          </p:val>
                                        </p:tav>
                                        <p:tav tm="100000">
                                          <p:val>
                                            <p:strVal val="#ppt_x"/>
                                          </p:val>
                                        </p:tav>
                                      </p:tavLst>
                                    </p:anim>
                                    <p:anim calcmode="lin" valueType="num">
                                      <p:cBhvr>
                                        <p:cTn id="71" dur="500" decel="100000" fill="hold"/>
                                        <p:tgtEl>
                                          <p:spTgt spid="16"/>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anim calcmode="lin" valueType="num">
                                      <p:cBhvr>
                                        <p:cTn id="75" dur="500" decel="100000" fill="hold"/>
                                        <p:tgtEl>
                                          <p:spTgt spid="17"/>
                                        </p:tgtEl>
                                        <p:attrNameLst>
                                          <p:attrName>ppt_x</p:attrName>
                                        </p:attrNameLst>
                                      </p:cBhvr>
                                      <p:tavLst>
                                        <p:tav tm="0">
                                          <p:val>
                                            <p:strVal val="#ppt_x"/>
                                          </p:val>
                                        </p:tav>
                                        <p:tav tm="100000">
                                          <p:val>
                                            <p:strVal val="#ppt_x"/>
                                          </p:val>
                                        </p:tav>
                                      </p:tavLst>
                                    </p:anim>
                                    <p:anim calcmode="lin" valueType="num">
                                      <p:cBhvr>
                                        <p:cTn id="76" dur="500" decel="100000" fill="hold"/>
                                        <p:tgtEl>
                                          <p:spTgt spid="17"/>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00"/>
                                        <p:tgtEl>
                                          <p:spTgt spid="18"/>
                                        </p:tgtEl>
                                      </p:cBhvr>
                                    </p:animEffect>
                                    <p:anim calcmode="lin" valueType="num">
                                      <p:cBhvr>
                                        <p:cTn id="80" dur="500" decel="100000" fill="hold"/>
                                        <p:tgtEl>
                                          <p:spTgt spid="18"/>
                                        </p:tgtEl>
                                        <p:attrNameLst>
                                          <p:attrName>ppt_x</p:attrName>
                                        </p:attrNameLst>
                                      </p:cBhvr>
                                      <p:tavLst>
                                        <p:tav tm="0">
                                          <p:val>
                                            <p:strVal val="#ppt_x"/>
                                          </p:val>
                                        </p:tav>
                                        <p:tav tm="100000">
                                          <p:val>
                                            <p:strVal val="#ppt_x"/>
                                          </p:val>
                                        </p:tav>
                                      </p:tavLst>
                                    </p:anim>
                                    <p:anim calcmode="lin" valueType="num">
                                      <p:cBhvr>
                                        <p:cTn id="81" dur="500" decel="100000" fill="hold"/>
                                        <p:tgtEl>
                                          <p:spTgt spid="18"/>
                                        </p:tgtEl>
                                        <p:attrNameLst>
                                          <p:attrName>ppt_y</p:attrName>
                                        </p:attrNameLst>
                                      </p:cBhvr>
                                      <p:tavLst>
                                        <p:tav tm="0">
                                          <p:val>
                                            <p:strVal val="#ppt_y+.04"/>
                                          </p:val>
                                        </p:tav>
                                        <p:tav tm="100000">
                                          <p:val>
                                            <p:strVal val="#ppt_y"/>
                                          </p:val>
                                        </p:tav>
                                      </p:tavLst>
                                    </p:anim>
                                  </p:childTnLst>
                                </p:cTn>
                              </p:par>
                            </p:childTnLst>
                          </p:cTn>
                        </p:par>
                        <p:par>
                          <p:cTn id="82" fill="hold">
                            <p:stCondLst>
                              <p:cond delay="1050"/>
                            </p:stCondLst>
                            <p:childTnLst>
                              <p:par>
                                <p:cTn id="83" presetID="42" presetClass="entr" presetSubtype="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anim calcmode="lin" valueType="num">
                                      <p:cBhvr>
                                        <p:cTn id="86" dur="500" decel="100000" fill="hold"/>
                                        <p:tgtEl>
                                          <p:spTgt spid="19"/>
                                        </p:tgtEl>
                                        <p:attrNameLst>
                                          <p:attrName>ppt_x</p:attrName>
                                        </p:attrNameLst>
                                      </p:cBhvr>
                                      <p:tavLst>
                                        <p:tav tm="0">
                                          <p:val>
                                            <p:strVal val="#ppt_x"/>
                                          </p:val>
                                        </p:tav>
                                        <p:tav tm="100000">
                                          <p:val>
                                            <p:strVal val="#ppt_x"/>
                                          </p:val>
                                        </p:tav>
                                      </p:tavLst>
                                    </p:anim>
                                    <p:anim calcmode="lin" valueType="num">
                                      <p:cBhvr>
                                        <p:cTn id="87" dur="500" decel="100000" fill="hold"/>
                                        <p:tgtEl>
                                          <p:spTgt spid="19"/>
                                        </p:tgtEl>
                                        <p:attrNameLst>
                                          <p:attrName>ppt_y</p:attrName>
                                        </p:attrNameLst>
                                      </p:cBhvr>
                                      <p:tavLst>
                                        <p:tav tm="0">
                                          <p:val>
                                            <p:strVal val="#ppt_y+.04"/>
                                          </p:val>
                                        </p:tav>
                                        <p:tav tm="100000">
                                          <p:val>
                                            <p:strVal val="#ppt_y"/>
                                          </p:val>
                                        </p:tav>
                                      </p:tavLst>
                                    </p:anim>
                                  </p:childTnLst>
                                </p:cTn>
                              </p:par>
                            </p:childTnLst>
                          </p:cTn>
                        </p:par>
                        <p:par>
                          <p:cTn id="88" fill="hold">
                            <p:stCondLst>
                              <p:cond delay="1400"/>
                            </p:stCondLst>
                            <p:childTnLst>
                              <p:par>
                                <p:cTn id="89" presetID="42" presetClass="entr" presetSubtype="0" fill="hold" grpId="0"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500"/>
                                        <p:tgtEl>
                                          <p:spTgt spid="20"/>
                                        </p:tgtEl>
                                      </p:cBhvr>
                                    </p:animEffect>
                                    <p:anim calcmode="lin" valueType="num">
                                      <p:cBhvr>
                                        <p:cTn id="92" dur="500" decel="100000" fill="hold"/>
                                        <p:tgtEl>
                                          <p:spTgt spid="20"/>
                                        </p:tgtEl>
                                        <p:attrNameLst>
                                          <p:attrName>ppt_x</p:attrName>
                                        </p:attrNameLst>
                                      </p:cBhvr>
                                      <p:tavLst>
                                        <p:tav tm="0">
                                          <p:val>
                                            <p:strVal val="#ppt_x"/>
                                          </p:val>
                                        </p:tav>
                                        <p:tav tm="100000">
                                          <p:val>
                                            <p:strVal val="#ppt_x"/>
                                          </p:val>
                                        </p:tav>
                                      </p:tavLst>
                                    </p:anim>
                                    <p:anim calcmode="lin" valueType="num">
                                      <p:cBhvr>
                                        <p:cTn id="93" dur="500" decel="100000" fill="hold"/>
                                        <p:tgtEl>
                                          <p:spTgt spid="20"/>
                                        </p:tgtEl>
                                        <p:attrNameLst>
                                          <p:attrName>ppt_y</p:attrName>
                                        </p:attrNameLst>
                                      </p:cBhvr>
                                      <p:tavLst>
                                        <p:tav tm="0">
                                          <p:val>
                                            <p:strVal val="#ppt_y+.04"/>
                                          </p:val>
                                        </p:tav>
                                        <p:tav tm="100000">
                                          <p:val>
                                            <p:strVal val="#ppt_y"/>
                                          </p:val>
                                        </p:tav>
                                      </p:tavLst>
                                    </p:anim>
                                  </p:childTnLst>
                                </p:cTn>
                              </p:par>
                            </p:childTnLst>
                          </p:cTn>
                        </p:par>
                        <p:par>
                          <p:cTn id="94" fill="hold">
                            <p:stCondLst>
                              <p:cond delay="1750"/>
                            </p:stCondLst>
                            <p:childTnLst>
                              <p:par>
                                <p:cTn id="95" presetID="42" presetClass="entr" presetSubtype="0" fill="hold" grpId="0" nodeType="after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500"/>
                                        <p:tgtEl>
                                          <p:spTgt spid="21"/>
                                        </p:tgtEl>
                                      </p:cBhvr>
                                    </p:animEffect>
                                    <p:anim calcmode="lin" valueType="num">
                                      <p:cBhvr>
                                        <p:cTn id="98" dur="500" decel="100000" fill="hold"/>
                                        <p:tgtEl>
                                          <p:spTgt spid="21"/>
                                        </p:tgtEl>
                                        <p:attrNameLst>
                                          <p:attrName>ppt_x</p:attrName>
                                        </p:attrNameLst>
                                      </p:cBhvr>
                                      <p:tavLst>
                                        <p:tav tm="0">
                                          <p:val>
                                            <p:strVal val="#ppt_x"/>
                                          </p:val>
                                        </p:tav>
                                        <p:tav tm="100000">
                                          <p:val>
                                            <p:strVal val="#ppt_x"/>
                                          </p:val>
                                        </p:tav>
                                      </p:tavLst>
                                    </p:anim>
                                    <p:anim calcmode="lin" valueType="num">
                                      <p:cBhvr>
                                        <p:cTn id="99" dur="500" decel="100000" fill="hold"/>
                                        <p:tgtEl>
                                          <p:spTgt spid="21"/>
                                        </p:tgtEl>
                                        <p:attrNameLst>
                                          <p:attrName>ppt_y</p:attrName>
                                        </p:attrNameLst>
                                      </p:cBhvr>
                                      <p:tavLst>
                                        <p:tav tm="0">
                                          <p:val>
                                            <p:strVal val="#ppt_y+.04"/>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500"/>
                                        <p:tgtEl>
                                          <p:spTgt spid="22"/>
                                        </p:tgtEl>
                                      </p:cBhvr>
                                    </p:animEffect>
                                    <p:anim calcmode="lin" valueType="num">
                                      <p:cBhvr>
                                        <p:cTn id="103" dur="500" decel="100000" fill="hold"/>
                                        <p:tgtEl>
                                          <p:spTgt spid="22"/>
                                        </p:tgtEl>
                                        <p:attrNameLst>
                                          <p:attrName>ppt_x</p:attrName>
                                        </p:attrNameLst>
                                      </p:cBhvr>
                                      <p:tavLst>
                                        <p:tav tm="0">
                                          <p:val>
                                            <p:strVal val="#ppt_x"/>
                                          </p:val>
                                        </p:tav>
                                        <p:tav tm="100000">
                                          <p:val>
                                            <p:strVal val="#ppt_x"/>
                                          </p:val>
                                        </p:tav>
                                      </p:tavLst>
                                    </p:anim>
                                    <p:anim calcmode="lin" valueType="num">
                                      <p:cBhvr>
                                        <p:cTn id="104" dur="500" decel="100000" fill="hold"/>
                                        <p:tgtEl>
                                          <p:spTgt spid="22"/>
                                        </p:tgtEl>
                                        <p:attrNameLst>
                                          <p:attrName>ppt_y</p:attrName>
                                        </p:attrNameLst>
                                      </p:cBhvr>
                                      <p:tavLst>
                                        <p:tav tm="0">
                                          <p:val>
                                            <p:strVal val="#ppt_y+.04"/>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500"/>
                                        <p:tgtEl>
                                          <p:spTgt spid="23"/>
                                        </p:tgtEl>
                                      </p:cBhvr>
                                    </p:animEffect>
                                    <p:anim calcmode="lin" valueType="num">
                                      <p:cBhvr>
                                        <p:cTn id="108" dur="500" decel="100000" fill="hold"/>
                                        <p:tgtEl>
                                          <p:spTgt spid="23"/>
                                        </p:tgtEl>
                                        <p:attrNameLst>
                                          <p:attrName>ppt_x</p:attrName>
                                        </p:attrNameLst>
                                      </p:cBhvr>
                                      <p:tavLst>
                                        <p:tav tm="0">
                                          <p:val>
                                            <p:strVal val="#ppt_x"/>
                                          </p:val>
                                        </p:tav>
                                        <p:tav tm="100000">
                                          <p:val>
                                            <p:strVal val="#ppt_x"/>
                                          </p:val>
                                        </p:tav>
                                      </p:tavLst>
                                    </p:anim>
                                    <p:anim calcmode="lin" valueType="num">
                                      <p:cBhvr>
                                        <p:cTn id="109" dur="500" decel="100000" fill="hold"/>
                                        <p:tgtEl>
                                          <p:spTgt spid="23"/>
                                        </p:tgtEl>
                                        <p:attrNameLst>
                                          <p:attrName>ppt_y</p:attrName>
                                        </p:attrNameLst>
                                      </p:cBhvr>
                                      <p:tavLst>
                                        <p:tav tm="0">
                                          <p:val>
                                            <p:strVal val="#ppt_y+.04"/>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500"/>
                                        <p:tgtEl>
                                          <p:spTgt spid="24"/>
                                        </p:tgtEl>
                                      </p:cBhvr>
                                    </p:animEffect>
                                    <p:anim calcmode="lin" valueType="num">
                                      <p:cBhvr>
                                        <p:cTn id="113" dur="500" decel="100000" fill="hold"/>
                                        <p:tgtEl>
                                          <p:spTgt spid="24"/>
                                        </p:tgtEl>
                                        <p:attrNameLst>
                                          <p:attrName>ppt_x</p:attrName>
                                        </p:attrNameLst>
                                      </p:cBhvr>
                                      <p:tavLst>
                                        <p:tav tm="0">
                                          <p:val>
                                            <p:strVal val="#ppt_x"/>
                                          </p:val>
                                        </p:tav>
                                        <p:tav tm="100000">
                                          <p:val>
                                            <p:strVal val="#ppt_x"/>
                                          </p:val>
                                        </p:tav>
                                      </p:tavLst>
                                    </p:anim>
                                    <p:anim calcmode="lin" valueType="num">
                                      <p:cBhvr>
                                        <p:cTn id="114" dur="500" decel="100000" fill="hold"/>
                                        <p:tgtEl>
                                          <p:spTgt spid="24"/>
                                        </p:tgtEl>
                                        <p:attrNameLst>
                                          <p:attrName>ppt_y</p:attrName>
                                        </p:attrNameLst>
                                      </p:cBhvr>
                                      <p:tavLst>
                                        <p:tav tm="0">
                                          <p:val>
                                            <p:strVal val="#ppt_y+.04"/>
                                          </p:val>
                                        </p:tav>
                                        <p:tav tm="100000">
                                          <p:val>
                                            <p:strVal val="#ppt_y"/>
                                          </p:val>
                                        </p:tav>
                                      </p:tavLst>
                                    </p:anim>
                                  </p:childTnLst>
                                </p:cTn>
                              </p:par>
                            </p:childTnLst>
                          </p:cTn>
                        </p:par>
                        <p:par>
                          <p:cTn id="115" fill="hold">
                            <p:stCondLst>
                              <p:cond delay="2100"/>
                            </p:stCondLst>
                            <p:childTnLst>
                              <p:par>
                                <p:cTn id="116" presetID="42" presetClass="entr" presetSubtype="0" fill="hold" grpId="0" nodeType="afterEffect">
                                  <p:stCondLst>
                                    <p:cond delay="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anim calcmode="lin" valueType="num">
                                      <p:cBhvr>
                                        <p:cTn id="119" dur="500" decel="100000" fill="hold"/>
                                        <p:tgtEl>
                                          <p:spTgt spid="25"/>
                                        </p:tgtEl>
                                        <p:attrNameLst>
                                          <p:attrName>ppt_x</p:attrName>
                                        </p:attrNameLst>
                                      </p:cBhvr>
                                      <p:tavLst>
                                        <p:tav tm="0">
                                          <p:val>
                                            <p:strVal val="#ppt_x"/>
                                          </p:val>
                                        </p:tav>
                                        <p:tav tm="100000">
                                          <p:val>
                                            <p:strVal val="#ppt_x"/>
                                          </p:val>
                                        </p:tav>
                                      </p:tavLst>
                                    </p:anim>
                                    <p:anim calcmode="lin" valueType="num">
                                      <p:cBhvr>
                                        <p:cTn id="120" dur="500" decel="100000" fill="hold"/>
                                        <p:tgtEl>
                                          <p:spTgt spid="25"/>
                                        </p:tgtEl>
                                        <p:attrNameLst>
                                          <p:attrName>ppt_y</p:attrName>
                                        </p:attrNameLst>
                                      </p:cBhvr>
                                      <p:tavLst>
                                        <p:tav tm="0">
                                          <p:val>
                                            <p:strVal val="#ppt_y+.04"/>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500"/>
                                        <p:tgtEl>
                                          <p:spTgt spid="26"/>
                                        </p:tgtEl>
                                      </p:cBhvr>
                                    </p:animEffect>
                                    <p:anim calcmode="lin" valueType="num">
                                      <p:cBhvr>
                                        <p:cTn id="124" dur="500" decel="100000" fill="hold"/>
                                        <p:tgtEl>
                                          <p:spTgt spid="26"/>
                                        </p:tgtEl>
                                        <p:attrNameLst>
                                          <p:attrName>ppt_x</p:attrName>
                                        </p:attrNameLst>
                                      </p:cBhvr>
                                      <p:tavLst>
                                        <p:tav tm="0">
                                          <p:val>
                                            <p:strVal val="#ppt_x"/>
                                          </p:val>
                                        </p:tav>
                                        <p:tav tm="100000">
                                          <p:val>
                                            <p:strVal val="#ppt_x"/>
                                          </p:val>
                                        </p:tav>
                                      </p:tavLst>
                                    </p:anim>
                                    <p:anim calcmode="lin" valueType="num">
                                      <p:cBhvr>
                                        <p:cTn id="125" dur="500" decel="100000" fill="hold"/>
                                        <p:tgtEl>
                                          <p:spTgt spid="26"/>
                                        </p:tgtEl>
                                        <p:attrNameLst>
                                          <p:attrName>ppt_y</p:attrName>
                                        </p:attrNameLst>
                                      </p:cBhvr>
                                      <p:tavLst>
                                        <p:tav tm="0">
                                          <p:val>
                                            <p:strVal val="#ppt_y+.04"/>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500"/>
                                        <p:tgtEl>
                                          <p:spTgt spid="27"/>
                                        </p:tgtEl>
                                      </p:cBhvr>
                                    </p:animEffect>
                                    <p:anim calcmode="lin" valueType="num">
                                      <p:cBhvr>
                                        <p:cTn id="129" dur="500" decel="100000" fill="hold"/>
                                        <p:tgtEl>
                                          <p:spTgt spid="27"/>
                                        </p:tgtEl>
                                        <p:attrNameLst>
                                          <p:attrName>ppt_x</p:attrName>
                                        </p:attrNameLst>
                                      </p:cBhvr>
                                      <p:tavLst>
                                        <p:tav tm="0">
                                          <p:val>
                                            <p:strVal val="#ppt_x"/>
                                          </p:val>
                                        </p:tav>
                                        <p:tav tm="100000">
                                          <p:val>
                                            <p:strVal val="#ppt_x"/>
                                          </p:val>
                                        </p:tav>
                                      </p:tavLst>
                                    </p:anim>
                                    <p:anim calcmode="lin" valueType="num">
                                      <p:cBhvr>
                                        <p:cTn id="130" dur="500" decel="100000" fill="hold"/>
                                        <p:tgtEl>
                                          <p:spTgt spid="2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Sharing your ID today reveals too much</a:t>
            </a:r>
            <a:endParaRPr lang="en-US" sz="3200" dirty="0"/>
          </a:p>
        </p:txBody>
      </p:sp>
      <p:sp>
        <p:nvSpPr>
          <p:cNvPr id="3" name="a_27"/>
          <p:cNvSpPr txBox="1"/>
          <p:nvPr/>
        </p:nvSpPr>
        <p:spPr>
          <a:xfrm>
            <a:off x="548640" y="1600200"/>
            <a:ext cx="4206240" cy="548640"/>
          </a:xfrm>
          <a:prstGeom prst="rect">
            <a:avLst/>
          </a:prstGeom>
          <a:noFill/>
          <a:ln/>
        </p:spPr>
        <p:txBody>
          <a:bodyPr wrap="square" lIns="0" tIns="0" rIns="0" bIns="0" rtlCol="0" anchor="t"/>
          <a:lstStyle/>
          <a:p>
            <a:pPr indent="0" marL="0">
              <a:buNone/>
            </a:pPr>
            <a:r>
              <a:rPr lang="en-US" sz="2600" b="1" dirty="0">
                <a:solidFill>
                  <a:schemeClr val="accent1"/>
                </a:solidFill>
              </a:rPr>
              <a:t>A cinema needs one fact.</a:t>
            </a:r>
            <a:endParaRPr lang="en-US" sz="2600" dirty="0"/>
          </a:p>
        </p:txBody>
      </p:sp>
      <p:sp>
        <p:nvSpPr>
          <p:cNvPr id="4" name="a_28"/>
          <p:cNvSpPr txBox="1"/>
          <p:nvPr/>
        </p:nvSpPr>
        <p:spPr>
          <a:xfrm>
            <a:off x="548640" y="2240280"/>
            <a:ext cx="4023360" cy="1463040"/>
          </a:xfrm>
          <a:prstGeom prst="rect">
            <a:avLst/>
          </a:prstGeom>
          <a:noFill/>
          <a:ln/>
        </p:spPr>
        <p:txBody>
          <a:bodyPr wrap="square" lIns="0" tIns="0" rIns="0" bIns="0" rtlCol="0" anchor="t"/>
          <a:lstStyle/>
          <a:p>
            <a:pPr indent="0" marL="0">
              <a:buNone/>
            </a:pPr>
            <a:r>
              <a:rPr lang="en-US" sz="1600" dirty="0">
                <a:solidFill>
                  <a:srgbClr val="5D647D"/>
                </a:solidFill>
              </a:rPr>
              <a:t>A photocopy of an ID card gives away eight: name, birth date, gender, ID number, nationality, address, photo and signature.</a:t>
            </a:r>
            <a:endParaRPr lang="en-US" sz="1600" dirty="0"/>
          </a:p>
        </p:txBody>
      </p:sp>
      <p:sp>
        <p:nvSpPr>
          <p:cNvPr id="5" name="a_29"/>
          <p:cNvSpPr txBox="1"/>
          <p:nvPr/>
        </p:nvSpPr>
        <p:spPr>
          <a:xfrm>
            <a:off x="548640" y="3840480"/>
            <a:ext cx="4023360" cy="1097280"/>
          </a:xfrm>
          <a:prstGeom prst="rect">
            <a:avLst/>
          </a:prstGeom>
          <a:noFill/>
          <a:ln/>
        </p:spPr>
        <p:txBody>
          <a:bodyPr wrap="square" lIns="0" tIns="0" rIns="0" bIns="0" rtlCol="0" anchor="t"/>
          <a:lstStyle/>
          <a:p>
            <a:pPr indent="0" marL="0">
              <a:buNone/>
            </a:pPr>
            <a:r>
              <a:rPr lang="en-US" sz="1600" dirty="0">
                <a:solidFill>
                  <a:srgbClr val="5D647D"/>
                </a:solidFill>
              </a:rPr>
              <a:t>Once handed over, the owner has no control over where it goes or how long it is kept.</a:t>
            </a:r>
            <a:endParaRPr lang="en-US" sz="1600" dirty="0"/>
          </a:p>
        </p:txBody>
      </p:sp>
      <p:sp>
        <p:nvSpPr>
          <p:cNvPr id="6" name="a_30"/>
          <p:cNvSpPr/>
          <p:nvPr/>
        </p:nvSpPr>
        <p:spPr>
          <a:xfrm>
            <a:off x="5074920" y="1463040"/>
            <a:ext cx="3108960" cy="2103120"/>
          </a:xfrm>
          <a:prstGeom prst="roundRect">
            <a:avLst>
              <a:gd name="adj" fmla="val 52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7" name="o_31"/>
          <p:cNvSpPr/>
          <p:nvPr/>
        </p:nvSpPr>
        <p:spPr>
          <a:xfrm>
            <a:off x="5349240" y="1737360"/>
            <a:ext cx="640080" cy="640080"/>
          </a:xfrm>
          <a:prstGeom prst="ellipse">
            <a:avLst/>
          </a:prstGeom>
          <a:solidFill>
            <a:schemeClr val="accent1"/>
          </a:solidFill>
          <a:ln/>
        </p:spPr>
      </p:sp>
      <p:pic>
        <p:nvPicPr>
          <p:cNvPr id="8" name="o_32_in" descr="preencoded.png">    </p:cNvPr>
          <p:cNvPicPr>
            <a:picLocks noChangeAspect="1"/>
          </p:cNvPicPr>
          <p:nvPr/>
        </p:nvPicPr>
        <p:blipFill>
          <a:blip r:embed="rId1"/>
          <a:stretch>
            <a:fillRect/>
          </a:stretch>
        </p:blipFill>
        <p:spPr>
          <a:xfrm>
            <a:off x="5502859" y="1890979"/>
            <a:ext cx="332842" cy="332842"/>
          </a:xfrm>
          <a:prstGeom prst="rect">
            <a:avLst/>
          </a:prstGeom>
        </p:spPr>
      </p:pic>
      <p:sp>
        <p:nvSpPr>
          <p:cNvPr id="9" name="o_33"/>
          <p:cNvSpPr txBox="1"/>
          <p:nvPr/>
        </p:nvSpPr>
        <p:spPr>
          <a:xfrm>
            <a:off x="5349240" y="2468880"/>
            <a:ext cx="2651760" cy="365760"/>
          </a:xfrm>
          <a:prstGeom prst="rect">
            <a:avLst/>
          </a:prstGeom>
          <a:noFill/>
          <a:ln/>
        </p:spPr>
        <p:txBody>
          <a:bodyPr wrap="square" lIns="0" tIns="0" rIns="0" bIns="0" rtlCol="0" anchor="t"/>
          <a:lstStyle/>
          <a:p>
            <a:pPr indent="0" marL="0">
              <a:buNone/>
            </a:pPr>
            <a:r>
              <a:rPr lang="en-US" sz="1700" b="1" dirty="0">
                <a:solidFill>
                  <a:schemeClr val="tx1"/>
                </a:solidFill>
              </a:rPr>
              <a:t>Over-sharing</a:t>
            </a:r>
            <a:endParaRPr lang="en-US" sz="1700" dirty="0"/>
          </a:p>
        </p:txBody>
      </p:sp>
      <p:sp>
        <p:nvSpPr>
          <p:cNvPr id="10" name="o_34"/>
          <p:cNvSpPr txBox="1"/>
          <p:nvPr/>
        </p:nvSpPr>
        <p:spPr>
          <a:xfrm>
            <a:off x="5349240" y="2834640"/>
            <a:ext cx="2651760" cy="685800"/>
          </a:xfrm>
          <a:prstGeom prst="rect">
            <a:avLst/>
          </a:prstGeom>
          <a:noFill/>
          <a:ln/>
        </p:spPr>
        <p:txBody>
          <a:bodyPr wrap="square" lIns="0" tIns="0" rIns="0" bIns="0" rtlCol="0" anchor="t"/>
          <a:lstStyle/>
          <a:p>
            <a:pPr indent="0" marL="0">
              <a:buNone/>
            </a:pPr>
            <a:r>
              <a:rPr lang="en-US" sz="1300" dirty="0">
                <a:solidFill>
                  <a:srgbClr val="5D647D"/>
                </a:solidFill>
              </a:rPr>
              <a:t>Every detail is exposed even when only one fact is needed</a:t>
            </a:r>
            <a:endParaRPr lang="en-US" sz="1300" dirty="0"/>
          </a:p>
        </p:txBody>
      </p:sp>
      <p:sp>
        <p:nvSpPr>
          <p:cNvPr id="11" name="a_35"/>
          <p:cNvSpPr/>
          <p:nvPr/>
        </p:nvSpPr>
        <p:spPr>
          <a:xfrm>
            <a:off x="8412480" y="1463040"/>
            <a:ext cx="3108960" cy="2103120"/>
          </a:xfrm>
          <a:prstGeom prst="roundRect">
            <a:avLst>
              <a:gd name="adj" fmla="val 52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2" name="o_36"/>
          <p:cNvSpPr/>
          <p:nvPr/>
        </p:nvSpPr>
        <p:spPr>
          <a:xfrm>
            <a:off x="8686800" y="1737360"/>
            <a:ext cx="640080" cy="640080"/>
          </a:xfrm>
          <a:prstGeom prst="ellipse">
            <a:avLst/>
          </a:prstGeom>
          <a:solidFill>
            <a:schemeClr val="accent6"/>
          </a:solidFill>
          <a:ln/>
        </p:spPr>
      </p:sp>
      <p:pic>
        <p:nvPicPr>
          <p:cNvPr id="13" name="o_37_in" descr="preencoded.png">    </p:cNvPr>
          <p:cNvPicPr>
            <a:picLocks noChangeAspect="1"/>
          </p:cNvPicPr>
          <p:nvPr/>
        </p:nvPicPr>
        <p:blipFill>
          <a:blip r:embed="rId2"/>
          <a:stretch>
            <a:fillRect/>
          </a:stretch>
        </p:blipFill>
        <p:spPr>
          <a:xfrm>
            <a:off x="8840419" y="1890979"/>
            <a:ext cx="332842" cy="332842"/>
          </a:xfrm>
          <a:prstGeom prst="rect">
            <a:avLst/>
          </a:prstGeom>
        </p:spPr>
      </p:pic>
      <p:sp>
        <p:nvSpPr>
          <p:cNvPr id="14" name="o_38"/>
          <p:cNvSpPr txBox="1"/>
          <p:nvPr/>
        </p:nvSpPr>
        <p:spPr>
          <a:xfrm>
            <a:off x="8686800" y="2468880"/>
            <a:ext cx="2651760" cy="365760"/>
          </a:xfrm>
          <a:prstGeom prst="rect">
            <a:avLst/>
          </a:prstGeom>
          <a:noFill/>
          <a:ln/>
        </p:spPr>
        <p:txBody>
          <a:bodyPr wrap="square" lIns="0" tIns="0" rIns="0" bIns="0" rtlCol="0" anchor="t"/>
          <a:lstStyle/>
          <a:p>
            <a:pPr indent="0" marL="0">
              <a:buNone/>
            </a:pPr>
            <a:r>
              <a:rPr lang="en-US" sz="1700" b="1" dirty="0">
                <a:solidFill>
                  <a:schemeClr val="tx1"/>
                </a:solidFill>
              </a:rPr>
              <a:t>Easy to forge</a:t>
            </a:r>
            <a:endParaRPr lang="en-US" sz="1700" dirty="0"/>
          </a:p>
        </p:txBody>
      </p:sp>
      <p:sp>
        <p:nvSpPr>
          <p:cNvPr id="15" name="o_39"/>
          <p:cNvSpPr txBox="1"/>
          <p:nvPr/>
        </p:nvSpPr>
        <p:spPr>
          <a:xfrm>
            <a:off x="8686800" y="2834640"/>
            <a:ext cx="2651760" cy="685800"/>
          </a:xfrm>
          <a:prstGeom prst="rect">
            <a:avLst/>
          </a:prstGeom>
          <a:noFill/>
          <a:ln/>
        </p:spPr>
        <p:txBody>
          <a:bodyPr wrap="square" lIns="0" tIns="0" rIns="0" bIns="0" rtlCol="0" anchor="t"/>
          <a:lstStyle/>
          <a:p>
            <a:pPr indent="0" marL="0">
              <a:buNone/>
            </a:pPr>
            <a:r>
              <a:rPr lang="en-US" sz="1300" dirty="0">
                <a:solidFill>
                  <a:srgbClr val="5D647D"/>
                </a:solidFill>
              </a:rPr>
              <a:t>Scans and photocopies can be edited in minutes; receivers can't check them</a:t>
            </a:r>
            <a:endParaRPr lang="en-US" sz="1300" dirty="0"/>
          </a:p>
        </p:txBody>
      </p:sp>
      <p:sp>
        <p:nvSpPr>
          <p:cNvPr id="16" name="a_40"/>
          <p:cNvSpPr/>
          <p:nvPr/>
        </p:nvSpPr>
        <p:spPr>
          <a:xfrm>
            <a:off x="5074920" y="3794760"/>
            <a:ext cx="3108960" cy="2103120"/>
          </a:xfrm>
          <a:prstGeom prst="roundRect">
            <a:avLst>
              <a:gd name="adj" fmla="val 52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7" name="o_41"/>
          <p:cNvSpPr/>
          <p:nvPr/>
        </p:nvSpPr>
        <p:spPr>
          <a:xfrm>
            <a:off x="5349240" y="4069080"/>
            <a:ext cx="640080" cy="640080"/>
          </a:xfrm>
          <a:prstGeom prst="ellipse">
            <a:avLst/>
          </a:prstGeom>
          <a:solidFill>
            <a:schemeClr val="accent5"/>
          </a:solidFill>
          <a:ln/>
        </p:spPr>
      </p:sp>
      <p:pic>
        <p:nvPicPr>
          <p:cNvPr id="18" name="o_42_in" descr="preencoded.png">    </p:cNvPr>
          <p:cNvPicPr>
            <a:picLocks noChangeAspect="1"/>
          </p:cNvPicPr>
          <p:nvPr/>
        </p:nvPicPr>
        <p:blipFill>
          <a:blip r:embed="rId3"/>
          <a:stretch>
            <a:fillRect/>
          </a:stretch>
        </p:blipFill>
        <p:spPr>
          <a:xfrm>
            <a:off x="5502859" y="4222699"/>
            <a:ext cx="332842" cy="332842"/>
          </a:xfrm>
          <a:prstGeom prst="rect">
            <a:avLst/>
          </a:prstGeom>
        </p:spPr>
      </p:pic>
      <p:sp>
        <p:nvSpPr>
          <p:cNvPr id="19" name="o_43"/>
          <p:cNvSpPr txBox="1"/>
          <p:nvPr/>
        </p:nvSpPr>
        <p:spPr>
          <a:xfrm>
            <a:off x="5349240" y="4800600"/>
            <a:ext cx="2651760" cy="365760"/>
          </a:xfrm>
          <a:prstGeom prst="rect">
            <a:avLst/>
          </a:prstGeom>
          <a:noFill/>
          <a:ln/>
        </p:spPr>
        <p:txBody>
          <a:bodyPr wrap="square" lIns="0" tIns="0" rIns="0" bIns="0" rtlCol="0" anchor="t"/>
          <a:lstStyle/>
          <a:p>
            <a:pPr indent="0" marL="0">
              <a:buNone/>
            </a:pPr>
            <a:r>
              <a:rPr lang="en-US" sz="1700" b="1" dirty="0">
                <a:solidFill>
                  <a:schemeClr val="tx1"/>
                </a:solidFill>
              </a:rPr>
              <a:t>No consent or tracking</a:t>
            </a:r>
            <a:endParaRPr lang="en-US" sz="1700" dirty="0"/>
          </a:p>
        </p:txBody>
      </p:sp>
      <p:sp>
        <p:nvSpPr>
          <p:cNvPr id="20" name="o_44"/>
          <p:cNvSpPr txBox="1"/>
          <p:nvPr/>
        </p:nvSpPr>
        <p:spPr>
          <a:xfrm>
            <a:off x="5349240" y="5166360"/>
            <a:ext cx="2651760" cy="685800"/>
          </a:xfrm>
          <a:prstGeom prst="rect">
            <a:avLst/>
          </a:prstGeom>
          <a:noFill/>
          <a:ln/>
        </p:spPr>
        <p:txBody>
          <a:bodyPr wrap="square" lIns="0" tIns="0" rIns="0" bIns="0" rtlCol="0" anchor="t"/>
          <a:lstStyle/>
          <a:p>
            <a:pPr indent="0" marL="0">
              <a:buNone/>
            </a:pPr>
            <a:r>
              <a:rPr lang="en-US" sz="1300" dirty="0">
                <a:solidFill>
                  <a:srgbClr val="5D647D"/>
                </a:solidFill>
              </a:rPr>
              <a:t>No expiry, no view limit, no idea who looked at it</a:t>
            </a:r>
            <a:endParaRPr lang="en-US" sz="1300" dirty="0"/>
          </a:p>
        </p:txBody>
      </p:sp>
      <p:sp>
        <p:nvSpPr>
          <p:cNvPr id="21" name="a_45"/>
          <p:cNvSpPr/>
          <p:nvPr/>
        </p:nvSpPr>
        <p:spPr>
          <a:xfrm>
            <a:off x="8412480" y="3794760"/>
            <a:ext cx="3108960" cy="2103120"/>
          </a:xfrm>
          <a:prstGeom prst="roundRect">
            <a:avLst>
              <a:gd name="adj" fmla="val 52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2" name="o_46"/>
          <p:cNvSpPr/>
          <p:nvPr/>
        </p:nvSpPr>
        <p:spPr>
          <a:xfrm>
            <a:off x="8686800" y="4069080"/>
            <a:ext cx="640080" cy="640080"/>
          </a:xfrm>
          <a:prstGeom prst="ellipse">
            <a:avLst/>
          </a:prstGeom>
          <a:solidFill>
            <a:schemeClr val="accent3"/>
          </a:solidFill>
          <a:ln/>
        </p:spPr>
      </p:sp>
      <p:pic>
        <p:nvPicPr>
          <p:cNvPr id="23" name="o_47_in" descr="preencoded.png">    </p:cNvPr>
          <p:cNvPicPr>
            <a:picLocks noChangeAspect="1"/>
          </p:cNvPicPr>
          <p:nvPr/>
        </p:nvPicPr>
        <p:blipFill>
          <a:blip r:embed="rId4"/>
          <a:stretch>
            <a:fillRect/>
          </a:stretch>
        </p:blipFill>
        <p:spPr>
          <a:xfrm>
            <a:off x="8840419" y="4222699"/>
            <a:ext cx="332842" cy="332842"/>
          </a:xfrm>
          <a:prstGeom prst="rect">
            <a:avLst/>
          </a:prstGeom>
        </p:spPr>
      </p:pic>
      <p:sp>
        <p:nvSpPr>
          <p:cNvPr id="24" name="o_48"/>
          <p:cNvSpPr txBox="1"/>
          <p:nvPr/>
        </p:nvSpPr>
        <p:spPr>
          <a:xfrm>
            <a:off x="8686800" y="4800600"/>
            <a:ext cx="2651760" cy="365760"/>
          </a:xfrm>
          <a:prstGeom prst="rect">
            <a:avLst/>
          </a:prstGeom>
          <a:noFill/>
          <a:ln/>
        </p:spPr>
        <p:txBody>
          <a:bodyPr wrap="square" lIns="0" tIns="0" rIns="0" bIns="0" rtlCol="0" anchor="t"/>
          <a:lstStyle/>
          <a:p>
            <a:pPr indent="0" marL="0">
              <a:buNone/>
            </a:pPr>
            <a:r>
              <a:rPr lang="en-US" sz="1700" b="1" dirty="0">
                <a:solidFill>
                  <a:schemeClr val="tx1"/>
                </a:solidFill>
              </a:rPr>
              <a:t>No revocation</a:t>
            </a:r>
            <a:endParaRPr lang="en-US" sz="1700" dirty="0"/>
          </a:p>
        </p:txBody>
      </p:sp>
      <p:sp>
        <p:nvSpPr>
          <p:cNvPr id="25" name="o_49"/>
          <p:cNvSpPr txBox="1"/>
          <p:nvPr/>
        </p:nvSpPr>
        <p:spPr>
          <a:xfrm>
            <a:off x="8686800" y="5166360"/>
            <a:ext cx="2651760" cy="685800"/>
          </a:xfrm>
          <a:prstGeom prst="rect">
            <a:avLst/>
          </a:prstGeom>
          <a:noFill/>
          <a:ln/>
        </p:spPr>
        <p:txBody>
          <a:bodyPr wrap="square" lIns="0" tIns="0" rIns="0" bIns="0" rtlCol="0" anchor="t"/>
          <a:lstStyle/>
          <a:p>
            <a:pPr indent="0" marL="0">
              <a:buNone/>
            </a:pPr>
            <a:r>
              <a:rPr lang="en-US" sz="1300" dirty="0">
                <a:solidFill>
                  <a:srgbClr val="5D647D"/>
                </a:solidFill>
              </a:rPr>
              <a:t>A cancelled licence keeps "working" as long as a copy exists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ppt_x</p:attrName>
                                        </p:attrNameLst>
                                      </p:cBhvr>
                                      <p:tavLst>
                                        <p:tav tm="0">
                                          <p:val>
                                            <p:strVal val="#ppt_x"/>
                                          </p:val>
                                        </p:tav>
                                        <p:tav tm="100000">
                                          <p:val>
                                            <p:strVal val="#ppt_x"/>
                                          </p:val>
                                        </p:tav>
                                      </p:tavLst>
                                    </p:anim>
                                    <p:anim calcmode="lin" valueType="num">
                                      <p:cBhvr>
                                        <p:cTn id="15" dur="500" decel="100000" fill="hold"/>
                                        <p:tgtEl>
                                          <p:spTgt spid="4"/>
                                        </p:tgtEl>
                                        <p:attrNameLst>
                                          <p:attrName>ppt_y</p:attrName>
                                        </p:attrNameLst>
                                      </p:cBhvr>
                                      <p:tavLst>
                                        <p:tav tm="0">
                                          <p:val>
                                            <p:strVal val="#ppt_y+.04"/>
                                          </p:val>
                                        </p:tav>
                                        <p:tav tm="100000">
                                          <p:val>
                                            <p:strVal val="#ppt_y"/>
                                          </p:val>
                                        </p:tav>
                                      </p:tavLst>
                                    </p:anim>
                                  </p:childTnLst>
                                </p:cTn>
                              </p:par>
                            </p:childTnLst>
                          </p:cTn>
                        </p:par>
                        <p:par>
                          <p:cTn id="16" fill="hold">
                            <p:stCondLst>
                              <p:cond delay="700"/>
                            </p:stCondLst>
                            <p:childTnLst>
                              <p:par>
                                <p:cTn id="17" presetID="42"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4"/>
                                          </p:val>
                                        </p:tav>
                                        <p:tav tm="100000">
                                          <p:val>
                                            <p:strVal val="#ppt_y"/>
                                          </p:val>
                                        </p:tav>
                                      </p:tavLst>
                                    </p:anim>
                                  </p:childTnLst>
                                </p:cTn>
                              </p:par>
                            </p:childTnLst>
                          </p:cTn>
                        </p:par>
                        <p:par>
                          <p:cTn id="22" fill="hold">
                            <p:stCondLst>
                              <p:cond delay="1050"/>
                            </p:stCondLst>
                            <p:childTnLst>
                              <p:par>
                                <p:cTn id="23" presetID="42"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decel="100000" fill="hold"/>
                                        <p:tgtEl>
                                          <p:spTgt spid="6"/>
                                        </p:tgtEl>
                                        <p:attrNameLst>
                                          <p:attrName>ppt_x</p:attrName>
                                        </p:attrNameLst>
                                      </p:cBhvr>
                                      <p:tavLst>
                                        <p:tav tm="0">
                                          <p:val>
                                            <p:strVal val="#ppt_x"/>
                                          </p:val>
                                        </p:tav>
                                        <p:tav tm="100000">
                                          <p:val>
                                            <p:strVal val="#ppt_x"/>
                                          </p:val>
                                        </p:tav>
                                      </p:tavLst>
                                    </p:anim>
                                    <p:anim calcmode="lin" valueType="num">
                                      <p:cBhvr>
                                        <p:cTn id="27" dur="500" decel="100000" fill="hold"/>
                                        <p:tgtEl>
                                          <p:spTgt spid="6"/>
                                        </p:tgtEl>
                                        <p:attrNameLst>
                                          <p:attrName>ppt_y</p:attrName>
                                        </p:attrNameLst>
                                      </p:cBhvr>
                                      <p:tavLst>
                                        <p:tav tm="0">
                                          <p:val>
                                            <p:strVal val="#ppt_y+.04"/>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anim calcmode="lin" valueType="num">
                                      <p:cBhvr>
                                        <p:cTn id="31" dur="500" decel="100000" fill="hold"/>
                                        <p:tgtEl>
                                          <p:spTgt spid="7"/>
                                        </p:tgtEl>
                                        <p:attrNameLst>
                                          <p:attrName>ppt_x</p:attrName>
                                        </p:attrNameLst>
                                      </p:cBhvr>
                                      <p:tavLst>
                                        <p:tav tm="0">
                                          <p:val>
                                            <p:strVal val="#ppt_x"/>
                                          </p:val>
                                        </p:tav>
                                        <p:tav tm="100000">
                                          <p:val>
                                            <p:strVal val="#ppt_x"/>
                                          </p:val>
                                        </p:tav>
                                      </p:tavLst>
                                    </p:anim>
                                    <p:anim calcmode="lin" valueType="num">
                                      <p:cBhvr>
                                        <p:cTn id="32" dur="500" decel="100000" fill="hold"/>
                                        <p:tgtEl>
                                          <p:spTgt spid="7"/>
                                        </p:tgtEl>
                                        <p:attrNameLst>
                                          <p:attrName>ppt_y</p:attrName>
                                        </p:attrNameLst>
                                      </p:cBhvr>
                                      <p:tavLst>
                                        <p:tav tm="0">
                                          <p:val>
                                            <p:strVal val="#ppt_y+.04"/>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anim calcmode="lin" valueType="num">
                                      <p:cBhvr>
                                        <p:cTn id="36" dur="500" decel="100000" fill="hold"/>
                                        <p:tgtEl>
                                          <p:spTgt spid="8"/>
                                        </p:tgtEl>
                                        <p:attrNameLst>
                                          <p:attrName>ppt_x</p:attrName>
                                        </p:attrNameLst>
                                      </p:cBhvr>
                                      <p:tavLst>
                                        <p:tav tm="0">
                                          <p:val>
                                            <p:strVal val="#ppt_x"/>
                                          </p:val>
                                        </p:tav>
                                        <p:tav tm="100000">
                                          <p:val>
                                            <p:strVal val="#ppt_x"/>
                                          </p:val>
                                        </p:tav>
                                      </p:tavLst>
                                    </p:anim>
                                    <p:anim calcmode="lin" valueType="num">
                                      <p:cBhvr>
                                        <p:cTn id="37" dur="500" decel="100000" fill="hold"/>
                                        <p:tgtEl>
                                          <p:spTgt spid="8"/>
                                        </p:tgtEl>
                                        <p:attrNameLst>
                                          <p:attrName>ppt_y</p:attrName>
                                        </p:attrNameLst>
                                      </p:cBhvr>
                                      <p:tavLst>
                                        <p:tav tm="0">
                                          <p:val>
                                            <p:strVal val="#ppt_y+.04"/>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anim calcmode="lin" valueType="num">
                                      <p:cBhvr>
                                        <p:cTn id="41" dur="500" decel="100000" fill="hold"/>
                                        <p:tgtEl>
                                          <p:spTgt spid="9"/>
                                        </p:tgtEl>
                                        <p:attrNameLst>
                                          <p:attrName>ppt_x</p:attrName>
                                        </p:attrNameLst>
                                      </p:cBhvr>
                                      <p:tavLst>
                                        <p:tav tm="0">
                                          <p:val>
                                            <p:strVal val="#ppt_x"/>
                                          </p:val>
                                        </p:tav>
                                        <p:tav tm="100000">
                                          <p:val>
                                            <p:strVal val="#ppt_x"/>
                                          </p:val>
                                        </p:tav>
                                      </p:tavLst>
                                    </p:anim>
                                    <p:anim calcmode="lin" valueType="num">
                                      <p:cBhvr>
                                        <p:cTn id="42" dur="500" decel="100000" fill="hold"/>
                                        <p:tgtEl>
                                          <p:spTgt spid="9"/>
                                        </p:tgtEl>
                                        <p:attrNameLst>
                                          <p:attrName>ppt_y</p:attrName>
                                        </p:attrNameLst>
                                      </p:cBhvr>
                                      <p:tavLst>
                                        <p:tav tm="0">
                                          <p:val>
                                            <p:strVal val="#ppt_y+.04"/>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anim calcmode="lin" valueType="num">
                                      <p:cBhvr>
                                        <p:cTn id="46" dur="500" decel="100000" fill="hold"/>
                                        <p:tgtEl>
                                          <p:spTgt spid="10"/>
                                        </p:tgtEl>
                                        <p:attrNameLst>
                                          <p:attrName>ppt_x</p:attrName>
                                        </p:attrNameLst>
                                      </p:cBhvr>
                                      <p:tavLst>
                                        <p:tav tm="0">
                                          <p:val>
                                            <p:strVal val="#ppt_x"/>
                                          </p:val>
                                        </p:tav>
                                        <p:tav tm="100000">
                                          <p:val>
                                            <p:strVal val="#ppt_x"/>
                                          </p:val>
                                        </p:tav>
                                      </p:tavLst>
                                    </p:anim>
                                    <p:anim calcmode="lin" valueType="num">
                                      <p:cBhvr>
                                        <p:cTn id="47" dur="500" decel="100000" fill="hold"/>
                                        <p:tgtEl>
                                          <p:spTgt spid="10"/>
                                        </p:tgtEl>
                                        <p:attrNameLst>
                                          <p:attrName>ppt_y</p:attrName>
                                        </p:attrNameLst>
                                      </p:cBhvr>
                                      <p:tavLst>
                                        <p:tav tm="0">
                                          <p:val>
                                            <p:strVal val="#ppt_y+.04"/>
                                          </p:val>
                                        </p:tav>
                                        <p:tav tm="100000">
                                          <p:val>
                                            <p:strVal val="#ppt_y"/>
                                          </p:val>
                                        </p:tav>
                                      </p:tavLst>
                                    </p:anim>
                                  </p:childTnLst>
                                </p:cTn>
                              </p:par>
                            </p:childTnLst>
                          </p:cTn>
                        </p:par>
                        <p:par>
                          <p:cTn id="48" fill="hold">
                            <p:stCondLst>
                              <p:cond delay="1400"/>
                            </p:stCondLst>
                            <p:childTnLst>
                              <p:par>
                                <p:cTn id="49" presetID="42"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4"/>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4"/>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4"/>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4"/>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4"/>
                                          </p:val>
                                        </p:tav>
                                        <p:tav tm="100000">
                                          <p:val>
                                            <p:strVal val="#ppt_y"/>
                                          </p:val>
                                        </p:tav>
                                      </p:tavLst>
                                    </p:anim>
                                  </p:childTnLst>
                                </p:cTn>
                              </p:par>
                            </p:childTnLst>
                          </p:cTn>
                        </p:par>
                        <p:par>
                          <p:cTn id="74" fill="hold">
                            <p:stCondLst>
                              <p:cond delay="1750"/>
                            </p:stCondLst>
                            <p:childTnLst>
                              <p:par>
                                <p:cTn id="75" presetID="42" presetClass="entr" presetSubtype="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anim calcmode="lin" valueType="num">
                                      <p:cBhvr>
                                        <p:cTn id="78" dur="500" decel="100000" fill="hold"/>
                                        <p:tgtEl>
                                          <p:spTgt spid="16"/>
                                        </p:tgtEl>
                                        <p:attrNameLst>
                                          <p:attrName>ppt_x</p:attrName>
                                        </p:attrNameLst>
                                      </p:cBhvr>
                                      <p:tavLst>
                                        <p:tav tm="0">
                                          <p:val>
                                            <p:strVal val="#ppt_x"/>
                                          </p:val>
                                        </p:tav>
                                        <p:tav tm="100000">
                                          <p:val>
                                            <p:strVal val="#ppt_x"/>
                                          </p:val>
                                        </p:tav>
                                      </p:tavLst>
                                    </p:anim>
                                    <p:anim calcmode="lin" valueType="num">
                                      <p:cBhvr>
                                        <p:cTn id="79" dur="500" decel="100000" fill="hold"/>
                                        <p:tgtEl>
                                          <p:spTgt spid="16"/>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anim calcmode="lin" valueType="num">
                                      <p:cBhvr>
                                        <p:cTn id="83" dur="500" decel="100000" fill="hold"/>
                                        <p:tgtEl>
                                          <p:spTgt spid="17"/>
                                        </p:tgtEl>
                                        <p:attrNameLst>
                                          <p:attrName>ppt_x</p:attrName>
                                        </p:attrNameLst>
                                      </p:cBhvr>
                                      <p:tavLst>
                                        <p:tav tm="0">
                                          <p:val>
                                            <p:strVal val="#ppt_x"/>
                                          </p:val>
                                        </p:tav>
                                        <p:tav tm="100000">
                                          <p:val>
                                            <p:strVal val="#ppt_x"/>
                                          </p:val>
                                        </p:tav>
                                      </p:tavLst>
                                    </p:anim>
                                    <p:anim calcmode="lin" valueType="num">
                                      <p:cBhvr>
                                        <p:cTn id="84" dur="500" decel="100000" fill="hold"/>
                                        <p:tgtEl>
                                          <p:spTgt spid="17"/>
                                        </p:tgtEl>
                                        <p:attrNameLst>
                                          <p:attrName>ppt_y</p:attrName>
                                        </p:attrNameLst>
                                      </p:cBhvr>
                                      <p:tavLst>
                                        <p:tav tm="0">
                                          <p:val>
                                            <p:strVal val="#ppt_y+.04"/>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anim calcmode="lin" valueType="num">
                                      <p:cBhvr>
                                        <p:cTn id="88" dur="500" decel="100000" fill="hold"/>
                                        <p:tgtEl>
                                          <p:spTgt spid="18"/>
                                        </p:tgtEl>
                                        <p:attrNameLst>
                                          <p:attrName>ppt_x</p:attrName>
                                        </p:attrNameLst>
                                      </p:cBhvr>
                                      <p:tavLst>
                                        <p:tav tm="0">
                                          <p:val>
                                            <p:strVal val="#ppt_x"/>
                                          </p:val>
                                        </p:tav>
                                        <p:tav tm="100000">
                                          <p:val>
                                            <p:strVal val="#ppt_x"/>
                                          </p:val>
                                        </p:tav>
                                      </p:tavLst>
                                    </p:anim>
                                    <p:anim calcmode="lin" valueType="num">
                                      <p:cBhvr>
                                        <p:cTn id="89" dur="500" decel="100000" fill="hold"/>
                                        <p:tgtEl>
                                          <p:spTgt spid="18"/>
                                        </p:tgtEl>
                                        <p:attrNameLst>
                                          <p:attrName>ppt_y</p:attrName>
                                        </p:attrNameLst>
                                      </p:cBhvr>
                                      <p:tavLst>
                                        <p:tav tm="0">
                                          <p:val>
                                            <p:strVal val="#ppt_y+.04"/>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anim calcmode="lin" valueType="num">
                                      <p:cBhvr>
                                        <p:cTn id="93" dur="500" decel="100000" fill="hold"/>
                                        <p:tgtEl>
                                          <p:spTgt spid="19"/>
                                        </p:tgtEl>
                                        <p:attrNameLst>
                                          <p:attrName>ppt_x</p:attrName>
                                        </p:attrNameLst>
                                      </p:cBhvr>
                                      <p:tavLst>
                                        <p:tav tm="0">
                                          <p:val>
                                            <p:strVal val="#ppt_x"/>
                                          </p:val>
                                        </p:tav>
                                        <p:tav tm="100000">
                                          <p:val>
                                            <p:strVal val="#ppt_x"/>
                                          </p:val>
                                        </p:tav>
                                      </p:tavLst>
                                    </p:anim>
                                    <p:anim calcmode="lin" valueType="num">
                                      <p:cBhvr>
                                        <p:cTn id="94" dur="500" decel="100000" fill="hold"/>
                                        <p:tgtEl>
                                          <p:spTgt spid="19"/>
                                        </p:tgtEl>
                                        <p:attrNameLst>
                                          <p:attrName>ppt_y</p:attrName>
                                        </p:attrNameLst>
                                      </p:cBhvr>
                                      <p:tavLst>
                                        <p:tav tm="0">
                                          <p:val>
                                            <p:strVal val="#ppt_y+.04"/>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500"/>
                                        <p:tgtEl>
                                          <p:spTgt spid="20"/>
                                        </p:tgtEl>
                                      </p:cBhvr>
                                    </p:animEffect>
                                    <p:anim calcmode="lin" valueType="num">
                                      <p:cBhvr>
                                        <p:cTn id="98" dur="500" decel="100000" fill="hold"/>
                                        <p:tgtEl>
                                          <p:spTgt spid="20"/>
                                        </p:tgtEl>
                                        <p:attrNameLst>
                                          <p:attrName>ppt_x</p:attrName>
                                        </p:attrNameLst>
                                      </p:cBhvr>
                                      <p:tavLst>
                                        <p:tav tm="0">
                                          <p:val>
                                            <p:strVal val="#ppt_x"/>
                                          </p:val>
                                        </p:tav>
                                        <p:tav tm="100000">
                                          <p:val>
                                            <p:strVal val="#ppt_x"/>
                                          </p:val>
                                        </p:tav>
                                      </p:tavLst>
                                    </p:anim>
                                    <p:anim calcmode="lin" valueType="num">
                                      <p:cBhvr>
                                        <p:cTn id="99" dur="500" decel="100000" fill="hold"/>
                                        <p:tgtEl>
                                          <p:spTgt spid="20"/>
                                        </p:tgtEl>
                                        <p:attrNameLst>
                                          <p:attrName>ppt_y</p:attrName>
                                        </p:attrNameLst>
                                      </p:cBhvr>
                                      <p:tavLst>
                                        <p:tav tm="0">
                                          <p:val>
                                            <p:strVal val="#ppt_y+.04"/>
                                          </p:val>
                                        </p:tav>
                                        <p:tav tm="100000">
                                          <p:val>
                                            <p:strVal val="#ppt_y"/>
                                          </p:val>
                                        </p:tav>
                                      </p:tavLst>
                                    </p:anim>
                                  </p:childTnLst>
                                </p:cTn>
                              </p:par>
                            </p:childTnLst>
                          </p:cTn>
                        </p:par>
                        <p:par>
                          <p:cTn id="100" fill="hold">
                            <p:stCondLst>
                              <p:cond delay="2100"/>
                            </p:stCondLst>
                            <p:childTnLst>
                              <p:par>
                                <p:cTn id="101" presetID="42" presetClass="entr" presetSubtype="0" fill="hold" grpId="0" nodeType="after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500"/>
                                        <p:tgtEl>
                                          <p:spTgt spid="21"/>
                                        </p:tgtEl>
                                      </p:cBhvr>
                                    </p:animEffect>
                                    <p:anim calcmode="lin" valueType="num">
                                      <p:cBhvr>
                                        <p:cTn id="104" dur="500" decel="100000" fill="hold"/>
                                        <p:tgtEl>
                                          <p:spTgt spid="21"/>
                                        </p:tgtEl>
                                        <p:attrNameLst>
                                          <p:attrName>ppt_x</p:attrName>
                                        </p:attrNameLst>
                                      </p:cBhvr>
                                      <p:tavLst>
                                        <p:tav tm="0">
                                          <p:val>
                                            <p:strVal val="#ppt_x"/>
                                          </p:val>
                                        </p:tav>
                                        <p:tav tm="100000">
                                          <p:val>
                                            <p:strVal val="#ppt_x"/>
                                          </p:val>
                                        </p:tav>
                                      </p:tavLst>
                                    </p:anim>
                                    <p:anim calcmode="lin" valueType="num">
                                      <p:cBhvr>
                                        <p:cTn id="105" dur="500" decel="100000" fill="hold"/>
                                        <p:tgtEl>
                                          <p:spTgt spid="21"/>
                                        </p:tgtEl>
                                        <p:attrNameLst>
                                          <p:attrName>ppt_y</p:attrName>
                                        </p:attrNameLst>
                                      </p:cBhvr>
                                      <p:tavLst>
                                        <p:tav tm="0">
                                          <p:val>
                                            <p:strVal val="#ppt_y+.04"/>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500"/>
                                        <p:tgtEl>
                                          <p:spTgt spid="22"/>
                                        </p:tgtEl>
                                      </p:cBhvr>
                                    </p:animEffect>
                                    <p:anim calcmode="lin" valueType="num">
                                      <p:cBhvr>
                                        <p:cTn id="109" dur="500" decel="100000" fill="hold"/>
                                        <p:tgtEl>
                                          <p:spTgt spid="22"/>
                                        </p:tgtEl>
                                        <p:attrNameLst>
                                          <p:attrName>ppt_x</p:attrName>
                                        </p:attrNameLst>
                                      </p:cBhvr>
                                      <p:tavLst>
                                        <p:tav tm="0">
                                          <p:val>
                                            <p:strVal val="#ppt_x"/>
                                          </p:val>
                                        </p:tav>
                                        <p:tav tm="100000">
                                          <p:val>
                                            <p:strVal val="#ppt_x"/>
                                          </p:val>
                                        </p:tav>
                                      </p:tavLst>
                                    </p:anim>
                                    <p:anim calcmode="lin" valueType="num">
                                      <p:cBhvr>
                                        <p:cTn id="110" dur="500" decel="100000" fill="hold"/>
                                        <p:tgtEl>
                                          <p:spTgt spid="22"/>
                                        </p:tgtEl>
                                        <p:attrNameLst>
                                          <p:attrName>ppt_y</p:attrName>
                                        </p:attrNameLst>
                                      </p:cBhvr>
                                      <p:tavLst>
                                        <p:tav tm="0">
                                          <p:val>
                                            <p:strVal val="#ppt_y+.04"/>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500"/>
                                        <p:tgtEl>
                                          <p:spTgt spid="23"/>
                                        </p:tgtEl>
                                      </p:cBhvr>
                                    </p:animEffect>
                                    <p:anim calcmode="lin" valueType="num">
                                      <p:cBhvr>
                                        <p:cTn id="114" dur="500" decel="100000" fill="hold"/>
                                        <p:tgtEl>
                                          <p:spTgt spid="23"/>
                                        </p:tgtEl>
                                        <p:attrNameLst>
                                          <p:attrName>ppt_x</p:attrName>
                                        </p:attrNameLst>
                                      </p:cBhvr>
                                      <p:tavLst>
                                        <p:tav tm="0">
                                          <p:val>
                                            <p:strVal val="#ppt_x"/>
                                          </p:val>
                                        </p:tav>
                                        <p:tav tm="100000">
                                          <p:val>
                                            <p:strVal val="#ppt_x"/>
                                          </p:val>
                                        </p:tav>
                                      </p:tavLst>
                                    </p:anim>
                                    <p:anim calcmode="lin" valueType="num">
                                      <p:cBhvr>
                                        <p:cTn id="115" dur="500" decel="100000" fill="hold"/>
                                        <p:tgtEl>
                                          <p:spTgt spid="23"/>
                                        </p:tgtEl>
                                        <p:attrNameLst>
                                          <p:attrName>ppt_y</p:attrName>
                                        </p:attrNameLst>
                                      </p:cBhvr>
                                      <p:tavLst>
                                        <p:tav tm="0">
                                          <p:val>
                                            <p:strVal val="#ppt_y+.04"/>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24"/>
                                        </p:tgtEl>
                                        <p:attrNameLst>
                                          <p:attrName>style.visibility</p:attrName>
                                        </p:attrNameLst>
                                      </p:cBhvr>
                                      <p:to>
                                        <p:strVal val="visible"/>
                                      </p:to>
                                    </p:set>
                                    <p:animEffect transition="in" filter="fade">
                                      <p:cBhvr>
                                        <p:cTn id="118" dur="500"/>
                                        <p:tgtEl>
                                          <p:spTgt spid="24"/>
                                        </p:tgtEl>
                                      </p:cBhvr>
                                    </p:animEffect>
                                    <p:anim calcmode="lin" valueType="num">
                                      <p:cBhvr>
                                        <p:cTn id="119" dur="500" decel="100000" fill="hold"/>
                                        <p:tgtEl>
                                          <p:spTgt spid="24"/>
                                        </p:tgtEl>
                                        <p:attrNameLst>
                                          <p:attrName>ppt_x</p:attrName>
                                        </p:attrNameLst>
                                      </p:cBhvr>
                                      <p:tavLst>
                                        <p:tav tm="0">
                                          <p:val>
                                            <p:strVal val="#ppt_x"/>
                                          </p:val>
                                        </p:tav>
                                        <p:tav tm="100000">
                                          <p:val>
                                            <p:strVal val="#ppt_x"/>
                                          </p:val>
                                        </p:tav>
                                      </p:tavLst>
                                    </p:anim>
                                    <p:anim calcmode="lin" valueType="num">
                                      <p:cBhvr>
                                        <p:cTn id="120" dur="500" decel="100000" fill="hold"/>
                                        <p:tgtEl>
                                          <p:spTgt spid="24"/>
                                        </p:tgtEl>
                                        <p:attrNameLst>
                                          <p:attrName>ppt_y</p:attrName>
                                        </p:attrNameLst>
                                      </p:cBhvr>
                                      <p:tavLst>
                                        <p:tav tm="0">
                                          <p:val>
                                            <p:strVal val="#ppt_y+.04"/>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500"/>
                                        <p:tgtEl>
                                          <p:spTgt spid="25"/>
                                        </p:tgtEl>
                                      </p:cBhvr>
                                    </p:animEffect>
                                    <p:anim calcmode="lin" valueType="num">
                                      <p:cBhvr>
                                        <p:cTn id="124" dur="500" decel="100000" fill="hold"/>
                                        <p:tgtEl>
                                          <p:spTgt spid="25"/>
                                        </p:tgtEl>
                                        <p:attrNameLst>
                                          <p:attrName>ppt_x</p:attrName>
                                        </p:attrNameLst>
                                      </p:cBhvr>
                                      <p:tavLst>
                                        <p:tav tm="0">
                                          <p:val>
                                            <p:strVal val="#ppt_x"/>
                                          </p:val>
                                        </p:tav>
                                        <p:tav tm="100000">
                                          <p:val>
                                            <p:strVal val="#ppt_x"/>
                                          </p:val>
                                        </p:tav>
                                      </p:tavLst>
                                    </p:anim>
                                    <p:anim calcmode="lin" valueType="num">
                                      <p:cBhvr>
                                        <p:cTn id="125" dur="500" decel="100000" fill="hold"/>
                                        <p:tgtEl>
                                          <p:spTgt spid="2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The idea: share facts, not photocopies</a:t>
            </a:r>
            <a:endParaRPr lang="en-US" sz="3200" dirty="0"/>
          </a:p>
        </p:txBody>
      </p:sp>
      <p:sp>
        <p:nvSpPr>
          <p:cNvPr id="3" name="a_50"/>
          <p:cNvSpPr/>
          <p:nvPr/>
        </p:nvSpPr>
        <p:spPr>
          <a:xfrm>
            <a:off x="548640" y="1600200"/>
            <a:ext cx="3017520" cy="3291840"/>
          </a:xfrm>
          <a:prstGeom prst="roundRect">
            <a:avLst>
              <a:gd name="adj" fmla="val 363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51"/>
          <p:cNvSpPr/>
          <p:nvPr/>
        </p:nvSpPr>
        <p:spPr>
          <a:xfrm>
            <a:off x="1554480" y="1874520"/>
            <a:ext cx="1005840" cy="1005840"/>
          </a:xfrm>
          <a:prstGeom prst="ellipse">
            <a:avLst/>
          </a:prstGeom>
          <a:solidFill>
            <a:schemeClr val="accent1"/>
          </a:solidFill>
          <a:ln/>
        </p:spPr>
      </p:sp>
      <p:pic>
        <p:nvPicPr>
          <p:cNvPr id="5" name="o_52_in" descr="preencoded.png">    </p:cNvPr>
          <p:cNvPicPr>
            <a:picLocks noChangeAspect="1"/>
          </p:cNvPicPr>
          <p:nvPr/>
        </p:nvPicPr>
        <p:blipFill>
          <a:blip r:embed="rId1"/>
          <a:stretch>
            <a:fillRect/>
          </a:stretch>
        </p:blipFill>
        <p:spPr>
          <a:xfrm>
            <a:off x="1795882" y="2115922"/>
            <a:ext cx="523037" cy="523037"/>
          </a:xfrm>
          <a:prstGeom prst="rect">
            <a:avLst/>
          </a:prstGeom>
        </p:spPr>
      </p:pic>
      <p:sp>
        <p:nvSpPr>
          <p:cNvPr id="6" name="o_53"/>
          <p:cNvSpPr txBox="1"/>
          <p:nvPr/>
        </p:nvSpPr>
        <p:spPr>
          <a:xfrm>
            <a:off x="548640" y="3017520"/>
            <a:ext cx="3017520" cy="411480"/>
          </a:xfrm>
          <a:prstGeom prst="rect">
            <a:avLst/>
          </a:prstGeom>
          <a:noFill/>
          <a:ln/>
        </p:spPr>
        <p:txBody>
          <a:bodyPr wrap="square" lIns="0" tIns="0" rIns="0" bIns="0" rtlCol="0" anchor="t"/>
          <a:lstStyle/>
          <a:p>
            <a:pPr algn="ctr" indent="0" marL="0">
              <a:buNone/>
            </a:pPr>
            <a:r>
              <a:rPr lang="en-US" sz="2200" b="1" dirty="0">
                <a:solidFill>
                  <a:schemeClr val="tx1"/>
                </a:solidFill>
              </a:rPr>
              <a:t>Issuer</a:t>
            </a:r>
            <a:endParaRPr lang="en-US" sz="2200" dirty="0"/>
          </a:p>
        </p:txBody>
      </p:sp>
      <p:sp>
        <p:nvSpPr>
          <p:cNvPr id="7" name="o_54"/>
          <p:cNvSpPr txBox="1"/>
          <p:nvPr/>
        </p:nvSpPr>
        <p:spPr>
          <a:xfrm>
            <a:off x="548640" y="3429000"/>
            <a:ext cx="3017520" cy="320040"/>
          </a:xfrm>
          <a:prstGeom prst="rect">
            <a:avLst/>
          </a:prstGeom>
          <a:noFill/>
          <a:ln/>
        </p:spPr>
        <p:txBody>
          <a:bodyPr wrap="square" lIns="0" tIns="0" rIns="0" bIns="0" rtlCol="0" anchor="t"/>
          <a:lstStyle/>
          <a:p>
            <a:pPr algn="ctr" indent="0" marL="0">
              <a:buNone/>
            </a:pPr>
            <a:r>
              <a:rPr lang="en-US" sz="1300" dirty="0">
                <a:solidFill>
                  <a:srgbClr val="5D647D"/>
                </a:solidFill>
              </a:rPr>
              <a:t>Govt. office, college, RTO</a:t>
            </a:r>
            <a:endParaRPr lang="en-US" sz="1300" dirty="0"/>
          </a:p>
        </p:txBody>
      </p:sp>
      <p:sp>
        <p:nvSpPr>
          <p:cNvPr id="8" name="o_55"/>
          <p:cNvSpPr txBox="1"/>
          <p:nvPr/>
        </p:nvSpPr>
        <p:spPr>
          <a:xfrm>
            <a:off x="777240" y="3840480"/>
            <a:ext cx="2560320" cy="822960"/>
          </a:xfrm>
          <a:prstGeom prst="rect">
            <a:avLst/>
          </a:prstGeom>
          <a:noFill/>
          <a:ln/>
        </p:spPr>
        <p:txBody>
          <a:bodyPr wrap="square" lIns="0" tIns="0" rIns="0" bIns="0" rtlCol="0" anchor="t"/>
          <a:lstStyle/>
          <a:p>
            <a:pPr algn="ctr" indent="0" marL="0">
              <a:buNone/>
            </a:pPr>
            <a:r>
              <a:rPr lang="en-US" sz="1400" dirty="0">
                <a:solidFill>
                  <a:schemeClr val="tx1"/>
                </a:solidFill>
              </a:rPr>
              <a:t>Signs credentials with its private key (ECDSA)</a:t>
            </a:r>
            <a:endParaRPr lang="en-US" sz="1400" dirty="0"/>
          </a:p>
        </p:txBody>
      </p:sp>
      <p:sp>
        <p:nvSpPr>
          <p:cNvPr id="9" name="a_56"/>
          <p:cNvSpPr/>
          <p:nvPr/>
        </p:nvSpPr>
        <p:spPr>
          <a:xfrm>
            <a:off x="3657600" y="3246120"/>
            <a:ext cx="731520" cy="0"/>
          </a:xfrm>
          <a:prstGeom prst="line">
            <a:avLst/>
          </a:prstGeom>
          <a:noFill/>
          <a:ln w="25400">
            <a:solidFill>
              <a:srgbClr val="5D647D"/>
            </a:solidFill>
            <a:prstDash val="solid"/>
            <a:tailEnd type="triangle"/>
          </a:ln>
        </p:spPr>
      </p:sp>
      <p:sp>
        <p:nvSpPr>
          <p:cNvPr id="10" name="o_57"/>
          <p:cNvSpPr txBox="1"/>
          <p:nvPr/>
        </p:nvSpPr>
        <p:spPr>
          <a:xfrm>
            <a:off x="3566160" y="2606040"/>
            <a:ext cx="914400" cy="548640"/>
          </a:xfrm>
          <a:prstGeom prst="rect">
            <a:avLst/>
          </a:prstGeom>
          <a:noFill/>
          <a:ln/>
        </p:spPr>
        <p:txBody>
          <a:bodyPr wrap="square" lIns="0" tIns="0" rIns="0" bIns="0" rtlCol="0" anchor="b"/>
          <a:lstStyle/>
          <a:p>
            <a:pPr algn="ctr" indent="0" marL="0">
              <a:buNone/>
            </a:pPr>
            <a:r>
              <a:rPr lang="en-US" sz="1100" dirty="0">
                <a:solidFill>
                  <a:srgbClr val="5D647D"/>
                </a:solidFill>
              </a:rPr>
              <a:t>signed</a:t>
            </a:r>
            <a:endParaRPr lang="en-US" sz="1100" dirty="0"/>
          </a:p>
          <a:p>
            <a:pPr algn="ctr" indent="0" marL="0">
              <a:buNone/>
            </a:pPr>
            <a:r>
              <a:rPr lang="en-US" sz="1100" dirty="0">
                <a:solidFill>
                  <a:srgbClr val="5D647D"/>
                </a:solidFill>
              </a:rPr>
              <a:t>credential</a:t>
            </a:r>
            <a:endParaRPr lang="en-US" sz="1100" dirty="0"/>
          </a:p>
        </p:txBody>
      </p:sp>
      <p:sp>
        <p:nvSpPr>
          <p:cNvPr id="11" name="a_58"/>
          <p:cNvSpPr/>
          <p:nvPr/>
        </p:nvSpPr>
        <p:spPr>
          <a:xfrm>
            <a:off x="4480560" y="1600200"/>
            <a:ext cx="3017520" cy="3291840"/>
          </a:xfrm>
          <a:prstGeom prst="roundRect">
            <a:avLst>
              <a:gd name="adj" fmla="val 363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2" name="o_59"/>
          <p:cNvSpPr/>
          <p:nvPr/>
        </p:nvSpPr>
        <p:spPr>
          <a:xfrm>
            <a:off x="5486400" y="1874520"/>
            <a:ext cx="1005840" cy="1005840"/>
          </a:xfrm>
          <a:prstGeom prst="ellipse">
            <a:avLst/>
          </a:prstGeom>
          <a:solidFill>
            <a:schemeClr val="accent2"/>
          </a:solidFill>
          <a:ln/>
        </p:spPr>
      </p:sp>
      <p:pic>
        <p:nvPicPr>
          <p:cNvPr id="13" name="o_60_in" descr="preencoded.png">    </p:cNvPr>
          <p:cNvPicPr>
            <a:picLocks noChangeAspect="1"/>
          </p:cNvPicPr>
          <p:nvPr/>
        </p:nvPicPr>
        <p:blipFill>
          <a:blip r:embed="rId2"/>
          <a:stretch>
            <a:fillRect/>
          </a:stretch>
        </p:blipFill>
        <p:spPr>
          <a:xfrm>
            <a:off x="5727802" y="2115922"/>
            <a:ext cx="523037" cy="523037"/>
          </a:xfrm>
          <a:prstGeom prst="rect">
            <a:avLst/>
          </a:prstGeom>
        </p:spPr>
      </p:pic>
      <p:sp>
        <p:nvSpPr>
          <p:cNvPr id="14" name="o_61"/>
          <p:cNvSpPr txBox="1"/>
          <p:nvPr/>
        </p:nvSpPr>
        <p:spPr>
          <a:xfrm>
            <a:off x="4480560" y="3017520"/>
            <a:ext cx="3017520" cy="411480"/>
          </a:xfrm>
          <a:prstGeom prst="rect">
            <a:avLst/>
          </a:prstGeom>
          <a:noFill/>
          <a:ln/>
        </p:spPr>
        <p:txBody>
          <a:bodyPr wrap="square" lIns="0" tIns="0" rIns="0" bIns="0" rtlCol="0" anchor="t"/>
          <a:lstStyle/>
          <a:p>
            <a:pPr algn="ctr" indent="0" marL="0">
              <a:buNone/>
            </a:pPr>
            <a:r>
              <a:rPr lang="en-US" sz="2200" b="1" dirty="0">
                <a:solidFill>
                  <a:schemeClr val="tx1"/>
                </a:solidFill>
              </a:rPr>
              <a:t>Holder</a:t>
            </a:r>
            <a:endParaRPr lang="en-US" sz="2200" dirty="0"/>
          </a:p>
        </p:txBody>
      </p:sp>
      <p:sp>
        <p:nvSpPr>
          <p:cNvPr id="15" name="o_62"/>
          <p:cNvSpPr txBox="1"/>
          <p:nvPr/>
        </p:nvSpPr>
        <p:spPr>
          <a:xfrm>
            <a:off x="4480560" y="3429000"/>
            <a:ext cx="3017520" cy="320040"/>
          </a:xfrm>
          <a:prstGeom prst="rect">
            <a:avLst/>
          </a:prstGeom>
          <a:noFill/>
          <a:ln/>
        </p:spPr>
        <p:txBody>
          <a:bodyPr wrap="square" lIns="0" tIns="0" rIns="0" bIns="0" rtlCol="0" anchor="t"/>
          <a:lstStyle/>
          <a:p>
            <a:pPr algn="ctr" indent="0" marL="0">
              <a:buNone/>
            </a:pPr>
            <a:r>
              <a:rPr lang="en-US" sz="1300" dirty="0">
                <a:solidFill>
                  <a:srgbClr val="5D647D"/>
                </a:solidFill>
              </a:rPr>
              <a:t>You, in your wallet</a:t>
            </a:r>
            <a:endParaRPr lang="en-US" sz="1300" dirty="0"/>
          </a:p>
        </p:txBody>
      </p:sp>
      <p:sp>
        <p:nvSpPr>
          <p:cNvPr id="16" name="o_63"/>
          <p:cNvSpPr txBox="1"/>
          <p:nvPr/>
        </p:nvSpPr>
        <p:spPr>
          <a:xfrm>
            <a:off x="4709160" y="3840480"/>
            <a:ext cx="2560320" cy="822960"/>
          </a:xfrm>
          <a:prstGeom prst="rect">
            <a:avLst/>
          </a:prstGeom>
          <a:noFill/>
          <a:ln/>
        </p:spPr>
        <p:txBody>
          <a:bodyPr wrap="square" lIns="0" tIns="0" rIns="0" bIns="0" rtlCol="0" anchor="t"/>
          <a:lstStyle/>
          <a:p>
            <a:pPr algn="ctr" indent="0" marL="0">
              <a:buNone/>
            </a:pPr>
            <a:r>
              <a:rPr lang="en-US" sz="1400" dirty="0">
                <a:solidFill>
                  <a:schemeClr val="tx1"/>
                </a:solidFill>
              </a:rPr>
              <a:t>Keeps them encrypted and chooses what to reveal</a:t>
            </a:r>
            <a:endParaRPr lang="en-US" sz="1400" dirty="0"/>
          </a:p>
        </p:txBody>
      </p:sp>
      <p:sp>
        <p:nvSpPr>
          <p:cNvPr id="17" name="a_64"/>
          <p:cNvSpPr/>
          <p:nvPr/>
        </p:nvSpPr>
        <p:spPr>
          <a:xfrm>
            <a:off x="7589520" y="3246120"/>
            <a:ext cx="731520" cy="0"/>
          </a:xfrm>
          <a:prstGeom prst="line">
            <a:avLst/>
          </a:prstGeom>
          <a:noFill/>
          <a:ln w="25400">
            <a:solidFill>
              <a:srgbClr val="5D647D"/>
            </a:solidFill>
            <a:prstDash val="solid"/>
            <a:tailEnd type="triangle"/>
          </a:ln>
        </p:spPr>
      </p:sp>
      <p:sp>
        <p:nvSpPr>
          <p:cNvPr id="18" name="o_65"/>
          <p:cNvSpPr txBox="1"/>
          <p:nvPr/>
        </p:nvSpPr>
        <p:spPr>
          <a:xfrm>
            <a:off x="7498080" y="2606040"/>
            <a:ext cx="914400" cy="548640"/>
          </a:xfrm>
          <a:prstGeom prst="rect">
            <a:avLst/>
          </a:prstGeom>
          <a:noFill/>
          <a:ln/>
        </p:spPr>
        <p:txBody>
          <a:bodyPr wrap="square" lIns="0" tIns="0" rIns="0" bIns="0" rtlCol="0" anchor="b"/>
          <a:lstStyle/>
          <a:p>
            <a:pPr algn="ctr" indent="0" marL="0">
              <a:buNone/>
            </a:pPr>
            <a:r>
              <a:rPr lang="en-US" sz="1100" dirty="0">
                <a:solidFill>
                  <a:srgbClr val="5D647D"/>
                </a:solidFill>
              </a:rPr>
              <a:t>chosen</a:t>
            </a:r>
            <a:endParaRPr lang="en-US" sz="1100" dirty="0"/>
          </a:p>
          <a:p>
            <a:pPr algn="ctr" indent="0" marL="0">
              <a:buNone/>
            </a:pPr>
            <a:r>
              <a:rPr lang="en-US" sz="1100" dirty="0">
                <a:solidFill>
                  <a:srgbClr val="5D647D"/>
                </a:solidFill>
              </a:rPr>
              <a:t>details</a:t>
            </a:r>
            <a:endParaRPr lang="en-US" sz="1100" dirty="0"/>
          </a:p>
        </p:txBody>
      </p:sp>
      <p:sp>
        <p:nvSpPr>
          <p:cNvPr id="19" name="a_66"/>
          <p:cNvSpPr/>
          <p:nvPr/>
        </p:nvSpPr>
        <p:spPr>
          <a:xfrm>
            <a:off x="8412480" y="1600200"/>
            <a:ext cx="3017520" cy="3291840"/>
          </a:xfrm>
          <a:prstGeom prst="roundRect">
            <a:avLst>
              <a:gd name="adj" fmla="val 363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0" name="o_67"/>
          <p:cNvSpPr/>
          <p:nvPr/>
        </p:nvSpPr>
        <p:spPr>
          <a:xfrm>
            <a:off x="9418320" y="1874520"/>
            <a:ext cx="1005840" cy="1005840"/>
          </a:xfrm>
          <a:prstGeom prst="ellipse">
            <a:avLst/>
          </a:prstGeom>
          <a:solidFill>
            <a:schemeClr val="accent3"/>
          </a:solidFill>
          <a:ln/>
        </p:spPr>
      </p:sp>
      <p:pic>
        <p:nvPicPr>
          <p:cNvPr id="21" name="o_68_in" descr="preencoded.png">    </p:cNvPr>
          <p:cNvPicPr>
            <a:picLocks noChangeAspect="1"/>
          </p:cNvPicPr>
          <p:nvPr/>
        </p:nvPicPr>
        <p:blipFill>
          <a:blip r:embed="rId3"/>
          <a:stretch>
            <a:fillRect/>
          </a:stretch>
        </p:blipFill>
        <p:spPr>
          <a:xfrm>
            <a:off x="9659722" y="2115922"/>
            <a:ext cx="523037" cy="523037"/>
          </a:xfrm>
          <a:prstGeom prst="rect">
            <a:avLst/>
          </a:prstGeom>
        </p:spPr>
      </p:pic>
      <p:sp>
        <p:nvSpPr>
          <p:cNvPr id="22" name="o_69"/>
          <p:cNvSpPr txBox="1"/>
          <p:nvPr/>
        </p:nvSpPr>
        <p:spPr>
          <a:xfrm>
            <a:off x="8412480" y="3017520"/>
            <a:ext cx="3017520" cy="411480"/>
          </a:xfrm>
          <a:prstGeom prst="rect">
            <a:avLst/>
          </a:prstGeom>
          <a:noFill/>
          <a:ln/>
        </p:spPr>
        <p:txBody>
          <a:bodyPr wrap="square" lIns="0" tIns="0" rIns="0" bIns="0" rtlCol="0" anchor="t"/>
          <a:lstStyle/>
          <a:p>
            <a:pPr algn="ctr" indent="0" marL="0">
              <a:buNone/>
            </a:pPr>
            <a:r>
              <a:rPr lang="en-US" sz="2200" b="1" dirty="0">
                <a:solidFill>
                  <a:schemeClr val="tx1"/>
                </a:solidFill>
              </a:rPr>
              <a:t>Verifier</a:t>
            </a:r>
            <a:endParaRPr lang="en-US" sz="2200" dirty="0"/>
          </a:p>
        </p:txBody>
      </p:sp>
      <p:sp>
        <p:nvSpPr>
          <p:cNvPr id="23" name="o_70"/>
          <p:cNvSpPr txBox="1"/>
          <p:nvPr/>
        </p:nvSpPr>
        <p:spPr>
          <a:xfrm>
            <a:off x="8412480" y="3429000"/>
            <a:ext cx="3017520" cy="320040"/>
          </a:xfrm>
          <a:prstGeom prst="rect">
            <a:avLst/>
          </a:prstGeom>
          <a:noFill/>
          <a:ln/>
        </p:spPr>
        <p:txBody>
          <a:bodyPr wrap="square" lIns="0" tIns="0" rIns="0" bIns="0" rtlCol="0" anchor="t"/>
          <a:lstStyle/>
          <a:p>
            <a:pPr algn="ctr" indent="0" marL="0">
              <a:buNone/>
            </a:pPr>
            <a:r>
              <a:rPr lang="en-US" sz="1300" dirty="0">
                <a:solidFill>
                  <a:srgbClr val="5D647D"/>
                </a:solidFill>
              </a:rPr>
              <a:t>Bank, cinema, employer</a:t>
            </a:r>
            <a:endParaRPr lang="en-US" sz="1300" dirty="0"/>
          </a:p>
        </p:txBody>
      </p:sp>
      <p:sp>
        <p:nvSpPr>
          <p:cNvPr id="24" name="o_71"/>
          <p:cNvSpPr txBox="1"/>
          <p:nvPr/>
        </p:nvSpPr>
        <p:spPr>
          <a:xfrm>
            <a:off x="8641080" y="3840480"/>
            <a:ext cx="2560320" cy="822960"/>
          </a:xfrm>
          <a:prstGeom prst="rect">
            <a:avLst/>
          </a:prstGeom>
          <a:noFill/>
          <a:ln/>
        </p:spPr>
        <p:txBody>
          <a:bodyPr wrap="square" lIns="0" tIns="0" rIns="0" bIns="0" rtlCol="0" anchor="t"/>
          <a:lstStyle/>
          <a:p>
            <a:pPr algn="ctr" indent="0" marL="0">
              <a:buNone/>
            </a:pPr>
            <a:r>
              <a:rPr lang="en-US" sz="1400" dirty="0">
                <a:solidFill>
                  <a:schemeClr val="tx1"/>
                </a:solidFill>
              </a:rPr>
              <a:t>Checks signatures in seconds, no account needed</a:t>
            </a:r>
            <a:endParaRPr lang="en-US" sz="1400" dirty="0"/>
          </a:p>
        </p:txBody>
      </p:sp>
      <p:sp>
        <p:nvSpPr>
          <p:cNvPr id="25" name="a_72"/>
          <p:cNvSpPr/>
          <p:nvPr/>
        </p:nvSpPr>
        <p:spPr>
          <a:xfrm>
            <a:off x="548640" y="5257800"/>
            <a:ext cx="10881360" cy="685800"/>
          </a:xfrm>
          <a:prstGeom prst="roundRect">
            <a:avLst>
              <a:gd name="adj" fmla="val 16000"/>
            </a:avLst>
          </a:prstGeom>
          <a:solidFill>
            <a:srgbClr val="ECEBFF"/>
          </a:solidFill>
          <a:ln/>
        </p:spPr>
      </p:sp>
      <p:sp>
        <p:nvSpPr>
          <p:cNvPr id="26" name="o_73"/>
          <p:cNvSpPr txBox="1"/>
          <p:nvPr/>
        </p:nvSpPr>
        <p:spPr>
          <a:xfrm>
            <a:off x="822960" y="5257800"/>
            <a:ext cx="10424160" cy="685800"/>
          </a:xfrm>
          <a:prstGeom prst="rect">
            <a:avLst/>
          </a:prstGeom>
          <a:noFill/>
          <a:ln/>
        </p:spPr>
        <p:txBody>
          <a:bodyPr wrap="square" lIns="0" tIns="0" rIns="0" bIns="0" rtlCol="0" anchor="ctr"/>
          <a:lstStyle/>
          <a:p>
            <a:pPr indent="0" marL="0">
              <a:buNone/>
            </a:pPr>
            <a:r>
              <a:rPr lang="en-US" sz="1500" b="1" dirty="0">
                <a:solidFill>
                  <a:srgbClr val="3B3BD6"/>
                </a:solidFill>
              </a:rPr>
              <a:t>Example: </a:t>
            </a:r>
            <a:pPr indent="0" marL="0">
              <a:buNone/>
            </a:pPr>
            <a:r>
              <a:rPr lang="en-US" sz="1500" dirty="0">
                <a:solidFill>
                  <a:schemeClr val="tx1"/>
                </a:solidFill>
              </a:rPr>
              <a:t>the cinema sees only "Age over 18: Yes" — name, birth date and ID number stay hidden, yet it can't be faked.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decel="100000" fill="hold"/>
                                        <p:tgtEl>
                                          <p:spTgt spid="8"/>
                                        </p:tgtEl>
                                        <p:attrNameLst>
                                          <p:attrName>ppt_x</p:attrName>
                                        </p:attrNameLst>
                                      </p:cBhvr>
                                      <p:tavLst>
                                        <p:tav tm="0">
                                          <p:val>
                                            <p:strVal val="#ppt_x"/>
                                          </p:val>
                                        </p:tav>
                                        <p:tav tm="100000">
                                          <p:val>
                                            <p:strVal val="#ppt_x"/>
                                          </p:val>
                                        </p:tav>
                                      </p:tavLst>
                                    </p:anim>
                                    <p:anim calcmode="lin" valueType="num">
                                      <p:cBhvr>
                                        <p:cTn id="34" dur="500" decel="100000" fill="hold"/>
                                        <p:tgtEl>
                                          <p:spTgt spid="8"/>
                                        </p:tgtEl>
                                        <p:attrNameLst>
                                          <p:attrName>ppt_y</p:attrName>
                                        </p:attrNameLst>
                                      </p:cBhvr>
                                      <p:tavLst>
                                        <p:tav tm="0">
                                          <p:val>
                                            <p:strVal val="#ppt_y+.04"/>
                                          </p:val>
                                        </p:tav>
                                        <p:tav tm="100000">
                                          <p:val>
                                            <p:strVal val="#ppt_y"/>
                                          </p:val>
                                        </p:tav>
                                      </p:tavLst>
                                    </p:anim>
                                  </p:childTnLst>
                                </p:cTn>
                              </p:par>
                            </p:childTnLst>
                          </p:cTn>
                        </p:par>
                        <p:par>
                          <p:cTn id="35" fill="hold">
                            <p:stCondLst>
                              <p:cond delay="350"/>
                            </p:stCondLst>
                            <p:childTnLst>
                              <p:par>
                                <p:cTn id="36" presetID="42"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childTnLst>
                          </p:cTn>
                        </p:par>
                        <p:par>
                          <p:cTn id="46" fill="hold">
                            <p:stCondLst>
                              <p:cond delay="700"/>
                            </p:stCondLst>
                            <p:childTnLst>
                              <p:par>
                                <p:cTn id="47" presetID="42"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4"/>
                                          </p:val>
                                        </p:tav>
                                        <p:tav tm="100000">
                                          <p:val>
                                            <p:strVal val="#ppt_y"/>
                                          </p:val>
                                        </p:tav>
                                      </p:tavLst>
                                    </p:anim>
                                  </p:childTnLst>
                                </p:cTn>
                              </p:par>
                            </p:childTnLst>
                          </p:cTn>
                        </p:par>
                        <p:par>
                          <p:cTn id="77" fill="hold">
                            <p:stCondLst>
                              <p:cond delay="1050"/>
                            </p:stCondLst>
                            <p:childTnLst>
                              <p:par>
                                <p:cTn id="78" presetID="42" presetClass="entr" presetSubtype="0" fill="hold" grpId="0" nodeType="after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anim calcmode="lin" valueType="num">
                                      <p:cBhvr>
                                        <p:cTn id="81" dur="500" decel="100000" fill="hold"/>
                                        <p:tgtEl>
                                          <p:spTgt spid="17"/>
                                        </p:tgtEl>
                                        <p:attrNameLst>
                                          <p:attrName>ppt_x</p:attrName>
                                        </p:attrNameLst>
                                      </p:cBhvr>
                                      <p:tavLst>
                                        <p:tav tm="0">
                                          <p:val>
                                            <p:strVal val="#ppt_x"/>
                                          </p:val>
                                        </p:tav>
                                        <p:tav tm="100000">
                                          <p:val>
                                            <p:strVal val="#ppt_x"/>
                                          </p:val>
                                        </p:tav>
                                      </p:tavLst>
                                    </p:anim>
                                    <p:anim calcmode="lin" valueType="num">
                                      <p:cBhvr>
                                        <p:cTn id="82" dur="500" decel="100000" fill="hold"/>
                                        <p:tgtEl>
                                          <p:spTgt spid="17"/>
                                        </p:tgtEl>
                                        <p:attrNameLst>
                                          <p:attrName>ppt_y</p:attrName>
                                        </p:attrNameLst>
                                      </p:cBhvr>
                                      <p:tavLst>
                                        <p:tav tm="0">
                                          <p:val>
                                            <p:strVal val="#ppt_y+.04"/>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decel="100000" fill="hold"/>
                                        <p:tgtEl>
                                          <p:spTgt spid="18"/>
                                        </p:tgtEl>
                                        <p:attrNameLst>
                                          <p:attrName>ppt_x</p:attrName>
                                        </p:attrNameLst>
                                      </p:cBhvr>
                                      <p:tavLst>
                                        <p:tav tm="0">
                                          <p:val>
                                            <p:strVal val="#ppt_x"/>
                                          </p:val>
                                        </p:tav>
                                        <p:tav tm="100000">
                                          <p:val>
                                            <p:strVal val="#ppt_x"/>
                                          </p:val>
                                        </p:tav>
                                      </p:tavLst>
                                    </p:anim>
                                    <p:anim calcmode="lin" valueType="num">
                                      <p:cBhvr>
                                        <p:cTn id="87" dur="500" decel="100000" fill="hold"/>
                                        <p:tgtEl>
                                          <p:spTgt spid="18"/>
                                        </p:tgtEl>
                                        <p:attrNameLst>
                                          <p:attrName>ppt_y</p:attrName>
                                        </p:attrNameLst>
                                      </p:cBhvr>
                                      <p:tavLst>
                                        <p:tav tm="0">
                                          <p:val>
                                            <p:strVal val="#ppt_y+.04"/>
                                          </p:val>
                                        </p:tav>
                                        <p:tav tm="100000">
                                          <p:val>
                                            <p:strVal val="#ppt_y"/>
                                          </p:val>
                                        </p:tav>
                                      </p:tavLst>
                                    </p:anim>
                                  </p:childTnLst>
                                </p:cTn>
                              </p:par>
                            </p:childTnLst>
                          </p:cTn>
                        </p:par>
                        <p:par>
                          <p:cTn id="88" fill="hold">
                            <p:stCondLst>
                              <p:cond delay="1400"/>
                            </p:stCondLst>
                            <p:childTnLst>
                              <p:par>
                                <p:cTn id="89" presetID="42" presetClass="entr" presetSubtype="0" fill="hold" grpId="0" nodeType="after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4"/>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4"/>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4"/>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500"/>
                                        <p:tgtEl>
                                          <p:spTgt spid="22"/>
                                        </p:tgtEl>
                                      </p:cBhvr>
                                    </p:animEffect>
                                    <p:anim calcmode="lin" valueType="num">
                                      <p:cBhvr>
                                        <p:cTn id="107" dur="500" decel="100000" fill="hold"/>
                                        <p:tgtEl>
                                          <p:spTgt spid="22"/>
                                        </p:tgtEl>
                                        <p:attrNameLst>
                                          <p:attrName>ppt_x</p:attrName>
                                        </p:attrNameLst>
                                      </p:cBhvr>
                                      <p:tavLst>
                                        <p:tav tm="0">
                                          <p:val>
                                            <p:strVal val="#ppt_x"/>
                                          </p:val>
                                        </p:tav>
                                        <p:tav tm="100000">
                                          <p:val>
                                            <p:strVal val="#ppt_x"/>
                                          </p:val>
                                        </p:tav>
                                      </p:tavLst>
                                    </p:anim>
                                    <p:anim calcmode="lin" valueType="num">
                                      <p:cBhvr>
                                        <p:cTn id="108" dur="500" decel="100000" fill="hold"/>
                                        <p:tgtEl>
                                          <p:spTgt spid="22"/>
                                        </p:tgtEl>
                                        <p:attrNameLst>
                                          <p:attrName>ppt_y</p:attrName>
                                        </p:attrNameLst>
                                      </p:cBhvr>
                                      <p:tavLst>
                                        <p:tav tm="0">
                                          <p:val>
                                            <p:strVal val="#ppt_y+.04"/>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500"/>
                                        <p:tgtEl>
                                          <p:spTgt spid="23"/>
                                        </p:tgtEl>
                                      </p:cBhvr>
                                    </p:animEffect>
                                    <p:anim calcmode="lin" valueType="num">
                                      <p:cBhvr>
                                        <p:cTn id="112" dur="500" decel="100000" fill="hold"/>
                                        <p:tgtEl>
                                          <p:spTgt spid="23"/>
                                        </p:tgtEl>
                                        <p:attrNameLst>
                                          <p:attrName>ppt_x</p:attrName>
                                        </p:attrNameLst>
                                      </p:cBhvr>
                                      <p:tavLst>
                                        <p:tav tm="0">
                                          <p:val>
                                            <p:strVal val="#ppt_x"/>
                                          </p:val>
                                        </p:tav>
                                        <p:tav tm="100000">
                                          <p:val>
                                            <p:strVal val="#ppt_x"/>
                                          </p:val>
                                        </p:tav>
                                      </p:tavLst>
                                    </p:anim>
                                    <p:anim calcmode="lin" valueType="num">
                                      <p:cBhvr>
                                        <p:cTn id="113" dur="500" decel="100000" fill="hold"/>
                                        <p:tgtEl>
                                          <p:spTgt spid="23"/>
                                        </p:tgtEl>
                                        <p:attrNameLst>
                                          <p:attrName>ppt_y</p:attrName>
                                        </p:attrNameLst>
                                      </p:cBhvr>
                                      <p:tavLst>
                                        <p:tav tm="0">
                                          <p:val>
                                            <p:strVal val="#ppt_y+.04"/>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500"/>
                                        <p:tgtEl>
                                          <p:spTgt spid="24"/>
                                        </p:tgtEl>
                                      </p:cBhvr>
                                    </p:animEffect>
                                    <p:anim calcmode="lin" valueType="num">
                                      <p:cBhvr>
                                        <p:cTn id="117" dur="500" decel="100000" fill="hold"/>
                                        <p:tgtEl>
                                          <p:spTgt spid="24"/>
                                        </p:tgtEl>
                                        <p:attrNameLst>
                                          <p:attrName>ppt_x</p:attrName>
                                        </p:attrNameLst>
                                      </p:cBhvr>
                                      <p:tavLst>
                                        <p:tav tm="0">
                                          <p:val>
                                            <p:strVal val="#ppt_x"/>
                                          </p:val>
                                        </p:tav>
                                        <p:tav tm="100000">
                                          <p:val>
                                            <p:strVal val="#ppt_x"/>
                                          </p:val>
                                        </p:tav>
                                      </p:tavLst>
                                    </p:anim>
                                    <p:anim calcmode="lin" valueType="num">
                                      <p:cBhvr>
                                        <p:cTn id="118" dur="500" decel="100000" fill="hold"/>
                                        <p:tgtEl>
                                          <p:spTgt spid="24"/>
                                        </p:tgtEl>
                                        <p:attrNameLst>
                                          <p:attrName>ppt_y</p:attrName>
                                        </p:attrNameLst>
                                      </p:cBhvr>
                                      <p:tavLst>
                                        <p:tav tm="0">
                                          <p:val>
                                            <p:strVal val="#ppt_y+.04"/>
                                          </p:val>
                                        </p:tav>
                                        <p:tav tm="100000">
                                          <p:val>
                                            <p:strVal val="#ppt_y"/>
                                          </p:val>
                                        </p:tav>
                                      </p:tavLst>
                                    </p:anim>
                                  </p:childTnLst>
                                </p:cTn>
                              </p:par>
                            </p:childTnLst>
                          </p:cTn>
                        </p:par>
                        <p:par>
                          <p:cTn id="119" fill="hold">
                            <p:stCondLst>
                              <p:cond delay="1750"/>
                            </p:stCondLst>
                            <p:childTnLst>
                              <p:par>
                                <p:cTn id="120" presetID="42" presetClass="entr" presetSubtype="0" fill="hold" grpId="0" nodeType="after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500"/>
                                        <p:tgtEl>
                                          <p:spTgt spid="25"/>
                                        </p:tgtEl>
                                      </p:cBhvr>
                                    </p:animEffect>
                                    <p:anim calcmode="lin" valueType="num">
                                      <p:cBhvr>
                                        <p:cTn id="123" dur="500" decel="100000" fill="hold"/>
                                        <p:tgtEl>
                                          <p:spTgt spid="25"/>
                                        </p:tgtEl>
                                        <p:attrNameLst>
                                          <p:attrName>ppt_x</p:attrName>
                                        </p:attrNameLst>
                                      </p:cBhvr>
                                      <p:tavLst>
                                        <p:tav tm="0">
                                          <p:val>
                                            <p:strVal val="#ppt_x"/>
                                          </p:val>
                                        </p:tav>
                                        <p:tav tm="100000">
                                          <p:val>
                                            <p:strVal val="#ppt_x"/>
                                          </p:val>
                                        </p:tav>
                                      </p:tavLst>
                                    </p:anim>
                                    <p:anim calcmode="lin" valueType="num">
                                      <p:cBhvr>
                                        <p:cTn id="124" dur="500" decel="100000" fill="hold"/>
                                        <p:tgtEl>
                                          <p:spTgt spid="25"/>
                                        </p:tgtEl>
                                        <p:attrNameLst>
                                          <p:attrName>ppt_y</p:attrName>
                                        </p:attrNameLst>
                                      </p:cBhvr>
                                      <p:tavLst>
                                        <p:tav tm="0">
                                          <p:val>
                                            <p:strVal val="#ppt_y+.04"/>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500"/>
                                        <p:tgtEl>
                                          <p:spTgt spid="26"/>
                                        </p:tgtEl>
                                      </p:cBhvr>
                                    </p:animEffect>
                                    <p:anim calcmode="lin" valueType="num">
                                      <p:cBhvr>
                                        <p:cTn id="128" dur="500" decel="100000" fill="hold"/>
                                        <p:tgtEl>
                                          <p:spTgt spid="26"/>
                                        </p:tgtEl>
                                        <p:attrNameLst>
                                          <p:attrName>ppt_x</p:attrName>
                                        </p:attrNameLst>
                                      </p:cBhvr>
                                      <p:tavLst>
                                        <p:tav tm="0">
                                          <p:val>
                                            <p:strVal val="#ppt_x"/>
                                          </p:val>
                                        </p:tav>
                                        <p:tav tm="100000">
                                          <p:val>
                                            <p:strVal val="#ppt_x"/>
                                          </p:val>
                                        </p:tav>
                                      </p:tavLst>
                                    </p:anim>
                                    <p:anim calcmode="lin" valueType="num">
                                      <p:cBhvr>
                                        <p:cTn id="129" dur="500" decel="100000" fill="hold"/>
                                        <p:tgtEl>
                                          <p:spTgt spid="2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Project objectives</a:t>
            </a:r>
            <a:endParaRPr lang="en-US" sz="3200" dirty="0"/>
          </a:p>
        </p:txBody>
      </p:sp>
      <p:sp>
        <p:nvSpPr>
          <p:cNvPr id="3" name="a_74"/>
          <p:cNvSpPr/>
          <p:nvPr/>
        </p:nvSpPr>
        <p:spPr>
          <a:xfrm>
            <a:off x="548640" y="150876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75"/>
          <p:cNvSpPr txBox="1"/>
          <p:nvPr/>
        </p:nvSpPr>
        <p:spPr>
          <a:xfrm>
            <a:off x="822960" y="173736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5" name="o_76"/>
          <p:cNvSpPr txBox="1"/>
          <p:nvPr/>
        </p:nvSpPr>
        <p:spPr>
          <a:xfrm>
            <a:off x="822960" y="23317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Tamper-proof credentials</a:t>
            </a:r>
            <a:endParaRPr lang="en-US" sz="1700" dirty="0"/>
          </a:p>
        </p:txBody>
      </p:sp>
      <p:sp>
        <p:nvSpPr>
          <p:cNvPr id="6" name="o_77"/>
          <p:cNvSpPr txBox="1"/>
          <p:nvPr/>
        </p:nvSpPr>
        <p:spPr>
          <a:xfrm>
            <a:off x="822960" y="2715768"/>
            <a:ext cx="3017520" cy="731520"/>
          </a:xfrm>
          <a:prstGeom prst="rect">
            <a:avLst/>
          </a:prstGeom>
          <a:noFill/>
          <a:ln/>
        </p:spPr>
        <p:txBody>
          <a:bodyPr wrap="square" lIns="0" tIns="0" rIns="0" bIns="0" rtlCol="0" anchor="t"/>
          <a:lstStyle/>
          <a:p>
            <a:pPr indent="0" marL="0">
              <a:buNone/>
            </a:pPr>
            <a:r>
              <a:rPr lang="en-US" sz="1300" dirty="0">
                <a:solidFill>
                  <a:srgbClr val="5D647D"/>
                </a:solidFill>
              </a:rPr>
              <a:t>Issuers sign with ECDSA P-256; any change is detected</a:t>
            </a:r>
            <a:endParaRPr lang="en-US" sz="1300" dirty="0"/>
          </a:p>
        </p:txBody>
      </p:sp>
      <p:sp>
        <p:nvSpPr>
          <p:cNvPr id="7" name="a_78"/>
          <p:cNvSpPr/>
          <p:nvPr/>
        </p:nvSpPr>
        <p:spPr>
          <a:xfrm>
            <a:off x="4297680" y="150876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8" name="o_79"/>
          <p:cNvSpPr txBox="1"/>
          <p:nvPr/>
        </p:nvSpPr>
        <p:spPr>
          <a:xfrm>
            <a:off x="4572000" y="173736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9" name="o_80"/>
          <p:cNvSpPr txBox="1"/>
          <p:nvPr/>
        </p:nvSpPr>
        <p:spPr>
          <a:xfrm>
            <a:off x="4572000" y="23317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Selective disclosure</a:t>
            </a:r>
            <a:endParaRPr lang="en-US" sz="1700" dirty="0"/>
          </a:p>
        </p:txBody>
      </p:sp>
      <p:sp>
        <p:nvSpPr>
          <p:cNvPr id="10" name="o_81"/>
          <p:cNvSpPr txBox="1"/>
          <p:nvPr/>
        </p:nvSpPr>
        <p:spPr>
          <a:xfrm>
            <a:off x="4572000" y="2715768"/>
            <a:ext cx="3017520" cy="731520"/>
          </a:xfrm>
          <a:prstGeom prst="rect">
            <a:avLst/>
          </a:prstGeom>
          <a:noFill/>
          <a:ln/>
        </p:spPr>
        <p:txBody>
          <a:bodyPr wrap="square" lIns="0" tIns="0" rIns="0" bIns="0" rtlCol="0" anchor="t"/>
          <a:lstStyle/>
          <a:p>
            <a:pPr indent="0" marL="0">
              <a:buNone/>
            </a:pPr>
            <a:r>
              <a:rPr lang="en-US" sz="1300" dirty="0">
                <a:solidFill>
                  <a:srgbClr val="5D647D"/>
                </a:solidFill>
              </a:rPr>
              <a:t>Reveal chosen details — even "age over 18" without the birth date</a:t>
            </a:r>
            <a:endParaRPr lang="en-US" sz="1300" dirty="0"/>
          </a:p>
        </p:txBody>
      </p:sp>
      <p:sp>
        <p:nvSpPr>
          <p:cNvPr id="11" name="a_82"/>
          <p:cNvSpPr/>
          <p:nvPr/>
        </p:nvSpPr>
        <p:spPr>
          <a:xfrm>
            <a:off x="8046720" y="150876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2" name="o_83"/>
          <p:cNvSpPr txBox="1"/>
          <p:nvPr/>
        </p:nvSpPr>
        <p:spPr>
          <a:xfrm>
            <a:off x="8321040" y="173736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3" name="o_84"/>
          <p:cNvSpPr txBox="1"/>
          <p:nvPr/>
        </p:nvSpPr>
        <p:spPr>
          <a:xfrm>
            <a:off x="8321040" y="23317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Holder consent</a:t>
            </a:r>
            <a:endParaRPr lang="en-US" sz="1700" dirty="0"/>
          </a:p>
        </p:txBody>
      </p:sp>
      <p:sp>
        <p:nvSpPr>
          <p:cNvPr id="14" name="o_85"/>
          <p:cNvSpPr txBox="1"/>
          <p:nvPr/>
        </p:nvSpPr>
        <p:spPr>
          <a:xfrm>
            <a:off x="8321040" y="2715768"/>
            <a:ext cx="3017520" cy="731520"/>
          </a:xfrm>
          <a:prstGeom prst="rect">
            <a:avLst/>
          </a:prstGeom>
          <a:noFill/>
          <a:ln/>
        </p:spPr>
        <p:txBody>
          <a:bodyPr wrap="square" lIns="0" tIns="0" rIns="0" bIns="0" rtlCol="0" anchor="t"/>
          <a:lstStyle/>
          <a:p>
            <a:pPr indent="0" marL="0">
              <a:buNone/>
            </a:pPr>
            <a:r>
              <a:rPr lang="en-US" sz="1300" dirty="0">
                <a:solidFill>
                  <a:srgbClr val="5D647D"/>
                </a:solidFill>
              </a:rPr>
              <a:t>Recipient, purpose, expiry, view limit, stop sharing, access log</a:t>
            </a:r>
            <a:endParaRPr lang="en-US" sz="1300" dirty="0"/>
          </a:p>
        </p:txBody>
      </p:sp>
      <p:sp>
        <p:nvSpPr>
          <p:cNvPr id="15" name="a_86"/>
          <p:cNvSpPr/>
          <p:nvPr/>
        </p:nvSpPr>
        <p:spPr>
          <a:xfrm>
            <a:off x="548640" y="374904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6" name="o_87"/>
          <p:cNvSpPr txBox="1"/>
          <p:nvPr/>
        </p:nvSpPr>
        <p:spPr>
          <a:xfrm>
            <a:off x="822960" y="397764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04</a:t>
            </a:r>
            <a:endParaRPr lang="en-US" sz="3000" dirty="0"/>
          </a:p>
        </p:txBody>
      </p:sp>
      <p:sp>
        <p:nvSpPr>
          <p:cNvPr id="17" name="o_88"/>
          <p:cNvSpPr txBox="1"/>
          <p:nvPr/>
        </p:nvSpPr>
        <p:spPr>
          <a:xfrm>
            <a:off x="822960" y="45720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Instant verification</a:t>
            </a:r>
            <a:endParaRPr lang="en-US" sz="1700" dirty="0"/>
          </a:p>
        </p:txBody>
      </p:sp>
      <p:sp>
        <p:nvSpPr>
          <p:cNvPr id="18" name="o_89"/>
          <p:cNvSpPr txBox="1"/>
          <p:nvPr/>
        </p:nvSpPr>
        <p:spPr>
          <a:xfrm>
            <a:off x="822960" y="4956048"/>
            <a:ext cx="3017520" cy="731520"/>
          </a:xfrm>
          <a:prstGeom prst="rect">
            <a:avLst/>
          </a:prstGeom>
          <a:noFill/>
          <a:ln/>
        </p:spPr>
        <p:txBody>
          <a:bodyPr wrap="square" lIns="0" tIns="0" rIns="0" bIns="0" rtlCol="0" anchor="t"/>
          <a:lstStyle/>
          <a:p>
            <a:pPr indent="0" marL="0">
              <a:buNone/>
            </a:pPr>
            <a:r>
              <a:rPr lang="en-US" sz="1300" dirty="0">
                <a:solidFill>
                  <a:srgbClr val="5D647D"/>
                </a:solidFill>
              </a:rPr>
              <a:t>Link, QR scan or file — no account, five automatic checks</a:t>
            </a:r>
            <a:endParaRPr lang="en-US" sz="1300" dirty="0"/>
          </a:p>
        </p:txBody>
      </p:sp>
      <p:sp>
        <p:nvSpPr>
          <p:cNvPr id="19" name="a_90"/>
          <p:cNvSpPr/>
          <p:nvPr/>
        </p:nvSpPr>
        <p:spPr>
          <a:xfrm>
            <a:off x="4297680" y="374904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0" name="o_91"/>
          <p:cNvSpPr txBox="1"/>
          <p:nvPr/>
        </p:nvSpPr>
        <p:spPr>
          <a:xfrm>
            <a:off x="4572000" y="397764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05</a:t>
            </a:r>
            <a:endParaRPr lang="en-US" sz="3000" dirty="0"/>
          </a:p>
        </p:txBody>
      </p:sp>
      <p:sp>
        <p:nvSpPr>
          <p:cNvPr id="21" name="o_92"/>
          <p:cNvSpPr txBox="1"/>
          <p:nvPr/>
        </p:nvSpPr>
        <p:spPr>
          <a:xfrm>
            <a:off x="4572000" y="45720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Encrypted vault</a:t>
            </a:r>
            <a:endParaRPr lang="en-US" sz="1700" dirty="0"/>
          </a:p>
        </p:txBody>
      </p:sp>
      <p:sp>
        <p:nvSpPr>
          <p:cNvPr id="22" name="o_93"/>
          <p:cNvSpPr txBox="1"/>
          <p:nvPr/>
        </p:nvSpPr>
        <p:spPr>
          <a:xfrm>
            <a:off x="4572000" y="4956048"/>
            <a:ext cx="3017520" cy="731520"/>
          </a:xfrm>
          <a:prstGeom prst="rect">
            <a:avLst/>
          </a:prstGeom>
          <a:noFill/>
          <a:ln/>
        </p:spPr>
        <p:txBody>
          <a:bodyPr wrap="square" lIns="0" tIns="0" rIns="0" bIns="0" rtlCol="0" anchor="t"/>
          <a:lstStyle/>
          <a:p>
            <a:pPr indent="0" marL="0">
              <a:buNone/>
            </a:pPr>
            <a:r>
              <a:rPr lang="en-US" sz="1300" dirty="0">
                <a:solidFill>
                  <a:srgbClr val="5D647D"/>
                </a:solidFill>
              </a:rPr>
              <a:t>AES-256-GCM with per-user keys; the database alone reveals nothing</a:t>
            </a:r>
            <a:endParaRPr lang="en-US" sz="1300" dirty="0"/>
          </a:p>
        </p:txBody>
      </p:sp>
      <p:sp>
        <p:nvSpPr>
          <p:cNvPr id="23" name="a_94"/>
          <p:cNvSpPr/>
          <p:nvPr/>
        </p:nvSpPr>
        <p:spPr>
          <a:xfrm>
            <a:off x="8046720" y="3749040"/>
            <a:ext cx="3520440" cy="201168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4" name="o_95"/>
          <p:cNvSpPr txBox="1"/>
          <p:nvPr/>
        </p:nvSpPr>
        <p:spPr>
          <a:xfrm>
            <a:off x="8321040" y="397764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06</a:t>
            </a:r>
            <a:endParaRPr lang="en-US" sz="3000" dirty="0"/>
          </a:p>
        </p:txBody>
      </p:sp>
      <p:sp>
        <p:nvSpPr>
          <p:cNvPr id="25" name="o_96"/>
          <p:cNvSpPr txBox="1"/>
          <p:nvPr/>
        </p:nvSpPr>
        <p:spPr>
          <a:xfrm>
            <a:off x="8321040" y="45720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Strong account security</a:t>
            </a:r>
            <a:endParaRPr lang="en-US" sz="1700" dirty="0"/>
          </a:p>
        </p:txBody>
      </p:sp>
      <p:sp>
        <p:nvSpPr>
          <p:cNvPr id="26" name="o_97"/>
          <p:cNvSpPr txBox="1"/>
          <p:nvPr/>
        </p:nvSpPr>
        <p:spPr>
          <a:xfrm>
            <a:off x="8321040" y="4956048"/>
            <a:ext cx="3017520" cy="731520"/>
          </a:xfrm>
          <a:prstGeom prst="rect">
            <a:avLst/>
          </a:prstGeom>
          <a:noFill/>
          <a:ln/>
        </p:spPr>
        <p:txBody>
          <a:bodyPr wrap="square" lIns="0" tIns="0" rIns="0" bIns="0" rtlCol="0" anchor="t"/>
          <a:lstStyle/>
          <a:p>
            <a:pPr indent="0" marL="0">
              <a:buNone/>
            </a:pPr>
            <a:r>
              <a:rPr lang="en-US" sz="1300" dirty="0">
                <a:solidFill>
                  <a:srgbClr val="5D647D"/>
                </a:solidFill>
              </a:rPr>
              <a:t>2FA, PBKDF2 hashing, lockout, rate limits, tamper-evident audit log</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childTnLst>
                          </p:cTn>
                        </p:par>
                        <p:par>
                          <p:cTn id="25" fill="hold">
                            <p:stCondLst>
                              <p:cond delay="350"/>
                            </p:stCondLst>
                            <p:childTnLst>
                              <p:par>
                                <p:cTn id="26" presetID="42"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decel="100000" fill="hold"/>
                                        <p:tgtEl>
                                          <p:spTgt spid="7"/>
                                        </p:tgtEl>
                                        <p:attrNameLst>
                                          <p:attrName>ppt_x</p:attrName>
                                        </p:attrNameLst>
                                      </p:cBhvr>
                                      <p:tavLst>
                                        <p:tav tm="0">
                                          <p:val>
                                            <p:strVal val="#ppt_x"/>
                                          </p:val>
                                        </p:tav>
                                        <p:tav tm="100000">
                                          <p:val>
                                            <p:strVal val="#ppt_x"/>
                                          </p:val>
                                        </p:tav>
                                      </p:tavLst>
                                    </p:anim>
                                    <p:anim calcmode="lin" valueType="num">
                                      <p:cBhvr>
                                        <p:cTn id="30" dur="500" decel="100000" fill="hold"/>
                                        <p:tgtEl>
                                          <p:spTgt spid="7"/>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childTnLst>
                          </p:cTn>
                        </p:par>
                        <p:par>
                          <p:cTn id="46" fill="hold">
                            <p:stCondLst>
                              <p:cond delay="700"/>
                            </p:stCondLst>
                            <p:childTnLst>
                              <p:par>
                                <p:cTn id="47" presetID="42"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childTnLst>
                          </p:cTn>
                        </p:par>
                        <p:par>
                          <p:cTn id="67" fill="hold">
                            <p:stCondLst>
                              <p:cond delay="1050"/>
                            </p:stCondLst>
                            <p:childTnLst>
                              <p:par>
                                <p:cTn id="68" presetID="42" presetClass="entr" presetSubtype="0" fill="hold" grpId="0" nodeType="after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anim calcmode="lin" valueType="num">
                                      <p:cBhvr>
                                        <p:cTn id="71" dur="500" decel="100000" fill="hold"/>
                                        <p:tgtEl>
                                          <p:spTgt spid="15"/>
                                        </p:tgtEl>
                                        <p:attrNameLst>
                                          <p:attrName>ppt_x</p:attrName>
                                        </p:attrNameLst>
                                      </p:cBhvr>
                                      <p:tavLst>
                                        <p:tav tm="0">
                                          <p:val>
                                            <p:strVal val="#ppt_x"/>
                                          </p:val>
                                        </p:tav>
                                        <p:tav tm="100000">
                                          <p:val>
                                            <p:strVal val="#ppt_x"/>
                                          </p:val>
                                        </p:tav>
                                      </p:tavLst>
                                    </p:anim>
                                    <p:anim calcmode="lin" valueType="num">
                                      <p:cBhvr>
                                        <p:cTn id="72" dur="500" decel="100000" fill="hold"/>
                                        <p:tgtEl>
                                          <p:spTgt spid="15"/>
                                        </p:tgtEl>
                                        <p:attrNameLst>
                                          <p:attrName>ppt_y</p:attrName>
                                        </p:attrNameLst>
                                      </p:cBhvr>
                                      <p:tavLst>
                                        <p:tav tm="0">
                                          <p:val>
                                            <p:strVal val="#ppt_y+.04"/>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anim calcmode="lin" valueType="num">
                                      <p:cBhvr>
                                        <p:cTn id="76" dur="500" decel="100000" fill="hold"/>
                                        <p:tgtEl>
                                          <p:spTgt spid="16"/>
                                        </p:tgtEl>
                                        <p:attrNameLst>
                                          <p:attrName>ppt_x</p:attrName>
                                        </p:attrNameLst>
                                      </p:cBhvr>
                                      <p:tavLst>
                                        <p:tav tm="0">
                                          <p:val>
                                            <p:strVal val="#ppt_x"/>
                                          </p:val>
                                        </p:tav>
                                        <p:tav tm="100000">
                                          <p:val>
                                            <p:strVal val="#ppt_x"/>
                                          </p:val>
                                        </p:tav>
                                      </p:tavLst>
                                    </p:anim>
                                    <p:anim calcmode="lin" valueType="num">
                                      <p:cBhvr>
                                        <p:cTn id="77" dur="500" decel="100000" fill="hold"/>
                                        <p:tgtEl>
                                          <p:spTgt spid="16"/>
                                        </p:tgtEl>
                                        <p:attrNameLst>
                                          <p:attrName>ppt_y</p:attrName>
                                        </p:attrNameLst>
                                      </p:cBhvr>
                                      <p:tavLst>
                                        <p:tav tm="0">
                                          <p:val>
                                            <p:strVal val="#ppt_y+.04"/>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anim calcmode="lin" valueType="num">
                                      <p:cBhvr>
                                        <p:cTn id="81" dur="500" decel="100000" fill="hold"/>
                                        <p:tgtEl>
                                          <p:spTgt spid="17"/>
                                        </p:tgtEl>
                                        <p:attrNameLst>
                                          <p:attrName>ppt_x</p:attrName>
                                        </p:attrNameLst>
                                      </p:cBhvr>
                                      <p:tavLst>
                                        <p:tav tm="0">
                                          <p:val>
                                            <p:strVal val="#ppt_x"/>
                                          </p:val>
                                        </p:tav>
                                        <p:tav tm="100000">
                                          <p:val>
                                            <p:strVal val="#ppt_x"/>
                                          </p:val>
                                        </p:tav>
                                      </p:tavLst>
                                    </p:anim>
                                    <p:anim calcmode="lin" valueType="num">
                                      <p:cBhvr>
                                        <p:cTn id="82" dur="500" decel="100000" fill="hold"/>
                                        <p:tgtEl>
                                          <p:spTgt spid="17"/>
                                        </p:tgtEl>
                                        <p:attrNameLst>
                                          <p:attrName>ppt_y</p:attrName>
                                        </p:attrNameLst>
                                      </p:cBhvr>
                                      <p:tavLst>
                                        <p:tav tm="0">
                                          <p:val>
                                            <p:strVal val="#ppt_y+.04"/>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decel="100000" fill="hold"/>
                                        <p:tgtEl>
                                          <p:spTgt spid="18"/>
                                        </p:tgtEl>
                                        <p:attrNameLst>
                                          <p:attrName>ppt_x</p:attrName>
                                        </p:attrNameLst>
                                      </p:cBhvr>
                                      <p:tavLst>
                                        <p:tav tm="0">
                                          <p:val>
                                            <p:strVal val="#ppt_x"/>
                                          </p:val>
                                        </p:tav>
                                        <p:tav tm="100000">
                                          <p:val>
                                            <p:strVal val="#ppt_x"/>
                                          </p:val>
                                        </p:tav>
                                      </p:tavLst>
                                    </p:anim>
                                    <p:anim calcmode="lin" valueType="num">
                                      <p:cBhvr>
                                        <p:cTn id="87" dur="500" decel="100000" fill="hold"/>
                                        <p:tgtEl>
                                          <p:spTgt spid="18"/>
                                        </p:tgtEl>
                                        <p:attrNameLst>
                                          <p:attrName>ppt_y</p:attrName>
                                        </p:attrNameLst>
                                      </p:cBhvr>
                                      <p:tavLst>
                                        <p:tav tm="0">
                                          <p:val>
                                            <p:strVal val="#ppt_y+.04"/>
                                          </p:val>
                                        </p:tav>
                                        <p:tav tm="100000">
                                          <p:val>
                                            <p:strVal val="#ppt_y"/>
                                          </p:val>
                                        </p:tav>
                                      </p:tavLst>
                                    </p:anim>
                                  </p:childTnLst>
                                </p:cTn>
                              </p:par>
                            </p:childTnLst>
                          </p:cTn>
                        </p:par>
                        <p:par>
                          <p:cTn id="88" fill="hold">
                            <p:stCondLst>
                              <p:cond delay="1400"/>
                            </p:stCondLst>
                            <p:childTnLst>
                              <p:par>
                                <p:cTn id="89" presetID="42" presetClass="entr" presetSubtype="0" fill="hold" grpId="0" nodeType="after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4"/>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4"/>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4"/>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500"/>
                                        <p:tgtEl>
                                          <p:spTgt spid="22"/>
                                        </p:tgtEl>
                                      </p:cBhvr>
                                    </p:animEffect>
                                    <p:anim calcmode="lin" valueType="num">
                                      <p:cBhvr>
                                        <p:cTn id="107" dur="500" decel="100000" fill="hold"/>
                                        <p:tgtEl>
                                          <p:spTgt spid="22"/>
                                        </p:tgtEl>
                                        <p:attrNameLst>
                                          <p:attrName>ppt_x</p:attrName>
                                        </p:attrNameLst>
                                      </p:cBhvr>
                                      <p:tavLst>
                                        <p:tav tm="0">
                                          <p:val>
                                            <p:strVal val="#ppt_x"/>
                                          </p:val>
                                        </p:tav>
                                        <p:tav tm="100000">
                                          <p:val>
                                            <p:strVal val="#ppt_x"/>
                                          </p:val>
                                        </p:tav>
                                      </p:tavLst>
                                    </p:anim>
                                    <p:anim calcmode="lin" valueType="num">
                                      <p:cBhvr>
                                        <p:cTn id="108" dur="500" decel="100000" fill="hold"/>
                                        <p:tgtEl>
                                          <p:spTgt spid="22"/>
                                        </p:tgtEl>
                                        <p:attrNameLst>
                                          <p:attrName>ppt_y</p:attrName>
                                        </p:attrNameLst>
                                      </p:cBhvr>
                                      <p:tavLst>
                                        <p:tav tm="0">
                                          <p:val>
                                            <p:strVal val="#ppt_y+.04"/>
                                          </p:val>
                                        </p:tav>
                                        <p:tav tm="100000">
                                          <p:val>
                                            <p:strVal val="#ppt_y"/>
                                          </p:val>
                                        </p:tav>
                                      </p:tavLst>
                                    </p:anim>
                                  </p:childTnLst>
                                </p:cTn>
                              </p:par>
                            </p:childTnLst>
                          </p:cTn>
                        </p:par>
                        <p:par>
                          <p:cTn id="109" fill="hold">
                            <p:stCondLst>
                              <p:cond delay="1750"/>
                            </p:stCondLst>
                            <p:childTnLst>
                              <p:par>
                                <p:cTn id="110" presetID="42" presetClass="entr" presetSubtype="0" fill="hold" grpId="0" nodeType="after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500"/>
                                        <p:tgtEl>
                                          <p:spTgt spid="23"/>
                                        </p:tgtEl>
                                      </p:cBhvr>
                                    </p:animEffect>
                                    <p:anim calcmode="lin" valueType="num">
                                      <p:cBhvr>
                                        <p:cTn id="113" dur="500" decel="100000" fill="hold"/>
                                        <p:tgtEl>
                                          <p:spTgt spid="23"/>
                                        </p:tgtEl>
                                        <p:attrNameLst>
                                          <p:attrName>ppt_x</p:attrName>
                                        </p:attrNameLst>
                                      </p:cBhvr>
                                      <p:tavLst>
                                        <p:tav tm="0">
                                          <p:val>
                                            <p:strVal val="#ppt_x"/>
                                          </p:val>
                                        </p:tav>
                                        <p:tav tm="100000">
                                          <p:val>
                                            <p:strVal val="#ppt_x"/>
                                          </p:val>
                                        </p:tav>
                                      </p:tavLst>
                                    </p:anim>
                                    <p:anim calcmode="lin" valueType="num">
                                      <p:cBhvr>
                                        <p:cTn id="114" dur="500" decel="100000" fill="hold"/>
                                        <p:tgtEl>
                                          <p:spTgt spid="23"/>
                                        </p:tgtEl>
                                        <p:attrNameLst>
                                          <p:attrName>ppt_y</p:attrName>
                                        </p:attrNameLst>
                                      </p:cBhvr>
                                      <p:tavLst>
                                        <p:tav tm="0">
                                          <p:val>
                                            <p:strVal val="#ppt_y+.04"/>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anim calcmode="lin" valueType="num">
                                      <p:cBhvr>
                                        <p:cTn id="118" dur="500" decel="100000" fill="hold"/>
                                        <p:tgtEl>
                                          <p:spTgt spid="24"/>
                                        </p:tgtEl>
                                        <p:attrNameLst>
                                          <p:attrName>ppt_x</p:attrName>
                                        </p:attrNameLst>
                                      </p:cBhvr>
                                      <p:tavLst>
                                        <p:tav tm="0">
                                          <p:val>
                                            <p:strVal val="#ppt_x"/>
                                          </p:val>
                                        </p:tav>
                                        <p:tav tm="100000">
                                          <p:val>
                                            <p:strVal val="#ppt_x"/>
                                          </p:val>
                                        </p:tav>
                                      </p:tavLst>
                                    </p:anim>
                                    <p:anim calcmode="lin" valueType="num">
                                      <p:cBhvr>
                                        <p:cTn id="119" dur="500" decel="100000" fill="hold"/>
                                        <p:tgtEl>
                                          <p:spTgt spid="24"/>
                                        </p:tgtEl>
                                        <p:attrNameLst>
                                          <p:attrName>ppt_y</p:attrName>
                                        </p:attrNameLst>
                                      </p:cBhvr>
                                      <p:tavLst>
                                        <p:tav tm="0">
                                          <p:val>
                                            <p:strVal val="#ppt_y+.04"/>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500"/>
                                        <p:tgtEl>
                                          <p:spTgt spid="25"/>
                                        </p:tgtEl>
                                      </p:cBhvr>
                                    </p:animEffect>
                                    <p:anim calcmode="lin" valueType="num">
                                      <p:cBhvr>
                                        <p:cTn id="123" dur="500" decel="100000" fill="hold"/>
                                        <p:tgtEl>
                                          <p:spTgt spid="25"/>
                                        </p:tgtEl>
                                        <p:attrNameLst>
                                          <p:attrName>ppt_x</p:attrName>
                                        </p:attrNameLst>
                                      </p:cBhvr>
                                      <p:tavLst>
                                        <p:tav tm="0">
                                          <p:val>
                                            <p:strVal val="#ppt_x"/>
                                          </p:val>
                                        </p:tav>
                                        <p:tav tm="100000">
                                          <p:val>
                                            <p:strVal val="#ppt_x"/>
                                          </p:val>
                                        </p:tav>
                                      </p:tavLst>
                                    </p:anim>
                                    <p:anim calcmode="lin" valueType="num">
                                      <p:cBhvr>
                                        <p:cTn id="124" dur="500" decel="100000" fill="hold"/>
                                        <p:tgtEl>
                                          <p:spTgt spid="25"/>
                                        </p:tgtEl>
                                        <p:attrNameLst>
                                          <p:attrName>ppt_y</p:attrName>
                                        </p:attrNameLst>
                                      </p:cBhvr>
                                      <p:tavLst>
                                        <p:tav tm="0">
                                          <p:val>
                                            <p:strVal val="#ppt_y+.04"/>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500"/>
                                        <p:tgtEl>
                                          <p:spTgt spid="26"/>
                                        </p:tgtEl>
                                      </p:cBhvr>
                                    </p:animEffect>
                                    <p:anim calcmode="lin" valueType="num">
                                      <p:cBhvr>
                                        <p:cTn id="128" dur="500" decel="100000" fill="hold"/>
                                        <p:tgtEl>
                                          <p:spTgt spid="26"/>
                                        </p:tgtEl>
                                        <p:attrNameLst>
                                          <p:attrName>ppt_x</p:attrName>
                                        </p:attrNameLst>
                                      </p:cBhvr>
                                      <p:tavLst>
                                        <p:tav tm="0">
                                          <p:val>
                                            <p:strVal val="#ppt_x"/>
                                          </p:val>
                                        </p:tav>
                                        <p:tav tm="100000">
                                          <p:val>
                                            <p:strVal val="#ppt_x"/>
                                          </p:val>
                                        </p:tav>
                                      </p:tavLst>
                                    </p:anim>
                                    <p:anim calcmode="lin" valueType="num">
                                      <p:cBhvr>
                                        <p:cTn id="129" dur="500" decel="100000" fill="hold"/>
                                        <p:tgtEl>
                                          <p:spTgt spid="2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Key features</a:t>
            </a:r>
            <a:endParaRPr lang="en-US" sz="3200" dirty="0"/>
          </a:p>
        </p:txBody>
      </p:sp>
      <p:sp>
        <p:nvSpPr>
          <p:cNvPr id="3" name="a_98"/>
          <p:cNvSpPr/>
          <p:nvPr/>
        </p:nvSpPr>
        <p:spPr>
          <a:xfrm>
            <a:off x="548640" y="146304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99"/>
          <p:cNvSpPr/>
          <p:nvPr/>
        </p:nvSpPr>
        <p:spPr>
          <a:xfrm>
            <a:off x="822960" y="1737360"/>
            <a:ext cx="685800" cy="685800"/>
          </a:xfrm>
          <a:prstGeom prst="ellipse">
            <a:avLst/>
          </a:prstGeom>
          <a:solidFill>
            <a:schemeClr val="accent1"/>
          </a:solidFill>
          <a:ln/>
        </p:spPr>
      </p:sp>
      <p:pic>
        <p:nvPicPr>
          <p:cNvPr id="5" name="o_100_in"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6" name="o_101"/>
          <p:cNvSpPr txBox="1"/>
          <p:nvPr/>
        </p:nvSpPr>
        <p:spPr>
          <a:xfrm>
            <a:off x="822960" y="2560320"/>
            <a:ext cx="2194560" cy="365760"/>
          </a:xfrm>
          <a:prstGeom prst="rect">
            <a:avLst/>
          </a:prstGeom>
          <a:noFill/>
          <a:ln/>
        </p:spPr>
        <p:txBody>
          <a:bodyPr wrap="square" lIns="0" tIns="0" rIns="0" bIns="0" rtlCol="0" anchor="t"/>
          <a:lstStyle/>
          <a:p>
            <a:pPr indent="0" marL="0">
              <a:buNone/>
            </a:pPr>
            <a:r>
              <a:rPr lang="en-US" sz="1600" b="1" dirty="0">
                <a:solidFill>
                  <a:schemeClr val="tx1"/>
                </a:solidFill>
              </a:rPr>
              <a:t>Signed credentials</a:t>
            </a:r>
            <a:endParaRPr lang="en-US" sz="1600" dirty="0"/>
          </a:p>
        </p:txBody>
      </p:sp>
      <p:sp>
        <p:nvSpPr>
          <p:cNvPr id="7" name="o_102"/>
          <p:cNvSpPr txBox="1"/>
          <p:nvPr/>
        </p:nvSpPr>
        <p:spPr>
          <a:xfrm>
            <a:off x="822960" y="2926080"/>
            <a:ext cx="2194560" cy="594360"/>
          </a:xfrm>
          <a:prstGeom prst="rect">
            <a:avLst/>
          </a:prstGeom>
          <a:noFill/>
          <a:ln/>
        </p:spPr>
        <p:txBody>
          <a:bodyPr wrap="square" lIns="0" tIns="0" rIns="0" bIns="0" rtlCol="0" anchor="t"/>
          <a:lstStyle/>
          <a:p>
            <a:pPr indent="0" marL="0">
              <a:buNone/>
            </a:pPr>
            <a:r>
              <a:rPr lang="en-US" sz="1300" dirty="0">
                <a:solidFill>
                  <a:srgbClr val="5D647D"/>
                </a:solidFill>
              </a:rPr>
              <a:t>6 templates + custom claims</a:t>
            </a:r>
            <a:endParaRPr lang="en-US" sz="1300" dirty="0"/>
          </a:p>
        </p:txBody>
      </p:sp>
      <p:sp>
        <p:nvSpPr>
          <p:cNvPr id="8" name="a_103"/>
          <p:cNvSpPr/>
          <p:nvPr/>
        </p:nvSpPr>
        <p:spPr>
          <a:xfrm>
            <a:off x="3355848" y="146304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9" name="o_104"/>
          <p:cNvSpPr/>
          <p:nvPr/>
        </p:nvSpPr>
        <p:spPr>
          <a:xfrm>
            <a:off x="3630168" y="1737360"/>
            <a:ext cx="685800" cy="685800"/>
          </a:xfrm>
          <a:prstGeom prst="ellipse">
            <a:avLst/>
          </a:prstGeom>
          <a:solidFill>
            <a:schemeClr val="accent2"/>
          </a:solidFill>
          <a:ln/>
        </p:spPr>
      </p:sp>
      <p:pic>
        <p:nvPicPr>
          <p:cNvPr id="10" name="o_105_in" descr="preencoded.png">    </p:cNvPr>
          <p:cNvPicPr>
            <a:picLocks noChangeAspect="1"/>
          </p:cNvPicPr>
          <p:nvPr/>
        </p:nvPicPr>
        <p:blipFill>
          <a:blip r:embed="rId2"/>
          <a:stretch>
            <a:fillRect/>
          </a:stretch>
        </p:blipFill>
        <p:spPr>
          <a:xfrm>
            <a:off x="3794760" y="1901952"/>
            <a:ext cx="356616" cy="356616"/>
          </a:xfrm>
          <a:prstGeom prst="rect">
            <a:avLst/>
          </a:prstGeom>
        </p:spPr>
      </p:pic>
      <p:sp>
        <p:nvSpPr>
          <p:cNvPr id="11" name="o_106"/>
          <p:cNvSpPr txBox="1"/>
          <p:nvPr/>
        </p:nvSpPr>
        <p:spPr>
          <a:xfrm>
            <a:off x="3630168" y="2560320"/>
            <a:ext cx="2194560" cy="365760"/>
          </a:xfrm>
          <a:prstGeom prst="rect">
            <a:avLst/>
          </a:prstGeom>
          <a:noFill/>
          <a:ln/>
        </p:spPr>
        <p:txBody>
          <a:bodyPr wrap="square" lIns="0" tIns="0" rIns="0" bIns="0" rtlCol="0" anchor="t"/>
          <a:lstStyle/>
          <a:p>
            <a:pPr indent="0" marL="0">
              <a:buNone/>
            </a:pPr>
            <a:r>
              <a:rPr lang="en-US" sz="1600" b="1" dirty="0">
                <a:solidFill>
                  <a:schemeClr val="tx1"/>
                </a:solidFill>
              </a:rPr>
              <a:t>Selective disclosure</a:t>
            </a:r>
            <a:endParaRPr lang="en-US" sz="1600" dirty="0"/>
          </a:p>
        </p:txBody>
      </p:sp>
      <p:sp>
        <p:nvSpPr>
          <p:cNvPr id="12" name="o_107"/>
          <p:cNvSpPr txBox="1"/>
          <p:nvPr/>
        </p:nvSpPr>
        <p:spPr>
          <a:xfrm>
            <a:off x="3630168" y="2926080"/>
            <a:ext cx="2194560" cy="594360"/>
          </a:xfrm>
          <a:prstGeom prst="rect">
            <a:avLst/>
          </a:prstGeom>
          <a:noFill/>
          <a:ln/>
        </p:spPr>
        <p:txBody>
          <a:bodyPr wrap="square" lIns="0" tIns="0" rIns="0" bIns="0" rtlCol="0" anchor="t"/>
          <a:lstStyle/>
          <a:p>
            <a:pPr indent="0" marL="0">
              <a:buNone/>
            </a:pPr>
            <a:r>
              <a:rPr lang="en-US" sz="1300" dirty="0">
                <a:solidFill>
                  <a:srgbClr val="5D647D"/>
                </a:solidFill>
              </a:rPr>
              <a:t>Share any subset, derived age claims</a:t>
            </a:r>
            <a:endParaRPr lang="en-US" sz="1300" dirty="0"/>
          </a:p>
        </p:txBody>
      </p:sp>
      <p:sp>
        <p:nvSpPr>
          <p:cNvPr id="13" name="a_108"/>
          <p:cNvSpPr/>
          <p:nvPr/>
        </p:nvSpPr>
        <p:spPr>
          <a:xfrm>
            <a:off x="6163056" y="146304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4" name="o_109"/>
          <p:cNvSpPr/>
          <p:nvPr/>
        </p:nvSpPr>
        <p:spPr>
          <a:xfrm>
            <a:off x="6437376" y="1737360"/>
            <a:ext cx="685800" cy="685800"/>
          </a:xfrm>
          <a:prstGeom prst="ellipse">
            <a:avLst/>
          </a:prstGeom>
          <a:solidFill>
            <a:schemeClr val="accent3"/>
          </a:solidFill>
          <a:ln/>
        </p:spPr>
      </p:sp>
      <p:pic>
        <p:nvPicPr>
          <p:cNvPr id="15" name="o_110_in" descr="preencoded.png">    </p:cNvPr>
          <p:cNvPicPr>
            <a:picLocks noChangeAspect="1"/>
          </p:cNvPicPr>
          <p:nvPr/>
        </p:nvPicPr>
        <p:blipFill>
          <a:blip r:embed="rId3"/>
          <a:stretch>
            <a:fillRect/>
          </a:stretch>
        </p:blipFill>
        <p:spPr>
          <a:xfrm>
            <a:off x="6601968" y="1901952"/>
            <a:ext cx="356616" cy="356616"/>
          </a:xfrm>
          <a:prstGeom prst="rect">
            <a:avLst/>
          </a:prstGeom>
        </p:spPr>
      </p:pic>
      <p:sp>
        <p:nvSpPr>
          <p:cNvPr id="16" name="o_111"/>
          <p:cNvSpPr txBox="1"/>
          <p:nvPr/>
        </p:nvSpPr>
        <p:spPr>
          <a:xfrm>
            <a:off x="6437376" y="2560320"/>
            <a:ext cx="2194560" cy="365760"/>
          </a:xfrm>
          <a:prstGeom prst="rect">
            <a:avLst/>
          </a:prstGeom>
          <a:noFill/>
          <a:ln/>
        </p:spPr>
        <p:txBody>
          <a:bodyPr wrap="square" lIns="0" tIns="0" rIns="0" bIns="0" rtlCol="0" anchor="t"/>
          <a:lstStyle/>
          <a:p>
            <a:pPr indent="0" marL="0">
              <a:buNone/>
            </a:pPr>
            <a:r>
              <a:rPr lang="en-US" sz="1600" b="1" dirty="0">
                <a:solidFill>
                  <a:schemeClr val="tx1"/>
                </a:solidFill>
              </a:rPr>
              <a:t>QR &amp; link sharing</a:t>
            </a:r>
            <a:endParaRPr lang="en-US" sz="1600" dirty="0"/>
          </a:p>
        </p:txBody>
      </p:sp>
      <p:sp>
        <p:nvSpPr>
          <p:cNvPr id="17" name="o_112"/>
          <p:cNvSpPr txBox="1"/>
          <p:nvPr/>
        </p:nvSpPr>
        <p:spPr>
          <a:xfrm>
            <a:off x="6437376" y="2926080"/>
            <a:ext cx="2194560" cy="594360"/>
          </a:xfrm>
          <a:prstGeom prst="rect">
            <a:avLst/>
          </a:prstGeom>
          <a:noFill/>
          <a:ln/>
        </p:spPr>
        <p:txBody>
          <a:bodyPr wrap="square" lIns="0" tIns="0" rIns="0" bIns="0" rtlCol="0" anchor="t"/>
          <a:lstStyle/>
          <a:p>
            <a:pPr indent="0" marL="0">
              <a:buNone/>
            </a:pPr>
            <a:r>
              <a:rPr lang="en-US" sz="1300" dirty="0">
                <a:solidFill>
                  <a:srgbClr val="5D647D"/>
                </a:solidFill>
              </a:rPr>
              <a:t>Expiry and view limits per share</a:t>
            </a:r>
            <a:endParaRPr lang="en-US" sz="1300" dirty="0"/>
          </a:p>
        </p:txBody>
      </p:sp>
      <p:sp>
        <p:nvSpPr>
          <p:cNvPr id="18" name="a_113"/>
          <p:cNvSpPr/>
          <p:nvPr/>
        </p:nvSpPr>
        <p:spPr>
          <a:xfrm>
            <a:off x="8970264" y="146304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9" name="o_114"/>
          <p:cNvSpPr/>
          <p:nvPr/>
        </p:nvSpPr>
        <p:spPr>
          <a:xfrm>
            <a:off x="9244584" y="1737360"/>
            <a:ext cx="685800" cy="685800"/>
          </a:xfrm>
          <a:prstGeom prst="ellipse">
            <a:avLst/>
          </a:prstGeom>
          <a:solidFill>
            <a:schemeClr val="accent5"/>
          </a:solidFill>
          <a:ln/>
        </p:spPr>
      </p:sp>
      <p:pic>
        <p:nvPicPr>
          <p:cNvPr id="20" name="o_115_in" descr="preencoded.png">    </p:cNvPr>
          <p:cNvPicPr>
            <a:picLocks noChangeAspect="1"/>
          </p:cNvPicPr>
          <p:nvPr/>
        </p:nvPicPr>
        <p:blipFill>
          <a:blip r:embed="rId4"/>
          <a:stretch>
            <a:fillRect/>
          </a:stretch>
        </p:blipFill>
        <p:spPr>
          <a:xfrm>
            <a:off x="9409176" y="1901952"/>
            <a:ext cx="356616" cy="356616"/>
          </a:xfrm>
          <a:prstGeom prst="rect">
            <a:avLst/>
          </a:prstGeom>
        </p:spPr>
      </p:pic>
      <p:sp>
        <p:nvSpPr>
          <p:cNvPr id="21" name="o_116"/>
          <p:cNvSpPr txBox="1"/>
          <p:nvPr/>
        </p:nvSpPr>
        <p:spPr>
          <a:xfrm>
            <a:off x="9244584" y="2560320"/>
            <a:ext cx="2194560" cy="365760"/>
          </a:xfrm>
          <a:prstGeom prst="rect">
            <a:avLst/>
          </a:prstGeom>
          <a:noFill/>
          <a:ln/>
        </p:spPr>
        <p:txBody>
          <a:bodyPr wrap="square" lIns="0" tIns="0" rIns="0" bIns="0" rtlCol="0" anchor="t"/>
          <a:lstStyle/>
          <a:p>
            <a:pPr indent="0" marL="0">
              <a:buNone/>
            </a:pPr>
            <a:r>
              <a:rPr lang="en-US" sz="1600" b="1" dirty="0">
                <a:solidFill>
                  <a:schemeClr val="tx1"/>
                </a:solidFill>
              </a:rPr>
              <a:t>Access log</a:t>
            </a:r>
            <a:endParaRPr lang="en-US" sz="1600" dirty="0"/>
          </a:p>
        </p:txBody>
      </p:sp>
      <p:sp>
        <p:nvSpPr>
          <p:cNvPr id="22" name="o_117"/>
          <p:cNvSpPr txBox="1"/>
          <p:nvPr/>
        </p:nvSpPr>
        <p:spPr>
          <a:xfrm>
            <a:off x="9244584" y="2926080"/>
            <a:ext cx="2194560" cy="594360"/>
          </a:xfrm>
          <a:prstGeom prst="rect">
            <a:avLst/>
          </a:prstGeom>
          <a:noFill/>
          <a:ln/>
        </p:spPr>
        <p:txBody>
          <a:bodyPr wrap="square" lIns="0" tIns="0" rIns="0" bIns="0" rtlCol="0" anchor="t"/>
          <a:lstStyle/>
          <a:p>
            <a:pPr indent="0" marL="0">
              <a:buNone/>
            </a:pPr>
            <a:r>
              <a:rPr lang="en-US" sz="1300" dirty="0">
                <a:solidFill>
                  <a:srgbClr val="5D647D"/>
                </a:solidFill>
              </a:rPr>
              <a:t>Who opened it, when, which device</a:t>
            </a:r>
            <a:endParaRPr lang="en-US" sz="1300" dirty="0"/>
          </a:p>
        </p:txBody>
      </p:sp>
      <p:sp>
        <p:nvSpPr>
          <p:cNvPr id="23" name="a_118"/>
          <p:cNvSpPr/>
          <p:nvPr/>
        </p:nvSpPr>
        <p:spPr>
          <a:xfrm>
            <a:off x="548640" y="384048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4" name="o_119"/>
          <p:cNvSpPr/>
          <p:nvPr/>
        </p:nvSpPr>
        <p:spPr>
          <a:xfrm>
            <a:off x="822960" y="4114800"/>
            <a:ext cx="685800" cy="685800"/>
          </a:xfrm>
          <a:prstGeom prst="ellipse">
            <a:avLst/>
          </a:prstGeom>
          <a:solidFill>
            <a:schemeClr val="accent4"/>
          </a:solidFill>
          <a:ln/>
        </p:spPr>
      </p:sp>
      <p:pic>
        <p:nvPicPr>
          <p:cNvPr id="25" name="o_120_in" descr="preencoded.png">    </p:cNvPr>
          <p:cNvPicPr>
            <a:picLocks noChangeAspect="1"/>
          </p:cNvPicPr>
          <p:nvPr/>
        </p:nvPicPr>
        <p:blipFill>
          <a:blip r:embed="rId5"/>
          <a:stretch>
            <a:fillRect/>
          </a:stretch>
        </p:blipFill>
        <p:spPr>
          <a:xfrm>
            <a:off x="987552" y="4279392"/>
            <a:ext cx="356616" cy="356616"/>
          </a:xfrm>
          <a:prstGeom prst="rect">
            <a:avLst/>
          </a:prstGeom>
        </p:spPr>
      </p:pic>
      <p:sp>
        <p:nvSpPr>
          <p:cNvPr id="26" name="o_121"/>
          <p:cNvSpPr txBox="1"/>
          <p:nvPr/>
        </p:nvSpPr>
        <p:spPr>
          <a:xfrm>
            <a:off x="822960" y="4937760"/>
            <a:ext cx="2194560" cy="365760"/>
          </a:xfrm>
          <a:prstGeom prst="rect">
            <a:avLst/>
          </a:prstGeom>
          <a:noFill/>
          <a:ln/>
        </p:spPr>
        <p:txBody>
          <a:bodyPr wrap="square" lIns="0" tIns="0" rIns="0" bIns="0" rtlCol="0" anchor="t"/>
          <a:lstStyle/>
          <a:p>
            <a:pPr indent="0" marL="0">
              <a:buNone/>
            </a:pPr>
            <a:r>
              <a:rPr lang="en-US" sz="1600" b="1" dirty="0">
                <a:solidFill>
                  <a:schemeClr val="tx1"/>
                </a:solidFill>
              </a:rPr>
              <a:t>Public verifier</a:t>
            </a:r>
            <a:endParaRPr lang="en-US" sz="1600" dirty="0"/>
          </a:p>
        </p:txBody>
      </p:sp>
      <p:sp>
        <p:nvSpPr>
          <p:cNvPr id="27" name="o_122"/>
          <p:cNvSpPr txBox="1"/>
          <p:nvPr/>
        </p:nvSpPr>
        <p:spPr>
          <a:xfrm>
            <a:off x="822960" y="5303520"/>
            <a:ext cx="2194560" cy="594360"/>
          </a:xfrm>
          <a:prstGeom prst="rect">
            <a:avLst/>
          </a:prstGeom>
          <a:noFill/>
          <a:ln/>
        </p:spPr>
        <p:txBody>
          <a:bodyPr wrap="square" lIns="0" tIns="0" rIns="0" bIns="0" rtlCol="0" anchor="t"/>
          <a:lstStyle/>
          <a:p>
            <a:pPr indent="0" marL="0">
              <a:buNone/>
            </a:pPr>
            <a:r>
              <a:rPr lang="en-US" sz="1300" dirty="0">
                <a:solidFill>
                  <a:srgbClr val="5D647D"/>
                </a:solidFill>
              </a:rPr>
              <a:t>Five checks, camera QR scanning</a:t>
            </a:r>
            <a:endParaRPr lang="en-US" sz="1300" dirty="0"/>
          </a:p>
        </p:txBody>
      </p:sp>
      <p:sp>
        <p:nvSpPr>
          <p:cNvPr id="28" name="a_123"/>
          <p:cNvSpPr/>
          <p:nvPr/>
        </p:nvSpPr>
        <p:spPr>
          <a:xfrm>
            <a:off x="3355848" y="384048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9" name="o_124"/>
          <p:cNvSpPr/>
          <p:nvPr/>
        </p:nvSpPr>
        <p:spPr>
          <a:xfrm>
            <a:off x="3630168" y="4114800"/>
            <a:ext cx="685800" cy="685800"/>
          </a:xfrm>
          <a:prstGeom prst="ellipse">
            <a:avLst/>
          </a:prstGeom>
          <a:solidFill>
            <a:schemeClr val="accent1"/>
          </a:solidFill>
          <a:ln/>
        </p:spPr>
      </p:sp>
      <p:pic>
        <p:nvPicPr>
          <p:cNvPr id="30" name="o_125_in" descr="preencoded.png">    </p:cNvPr>
          <p:cNvPicPr>
            <a:picLocks noChangeAspect="1"/>
          </p:cNvPicPr>
          <p:nvPr/>
        </p:nvPicPr>
        <p:blipFill>
          <a:blip r:embed="rId6"/>
          <a:stretch>
            <a:fillRect/>
          </a:stretch>
        </p:blipFill>
        <p:spPr>
          <a:xfrm>
            <a:off x="3794760" y="4279392"/>
            <a:ext cx="356616" cy="356616"/>
          </a:xfrm>
          <a:prstGeom prst="rect">
            <a:avLst/>
          </a:prstGeom>
        </p:spPr>
      </p:pic>
      <p:sp>
        <p:nvSpPr>
          <p:cNvPr id="31" name="o_126"/>
          <p:cNvSpPr txBox="1"/>
          <p:nvPr/>
        </p:nvSpPr>
        <p:spPr>
          <a:xfrm>
            <a:off x="3630168" y="4937760"/>
            <a:ext cx="2194560" cy="365760"/>
          </a:xfrm>
          <a:prstGeom prst="rect">
            <a:avLst/>
          </a:prstGeom>
          <a:noFill/>
          <a:ln/>
        </p:spPr>
        <p:txBody>
          <a:bodyPr wrap="square" lIns="0" tIns="0" rIns="0" bIns="0" rtlCol="0" anchor="t"/>
          <a:lstStyle/>
          <a:p>
            <a:pPr indent="0" marL="0">
              <a:buNone/>
            </a:pPr>
            <a:r>
              <a:rPr lang="en-US" sz="1600" b="1" dirty="0">
                <a:solidFill>
                  <a:schemeClr val="tx1"/>
                </a:solidFill>
              </a:rPr>
              <a:t>Encrypted vault</a:t>
            </a:r>
            <a:endParaRPr lang="en-US" sz="1600" dirty="0"/>
          </a:p>
        </p:txBody>
      </p:sp>
      <p:sp>
        <p:nvSpPr>
          <p:cNvPr id="32" name="o_127"/>
          <p:cNvSpPr txBox="1"/>
          <p:nvPr/>
        </p:nvSpPr>
        <p:spPr>
          <a:xfrm>
            <a:off x="3630168" y="5303520"/>
            <a:ext cx="2194560" cy="594360"/>
          </a:xfrm>
          <a:prstGeom prst="rect">
            <a:avLst/>
          </a:prstGeom>
          <a:noFill/>
          <a:ln/>
        </p:spPr>
        <p:txBody>
          <a:bodyPr wrap="square" lIns="0" tIns="0" rIns="0" bIns="0" rtlCol="0" anchor="t"/>
          <a:lstStyle/>
          <a:p>
            <a:pPr indent="0" marL="0">
              <a:buNone/>
            </a:pPr>
            <a:r>
              <a:rPr lang="en-US" sz="1300" dirty="0">
                <a:solidFill>
                  <a:srgbClr val="5D647D"/>
                </a:solidFill>
              </a:rPr>
              <a:t>PDF / image docs, AES-256-GCM</a:t>
            </a:r>
            <a:endParaRPr lang="en-US" sz="1300" dirty="0"/>
          </a:p>
        </p:txBody>
      </p:sp>
      <p:sp>
        <p:nvSpPr>
          <p:cNvPr id="33" name="a_128"/>
          <p:cNvSpPr/>
          <p:nvPr/>
        </p:nvSpPr>
        <p:spPr>
          <a:xfrm>
            <a:off x="6163056" y="384048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34" name="o_129"/>
          <p:cNvSpPr/>
          <p:nvPr/>
        </p:nvSpPr>
        <p:spPr>
          <a:xfrm>
            <a:off x="6437376" y="4114800"/>
            <a:ext cx="685800" cy="685800"/>
          </a:xfrm>
          <a:prstGeom prst="ellipse">
            <a:avLst/>
          </a:prstGeom>
          <a:solidFill>
            <a:schemeClr val="accent2"/>
          </a:solidFill>
          <a:ln/>
        </p:spPr>
      </p:sp>
      <p:pic>
        <p:nvPicPr>
          <p:cNvPr id="35" name="o_130_in" descr="preencoded.png">    </p:cNvPr>
          <p:cNvPicPr>
            <a:picLocks noChangeAspect="1"/>
          </p:cNvPicPr>
          <p:nvPr/>
        </p:nvPicPr>
        <p:blipFill>
          <a:blip r:embed="rId7"/>
          <a:stretch>
            <a:fillRect/>
          </a:stretch>
        </p:blipFill>
        <p:spPr>
          <a:xfrm>
            <a:off x="6601968" y="4279392"/>
            <a:ext cx="356616" cy="356616"/>
          </a:xfrm>
          <a:prstGeom prst="rect">
            <a:avLst/>
          </a:prstGeom>
        </p:spPr>
      </p:pic>
      <p:sp>
        <p:nvSpPr>
          <p:cNvPr id="36" name="o_131"/>
          <p:cNvSpPr txBox="1"/>
          <p:nvPr/>
        </p:nvSpPr>
        <p:spPr>
          <a:xfrm>
            <a:off x="6437376" y="4937760"/>
            <a:ext cx="2194560" cy="365760"/>
          </a:xfrm>
          <a:prstGeom prst="rect">
            <a:avLst/>
          </a:prstGeom>
          <a:noFill/>
          <a:ln/>
        </p:spPr>
        <p:txBody>
          <a:bodyPr wrap="square" lIns="0" tIns="0" rIns="0" bIns="0" rtlCol="0" anchor="t"/>
          <a:lstStyle/>
          <a:p>
            <a:pPr indent="0" marL="0">
              <a:buNone/>
            </a:pPr>
            <a:r>
              <a:rPr lang="en-US" sz="1600" b="1" dirty="0">
                <a:solidFill>
                  <a:schemeClr val="tx1"/>
                </a:solidFill>
              </a:rPr>
              <a:t>Two-factor login</a:t>
            </a:r>
            <a:endParaRPr lang="en-US" sz="1600" dirty="0"/>
          </a:p>
        </p:txBody>
      </p:sp>
      <p:sp>
        <p:nvSpPr>
          <p:cNvPr id="37" name="o_132"/>
          <p:cNvSpPr txBox="1"/>
          <p:nvPr/>
        </p:nvSpPr>
        <p:spPr>
          <a:xfrm>
            <a:off x="6437376" y="5303520"/>
            <a:ext cx="2194560" cy="594360"/>
          </a:xfrm>
          <a:prstGeom prst="rect">
            <a:avLst/>
          </a:prstGeom>
          <a:noFill/>
          <a:ln/>
        </p:spPr>
        <p:txBody>
          <a:bodyPr wrap="square" lIns="0" tIns="0" rIns="0" bIns="0" rtlCol="0" anchor="t"/>
          <a:lstStyle/>
          <a:p>
            <a:pPr indent="0" marL="0">
              <a:buNone/>
            </a:pPr>
            <a:r>
              <a:rPr lang="en-US" sz="1300" dirty="0">
                <a:solidFill>
                  <a:srgbClr val="5D647D"/>
                </a:solidFill>
              </a:rPr>
              <a:t>TOTP with any authenticator app</a:t>
            </a:r>
            <a:endParaRPr lang="en-US" sz="1300" dirty="0"/>
          </a:p>
        </p:txBody>
      </p:sp>
      <p:sp>
        <p:nvSpPr>
          <p:cNvPr id="38" name="a_133"/>
          <p:cNvSpPr/>
          <p:nvPr/>
        </p:nvSpPr>
        <p:spPr>
          <a:xfrm>
            <a:off x="8970264" y="3840480"/>
            <a:ext cx="2606040" cy="2148840"/>
          </a:xfrm>
          <a:prstGeom prst="roundRect">
            <a:avLst>
              <a:gd name="adj" fmla="val 5106"/>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39" name="o_134"/>
          <p:cNvSpPr/>
          <p:nvPr/>
        </p:nvSpPr>
        <p:spPr>
          <a:xfrm>
            <a:off x="9244584" y="4114800"/>
            <a:ext cx="685800" cy="685800"/>
          </a:xfrm>
          <a:prstGeom prst="ellipse">
            <a:avLst/>
          </a:prstGeom>
          <a:solidFill>
            <a:schemeClr val="accent6"/>
          </a:solidFill>
          <a:ln/>
        </p:spPr>
      </p:sp>
      <p:pic>
        <p:nvPicPr>
          <p:cNvPr id="40" name="o_135_in" descr="preencoded.png">    </p:cNvPr>
          <p:cNvPicPr>
            <a:picLocks noChangeAspect="1"/>
          </p:cNvPicPr>
          <p:nvPr/>
        </p:nvPicPr>
        <p:blipFill>
          <a:blip r:embed="rId8"/>
          <a:stretch>
            <a:fillRect/>
          </a:stretch>
        </p:blipFill>
        <p:spPr>
          <a:xfrm>
            <a:off x="9409176" y="4279392"/>
            <a:ext cx="356616" cy="356616"/>
          </a:xfrm>
          <a:prstGeom prst="rect">
            <a:avLst/>
          </a:prstGeom>
        </p:spPr>
      </p:pic>
      <p:sp>
        <p:nvSpPr>
          <p:cNvPr id="41" name="o_136"/>
          <p:cNvSpPr txBox="1"/>
          <p:nvPr/>
        </p:nvSpPr>
        <p:spPr>
          <a:xfrm>
            <a:off x="9244584" y="4937760"/>
            <a:ext cx="2194560" cy="365760"/>
          </a:xfrm>
          <a:prstGeom prst="rect">
            <a:avLst/>
          </a:prstGeom>
          <a:noFill/>
          <a:ln/>
        </p:spPr>
        <p:txBody>
          <a:bodyPr wrap="square" lIns="0" tIns="0" rIns="0" bIns="0" rtlCol="0" anchor="t"/>
          <a:lstStyle/>
          <a:p>
            <a:pPr indent="0" marL="0">
              <a:buNone/>
            </a:pPr>
            <a:r>
              <a:rPr lang="en-US" sz="1600" b="1" dirty="0">
                <a:solidFill>
                  <a:schemeClr val="tx1"/>
                </a:solidFill>
              </a:rPr>
              <a:t>Hash-chained audit</a:t>
            </a:r>
            <a:endParaRPr lang="en-US" sz="1600" dirty="0"/>
          </a:p>
        </p:txBody>
      </p:sp>
      <p:sp>
        <p:nvSpPr>
          <p:cNvPr id="42" name="o_137"/>
          <p:cNvSpPr txBox="1"/>
          <p:nvPr/>
        </p:nvSpPr>
        <p:spPr>
          <a:xfrm>
            <a:off x="9244584" y="5303520"/>
            <a:ext cx="2194560" cy="594360"/>
          </a:xfrm>
          <a:prstGeom prst="rect">
            <a:avLst/>
          </a:prstGeom>
          <a:noFill/>
          <a:ln/>
        </p:spPr>
        <p:txBody>
          <a:bodyPr wrap="square" lIns="0" tIns="0" rIns="0" bIns="0" rtlCol="0" anchor="t"/>
          <a:lstStyle/>
          <a:p>
            <a:pPr indent="0" marL="0">
              <a:buNone/>
            </a:pPr>
            <a:r>
              <a:rPr lang="en-US" sz="1300" dirty="0">
                <a:solidFill>
                  <a:srgbClr val="5D647D"/>
                </a:solidFill>
              </a:rPr>
              <a:t>Tamper-evident event history</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anim calcmode="lin" valueType="num">
                                      <p:cBhvr>
                                        <p:cTn id="49" dur="500" decel="100000" fill="hold"/>
                                        <p:tgtEl>
                                          <p:spTgt spid="11"/>
                                        </p:tgtEl>
                                        <p:attrNameLst>
                                          <p:attrName>ppt_x</p:attrName>
                                        </p:attrNameLst>
                                      </p:cBhvr>
                                      <p:tavLst>
                                        <p:tav tm="0">
                                          <p:val>
                                            <p:strVal val="#ppt_x"/>
                                          </p:val>
                                        </p:tav>
                                        <p:tav tm="100000">
                                          <p:val>
                                            <p:strVal val="#ppt_x"/>
                                          </p:val>
                                        </p:tav>
                                      </p:tavLst>
                                    </p:anim>
                                    <p:anim calcmode="lin" valueType="num">
                                      <p:cBhvr>
                                        <p:cTn id="50" dur="500" decel="100000" fill="hold"/>
                                        <p:tgtEl>
                                          <p:spTgt spid="11"/>
                                        </p:tgtEl>
                                        <p:attrNameLst>
                                          <p:attrName>ppt_y</p:attrName>
                                        </p:attrNameLst>
                                      </p:cBhvr>
                                      <p:tavLst>
                                        <p:tav tm="0">
                                          <p:val>
                                            <p:strVal val="#ppt_y+.04"/>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decel="100000" fill="hold"/>
                                        <p:tgtEl>
                                          <p:spTgt spid="12"/>
                                        </p:tgtEl>
                                        <p:attrNameLst>
                                          <p:attrName>ppt_x</p:attrName>
                                        </p:attrNameLst>
                                      </p:cBhvr>
                                      <p:tavLst>
                                        <p:tav tm="0">
                                          <p:val>
                                            <p:strVal val="#ppt_x"/>
                                          </p:val>
                                        </p:tav>
                                        <p:tav tm="100000">
                                          <p:val>
                                            <p:strVal val="#ppt_x"/>
                                          </p:val>
                                        </p:tav>
                                      </p:tavLst>
                                    </p:anim>
                                    <p:anim calcmode="lin" valueType="num">
                                      <p:cBhvr>
                                        <p:cTn id="55" dur="500" decel="100000" fill="hold"/>
                                        <p:tgtEl>
                                          <p:spTgt spid="12"/>
                                        </p:tgtEl>
                                        <p:attrNameLst>
                                          <p:attrName>ppt_y</p:attrName>
                                        </p:attrNameLst>
                                      </p:cBhvr>
                                      <p:tavLst>
                                        <p:tav tm="0">
                                          <p:val>
                                            <p:strVal val="#ppt_y+.04"/>
                                          </p:val>
                                        </p:tav>
                                        <p:tav tm="100000">
                                          <p:val>
                                            <p:strVal val="#ppt_y"/>
                                          </p:val>
                                        </p:tav>
                                      </p:tavLst>
                                    </p:anim>
                                  </p:childTnLst>
                                </p:cTn>
                              </p:par>
                            </p:childTnLst>
                          </p:cTn>
                        </p:par>
                        <p:par>
                          <p:cTn id="56" fill="hold">
                            <p:stCondLst>
                              <p:cond delay="700"/>
                            </p:stCondLst>
                            <p:childTnLst>
                              <p:par>
                                <p:cTn id="57" presetID="42" presetClass="entr" presetSubtype="0"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500"/>
                                        <p:tgtEl>
                                          <p:spTgt spid="17"/>
                                        </p:tgtEl>
                                      </p:cBhvr>
                                    </p:animEffect>
                                    <p:anim calcmode="lin" valueType="num">
                                      <p:cBhvr>
                                        <p:cTn id="80" dur="500" decel="100000" fill="hold"/>
                                        <p:tgtEl>
                                          <p:spTgt spid="17"/>
                                        </p:tgtEl>
                                        <p:attrNameLst>
                                          <p:attrName>ppt_x</p:attrName>
                                        </p:attrNameLst>
                                      </p:cBhvr>
                                      <p:tavLst>
                                        <p:tav tm="0">
                                          <p:val>
                                            <p:strVal val="#ppt_x"/>
                                          </p:val>
                                        </p:tav>
                                        <p:tav tm="100000">
                                          <p:val>
                                            <p:strVal val="#ppt_x"/>
                                          </p:val>
                                        </p:tav>
                                      </p:tavLst>
                                    </p:anim>
                                    <p:anim calcmode="lin" valueType="num">
                                      <p:cBhvr>
                                        <p:cTn id="81" dur="500" decel="100000" fill="hold"/>
                                        <p:tgtEl>
                                          <p:spTgt spid="17"/>
                                        </p:tgtEl>
                                        <p:attrNameLst>
                                          <p:attrName>ppt_y</p:attrName>
                                        </p:attrNameLst>
                                      </p:cBhvr>
                                      <p:tavLst>
                                        <p:tav tm="0">
                                          <p:val>
                                            <p:strVal val="#ppt_y+.04"/>
                                          </p:val>
                                        </p:tav>
                                        <p:tav tm="100000">
                                          <p:val>
                                            <p:strVal val="#ppt_y"/>
                                          </p:val>
                                        </p:tav>
                                      </p:tavLst>
                                    </p:anim>
                                  </p:childTnLst>
                                </p:cTn>
                              </p:par>
                            </p:childTnLst>
                          </p:cTn>
                        </p:par>
                        <p:par>
                          <p:cTn id="82" fill="hold">
                            <p:stCondLst>
                              <p:cond delay="1050"/>
                            </p:stCondLst>
                            <p:childTnLst>
                              <p:par>
                                <p:cTn id="83" presetID="42"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decel="100000" fill="hold"/>
                                        <p:tgtEl>
                                          <p:spTgt spid="18"/>
                                        </p:tgtEl>
                                        <p:attrNameLst>
                                          <p:attrName>ppt_x</p:attrName>
                                        </p:attrNameLst>
                                      </p:cBhvr>
                                      <p:tavLst>
                                        <p:tav tm="0">
                                          <p:val>
                                            <p:strVal val="#ppt_x"/>
                                          </p:val>
                                        </p:tav>
                                        <p:tav tm="100000">
                                          <p:val>
                                            <p:strVal val="#ppt_x"/>
                                          </p:val>
                                        </p:tav>
                                      </p:tavLst>
                                    </p:anim>
                                    <p:anim calcmode="lin" valueType="num">
                                      <p:cBhvr>
                                        <p:cTn id="87" dur="500" decel="100000" fill="hold"/>
                                        <p:tgtEl>
                                          <p:spTgt spid="18"/>
                                        </p:tgtEl>
                                        <p:attrNameLst>
                                          <p:attrName>ppt_y</p:attrName>
                                        </p:attrNameLst>
                                      </p:cBhvr>
                                      <p:tavLst>
                                        <p:tav tm="0">
                                          <p:val>
                                            <p:strVal val="#ppt_y+.04"/>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anim calcmode="lin" valueType="num">
                                      <p:cBhvr>
                                        <p:cTn id="91" dur="500" decel="100000" fill="hold"/>
                                        <p:tgtEl>
                                          <p:spTgt spid="19"/>
                                        </p:tgtEl>
                                        <p:attrNameLst>
                                          <p:attrName>ppt_x</p:attrName>
                                        </p:attrNameLst>
                                      </p:cBhvr>
                                      <p:tavLst>
                                        <p:tav tm="0">
                                          <p:val>
                                            <p:strVal val="#ppt_x"/>
                                          </p:val>
                                        </p:tav>
                                        <p:tav tm="100000">
                                          <p:val>
                                            <p:strVal val="#ppt_x"/>
                                          </p:val>
                                        </p:tav>
                                      </p:tavLst>
                                    </p:anim>
                                    <p:anim calcmode="lin" valueType="num">
                                      <p:cBhvr>
                                        <p:cTn id="92" dur="500" decel="100000" fill="hold"/>
                                        <p:tgtEl>
                                          <p:spTgt spid="19"/>
                                        </p:tgtEl>
                                        <p:attrNameLst>
                                          <p:attrName>ppt_y</p:attrName>
                                        </p:attrNameLst>
                                      </p:cBhvr>
                                      <p:tavLst>
                                        <p:tav tm="0">
                                          <p:val>
                                            <p:strVal val="#ppt_y+.04"/>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500"/>
                                        <p:tgtEl>
                                          <p:spTgt spid="20"/>
                                        </p:tgtEl>
                                      </p:cBhvr>
                                    </p:animEffect>
                                    <p:anim calcmode="lin" valueType="num">
                                      <p:cBhvr>
                                        <p:cTn id="96" dur="500" decel="100000" fill="hold"/>
                                        <p:tgtEl>
                                          <p:spTgt spid="20"/>
                                        </p:tgtEl>
                                        <p:attrNameLst>
                                          <p:attrName>ppt_x</p:attrName>
                                        </p:attrNameLst>
                                      </p:cBhvr>
                                      <p:tavLst>
                                        <p:tav tm="0">
                                          <p:val>
                                            <p:strVal val="#ppt_x"/>
                                          </p:val>
                                        </p:tav>
                                        <p:tav tm="100000">
                                          <p:val>
                                            <p:strVal val="#ppt_x"/>
                                          </p:val>
                                        </p:tav>
                                      </p:tavLst>
                                    </p:anim>
                                    <p:anim calcmode="lin" valueType="num">
                                      <p:cBhvr>
                                        <p:cTn id="97" dur="500" decel="100000" fill="hold"/>
                                        <p:tgtEl>
                                          <p:spTgt spid="20"/>
                                        </p:tgtEl>
                                        <p:attrNameLst>
                                          <p:attrName>ppt_y</p:attrName>
                                        </p:attrNameLst>
                                      </p:cBhvr>
                                      <p:tavLst>
                                        <p:tav tm="0">
                                          <p:val>
                                            <p:strVal val="#ppt_y+.04"/>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500"/>
                                        <p:tgtEl>
                                          <p:spTgt spid="21"/>
                                        </p:tgtEl>
                                      </p:cBhvr>
                                    </p:animEffect>
                                    <p:anim calcmode="lin" valueType="num">
                                      <p:cBhvr>
                                        <p:cTn id="101" dur="500" decel="100000" fill="hold"/>
                                        <p:tgtEl>
                                          <p:spTgt spid="21"/>
                                        </p:tgtEl>
                                        <p:attrNameLst>
                                          <p:attrName>ppt_x</p:attrName>
                                        </p:attrNameLst>
                                      </p:cBhvr>
                                      <p:tavLst>
                                        <p:tav tm="0">
                                          <p:val>
                                            <p:strVal val="#ppt_x"/>
                                          </p:val>
                                        </p:tav>
                                        <p:tav tm="100000">
                                          <p:val>
                                            <p:strVal val="#ppt_x"/>
                                          </p:val>
                                        </p:tav>
                                      </p:tavLst>
                                    </p:anim>
                                    <p:anim calcmode="lin" valueType="num">
                                      <p:cBhvr>
                                        <p:cTn id="102" dur="500" decel="100000" fill="hold"/>
                                        <p:tgtEl>
                                          <p:spTgt spid="21"/>
                                        </p:tgtEl>
                                        <p:attrNameLst>
                                          <p:attrName>ppt_y</p:attrName>
                                        </p:attrNameLst>
                                      </p:cBhvr>
                                      <p:tavLst>
                                        <p:tav tm="0">
                                          <p:val>
                                            <p:strVal val="#ppt_y+.04"/>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500"/>
                                        <p:tgtEl>
                                          <p:spTgt spid="22"/>
                                        </p:tgtEl>
                                      </p:cBhvr>
                                    </p:animEffect>
                                    <p:anim calcmode="lin" valueType="num">
                                      <p:cBhvr>
                                        <p:cTn id="106" dur="500" decel="100000" fill="hold"/>
                                        <p:tgtEl>
                                          <p:spTgt spid="22"/>
                                        </p:tgtEl>
                                        <p:attrNameLst>
                                          <p:attrName>ppt_x</p:attrName>
                                        </p:attrNameLst>
                                      </p:cBhvr>
                                      <p:tavLst>
                                        <p:tav tm="0">
                                          <p:val>
                                            <p:strVal val="#ppt_x"/>
                                          </p:val>
                                        </p:tav>
                                        <p:tav tm="100000">
                                          <p:val>
                                            <p:strVal val="#ppt_x"/>
                                          </p:val>
                                        </p:tav>
                                      </p:tavLst>
                                    </p:anim>
                                    <p:anim calcmode="lin" valueType="num">
                                      <p:cBhvr>
                                        <p:cTn id="107" dur="500" decel="100000" fill="hold"/>
                                        <p:tgtEl>
                                          <p:spTgt spid="22"/>
                                        </p:tgtEl>
                                        <p:attrNameLst>
                                          <p:attrName>ppt_y</p:attrName>
                                        </p:attrNameLst>
                                      </p:cBhvr>
                                      <p:tavLst>
                                        <p:tav tm="0">
                                          <p:val>
                                            <p:strVal val="#ppt_y+.04"/>
                                          </p:val>
                                        </p:tav>
                                        <p:tav tm="100000">
                                          <p:val>
                                            <p:strVal val="#ppt_y"/>
                                          </p:val>
                                        </p:tav>
                                      </p:tavLst>
                                    </p:anim>
                                  </p:childTnLst>
                                </p:cTn>
                              </p:par>
                            </p:childTnLst>
                          </p:cTn>
                        </p:par>
                        <p:par>
                          <p:cTn id="108" fill="hold">
                            <p:stCondLst>
                              <p:cond delay="1400"/>
                            </p:stCondLst>
                            <p:childTnLst>
                              <p:par>
                                <p:cTn id="109" presetID="42" presetClass="entr" presetSubtype="0" fill="hold" grpId="0" nodeType="after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500"/>
                                        <p:tgtEl>
                                          <p:spTgt spid="23"/>
                                        </p:tgtEl>
                                      </p:cBhvr>
                                    </p:animEffect>
                                    <p:anim calcmode="lin" valueType="num">
                                      <p:cBhvr>
                                        <p:cTn id="112" dur="500" decel="100000" fill="hold"/>
                                        <p:tgtEl>
                                          <p:spTgt spid="23"/>
                                        </p:tgtEl>
                                        <p:attrNameLst>
                                          <p:attrName>ppt_x</p:attrName>
                                        </p:attrNameLst>
                                      </p:cBhvr>
                                      <p:tavLst>
                                        <p:tav tm="0">
                                          <p:val>
                                            <p:strVal val="#ppt_x"/>
                                          </p:val>
                                        </p:tav>
                                        <p:tav tm="100000">
                                          <p:val>
                                            <p:strVal val="#ppt_x"/>
                                          </p:val>
                                        </p:tav>
                                      </p:tavLst>
                                    </p:anim>
                                    <p:anim calcmode="lin" valueType="num">
                                      <p:cBhvr>
                                        <p:cTn id="113" dur="500" decel="100000" fill="hold"/>
                                        <p:tgtEl>
                                          <p:spTgt spid="23"/>
                                        </p:tgtEl>
                                        <p:attrNameLst>
                                          <p:attrName>ppt_y</p:attrName>
                                        </p:attrNameLst>
                                      </p:cBhvr>
                                      <p:tavLst>
                                        <p:tav tm="0">
                                          <p:val>
                                            <p:strVal val="#ppt_y+.04"/>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500"/>
                                        <p:tgtEl>
                                          <p:spTgt spid="24"/>
                                        </p:tgtEl>
                                      </p:cBhvr>
                                    </p:animEffect>
                                    <p:anim calcmode="lin" valueType="num">
                                      <p:cBhvr>
                                        <p:cTn id="117" dur="500" decel="100000" fill="hold"/>
                                        <p:tgtEl>
                                          <p:spTgt spid="24"/>
                                        </p:tgtEl>
                                        <p:attrNameLst>
                                          <p:attrName>ppt_x</p:attrName>
                                        </p:attrNameLst>
                                      </p:cBhvr>
                                      <p:tavLst>
                                        <p:tav tm="0">
                                          <p:val>
                                            <p:strVal val="#ppt_x"/>
                                          </p:val>
                                        </p:tav>
                                        <p:tav tm="100000">
                                          <p:val>
                                            <p:strVal val="#ppt_x"/>
                                          </p:val>
                                        </p:tav>
                                      </p:tavLst>
                                    </p:anim>
                                    <p:anim calcmode="lin" valueType="num">
                                      <p:cBhvr>
                                        <p:cTn id="118" dur="500" decel="100000" fill="hold"/>
                                        <p:tgtEl>
                                          <p:spTgt spid="24"/>
                                        </p:tgtEl>
                                        <p:attrNameLst>
                                          <p:attrName>ppt_y</p:attrName>
                                        </p:attrNameLst>
                                      </p:cBhvr>
                                      <p:tavLst>
                                        <p:tav tm="0">
                                          <p:val>
                                            <p:strVal val="#ppt_y+.04"/>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500"/>
                                        <p:tgtEl>
                                          <p:spTgt spid="25"/>
                                        </p:tgtEl>
                                      </p:cBhvr>
                                    </p:animEffect>
                                    <p:anim calcmode="lin" valueType="num">
                                      <p:cBhvr>
                                        <p:cTn id="122" dur="500" decel="100000" fill="hold"/>
                                        <p:tgtEl>
                                          <p:spTgt spid="25"/>
                                        </p:tgtEl>
                                        <p:attrNameLst>
                                          <p:attrName>ppt_x</p:attrName>
                                        </p:attrNameLst>
                                      </p:cBhvr>
                                      <p:tavLst>
                                        <p:tav tm="0">
                                          <p:val>
                                            <p:strVal val="#ppt_x"/>
                                          </p:val>
                                        </p:tav>
                                        <p:tav tm="100000">
                                          <p:val>
                                            <p:strVal val="#ppt_x"/>
                                          </p:val>
                                        </p:tav>
                                      </p:tavLst>
                                    </p:anim>
                                    <p:anim calcmode="lin" valueType="num">
                                      <p:cBhvr>
                                        <p:cTn id="123" dur="500" decel="100000" fill="hold"/>
                                        <p:tgtEl>
                                          <p:spTgt spid="25"/>
                                        </p:tgtEl>
                                        <p:attrNameLst>
                                          <p:attrName>ppt_y</p:attrName>
                                        </p:attrNameLst>
                                      </p:cBhvr>
                                      <p:tavLst>
                                        <p:tav tm="0">
                                          <p:val>
                                            <p:strVal val="#ppt_y+.04"/>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fade">
                                      <p:cBhvr>
                                        <p:cTn id="126" dur="500"/>
                                        <p:tgtEl>
                                          <p:spTgt spid="26"/>
                                        </p:tgtEl>
                                      </p:cBhvr>
                                    </p:animEffect>
                                    <p:anim calcmode="lin" valueType="num">
                                      <p:cBhvr>
                                        <p:cTn id="127" dur="500" decel="100000" fill="hold"/>
                                        <p:tgtEl>
                                          <p:spTgt spid="26"/>
                                        </p:tgtEl>
                                        <p:attrNameLst>
                                          <p:attrName>ppt_x</p:attrName>
                                        </p:attrNameLst>
                                      </p:cBhvr>
                                      <p:tavLst>
                                        <p:tav tm="0">
                                          <p:val>
                                            <p:strVal val="#ppt_x"/>
                                          </p:val>
                                        </p:tav>
                                        <p:tav tm="100000">
                                          <p:val>
                                            <p:strVal val="#ppt_x"/>
                                          </p:val>
                                        </p:tav>
                                      </p:tavLst>
                                    </p:anim>
                                    <p:anim calcmode="lin" valueType="num">
                                      <p:cBhvr>
                                        <p:cTn id="128" dur="500" decel="100000" fill="hold"/>
                                        <p:tgtEl>
                                          <p:spTgt spid="26"/>
                                        </p:tgtEl>
                                        <p:attrNameLst>
                                          <p:attrName>ppt_y</p:attrName>
                                        </p:attrNameLst>
                                      </p:cBhvr>
                                      <p:tavLst>
                                        <p:tav tm="0">
                                          <p:val>
                                            <p:strVal val="#ppt_y+.04"/>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fade">
                                      <p:cBhvr>
                                        <p:cTn id="131" dur="500"/>
                                        <p:tgtEl>
                                          <p:spTgt spid="27"/>
                                        </p:tgtEl>
                                      </p:cBhvr>
                                    </p:animEffect>
                                    <p:anim calcmode="lin" valueType="num">
                                      <p:cBhvr>
                                        <p:cTn id="132" dur="500" decel="100000" fill="hold"/>
                                        <p:tgtEl>
                                          <p:spTgt spid="27"/>
                                        </p:tgtEl>
                                        <p:attrNameLst>
                                          <p:attrName>ppt_x</p:attrName>
                                        </p:attrNameLst>
                                      </p:cBhvr>
                                      <p:tavLst>
                                        <p:tav tm="0">
                                          <p:val>
                                            <p:strVal val="#ppt_x"/>
                                          </p:val>
                                        </p:tav>
                                        <p:tav tm="100000">
                                          <p:val>
                                            <p:strVal val="#ppt_x"/>
                                          </p:val>
                                        </p:tav>
                                      </p:tavLst>
                                    </p:anim>
                                    <p:anim calcmode="lin" valueType="num">
                                      <p:cBhvr>
                                        <p:cTn id="133" dur="500" decel="100000" fill="hold"/>
                                        <p:tgtEl>
                                          <p:spTgt spid="27"/>
                                        </p:tgtEl>
                                        <p:attrNameLst>
                                          <p:attrName>ppt_y</p:attrName>
                                        </p:attrNameLst>
                                      </p:cBhvr>
                                      <p:tavLst>
                                        <p:tav tm="0">
                                          <p:val>
                                            <p:strVal val="#ppt_y+.04"/>
                                          </p:val>
                                        </p:tav>
                                        <p:tav tm="100000">
                                          <p:val>
                                            <p:strVal val="#ppt_y"/>
                                          </p:val>
                                        </p:tav>
                                      </p:tavLst>
                                    </p:anim>
                                  </p:childTnLst>
                                </p:cTn>
                              </p:par>
                            </p:childTnLst>
                          </p:cTn>
                        </p:par>
                        <p:par>
                          <p:cTn id="134" fill="hold">
                            <p:stCondLst>
                              <p:cond delay="1750"/>
                            </p:stCondLst>
                            <p:childTnLst>
                              <p:par>
                                <p:cTn id="135" presetID="42" presetClass="entr" presetSubtype="0" fill="hold" grpId="0" nodeType="after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500"/>
                                        <p:tgtEl>
                                          <p:spTgt spid="28"/>
                                        </p:tgtEl>
                                      </p:cBhvr>
                                    </p:animEffect>
                                    <p:anim calcmode="lin" valueType="num">
                                      <p:cBhvr>
                                        <p:cTn id="138" dur="500" decel="100000" fill="hold"/>
                                        <p:tgtEl>
                                          <p:spTgt spid="28"/>
                                        </p:tgtEl>
                                        <p:attrNameLst>
                                          <p:attrName>ppt_x</p:attrName>
                                        </p:attrNameLst>
                                      </p:cBhvr>
                                      <p:tavLst>
                                        <p:tav tm="0">
                                          <p:val>
                                            <p:strVal val="#ppt_x"/>
                                          </p:val>
                                        </p:tav>
                                        <p:tav tm="100000">
                                          <p:val>
                                            <p:strVal val="#ppt_x"/>
                                          </p:val>
                                        </p:tav>
                                      </p:tavLst>
                                    </p:anim>
                                    <p:anim calcmode="lin" valueType="num">
                                      <p:cBhvr>
                                        <p:cTn id="139" dur="500" decel="100000" fill="hold"/>
                                        <p:tgtEl>
                                          <p:spTgt spid="28"/>
                                        </p:tgtEl>
                                        <p:attrNameLst>
                                          <p:attrName>ppt_y</p:attrName>
                                        </p:attrNameLst>
                                      </p:cBhvr>
                                      <p:tavLst>
                                        <p:tav tm="0">
                                          <p:val>
                                            <p:strVal val="#ppt_y+.04"/>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500"/>
                                        <p:tgtEl>
                                          <p:spTgt spid="29"/>
                                        </p:tgtEl>
                                      </p:cBhvr>
                                    </p:animEffect>
                                    <p:anim calcmode="lin" valueType="num">
                                      <p:cBhvr>
                                        <p:cTn id="143" dur="500" decel="100000" fill="hold"/>
                                        <p:tgtEl>
                                          <p:spTgt spid="29"/>
                                        </p:tgtEl>
                                        <p:attrNameLst>
                                          <p:attrName>ppt_x</p:attrName>
                                        </p:attrNameLst>
                                      </p:cBhvr>
                                      <p:tavLst>
                                        <p:tav tm="0">
                                          <p:val>
                                            <p:strVal val="#ppt_x"/>
                                          </p:val>
                                        </p:tav>
                                        <p:tav tm="100000">
                                          <p:val>
                                            <p:strVal val="#ppt_x"/>
                                          </p:val>
                                        </p:tav>
                                      </p:tavLst>
                                    </p:anim>
                                    <p:anim calcmode="lin" valueType="num">
                                      <p:cBhvr>
                                        <p:cTn id="144" dur="500" decel="100000" fill="hold"/>
                                        <p:tgtEl>
                                          <p:spTgt spid="29"/>
                                        </p:tgtEl>
                                        <p:attrNameLst>
                                          <p:attrName>ppt_y</p:attrName>
                                        </p:attrNameLst>
                                      </p:cBhvr>
                                      <p:tavLst>
                                        <p:tav tm="0">
                                          <p:val>
                                            <p:strVal val="#ppt_y+.04"/>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500"/>
                                        <p:tgtEl>
                                          <p:spTgt spid="30"/>
                                        </p:tgtEl>
                                      </p:cBhvr>
                                    </p:animEffect>
                                    <p:anim calcmode="lin" valueType="num">
                                      <p:cBhvr>
                                        <p:cTn id="148" dur="500" decel="100000" fill="hold"/>
                                        <p:tgtEl>
                                          <p:spTgt spid="30"/>
                                        </p:tgtEl>
                                        <p:attrNameLst>
                                          <p:attrName>ppt_x</p:attrName>
                                        </p:attrNameLst>
                                      </p:cBhvr>
                                      <p:tavLst>
                                        <p:tav tm="0">
                                          <p:val>
                                            <p:strVal val="#ppt_x"/>
                                          </p:val>
                                        </p:tav>
                                        <p:tav tm="100000">
                                          <p:val>
                                            <p:strVal val="#ppt_x"/>
                                          </p:val>
                                        </p:tav>
                                      </p:tavLst>
                                    </p:anim>
                                    <p:anim calcmode="lin" valueType="num">
                                      <p:cBhvr>
                                        <p:cTn id="149" dur="500" decel="100000" fill="hold"/>
                                        <p:tgtEl>
                                          <p:spTgt spid="30"/>
                                        </p:tgtEl>
                                        <p:attrNameLst>
                                          <p:attrName>ppt_y</p:attrName>
                                        </p:attrNameLst>
                                      </p:cBhvr>
                                      <p:tavLst>
                                        <p:tav tm="0">
                                          <p:val>
                                            <p:strVal val="#ppt_y+.04"/>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500"/>
                                        <p:tgtEl>
                                          <p:spTgt spid="31"/>
                                        </p:tgtEl>
                                      </p:cBhvr>
                                    </p:animEffect>
                                    <p:anim calcmode="lin" valueType="num">
                                      <p:cBhvr>
                                        <p:cTn id="153" dur="500" decel="100000" fill="hold"/>
                                        <p:tgtEl>
                                          <p:spTgt spid="31"/>
                                        </p:tgtEl>
                                        <p:attrNameLst>
                                          <p:attrName>ppt_x</p:attrName>
                                        </p:attrNameLst>
                                      </p:cBhvr>
                                      <p:tavLst>
                                        <p:tav tm="0">
                                          <p:val>
                                            <p:strVal val="#ppt_x"/>
                                          </p:val>
                                        </p:tav>
                                        <p:tav tm="100000">
                                          <p:val>
                                            <p:strVal val="#ppt_x"/>
                                          </p:val>
                                        </p:tav>
                                      </p:tavLst>
                                    </p:anim>
                                    <p:anim calcmode="lin" valueType="num">
                                      <p:cBhvr>
                                        <p:cTn id="154" dur="500" decel="100000" fill="hold"/>
                                        <p:tgtEl>
                                          <p:spTgt spid="31"/>
                                        </p:tgtEl>
                                        <p:attrNameLst>
                                          <p:attrName>ppt_y</p:attrName>
                                        </p:attrNameLst>
                                      </p:cBhvr>
                                      <p:tavLst>
                                        <p:tav tm="0">
                                          <p:val>
                                            <p:strVal val="#ppt_y+.04"/>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500"/>
                                        <p:tgtEl>
                                          <p:spTgt spid="32"/>
                                        </p:tgtEl>
                                      </p:cBhvr>
                                    </p:animEffect>
                                    <p:anim calcmode="lin" valueType="num">
                                      <p:cBhvr>
                                        <p:cTn id="158" dur="500" decel="100000" fill="hold"/>
                                        <p:tgtEl>
                                          <p:spTgt spid="32"/>
                                        </p:tgtEl>
                                        <p:attrNameLst>
                                          <p:attrName>ppt_x</p:attrName>
                                        </p:attrNameLst>
                                      </p:cBhvr>
                                      <p:tavLst>
                                        <p:tav tm="0">
                                          <p:val>
                                            <p:strVal val="#ppt_x"/>
                                          </p:val>
                                        </p:tav>
                                        <p:tav tm="100000">
                                          <p:val>
                                            <p:strVal val="#ppt_x"/>
                                          </p:val>
                                        </p:tav>
                                      </p:tavLst>
                                    </p:anim>
                                    <p:anim calcmode="lin" valueType="num">
                                      <p:cBhvr>
                                        <p:cTn id="159" dur="500" decel="100000" fill="hold"/>
                                        <p:tgtEl>
                                          <p:spTgt spid="32"/>
                                        </p:tgtEl>
                                        <p:attrNameLst>
                                          <p:attrName>ppt_y</p:attrName>
                                        </p:attrNameLst>
                                      </p:cBhvr>
                                      <p:tavLst>
                                        <p:tav tm="0">
                                          <p:val>
                                            <p:strVal val="#ppt_y+.04"/>
                                          </p:val>
                                        </p:tav>
                                        <p:tav tm="100000">
                                          <p:val>
                                            <p:strVal val="#ppt_y"/>
                                          </p:val>
                                        </p:tav>
                                      </p:tavLst>
                                    </p:anim>
                                  </p:childTnLst>
                                </p:cTn>
                              </p:par>
                            </p:childTnLst>
                          </p:cTn>
                        </p:par>
                        <p:par>
                          <p:cTn id="160" fill="hold">
                            <p:stCondLst>
                              <p:cond delay="2100"/>
                            </p:stCondLst>
                            <p:childTnLst>
                              <p:par>
                                <p:cTn id="161" presetID="42" presetClass="entr" presetSubtype="0" fill="hold" grpId="0" nodeType="afterEffect">
                                  <p:stCondLst>
                                    <p:cond delay="0"/>
                                  </p:stCondLst>
                                  <p:childTnLst>
                                    <p:set>
                                      <p:cBhvr>
                                        <p:cTn id="162" dur="1" fill="hold">
                                          <p:stCondLst>
                                            <p:cond delay="0"/>
                                          </p:stCondLst>
                                        </p:cTn>
                                        <p:tgtEl>
                                          <p:spTgt spid="33"/>
                                        </p:tgtEl>
                                        <p:attrNameLst>
                                          <p:attrName>style.visibility</p:attrName>
                                        </p:attrNameLst>
                                      </p:cBhvr>
                                      <p:to>
                                        <p:strVal val="visible"/>
                                      </p:to>
                                    </p:set>
                                    <p:animEffect transition="in" filter="fade">
                                      <p:cBhvr>
                                        <p:cTn id="163" dur="500"/>
                                        <p:tgtEl>
                                          <p:spTgt spid="33"/>
                                        </p:tgtEl>
                                      </p:cBhvr>
                                    </p:animEffect>
                                    <p:anim calcmode="lin" valueType="num">
                                      <p:cBhvr>
                                        <p:cTn id="164" dur="500" decel="100000" fill="hold"/>
                                        <p:tgtEl>
                                          <p:spTgt spid="33"/>
                                        </p:tgtEl>
                                        <p:attrNameLst>
                                          <p:attrName>ppt_x</p:attrName>
                                        </p:attrNameLst>
                                      </p:cBhvr>
                                      <p:tavLst>
                                        <p:tav tm="0">
                                          <p:val>
                                            <p:strVal val="#ppt_x"/>
                                          </p:val>
                                        </p:tav>
                                        <p:tav tm="100000">
                                          <p:val>
                                            <p:strVal val="#ppt_x"/>
                                          </p:val>
                                        </p:tav>
                                      </p:tavLst>
                                    </p:anim>
                                    <p:anim calcmode="lin" valueType="num">
                                      <p:cBhvr>
                                        <p:cTn id="165" dur="500" decel="100000" fill="hold"/>
                                        <p:tgtEl>
                                          <p:spTgt spid="33"/>
                                        </p:tgtEl>
                                        <p:attrNameLst>
                                          <p:attrName>ppt_y</p:attrName>
                                        </p:attrNameLst>
                                      </p:cBhvr>
                                      <p:tavLst>
                                        <p:tav tm="0">
                                          <p:val>
                                            <p:strVal val="#ppt_y+.04"/>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34"/>
                                        </p:tgtEl>
                                        <p:attrNameLst>
                                          <p:attrName>style.visibility</p:attrName>
                                        </p:attrNameLst>
                                      </p:cBhvr>
                                      <p:to>
                                        <p:strVal val="visible"/>
                                      </p:to>
                                    </p:set>
                                    <p:animEffect transition="in" filter="fade">
                                      <p:cBhvr>
                                        <p:cTn id="168" dur="500"/>
                                        <p:tgtEl>
                                          <p:spTgt spid="34"/>
                                        </p:tgtEl>
                                      </p:cBhvr>
                                    </p:animEffect>
                                    <p:anim calcmode="lin" valueType="num">
                                      <p:cBhvr>
                                        <p:cTn id="169" dur="500" decel="100000" fill="hold"/>
                                        <p:tgtEl>
                                          <p:spTgt spid="34"/>
                                        </p:tgtEl>
                                        <p:attrNameLst>
                                          <p:attrName>ppt_x</p:attrName>
                                        </p:attrNameLst>
                                      </p:cBhvr>
                                      <p:tavLst>
                                        <p:tav tm="0">
                                          <p:val>
                                            <p:strVal val="#ppt_x"/>
                                          </p:val>
                                        </p:tav>
                                        <p:tav tm="100000">
                                          <p:val>
                                            <p:strVal val="#ppt_x"/>
                                          </p:val>
                                        </p:tav>
                                      </p:tavLst>
                                    </p:anim>
                                    <p:anim calcmode="lin" valueType="num">
                                      <p:cBhvr>
                                        <p:cTn id="170" dur="500" decel="100000" fill="hold"/>
                                        <p:tgtEl>
                                          <p:spTgt spid="34"/>
                                        </p:tgtEl>
                                        <p:attrNameLst>
                                          <p:attrName>ppt_y</p:attrName>
                                        </p:attrNameLst>
                                      </p:cBhvr>
                                      <p:tavLst>
                                        <p:tav tm="0">
                                          <p:val>
                                            <p:strVal val="#ppt_y+.04"/>
                                          </p:val>
                                        </p:tav>
                                        <p:tav tm="100000">
                                          <p:val>
                                            <p:strVal val="#ppt_y"/>
                                          </p:val>
                                        </p:tav>
                                      </p:tavLst>
                                    </p:anim>
                                  </p:childTnLst>
                                </p:cTn>
                              </p:par>
                              <p:par>
                                <p:cTn id="171" presetID="42" presetClass="entr" presetSubtype="0" fill="hold" grpId="0" nodeType="withEffect">
                                  <p:stCondLst>
                                    <p:cond delay="0"/>
                                  </p:stCondLst>
                                  <p:childTnLst>
                                    <p:set>
                                      <p:cBhvr>
                                        <p:cTn id="172" dur="1" fill="hold">
                                          <p:stCondLst>
                                            <p:cond delay="0"/>
                                          </p:stCondLst>
                                        </p:cTn>
                                        <p:tgtEl>
                                          <p:spTgt spid="35"/>
                                        </p:tgtEl>
                                        <p:attrNameLst>
                                          <p:attrName>style.visibility</p:attrName>
                                        </p:attrNameLst>
                                      </p:cBhvr>
                                      <p:to>
                                        <p:strVal val="visible"/>
                                      </p:to>
                                    </p:set>
                                    <p:animEffect transition="in" filter="fade">
                                      <p:cBhvr>
                                        <p:cTn id="173" dur="500"/>
                                        <p:tgtEl>
                                          <p:spTgt spid="35"/>
                                        </p:tgtEl>
                                      </p:cBhvr>
                                    </p:animEffect>
                                    <p:anim calcmode="lin" valueType="num">
                                      <p:cBhvr>
                                        <p:cTn id="174" dur="500" decel="100000" fill="hold"/>
                                        <p:tgtEl>
                                          <p:spTgt spid="35"/>
                                        </p:tgtEl>
                                        <p:attrNameLst>
                                          <p:attrName>ppt_x</p:attrName>
                                        </p:attrNameLst>
                                      </p:cBhvr>
                                      <p:tavLst>
                                        <p:tav tm="0">
                                          <p:val>
                                            <p:strVal val="#ppt_x"/>
                                          </p:val>
                                        </p:tav>
                                        <p:tav tm="100000">
                                          <p:val>
                                            <p:strVal val="#ppt_x"/>
                                          </p:val>
                                        </p:tav>
                                      </p:tavLst>
                                    </p:anim>
                                    <p:anim calcmode="lin" valueType="num">
                                      <p:cBhvr>
                                        <p:cTn id="175" dur="500" decel="100000" fill="hold"/>
                                        <p:tgtEl>
                                          <p:spTgt spid="35"/>
                                        </p:tgtEl>
                                        <p:attrNameLst>
                                          <p:attrName>ppt_y</p:attrName>
                                        </p:attrNameLst>
                                      </p:cBhvr>
                                      <p:tavLst>
                                        <p:tav tm="0">
                                          <p:val>
                                            <p:strVal val="#ppt_y+.04"/>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36"/>
                                        </p:tgtEl>
                                        <p:attrNameLst>
                                          <p:attrName>style.visibility</p:attrName>
                                        </p:attrNameLst>
                                      </p:cBhvr>
                                      <p:to>
                                        <p:strVal val="visible"/>
                                      </p:to>
                                    </p:set>
                                    <p:animEffect transition="in" filter="fade">
                                      <p:cBhvr>
                                        <p:cTn id="178" dur="500"/>
                                        <p:tgtEl>
                                          <p:spTgt spid="36"/>
                                        </p:tgtEl>
                                      </p:cBhvr>
                                    </p:animEffect>
                                    <p:anim calcmode="lin" valueType="num">
                                      <p:cBhvr>
                                        <p:cTn id="179" dur="500" decel="100000" fill="hold"/>
                                        <p:tgtEl>
                                          <p:spTgt spid="36"/>
                                        </p:tgtEl>
                                        <p:attrNameLst>
                                          <p:attrName>ppt_x</p:attrName>
                                        </p:attrNameLst>
                                      </p:cBhvr>
                                      <p:tavLst>
                                        <p:tav tm="0">
                                          <p:val>
                                            <p:strVal val="#ppt_x"/>
                                          </p:val>
                                        </p:tav>
                                        <p:tav tm="100000">
                                          <p:val>
                                            <p:strVal val="#ppt_x"/>
                                          </p:val>
                                        </p:tav>
                                      </p:tavLst>
                                    </p:anim>
                                    <p:anim calcmode="lin" valueType="num">
                                      <p:cBhvr>
                                        <p:cTn id="180" dur="500" decel="100000" fill="hold"/>
                                        <p:tgtEl>
                                          <p:spTgt spid="36"/>
                                        </p:tgtEl>
                                        <p:attrNameLst>
                                          <p:attrName>ppt_y</p:attrName>
                                        </p:attrNameLst>
                                      </p:cBhvr>
                                      <p:tavLst>
                                        <p:tav tm="0">
                                          <p:val>
                                            <p:strVal val="#ppt_y+.04"/>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37"/>
                                        </p:tgtEl>
                                        <p:attrNameLst>
                                          <p:attrName>style.visibility</p:attrName>
                                        </p:attrNameLst>
                                      </p:cBhvr>
                                      <p:to>
                                        <p:strVal val="visible"/>
                                      </p:to>
                                    </p:set>
                                    <p:animEffect transition="in" filter="fade">
                                      <p:cBhvr>
                                        <p:cTn id="183" dur="500"/>
                                        <p:tgtEl>
                                          <p:spTgt spid="37"/>
                                        </p:tgtEl>
                                      </p:cBhvr>
                                    </p:animEffect>
                                    <p:anim calcmode="lin" valueType="num">
                                      <p:cBhvr>
                                        <p:cTn id="184" dur="500" decel="100000" fill="hold"/>
                                        <p:tgtEl>
                                          <p:spTgt spid="37"/>
                                        </p:tgtEl>
                                        <p:attrNameLst>
                                          <p:attrName>ppt_x</p:attrName>
                                        </p:attrNameLst>
                                      </p:cBhvr>
                                      <p:tavLst>
                                        <p:tav tm="0">
                                          <p:val>
                                            <p:strVal val="#ppt_x"/>
                                          </p:val>
                                        </p:tav>
                                        <p:tav tm="100000">
                                          <p:val>
                                            <p:strVal val="#ppt_x"/>
                                          </p:val>
                                        </p:tav>
                                      </p:tavLst>
                                    </p:anim>
                                    <p:anim calcmode="lin" valueType="num">
                                      <p:cBhvr>
                                        <p:cTn id="185" dur="500" decel="100000" fill="hold"/>
                                        <p:tgtEl>
                                          <p:spTgt spid="37"/>
                                        </p:tgtEl>
                                        <p:attrNameLst>
                                          <p:attrName>ppt_y</p:attrName>
                                        </p:attrNameLst>
                                      </p:cBhvr>
                                      <p:tavLst>
                                        <p:tav tm="0">
                                          <p:val>
                                            <p:strVal val="#ppt_y+.04"/>
                                          </p:val>
                                        </p:tav>
                                        <p:tav tm="100000">
                                          <p:val>
                                            <p:strVal val="#ppt_y"/>
                                          </p:val>
                                        </p:tav>
                                      </p:tavLst>
                                    </p:anim>
                                  </p:childTnLst>
                                </p:cTn>
                              </p:par>
                            </p:childTnLst>
                          </p:cTn>
                        </p:par>
                        <p:par>
                          <p:cTn id="186" fill="hold">
                            <p:stCondLst>
                              <p:cond delay="2450"/>
                            </p:stCondLst>
                            <p:childTnLst>
                              <p:par>
                                <p:cTn id="187" presetID="42" presetClass="entr" presetSubtype="0" fill="hold" grpId="0" nodeType="afterEffect">
                                  <p:stCondLst>
                                    <p:cond delay="0"/>
                                  </p:stCondLst>
                                  <p:childTnLst>
                                    <p:set>
                                      <p:cBhvr>
                                        <p:cTn id="188" dur="1" fill="hold">
                                          <p:stCondLst>
                                            <p:cond delay="0"/>
                                          </p:stCondLst>
                                        </p:cTn>
                                        <p:tgtEl>
                                          <p:spTgt spid="38"/>
                                        </p:tgtEl>
                                        <p:attrNameLst>
                                          <p:attrName>style.visibility</p:attrName>
                                        </p:attrNameLst>
                                      </p:cBhvr>
                                      <p:to>
                                        <p:strVal val="visible"/>
                                      </p:to>
                                    </p:set>
                                    <p:animEffect transition="in" filter="fade">
                                      <p:cBhvr>
                                        <p:cTn id="189" dur="500"/>
                                        <p:tgtEl>
                                          <p:spTgt spid="38"/>
                                        </p:tgtEl>
                                      </p:cBhvr>
                                    </p:animEffect>
                                    <p:anim calcmode="lin" valueType="num">
                                      <p:cBhvr>
                                        <p:cTn id="190" dur="500" decel="100000" fill="hold"/>
                                        <p:tgtEl>
                                          <p:spTgt spid="38"/>
                                        </p:tgtEl>
                                        <p:attrNameLst>
                                          <p:attrName>ppt_x</p:attrName>
                                        </p:attrNameLst>
                                      </p:cBhvr>
                                      <p:tavLst>
                                        <p:tav tm="0">
                                          <p:val>
                                            <p:strVal val="#ppt_x"/>
                                          </p:val>
                                        </p:tav>
                                        <p:tav tm="100000">
                                          <p:val>
                                            <p:strVal val="#ppt_x"/>
                                          </p:val>
                                        </p:tav>
                                      </p:tavLst>
                                    </p:anim>
                                    <p:anim calcmode="lin" valueType="num">
                                      <p:cBhvr>
                                        <p:cTn id="191" dur="500" decel="100000" fill="hold"/>
                                        <p:tgtEl>
                                          <p:spTgt spid="38"/>
                                        </p:tgtEl>
                                        <p:attrNameLst>
                                          <p:attrName>ppt_y</p:attrName>
                                        </p:attrNameLst>
                                      </p:cBhvr>
                                      <p:tavLst>
                                        <p:tav tm="0">
                                          <p:val>
                                            <p:strVal val="#ppt_y+.04"/>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39"/>
                                        </p:tgtEl>
                                        <p:attrNameLst>
                                          <p:attrName>style.visibility</p:attrName>
                                        </p:attrNameLst>
                                      </p:cBhvr>
                                      <p:to>
                                        <p:strVal val="visible"/>
                                      </p:to>
                                    </p:set>
                                    <p:animEffect transition="in" filter="fade">
                                      <p:cBhvr>
                                        <p:cTn id="194" dur="500"/>
                                        <p:tgtEl>
                                          <p:spTgt spid="39"/>
                                        </p:tgtEl>
                                      </p:cBhvr>
                                    </p:animEffect>
                                    <p:anim calcmode="lin" valueType="num">
                                      <p:cBhvr>
                                        <p:cTn id="195" dur="500" decel="100000" fill="hold"/>
                                        <p:tgtEl>
                                          <p:spTgt spid="39"/>
                                        </p:tgtEl>
                                        <p:attrNameLst>
                                          <p:attrName>ppt_x</p:attrName>
                                        </p:attrNameLst>
                                      </p:cBhvr>
                                      <p:tavLst>
                                        <p:tav tm="0">
                                          <p:val>
                                            <p:strVal val="#ppt_x"/>
                                          </p:val>
                                        </p:tav>
                                        <p:tav tm="100000">
                                          <p:val>
                                            <p:strVal val="#ppt_x"/>
                                          </p:val>
                                        </p:tav>
                                      </p:tavLst>
                                    </p:anim>
                                    <p:anim calcmode="lin" valueType="num">
                                      <p:cBhvr>
                                        <p:cTn id="196" dur="500" decel="100000" fill="hold"/>
                                        <p:tgtEl>
                                          <p:spTgt spid="39"/>
                                        </p:tgtEl>
                                        <p:attrNameLst>
                                          <p:attrName>ppt_y</p:attrName>
                                        </p:attrNameLst>
                                      </p:cBhvr>
                                      <p:tavLst>
                                        <p:tav tm="0">
                                          <p:val>
                                            <p:strVal val="#ppt_y+.04"/>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0"/>
                                        </p:tgtEl>
                                        <p:attrNameLst>
                                          <p:attrName>style.visibility</p:attrName>
                                        </p:attrNameLst>
                                      </p:cBhvr>
                                      <p:to>
                                        <p:strVal val="visible"/>
                                      </p:to>
                                    </p:set>
                                    <p:animEffect transition="in" filter="fade">
                                      <p:cBhvr>
                                        <p:cTn id="199" dur="500"/>
                                        <p:tgtEl>
                                          <p:spTgt spid="40"/>
                                        </p:tgtEl>
                                      </p:cBhvr>
                                    </p:animEffect>
                                    <p:anim calcmode="lin" valueType="num">
                                      <p:cBhvr>
                                        <p:cTn id="200" dur="500" decel="100000" fill="hold"/>
                                        <p:tgtEl>
                                          <p:spTgt spid="40"/>
                                        </p:tgtEl>
                                        <p:attrNameLst>
                                          <p:attrName>ppt_x</p:attrName>
                                        </p:attrNameLst>
                                      </p:cBhvr>
                                      <p:tavLst>
                                        <p:tav tm="0">
                                          <p:val>
                                            <p:strVal val="#ppt_x"/>
                                          </p:val>
                                        </p:tav>
                                        <p:tav tm="100000">
                                          <p:val>
                                            <p:strVal val="#ppt_x"/>
                                          </p:val>
                                        </p:tav>
                                      </p:tavLst>
                                    </p:anim>
                                    <p:anim calcmode="lin" valueType="num">
                                      <p:cBhvr>
                                        <p:cTn id="201" dur="500" decel="100000" fill="hold"/>
                                        <p:tgtEl>
                                          <p:spTgt spid="40"/>
                                        </p:tgtEl>
                                        <p:attrNameLst>
                                          <p:attrName>ppt_y</p:attrName>
                                        </p:attrNameLst>
                                      </p:cBhvr>
                                      <p:tavLst>
                                        <p:tav tm="0">
                                          <p:val>
                                            <p:strVal val="#ppt_y+.04"/>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41"/>
                                        </p:tgtEl>
                                        <p:attrNameLst>
                                          <p:attrName>style.visibility</p:attrName>
                                        </p:attrNameLst>
                                      </p:cBhvr>
                                      <p:to>
                                        <p:strVal val="visible"/>
                                      </p:to>
                                    </p:set>
                                    <p:animEffect transition="in" filter="fade">
                                      <p:cBhvr>
                                        <p:cTn id="204" dur="500"/>
                                        <p:tgtEl>
                                          <p:spTgt spid="41"/>
                                        </p:tgtEl>
                                      </p:cBhvr>
                                    </p:animEffect>
                                    <p:anim calcmode="lin" valueType="num">
                                      <p:cBhvr>
                                        <p:cTn id="205" dur="500" decel="100000" fill="hold"/>
                                        <p:tgtEl>
                                          <p:spTgt spid="41"/>
                                        </p:tgtEl>
                                        <p:attrNameLst>
                                          <p:attrName>ppt_x</p:attrName>
                                        </p:attrNameLst>
                                      </p:cBhvr>
                                      <p:tavLst>
                                        <p:tav tm="0">
                                          <p:val>
                                            <p:strVal val="#ppt_x"/>
                                          </p:val>
                                        </p:tav>
                                        <p:tav tm="100000">
                                          <p:val>
                                            <p:strVal val="#ppt_x"/>
                                          </p:val>
                                        </p:tav>
                                      </p:tavLst>
                                    </p:anim>
                                    <p:anim calcmode="lin" valueType="num">
                                      <p:cBhvr>
                                        <p:cTn id="206" dur="500" decel="100000" fill="hold"/>
                                        <p:tgtEl>
                                          <p:spTgt spid="41"/>
                                        </p:tgtEl>
                                        <p:attrNameLst>
                                          <p:attrName>ppt_y</p:attrName>
                                        </p:attrNameLst>
                                      </p:cBhvr>
                                      <p:tavLst>
                                        <p:tav tm="0">
                                          <p:val>
                                            <p:strVal val="#ppt_y+.04"/>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42"/>
                                        </p:tgtEl>
                                        <p:attrNameLst>
                                          <p:attrName>style.visibility</p:attrName>
                                        </p:attrNameLst>
                                      </p:cBhvr>
                                      <p:to>
                                        <p:strVal val="visible"/>
                                      </p:to>
                                    </p:set>
                                    <p:animEffect transition="in" filter="fade">
                                      <p:cBhvr>
                                        <p:cTn id="209" dur="500"/>
                                        <p:tgtEl>
                                          <p:spTgt spid="42"/>
                                        </p:tgtEl>
                                      </p:cBhvr>
                                    </p:animEffect>
                                    <p:anim calcmode="lin" valueType="num">
                                      <p:cBhvr>
                                        <p:cTn id="210" dur="500" decel="100000" fill="hold"/>
                                        <p:tgtEl>
                                          <p:spTgt spid="42"/>
                                        </p:tgtEl>
                                        <p:attrNameLst>
                                          <p:attrName>ppt_x</p:attrName>
                                        </p:attrNameLst>
                                      </p:cBhvr>
                                      <p:tavLst>
                                        <p:tav tm="0">
                                          <p:val>
                                            <p:strVal val="#ppt_x"/>
                                          </p:val>
                                        </p:tav>
                                        <p:tav tm="100000">
                                          <p:val>
                                            <p:strVal val="#ppt_x"/>
                                          </p:val>
                                        </p:tav>
                                      </p:tavLst>
                                    </p:anim>
                                    <p:anim calcmode="lin" valueType="num">
                                      <p:cBhvr>
                                        <p:cTn id="211" dur="500" decel="100000" fill="hold"/>
                                        <p:tgtEl>
                                          <p:spTgt spid="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System architecture</a:t>
            </a:r>
            <a:endParaRPr lang="en-US" sz="3200" dirty="0"/>
          </a:p>
        </p:txBody>
      </p:sp>
      <p:pic>
        <p:nvPicPr>
          <p:cNvPr id="3" name="a_138" descr="/home/claude/docs-build/deck/architecture.png">    </p:cNvPr>
          <p:cNvPicPr>
            <a:picLocks noChangeAspect="1"/>
          </p:cNvPicPr>
          <p:nvPr/>
        </p:nvPicPr>
        <p:blipFill>
          <a:blip r:embed="rId1"/>
          <a:stretch>
            <a:fillRect/>
          </a:stretch>
        </p:blipFill>
        <p:spPr>
          <a:xfrm>
            <a:off x="548640" y="1371600"/>
            <a:ext cx="7589520" cy="4189778"/>
          </a:xfrm>
          <a:prstGeom prst="rect">
            <a:avLst/>
          </a:prstGeom>
        </p:spPr>
      </p:pic>
      <p:sp>
        <p:nvSpPr>
          <p:cNvPr id="4" name="a_139"/>
          <p:cNvSpPr/>
          <p:nvPr/>
        </p:nvSpPr>
        <p:spPr>
          <a:xfrm>
            <a:off x="8503920" y="1554480"/>
            <a:ext cx="566928" cy="566928"/>
          </a:xfrm>
          <a:prstGeom prst="ellipse">
            <a:avLst/>
          </a:prstGeom>
          <a:solidFill>
            <a:schemeClr val="accent1"/>
          </a:solidFill>
          <a:ln/>
        </p:spPr>
      </p:sp>
      <p:pic>
        <p:nvPicPr>
          <p:cNvPr id="5" name="o_140_in" descr="preencoded.png">    </p:cNvPr>
          <p:cNvPicPr>
            <a:picLocks noChangeAspect="1"/>
          </p:cNvPicPr>
          <p:nvPr/>
        </p:nvPicPr>
        <p:blipFill>
          <a:blip r:embed="rId2"/>
          <a:stretch>
            <a:fillRect/>
          </a:stretch>
        </p:blipFill>
        <p:spPr>
          <a:xfrm>
            <a:off x="8639983" y="1690543"/>
            <a:ext cx="294803" cy="294803"/>
          </a:xfrm>
          <a:prstGeom prst="rect">
            <a:avLst/>
          </a:prstGeom>
        </p:spPr>
      </p:pic>
      <p:sp>
        <p:nvSpPr>
          <p:cNvPr id="6" name="o_141"/>
          <p:cNvSpPr txBox="1"/>
          <p:nvPr/>
        </p:nvSpPr>
        <p:spPr>
          <a:xfrm>
            <a:off x="9235440" y="1536192"/>
            <a:ext cx="2468880" cy="365760"/>
          </a:xfrm>
          <a:prstGeom prst="rect">
            <a:avLst/>
          </a:prstGeom>
          <a:noFill/>
          <a:ln/>
        </p:spPr>
        <p:txBody>
          <a:bodyPr wrap="square" lIns="0" tIns="0" rIns="0" bIns="0" rtlCol="0" anchor="t"/>
          <a:lstStyle/>
          <a:p>
            <a:pPr indent="0" marL="0">
              <a:buNone/>
            </a:pPr>
            <a:r>
              <a:rPr lang="en-US" sz="1600" b="1" dirty="0">
                <a:solidFill>
                  <a:schemeClr val="tx1"/>
                </a:solidFill>
              </a:rPr>
              <a:t>React 18 SPA</a:t>
            </a:r>
            <a:endParaRPr lang="en-US" sz="1600" dirty="0"/>
          </a:p>
        </p:txBody>
      </p:sp>
      <p:sp>
        <p:nvSpPr>
          <p:cNvPr id="7" name="o_142"/>
          <p:cNvSpPr txBox="1"/>
          <p:nvPr/>
        </p:nvSpPr>
        <p:spPr>
          <a:xfrm>
            <a:off x="9235440" y="1901952"/>
            <a:ext cx="2468880" cy="685800"/>
          </a:xfrm>
          <a:prstGeom prst="rect">
            <a:avLst/>
          </a:prstGeom>
          <a:noFill/>
          <a:ln/>
        </p:spPr>
        <p:txBody>
          <a:bodyPr wrap="square" lIns="0" tIns="0" rIns="0" bIns="0" rtlCol="0" anchor="t"/>
          <a:lstStyle/>
          <a:p>
            <a:pPr indent="0" marL="0">
              <a:buNone/>
            </a:pPr>
            <a:r>
              <a:rPr lang="en-US" sz="1300" dirty="0">
                <a:solidFill>
                  <a:srgbClr val="5D647D"/>
                </a:solidFill>
              </a:rPr>
              <a:t>Role-based pages; token in sessionStorage</a:t>
            </a:r>
            <a:endParaRPr lang="en-US" sz="1300" dirty="0"/>
          </a:p>
        </p:txBody>
      </p:sp>
      <p:sp>
        <p:nvSpPr>
          <p:cNvPr id="8" name="a_143"/>
          <p:cNvSpPr/>
          <p:nvPr/>
        </p:nvSpPr>
        <p:spPr>
          <a:xfrm>
            <a:off x="8503920" y="3017520"/>
            <a:ext cx="566928" cy="566928"/>
          </a:xfrm>
          <a:prstGeom prst="ellipse">
            <a:avLst/>
          </a:prstGeom>
          <a:solidFill>
            <a:schemeClr val="accent3"/>
          </a:solidFill>
          <a:ln/>
        </p:spPr>
      </p:sp>
      <p:pic>
        <p:nvPicPr>
          <p:cNvPr id="9" name="o_144_in" descr="preencoded.png">    </p:cNvPr>
          <p:cNvPicPr>
            <a:picLocks noChangeAspect="1"/>
          </p:cNvPicPr>
          <p:nvPr/>
        </p:nvPicPr>
        <p:blipFill>
          <a:blip r:embed="rId3"/>
          <a:stretch>
            <a:fillRect/>
          </a:stretch>
        </p:blipFill>
        <p:spPr>
          <a:xfrm>
            <a:off x="8639983" y="3153583"/>
            <a:ext cx="294803" cy="294803"/>
          </a:xfrm>
          <a:prstGeom prst="rect">
            <a:avLst/>
          </a:prstGeom>
        </p:spPr>
      </p:pic>
      <p:sp>
        <p:nvSpPr>
          <p:cNvPr id="10" name="o_145"/>
          <p:cNvSpPr txBox="1"/>
          <p:nvPr/>
        </p:nvSpPr>
        <p:spPr>
          <a:xfrm>
            <a:off x="9235440" y="2999232"/>
            <a:ext cx="2468880" cy="365760"/>
          </a:xfrm>
          <a:prstGeom prst="rect">
            <a:avLst/>
          </a:prstGeom>
          <a:noFill/>
          <a:ln/>
        </p:spPr>
        <p:txBody>
          <a:bodyPr wrap="square" lIns="0" tIns="0" rIns="0" bIns="0" rtlCol="0" anchor="t"/>
          <a:lstStyle/>
          <a:p>
            <a:pPr indent="0" marL="0">
              <a:buNone/>
            </a:pPr>
            <a:r>
              <a:rPr lang="en-US" sz="1600" b="1" dirty="0">
                <a:solidFill>
                  <a:schemeClr val="tx1"/>
                </a:solidFill>
              </a:rPr>
              <a:t>Layered Spring Boot</a:t>
            </a:r>
            <a:endParaRPr lang="en-US" sz="1600" dirty="0"/>
          </a:p>
        </p:txBody>
      </p:sp>
      <p:sp>
        <p:nvSpPr>
          <p:cNvPr id="11" name="o_146"/>
          <p:cNvSpPr txBox="1"/>
          <p:nvPr/>
        </p:nvSpPr>
        <p:spPr>
          <a:xfrm>
            <a:off x="9235440" y="3364992"/>
            <a:ext cx="2468880" cy="685800"/>
          </a:xfrm>
          <a:prstGeom prst="rect">
            <a:avLst/>
          </a:prstGeom>
          <a:noFill/>
          <a:ln/>
        </p:spPr>
        <p:txBody>
          <a:bodyPr wrap="square" lIns="0" tIns="0" rIns="0" bIns="0" rtlCol="0" anchor="t"/>
          <a:lstStyle/>
          <a:p>
            <a:pPr indent="0" marL="0">
              <a:buNone/>
            </a:pPr>
            <a:r>
              <a:rPr lang="en-US" sz="1300" dirty="0">
                <a:solidFill>
                  <a:srgbClr val="5D647D"/>
                </a:solidFill>
              </a:rPr>
              <a:t>Controller → Service → Repository</a:t>
            </a:r>
            <a:endParaRPr lang="en-US" sz="1300" dirty="0"/>
          </a:p>
        </p:txBody>
      </p:sp>
      <p:sp>
        <p:nvSpPr>
          <p:cNvPr id="12" name="a_147"/>
          <p:cNvSpPr/>
          <p:nvPr/>
        </p:nvSpPr>
        <p:spPr>
          <a:xfrm>
            <a:off x="8503920" y="4480560"/>
            <a:ext cx="566928" cy="566928"/>
          </a:xfrm>
          <a:prstGeom prst="ellipse">
            <a:avLst/>
          </a:prstGeom>
          <a:solidFill>
            <a:schemeClr val="accent5"/>
          </a:solidFill>
          <a:ln/>
        </p:spPr>
      </p:sp>
      <p:pic>
        <p:nvPicPr>
          <p:cNvPr id="13" name="o_148_in" descr="preencoded.png">    </p:cNvPr>
          <p:cNvPicPr>
            <a:picLocks noChangeAspect="1"/>
          </p:cNvPicPr>
          <p:nvPr/>
        </p:nvPicPr>
        <p:blipFill>
          <a:blip r:embed="rId4"/>
          <a:stretch>
            <a:fillRect/>
          </a:stretch>
        </p:blipFill>
        <p:spPr>
          <a:xfrm>
            <a:off x="8639983" y="4616623"/>
            <a:ext cx="294803" cy="294803"/>
          </a:xfrm>
          <a:prstGeom prst="rect">
            <a:avLst/>
          </a:prstGeom>
        </p:spPr>
      </p:pic>
      <p:sp>
        <p:nvSpPr>
          <p:cNvPr id="14" name="o_149"/>
          <p:cNvSpPr txBox="1"/>
          <p:nvPr/>
        </p:nvSpPr>
        <p:spPr>
          <a:xfrm>
            <a:off x="9235440" y="4462272"/>
            <a:ext cx="2468880" cy="365760"/>
          </a:xfrm>
          <a:prstGeom prst="rect">
            <a:avLst/>
          </a:prstGeom>
          <a:noFill/>
          <a:ln/>
        </p:spPr>
        <p:txBody>
          <a:bodyPr wrap="square" lIns="0" tIns="0" rIns="0" bIns="0" rtlCol="0" anchor="t"/>
          <a:lstStyle/>
          <a:p>
            <a:pPr indent="0" marL="0">
              <a:buNone/>
            </a:pPr>
            <a:r>
              <a:rPr lang="en-US" sz="1600" b="1" dirty="0">
                <a:solidFill>
                  <a:schemeClr val="tx1"/>
                </a:solidFill>
              </a:rPr>
              <a:t>Key outside the DB</a:t>
            </a:r>
            <a:endParaRPr lang="en-US" sz="1600" dirty="0"/>
          </a:p>
        </p:txBody>
      </p:sp>
      <p:sp>
        <p:nvSpPr>
          <p:cNvPr id="15" name="o_150"/>
          <p:cNvSpPr txBox="1"/>
          <p:nvPr/>
        </p:nvSpPr>
        <p:spPr>
          <a:xfrm>
            <a:off x="9235440" y="4828032"/>
            <a:ext cx="2468880" cy="685800"/>
          </a:xfrm>
          <a:prstGeom prst="rect">
            <a:avLst/>
          </a:prstGeom>
          <a:noFill/>
          <a:ln/>
        </p:spPr>
        <p:txBody>
          <a:bodyPr wrap="square" lIns="0" tIns="0" rIns="0" bIns="0" rtlCol="0" anchor="t"/>
          <a:lstStyle/>
          <a:p>
            <a:pPr indent="0" marL="0">
              <a:buNone/>
            </a:pPr>
            <a:r>
              <a:rPr lang="en-US" sz="1300" dirty="0">
                <a:solidFill>
                  <a:srgbClr val="5D647D"/>
                </a:solidFill>
              </a:rPr>
              <a:t>Master key in a file or env variable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ppt_x</p:attrName>
                                        </p:attrNameLst>
                                      </p:cBhvr>
                                      <p:tavLst>
                                        <p:tav tm="0">
                                          <p:val>
                                            <p:strVal val="#ppt_x"/>
                                          </p:val>
                                        </p:tav>
                                        <p:tav tm="100000">
                                          <p:val>
                                            <p:strVal val="#ppt_x"/>
                                          </p:val>
                                        </p:tav>
                                      </p:tavLst>
                                    </p:anim>
                                    <p:anim calcmode="lin" valueType="num">
                                      <p:cBhvr>
                                        <p:cTn id="15" dur="500" decel="100000" fill="hold"/>
                                        <p:tgtEl>
                                          <p:spTgt spid="4"/>
                                        </p:tgtEl>
                                        <p:attrNameLst>
                                          <p:attrName>ppt_y</p:attrName>
                                        </p:attrNameLst>
                                      </p:cBhvr>
                                      <p:tavLst>
                                        <p:tav tm="0">
                                          <p:val>
                                            <p:strVal val="#ppt_y+.04"/>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p:cTn id="19" dur="500" decel="100000" fill="hold"/>
                                        <p:tgtEl>
                                          <p:spTgt spid="5"/>
                                        </p:tgtEl>
                                        <p:attrNameLst>
                                          <p:attrName>ppt_x</p:attrName>
                                        </p:attrNameLst>
                                      </p:cBhvr>
                                      <p:tavLst>
                                        <p:tav tm="0">
                                          <p:val>
                                            <p:strVal val="#ppt_x"/>
                                          </p:val>
                                        </p:tav>
                                        <p:tav tm="100000">
                                          <p:val>
                                            <p:strVal val="#ppt_x"/>
                                          </p:val>
                                        </p:tav>
                                      </p:tavLst>
                                    </p:anim>
                                    <p:anim calcmode="lin" valueType="num">
                                      <p:cBhvr>
                                        <p:cTn id="20" dur="500" decel="100000" fill="hold"/>
                                        <p:tgtEl>
                                          <p:spTgt spid="5"/>
                                        </p:tgtEl>
                                        <p:attrNameLst>
                                          <p:attrName>ppt_y</p:attrName>
                                        </p:attrNameLst>
                                      </p:cBhvr>
                                      <p:tavLst>
                                        <p:tav tm="0">
                                          <p:val>
                                            <p:strVal val="#ppt_y+.04"/>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p:cTn id="24" dur="500" decel="100000" fill="hold"/>
                                        <p:tgtEl>
                                          <p:spTgt spid="6"/>
                                        </p:tgtEl>
                                        <p:attrNameLst>
                                          <p:attrName>ppt_x</p:attrName>
                                        </p:attrNameLst>
                                      </p:cBhvr>
                                      <p:tavLst>
                                        <p:tav tm="0">
                                          <p:val>
                                            <p:strVal val="#ppt_x"/>
                                          </p:val>
                                        </p:tav>
                                        <p:tav tm="100000">
                                          <p:val>
                                            <p:strVal val="#ppt_x"/>
                                          </p:val>
                                        </p:tav>
                                      </p:tavLst>
                                    </p:anim>
                                    <p:anim calcmode="lin" valueType="num">
                                      <p:cBhvr>
                                        <p:cTn id="25" dur="500" decel="100000" fill="hold"/>
                                        <p:tgtEl>
                                          <p:spTgt spid="6"/>
                                        </p:tgtEl>
                                        <p:attrNameLst>
                                          <p:attrName>ppt_y</p:attrName>
                                        </p:attrNameLst>
                                      </p:cBhvr>
                                      <p:tavLst>
                                        <p:tav tm="0">
                                          <p:val>
                                            <p:strVal val="#ppt_y+.04"/>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decel="100000" fill="hold"/>
                                        <p:tgtEl>
                                          <p:spTgt spid="7"/>
                                        </p:tgtEl>
                                        <p:attrNameLst>
                                          <p:attrName>ppt_x</p:attrName>
                                        </p:attrNameLst>
                                      </p:cBhvr>
                                      <p:tavLst>
                                        <p:tav tm="0">
                                          <p:val>
                                            <p:strVal val="#ppt_x"/>
                                          </p:val>
                                        </p:tav>
                                        <p:tav tm="100000">
                                          <p:val>
                                            <p:strVal val="#ppt_x"/>
                                          </p:val>
                                        </p:tav>
                                      </p:tavLst>
                                    </p:anim>
                                    <p:anim calcmode="lin" valueType="num">
                                      <p:cBhvr>
                                        <p:cTn id="30"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1" fill="hold">
                            <p:stCondLst>
                              <p:cond delay="700"/>
                            </p:stCondLst>
                            <p:childTnLst>
                              <p:par>
                                <p:cTn id="32" presetID="42"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4"/>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childTnLst>
                          </p:cTn>
                        </p:par>
                        <p:par>
                          <p:cTn id="52" fill="hold">
                            <p:stCondLst>
                              <p:cond delay="1050"/>
                            </p:stCondLst>
                            <p:childTnLst>
                              <p:par>
                                <p:cTn id="53" presetID="42" presetClass="entr" presetSubtype="0"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anim calcmode="lin" valueType="num">
                                      <p:cBhvr>
                                        <p:cTn id="56" dur="500" decel="100000" fill="hold"/>
                                        <p:tgtEl>
                                          <p:spTgt spid="12"/>
                                        </p:tgtEl>
                                        <p:attrNameLst>
                                          <p:attrName>ppt_x</p:attrName>
                                        </p:attrNameLst>
                                      </p:cBhvr>
                                      <p:tavLst>
                                        <p:tav tm="0">
                                          <p:val>
                                            <p:strVal val="#ppt_x"/>
                                          </p:val>
                                        </p:tav>
                                        <p:tav tm="100000">
                                          <p:val>
                                            <p:strVal val="#ppt_x"/>
                                          </p:val>
                                        </p:tav>
                                      </p:tavLst>
                                    </p:anim>
                                    <p:anim calcmode="lin" valueType="num">
                                      <p:cBhvr>
                                        <p:cTn id="57" dur="500" decel="100000" fill="hold"/>
                                        <p:tgtEl>
                                          <p:spTgt spid="12"/>
                                        </p:tgtEl>
                                        <p:attrNameLst>
                                          <p:attrName>ppt_y</p:attrName>
                                        </p:attrNameLst>
                                      </p:cBhvr>
                                      <p:tavLst>
                                        <p:tav tm="0">
                                          <p:val>
                                            <p:strVal val="#ppt_y+.04"/>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anim calcmode="lin" valueType="num">
                                      <p:cBhvr>
                                        <p:cTn id="61" dur="500" decel="100000" fill="hold"/>
                                        <p:tgtEl>
                                          <p:spTgt spid="13"/>
                                        </p:tgtEl>
                                        <p:attrNameLst>
                                          <p:attrName>ppt_x</p:attrName>
                                        </p:attrNameLst>
                                      </p:cBhvr>
                                      <p:tavLst>
                                        <p:tav tm="0">
                                          <p:val>
                                            <p:strVal val="#ppt_x"/>
                                          </p:val>
                                        </p:tav>
                                        <p:tav tm="100000">
                                          <p:val>
                                            <p:strVal val="#ppt_x"/>
                                          </p:val>
                                        </p:tav>
                                      </p:tavLst>
                                    </p:anim>
                                    <p:anim calcmode="lin" valueType="num">
                                      <p:cBhvr>
                                        <p:cTn id="62" dur="500" decel="100000" fill="hold"/>
                                        <p:tgtEl>
                                          <p:spTgt spid="13"/>
                                        </p:tgtEl>
                                        <p:attrNameLst>
                                          <p:attrName>ppt_y</p:attrName>
                                        </p:attrNameLst>
                                      </p:cBhvr>
                                      <p:tavLst>
                                        <p:tav tm="0">
                                          <p:val>
                                            <p:strVal val="#ppt_y+.04"/>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anim calcmode="lin" valueType="num">
                                      <p:cBhvr>
                                        <p:cTn id="66" dur="500" decel="100000" fill="hold"/>
                                        <p:tgtEl>
                                          <p:spTgt spid="14"/>
                                        </p:tgtEl>
                                        <p:attrNameLst>
                                          <p:attrName>ppt_x</p:attrName>
                                        </p:attrNameLst>
                                      </p:cBhvr>
                                      <p:tavLst>
                                        <p:tav tm="0">
                                          <p:val>
                                            <p:strVal val="#ppt_x"/>
                                          </p:val>
                                        </p:tav>
                                        <p:tav tm="100000">
                                          <p:val>
                                            <p:strVal val="#ppt_x"/>
                                          </p:val>
                                        </p:tav>
                                      </p:tavLst>
                                    </p:anim>
                                    <p:anim calcmode="lin" valueType="num">
                                      <p:cBhvr>
                                        <p:cTn id="67" dur="500" decel="100000" fill="hold"/>
                                        <p:tgtEl>
                                          <p:spTgt spid="14"/>
                                        </p:tgtEl>
                                        <p:attrNameLst>
                                          <p:attrName>ppt_y</p:attrName>
                                        </p:attrNameLst>
                                      </p:cBhvr>
                                      <p:tavLst>
                                        <p:tav tm="0">
                                          <p:val>
                                            <p:strVal val="#ppt_y+.04"/>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anim calcmode="lin" valueType="num">
                                      <p:cBhvr>
                                        <p:cTn id="71" dur="500" decel="100000" fill="hold"/>
                                        <p:tgtEl>
                                          <p:spTgt spid="15"/>
                                        </p:tgtEl>
                                        <p:attrNameLst>
                                          <p:attrName>ppt_x</p:attrName>
                                        </p:attrNameLst>
                                      </p:cBhvr>
                                      <p:tavLst>
                                        <p:tav tm="0">
                                          <p:val>
                                            <p:strVal val="#ppt_x"/>
                                          </p:val>
                                        </p:tav>
                                        <p:tav tm="100000">
                                          <p:val>
                                            <p:strVal val="#ppt_x"/>
                                          </p:val>
                                        </p:tav>
                                      </p:tavLst>
                                    </p:anim>
                                    <p:anim calcmode="lin" valueType="num">
                                      <p:cBhvr>
                                        <p:cTn id="72" dur="500" decel="100000" fill="hold"/>
                                        <p:tgtEl>
                                          <p:spTgt spid="1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Technology stack</a:t>
            </a:r>
            <a:endParaRPr lang="en-US" sz="3200" dirty="0"/>
          </a:p>
        </p:txBody>
      </p:sp>
      <p:sp>
        <p:nvSpPr>
          <p:cNvPr id="3" name="a_151"/>
          <p:cNvSpPr/>
          <p:nvPr/>
        </p:nvSpPr>
        <p:spPr>
          <a:xfrm>
            <a:off x="548640" y="1463040"/>
            <a:ext cx="3520440" cy="352044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152"/>
          <p:cNvSpPr/>
          <p:nvPr/>
        </p:nvSpPr>
        <p:spPr>
          <a:xfrm>
            <a:off x="868680" y="1737360"/>
            <a:ext cx="640080" cy="640080"/>
          </a:xfrm>
          <a:prstGeom prst="ellipse">
            <a:avLst/>
          </a:prstGeom>
          <a:solidFill>
            <a:schemeClr val="accent2"/>
          </a:solidFill>
          <a:ln/>
        </p:spPr>
      </p:sp>
      <p:pic>
        <p:nvPicPr>
          <p:cNvPr id="5" name="o_153_in" descr="preencoded.png">    </p:cNvPr>
          <p:cNvPicPr>
            <a:picLocks noChangeAspect="1"/>
          </p:cNvPicPr>
          <p:nvPr/>
        </p:nvPicPr>
        <p:blipFill>
          <a:blip r:embed="rId1"/>
          <a:stretch>
            <a:fillRect/>
          </a:stretch>
        </p:blipFill>
        <p:spPr>
          <a:xfrm>
            <a:off x="1022299" y="1890979"/>
            <a:ext cx="332842" cy="332842"/>
          </a:xfrm>
          <a:prstGeom prst="rect">
            <a:avLst/>
          </a:prstGeom>
        </p:spPr>
      </p:pic>
      <p:sp>
        <p:nvSpPr>
          <p:cNvPr id="6" name="o_154"/>
          <p:cNvSpPr txBox="1"/>
          <p:nvPr/>
        </p:nvSpPr>
        <p:spPr>
          <a:xfrm>
            <a:off x="1645920" y="1783080"/>
            <a:ext cx="2194560" cy="548640"/>
          </a:xfrm>
          <a:prstGeom prst="rect">
            <a:avLst/>
          </a:prstGeom>
          <a:noFill/>
          <a:ln/>
        </p:spPr>
        <p:txBody>
          <a:bodyPr wrap="square" lIns="0" tIns="0" rIns="0" bIns="0" rtlCol="0" anchor="ctr"/>
          <a:lstStyle/>
          <a:p>
            <a:pPr indent="0" marL="0">
              <a:buNone/>
            </a:pPr>
            <a:r>
              <a:rPr lang="en-US" sz="2000" b="1" dirty="0">
                <a:solidFill>
                  <a:schemeClr val="tx1"/>
                </a:solidFill>
              </a:rPr>
              <a:t>Frontend</a:t>
            </a:r>
            <a:endParaRPr lang="en-US" sz="2000" dirty="0"/>
          </a:p>
        </p:txBody>
      </p:sp>
      <p:sp>
        <p:nvSpPr>
          <p:cNvPr id="7" name="o_155"/>
          <p:cNvSpPr txBox="1"/>
          <p:nvPr/>
        </p:nvSpPr>
        <p:spPr>
          <a:xfrm>
            <a:off x="868680"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React 18 + React Router 6</a:t>
            </a:r>
            <a:endParaRPr lang="en-US" sz="1500" dirty="0"/>
          </a:p>
          <a:p>
            <a:pPr marL="342900" indent="-342900">
              <a:spcAft>
                <a:spcPts val="600"/>
              </a:spcAft>
              <a:buSzPct val="100000"/>
              <a:buChar char="•"/>
            </a:pPr>
            <a:r>
              <a:rPr lang="en-US" sz="1500" dirty="0">
                <a:solidFill>
                  <a:schemeClr val="tx1"/>
                </a:solidFill>
              </a:rPr>
              <a:t>Vite 5 dev server &amp; build</a:t>
            </a:r>
            <a:endParaRPr lang="en-US" sz="1500" dirty="0"/>
          </a:p>
          <a:p>
            <a:pPr marL="342900" indent="-342900">
              <a:spcAft>
                <a:spcPts val="600"/>
              </a:spcAft>
              <a:buSzPct val="100000"/>
              <a:buChar char="•"/>
            </a:pPr>
            <a:r>
              <a:rPr lang="en-US" sz="1500" dirty="0">
                <a:solidFill>
                  <a:schemeClr val="tx1"/>
                </a:solidFill>
              </a:rPr>
              <a:t>qrcode.react — QR codes</a:t>
            </a:r>
            <a:endParaRPr lang="en-US" sz="1500" dirty="0"/>
          </a:p>
          <a:p>
            <a:pPr marL="342900" indent="-342900">
              <a:spcAft>
                <a:spcPts val="600"/>
              </a:spcAft>
              <a:buSzPct val="100000"/>
              <a:buChar char="•"/>
            </a:pPr>
            <a:r>
              <a:rPr lang="en-US" sz="1500" dirty="0">
                <a:solidFill>
                  <a:schemeClr val="tx1"/>
                </a:solidFill>
              </a:rPr>
              <a:t>jsQR — camera scanning</a:t>
            </a:r>
            <a:endParaRPr lang="en-US" sz="1500" dirty="0"/>
          </a:p>
          <a:p>
            <a:pPr marL="342900" indent="-342900">
              <a:spcAft>
                <a:spcPts val="600"/>
              </a:spcAft>
              <a:buSzPct val="100000"/>
              <a:buChar char="•"/>
            </a:pPr>
            <a:r>
              <a:rPr lang="en-US" sz="1500" dirty="0">
                <a:solidFill>
                  <a:schemeClr val="tx1"/>
                </a:solidFill>
              </a:rPr>
              <a:t>lucide-react icons</a:t>
            </a:r>
            <a:endParaRPr lang="en-US" sz="1500" dirty="0"/>
          </a:p>
        </p:txBody>
      </p:sp>
      <p:sp>
        <p:nvSpPr>
          <p:cNvPr id="8" name="a_156"/>
          <p:cNvSpPr/>
          <p:nvPr/>
        </p:nvSpPr>
        <p:spPr>
          <a:xfrm>
            <a:off x="4297680" y="1463040"/>
            <a:ext cx="3520440" cy="352044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9" name="o_157"/>
          <p:cNvSpPr/>
          <p:nvPr/>
        </p:nvSpPr>
        <p:spPr>
          <a:xfrm>
            <a:off x="4617720" y="1737360"/>
            <a:ext cx="640080" cy="640080"/>
          </a:xfrm>
          <a:prstGeom prst="ellipse">
            <a:avLst/>
          </a:prstGeom>
          <a:solidFill>
            <a:schemeClr val="accent1"/>
          </a:solidFill>
          <a:ln/>
        </p:spPr>
      </p:sp>
      <p:pic>
        <p:nvPicPr>
          <p:cNvPr id="10" name="o_158_in" descr="preencoded.png">    </p:cNvPr>
          <p:cNvPicPr>
            <a:picLocks noChangeAspect="1"/>
          </p:cNvPicPr>
          <p:nvPr/>
        </p:nvPicPr>
        <p:blipFill>
          <a:blip r:embed="rId2"/>
          <a:stretch>
            <a:fillRect/>
          </a:stretch>
        </p:blipFill>
        <p:spPr>
          <a:xfrm>
            <a:off x="4771339" y="1890979"/>
            <a:ext cx="332842" cy="332842"/>
          </a:xfrm>
          <a:prstGeom prst="rect">
            <a:avLst/>
          </a:prstGeom>
        </p:spPr>
      </p:pic>
      <p:sp>
        <p:nvSpPr>
          <p:cNvPr id="11" name="o_159"/>
          <p:cNvSpPr txBox="1"/>
          <p:nvPr/>
        </p:nvSpPr>
        <p:spPr>
          <a:xfrm>
            <a:off x="5394960" y="1783080"/>
            <a:ext cx="2194560" cy="548640"/>
          </a:xfrm>
          <a:prstGeom prst="rect">
            <a:avLst/>
          </a:prstGeom>
          <a:noFill/>
          <a:ln/>
        </p:spPr>
        <p:txBody>
          <a:bodyPr wrap="square" lIns="0" tIns="0" rIns="0" bIns="0" rtlCol="0" anchor="ctr"/>
          <a:lstStyle/>
          <a:p>
            <a:pPr indent="0" marL="0">
              <a:buNone/>
            </a:pPr>
            <a:r>
              <a:rPr lang="en-US" sz="2000" b="1" dirty="0">
                <a:solidFill>
                  <a:schemeClr val="tx1"/>
                </a:solidFill>
              </a:rPr>
              <a:t>Backend</a:t>
            </a:r>
            <a:endParaRPr lang="en-US" sz="2000" dirty="0"/>
          </a:p>
        </p:txBody>
      </p:sp>
      <p:sp>
        <p:nvSpPr>
          <p:cNvPr id="12" name="o_160"/>
          <p:cNvSpPr txBox="1"/>
          <p:nvPr/>
        </p:nvSpPr>
        <p:spPr>
          <a:xfrm>
            <a:off x="4617720"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Java 17</a:t>
            </a:r>
            <a:endParaRPr lang="en-US" sz="1500" dirty="0"/>
          </a:p>
          <a:p>
            <a:pPr marL="342900" indent="-342900">
              <a:spcAft>
                <a:spcPts val="600"/>
              </a:spcAft>
              <a:buSzPct val="100000"/>
              <a:buChar char="•"/>
            </a:pPr>
            <a:r>
              <a:rPr lang="en-US" sz="1500" dirty="0">
                <a:solidFill>
                  <a:schemeClr val="tx1"/>
                </a:solidFill>
              </a:rPr>
              <a:t>Spring Boot 3.3 (Web, JPA, Validation)</a:t>
            </a:r>
            <a:endParaRPr lang="en-US" sz="1500" dirty="0"/>
          </a:p>
          <a:p>
            <a:pPr marL="342900" indent="-342900">
              <a:spcAft>
                <a:spcPts val="600"/>
              </a:spcAft>
              <a:buSzPct val="100000"/>
              <a:buChar char="•"/>
            </a:pPr>
            <a:r>
              <a:rPr lang="en-US" sz="1500" dirty="0">
                <a:solidFill>
                  <a:schemeClr val="tx1"/>
                </a:solidFill>
              </a:rPr>
              <a:t>Hibernate 6 ORM</a:t>
            </a:r>
            <a:endParaRPr lang="en-US" sz="1500" dirty="0"/>
          </a:p>
          <a:p>
            <a:pPr marL="342900" indent="-342900">
              <a:spcAft>
                <a:spcPts val="600"/>
              </a:spcAft>
              <a:buSzPct val="100000"/>
              <a:buChar char="•"/>
            </a:pPr>
            <a:r>
              <a:rPr lang="en-US" sz="1500" dirty="0">
                <a:solidFill>
                  <a:schemeClr val="tx1"/>
                </a:solidFill>
              </a:rPr>
              <a:t>H2 (dev) · MySQL 8 (prod)</a:t>
            </a:r>
            <a:endParaRPr lang="en-US" sz="1500" dirty="0"/>
          </a:p>
          <a:p>
            <a:pPr marL="342900" indent="-342900">
              <a:spcAft>
                <a:spcPts val="600"/>
              </a:spcAft>
              <a:buSzPct val="100000"/>
              <a:buChar char="•"/>
            </a:pPr>
            <a:r>
              <a:rPr lang="en-US" sz="1500" dirty="0">
                <a:solidFill>
                  <a:schemeClr val="tx1"/>
                </a:solidFill>
              </a:rPr>
              <a:t>JUnit 5 + MockMvc tests</a:t>
            </a:r>
            <a:endParaRPr lang="en-US" sz="1500" dirty="0"/>
          </a:p>
        </p:txBody>
      </p:sp>
      <p:sp>
        <p:nvSpPr>
          <p:cNvPr id="13" name="a_161"/>
          <p:cNvSpPr/>
          <p:nvPr/>
        </p:nvSpPr>
        <p:spPr>
          <a:xfrm>
            <a:off x="8046720" y="1463040"/>
            <a:ext cx="3520440" cy="352044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4" name="o_162"/>
          <p:cNvSpPr/>
          <p:nvPr/>
        </p:nvSpPr>
        <p:spPr>
          <a:xfrm>
            <a:off x="8366760" y="1737360"/>
            <a:ext cx="640080" cy="640080"/>
          </a:xfrm>
          <a:prstGeom prst="ellipse">
            <a:avLst/>
          </a:prstGeom>
          <a:solidFill>
            <a:schemeClr val="accent3"/>
          </a:solidFill>
          <a:ln/>
        </p:spPr>
      </p:sp>
      <p:pic>
        <p:nvPicPr>
          <p:cNvPr id="15" name="o_163_in" descr="preencoded.png">    </p:cNvPr>
          <p:cNvPicPr>
            <a:picLocks noChangeAspect="1"/>
          </p:cNvPicPr>
          <p:nvPr/>
        </p:nvPicPr>
        <p:blipFill>
          <a:blip r:embed="rId3"/>
          <a:stretch>
            <a:fillRect/>
          </a:stretch>
        </p:blipFill>
        <p:spPr>
          <a:xfrm>
            <a:off x="8520379" y="1890979"/>
            <a:ext cx="332842" cy="332842"/>
          </a:xfrm>
          <a:prstGeom prst="rect">
            <a:avLst/>
          </a:prstGeom>
        </p:spPr>
      </p:pic>
      <p:sp>
        <p:nvSpPr>
          <p:cNvPr id="16" name="o_164"/>
          <p:cNvSpPr txBox="1"/>
          <p:nvPr/>
        </p:nvSpPr>
        <p:spPr>
          <a:xfrm>
            <a:off x="9144000" y="1783080"/>
            <a:ext cx="2194560" cy="548640"/>
          </a:xfrm>
          <a:prstGeom prst="rect">
            <a:avLst/>
          </a:prstGeom>
          <a:noFill/>
          <a:ln/>
        </p:spPr>
        <p:txBody>
          <a:bodyPr wrap="square" lIns="0" tIns="0" rIns="0" bIns="0" rtlCol="0" anchor="ctr"/>
          <a:lstStyle/>
          <a:p>
            <a:pPr indent="0" marL="0">
              <a:buNone/>
            </a:pPr>
            <a:r>
              <a:rPr lang="en-US" sz="2000" b="1" dirty="0">
                <a:solidFill>
                  <a:schemeClr val="tx1"/>
                </a:solidFill>
              </a:rPr>
              <a:t>Security</a:t>
            </a:r>
            <a:endParaRPr lang="en-US" sz="2000" dirty="0"/>
          </a:p>
        </p:txBody>
      </p:sp>
      <p:sp>
        <p:nvSpPr>
          <p:cNvPr id="17" name="o_165"/>
          <p:cNvSpPr txBox="1"/>
          <p:nvPr/>
        </p:nvSpPr>
        <p:spPr>
          <a:xfrm>
            <a:off x="8366760"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ECDSA P-256 signatures</a:t>
            </a:r>
            <a:endParaRPr lang="en-US" sz="1500" dirty="0"/>
          </a:p>
          <a:p>
            <a:pPr marL="342900" indent="-342900">
              <a:spcAft>
                <a:spcPts val="600"/>
              </a:spcAft>
              <a:buSzPct val="100000"/>
              <a:buChar char="•"/>
            </a:pPr>
            <a:r>
              <a:rPr lang="en-US" sz="1500" dirty="0">
                <a:solidFill>
                  <a:schemeClr val="tx1"/>
                </a:solidFill>
              </a:rPr>
              <a:t>AES-256-GCM encryption</a:t>
            </a:r>
            <a:endParaRPr lang="en-US" sz="1500" dirty="0"/>
          </a:p>
          <a:p>
            <a:pPr marL="342900" indent="-342900">
              <a:spcAft>
                <a:spcPts val="600"/>
              </a:spcAft>
              <a:buSzPct val="100000"/>
              <a:buChar char="•"/>
            </a:pPr>
            <a:r>
              <a:rPr lang="en-US" sz="1500" dirty="0">
                <a:solidFill>
                  <a:schemeClr val="tx1"/>
                </a:solidFill>
              </a:rPr>
              <a:t>SHA-256 · PBKDF2 (210k)</a:t>
            </a:r>
            <a:endParaRPr lang="en-US" sz="1500" dirty="0"/>
          </a:p>
          <a:p>
            <a:pPr marL="342900" indent="-342900">
              <a:spcAft>
                <a:spcPts val="600"/>
              </a:spcAft>
              <a:buSzPct val="100000"/>
              <a:buChar char="•"/>
            </a:pPr>
            <a:r>
              <a:rPr lang="en-US" sz="1500" dirty="0">
                <a:solidFill>
                  <a:schemeClr val="tx1"/>
                </a:solidFill>
              </a:rPr>
              <a:t>JWT (HS256) sessions</a:t>
            </a:r>
            <a:endParaRPr lang="en-US" sz="1500" dirty="0"/>
          </a:p>
          <a:p>
            <a:pPr marL="342900" indent="-342900">
              <a:spcAft>
                <a:spcPts val="600"/>
              </a:spcAft>
              <a:buSzPct val="100000"/>
              <a:buChar char="•"/>
            </a:pPr>
            <a:r>
              <a:rPr lang="en-US" sz="1500" dirty="0">
                <a:solidFill>
                  <a:schemeClr val="tx1"/>
                </a:solidFill>
              </a:rPr>
              <a:t>TOTP (RFC 6238) 2FA</a:t>
            </a:r>
            <a:endParaRPr lang="en-US" sz="1500" dirty="0"/>
          </a:p>
        </p:txBody>
      </p:sp>
      <p:sp>
        <p:nvSpPr>
          <p:cNvPr id="18" name="a_166"/>
          <p:cNvSpPr/>
          <p:nvPr/>
        </p:nvSpPr>
        <p:spPr>
          <a:xfrm>
            <a:off x="548640" y="5257800"/>
            <a:ext cx="11018520" cy="685800"/>
          </a:xfrm>
          <a:prstGeom prst="roundRect">
            <a:avLst>
              <a:gd name="adj" fmla="val 16000"/>
            </a:avLst>
          </a:prstGeom>
          <a:solidFill>
            <a:srgbClr val="ECEBFF"/>
          </a:solidFill>
          <a:ln/>
        </p:spPr>
      </p:sp>
      <p:sp>
        <p:nvSpPr>
          <p:cNvPr id="19" name="o_167"/>
          <p:cNvSpPr txBox="1"/>
          <p:nvPr/>
        </p:nvSpPr>
        <p:spPr>
          <a:xfrm>
            <a:off x="822960" y="5257800"/>
            <a:ext cx="10515600" cy="685800"/>
          </a:xfrm>
          <a:prstGeom prst="rect">
            <a:avLst/>
          </a:prstGeom>
          <a:noFill/>
          <a:ln/>
        </p:spPr>
        <p:txBody>
          <a:bodyPr wrap="square" lIns="0" tIns="0" rIns="0" bIns="0" rtlCol="0" anchor="ctr"/>
          <a:lstStyle/>
          <a:p>
            <a:pPr indent="0" marL="0">
              <a:buNone/>
            </a:pPr>
            <a:r>
              <a:rPr lang="en-US" sz="1500" b="1" dirty="0">
                <a:solidFill>
                  <a:srgbClr val="3B3BD6"/>
                </a:solidFill>
              </a:rPr>
              <a:t>No custom crypto: </a:t>
            </a:r>
            <a:pPr indent="0" marL="0">
              <a:buNone/>
            </a:pPr>
            <a:r>
              <a:rPr lang="en-US" sz="1500" dirty="0">
                <a:solidFill>
                  <a:schemeClr val="tx1"/>
                </a:solidFill>
              </a:rPr>
              <a:t>every algorithm comes from the standard Java Cryptography Architecture and published NIST / IETF standards.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anim calcmode="lin" valueType="num">
                                      <p:cBhvr>
                                        <p:cTn id="49" dur="500" decel="100000" fill="hold"/>
                                        <p:tgtEl>
                                          <p:spTgt spid="11"/>
                                        </p:tgtEl>
                                        <p:attrNameLst>
                                          <p:attrName>ppt_x</p:attrName>
                                        </p:attrNameLst>
                                      </p:cBhvr>
                                      <p:tavLst>
                                        <p:tav tm="0">
                                          <p:val>
                                            <p:strVal val="#ppt_x"/>
                                          </p:val>
                                        </p:tav>
                                        <p:tav tm="100000">
                                          <p:val>
                                            <p:strVal val="#ppt_x"/>
                                          </p:val>
                                        </p:tav>
                                      </p:tavLst>
                                    </p:anim>
                                    <p:anim calcmode="lin" valueType="num">
                                      <p:cBhvr>
                                        <p:cTn id="50" dur="500" decel="100000" fill="hold"/>
                                        <p:tgtEl>
                                          <p:spTgt spid="11"/>
                                        </p:tgtEl>
                                        <p:attrNameLst>
                                          <p:attrName>ppt_y</p:attrName>
                                        </p:attrNameLst>
                                      </p:cBhvr>
                                      <p:tavLst>
                                        <p:tav tm="0">
                                          <p:val>
                                            <p:strVal val="#ppt_y+.04"/>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decel="100000" fill="hold"/>
                                        <p:tgtEl>
                                          <p:spTgt spid="12"/>
                                        </p:tgtEl>
                                        <p:attrNameLst>
                                          <p:attrName>ppt_x</p:attrName>
                                        </p:attrNameLst>
                                      </p:cBhvr>
                                      <p:tavLst>
                                        <p:tav tm="0">
                                          <p:val>
                                            <p:strVal val="#ppt_x"/>
                                          </p:val>
                                        </p:tav>
                                        <p:tav tm="100000">
                                          <p:val>
                                            <p:strVal val="#ppt_x"/>
                                          </p:val>
                                        </p:tav>
                                      </p:tavLst>
                                    </p:anim>
                                    <p:anim calcmode="lin" valueType="num">
                                      <p:cBhvr>
                                        <p:cTn id="55" dur="500" decel="100000" fill="hold"/>
                                        <p:tgtEl>
                                          <p:spTgt spid="12"/>
                                        </p:tgtEl>
                                        <p:attrNameLst>
                                          <p:attrName>ppt_y</p:attrName>
                                        </p:attrNameLst>
                                      </p:cBhvr>
                                      <p:tavLst>
                                        <p:tav tm="0">
                                          <p:val>
                                            <p:strVal val="#ppt_y+.04"/>
                                          </p:val>
                                        </p:tav>
                                        <p:tav tm="100000">
                                          <p:val>
                                            <p:strVal val="#ppt_y"/>
                                          </p:val>
                                        </p:tav>
                                      </p:tavLst>
                                    </p:anim>
                                  </p:childTnLst>
                                </p:cTn>
                              </p:par>
                            </p:childTnLst>
                          </p:cTn>
                        </p:par>
                        <p:par>
                          <p:cTn id="56" fill="hold">
                            <p:stCondLst>
                              <p:cond delay="700"/>
                            </p:stCondLst>
                            <p:childTnLst>
                              <p:par>
                                <p:cTn id="57" presetID="42" presetClass="entr" presetSubtype="0"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500"/>
                                        <p:tgtEl>
                                          <p:spTgt spid="17"/>
                                        </p:tgtEl>
                                      </p:cBhvr>
                                    </p:animEffect>
                                    <p:anim calcmode="lin" valueType="num">
                                      <p:cBhvr>
                                        <p:cTn id="80" dur="500" decel="100000" fill="hold"/>
                                        <p:tgtEl>
                                          <p:spTgt spid="17"/>
                                        </p:tgtEl>
                                        <p:attrNameLst>
                                          <p:attrName>ppt_x</p:attrName>
                                        </p:attrNameLst>
                                      </p:cBhvr>
                                      <p:tavLst>
                                        <p:tav tm="0">
                                          <p:val>
                                            <p:strVal val="#ppt_x"/>
                                          </p:val>
                                        </p:tav>
                                        <p:tav tm="100000">
                                          <p:val>
                                            <p:strVal val="#ppt_x"/>
                                          </p:val>
                                        </p:tav>
                                      </p:tavLst>
                                    </p:anim>
                                    <p:anim calcmode="lin" valueType="num">
                                      <p:cBhvr>
                                        <p:cTn id="81" dur="500" decel="100000" fill="hold"/>
                                        <p:tgtEl>
                                          <p:spTgt spid="17"/>
                                        </p:tgtEl>
                                        <p:attrNameLst>
                                          <p:attrName>ppt_y</p:attrName>
                                        </p:attrNameLst>
                                      </p:cBhvr>
                                      <p:tavLst>
                                        <p:tav tm="0">
                                          <p:val>
                                            <p:strVal val="#ppt_y+.04"/>
                                          </p:val>
                                        </p:tav>
                                        <p:tav tm="100000">
                                          <p:val>
                                            <p:strVal val="#ppt_y"/>
                                          </p:val>
                                        </p:tav>
                                      </p:tavLst>
                                    </p:anim>
                                  </p:childTnLst>
                                </p:cTn>
                              </p:par>
                            </p:childTnLst>
                          </p:cTn>
                        </p:par>
                        <p:par>
                          <p:cTn id="82" fill="hold">
                            <p:stCondLst>
                              <p:cond delay="1050"/>
                            </p:stCondLst>
                            <p:childTnLst>
                              <p:par>
                                <p:cTn id="83" presetID="42"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decel="100000" fill="hold"/>
                                        <p:tgtEl>
                                          <p:spTgt spid="18"/>
                                        </p:tgtEl>
                                        <p:attrNameLst>
                                          <p:attrName>ppt_x</p:attrName>
                                        </p:attrNameLst>
                                      </p:cBhvr>
                                      <p:tavLst>
                                        <p:tav tm="0">
                                          <p:val>
                                            <p:strVal val="#ppt_x"/>
                                          </p:val>
                                        </p:tav>
                                        <p:tav tm="100000">
                                          <p:val>
                                            <p:strVal val="#ppt_x"/>
                                          </p:val>
                                        </p:tav>
                                      </p:tavLst>
                                    </p:anim>
                                    <p:anim calcmode="lin" valueType="num">
                                      <p:cBhvr>
                                        <p:cTn id="87" dur="500" decel="100000" fill="hold"/>
                                        <p:tgtEl>
                                          <p:spTgt spid="18"/>
                                        </p:tgtEl>
                                        <p:attrNameLst>
                                          <p:attrName>ppt_y</p:attrName>
                                        </p:attrNameLst>
                                      </p:cBhvr>
                                      <p:tavLst>
                                        <p:tav tm="0">
                                          <p:val>
                                            <p:strVal val="#ppt_y+.04"/>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anim calcmode="lin" valueType="num">
                                      <p:cBhvr>
                                        <p:cTn id="91" dur="500" decel="100000" fill="hold"/>
                                        <p:tgtEl>
                                          <p:spTgt spid="19"/>
                                        </p:tgtEl>
                                        <p:attrNameLst>
                                          <p:attrName>ppt_x</p:attrName>
                                        </p:attrNameLst>
                                      </p:cBhvr>
                                      <p:tavLst>
                                        <p:tav tm="0">
                                          <p:val>
                                            <p:strVal val="#ppt_x"/>
                                          </p:val>
                                        </p:tav>
                                        <p:tav tm="100000">
                                          <p:val>
                                            <p:strVal val="#ppt_x"/>
                                          </p:val>
                                        </p:tav>
                                      </p:tavLst>
                                    </p:anim>
                                    <p:anim calcmode="lin" valueType="num">
                                      <p:cBhvr>
                                        <p:cTn id="92" dur="500" decel="100000" fill="hold"/>
                                        <p:tgtEl>
                                          <p:spTgt spid="1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How selective disclosure works</a:t>
            </a:r>
            <a:endParaRPr lang="en-US" sz="3200" dirty="0"/>
          </a:p>
        </p:txBody>
      </p:sp>
      <p:pic>
        <p:nvPicPr>
          <p:cNvPr id="3" name="a_168" descr="/home/claude/docs-build/deck/sd.png">    </p:cNvPr>
          <p:cNvPicPr>
            <a:picLocks noChangeAspect="1"/>
          </p:cNvPicPr>
          <p:nvPr/>
        </p:nvPicPr>
        <p:blipFill>
          <a:blip r:embed="rId1"/>
          <a:stretch>
            <a:fillRect/>
          </a:stretch>
        </p:blipFill>
        <p:spPr>
          <a:xfrm>
            <a:off x="868680" y="1325880"/>
            <a:ext cx="10424160" cy="4464956"/>
          </a:xfrm>
          <a:prstGeom prst="rect">
            <a:avLst/>
          </a:prstGeom>
        </p:spPr>
      </p:pic>
      <p:sp>
        <p:nvSpPr>
          <p:cNvPr id="4" name="a_169"/>
          <p:cNvSpPr/>
          <p:nvPr/>
        </p:nvSpPr>
        <p:spPr>
          <a:xfrm>
            <a:off x="868680" y="5943600"/>
            <a:ext cx="10424160" cy="457200"/>
          </a:xfrm>
          <a:prstGeom prst="roundRect">
            <a:avLst>
              <a:gd name="adj" fmla="val 20000"/>
            </a:avLst>
          </a:prstGeom>
          <a:solidFill>
            <a:srgbClr val="E3F6EE"/>
          </a:solidFill>
          <a:ln/>
        </p:spPr>
      </p:sp>
      <p:sp>
        <p:nvSpPr>
          <p:cNvPr id="5" name="o_170"/>
          <p:cNvSpPr txBox="1"/>
          <p:nvPr/>
        </p:nvSpPr>
        <p:spPr>
          <a:xfrm>
            <a:off x="1097280" y="5943600"/>
            <a:ext cx="10058400" cy="457200"/>
          </a:xfrm>
          <a:prstGeom prst="rect">
            <a:avLst/>
          </a:prstGeom>
          <a:noFill/>
          <a:ln/>
        </p:spPr>
        <p:txBody>
          <a:bodyPr wrap="square" lIns="0" tIns="0" rIns="0" bIns="0" rtlCol="0" anchor="ctr"/>
          <a:lstStyle/>
          <a:p>
            <a:pPr indent="0" marL="0">
              <a:buNone/>
            </a:pPr>
            <a:r>
              <a:rPr lang="en-US" sz="1400" dirty="0">
                <a:solidFill>
                  <a:srgbClr val="0B6B45"/>
                </a:solidFill>
              </a:rPr>
              <a:t>Change one letter → its hash no longer matches. Hidden values can't be guessed because of the random salt.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ppt_x</p:attrName>
                                        </p:attrNameLst>
                                      </p:cBhvr>
                                      <p:tavLst>
                                        <p:tav tm="0">
                                          <p:val>
                                            <p:strVal val="#ppt_x"/>
                                          </p:val>
                                        </p:tav>
                                        <p:tav tm="100000">
                                          <p:val>
                                            <p:strVal val="#ppt_x"/>
                                          </p:val>
                                        </p:tav>
                                      </p:tavLst>
                                    </p:anim>
                                    <p:anim calcmode="lin" valueType="num">
                                      <p:cBhvr>
                                        <p:cTn id="15" dur="500" decel="100000" fill="hold"/>
                                        <p:tgtEl>
                                          <p:spTgt spid="4"/>
                                        </p:tgtEl>
                                        <p:attrNameLst>
                                          <p:attrName>ppt_y</p:attrName>
                                        </p:attrNameLst>
                                      </p:cBhvr>
                                      <p:tavLst>
                                        <p:tav tm="0">
                                          <p:val>
                                            <p:strVal val="#ppt_y+.04"/>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p:cTn id="19" dur="500" decel="100000" fill="hold"/>
                                        <p:tgtEl>
                                          <p:spTgt spid="5"/>
                                        </p:tgtEl>
                                        <p:attrNameLst>
                                          <p:attrName>ppt_x</p:attrName>
                                        </p:attrNameLst>
                                      </p:cBhvr>
                                      <p:tavLst>
                                        <p:tav tm="0">
                                          <p:val>
                                            <p:strVal val="#ppt_x"/>
                                          </p:val>
                                        </p:tav>
                                        <p:tav tm="100000">
                                          <p:val>
                                            <p:strVal val="#ppt_x"/>
                                          </p:val>
                                        </p:tav>
                                      </p:tavLst>
                                    </p:anim>
                                    <p:anim calcmode="lin" valueType="num">
                                      <p:cBhvr>
                                        <p:cTn id="20" dur="500" decel="1000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Credential lifecycle</a:t>
            </a:r>
            <a:endParaRPr lang="en-US" sz="3200" dirty="0"/>
          </a:p>
        </p:txBody>
      </p:sp>
      <p:pic>
        <p:nvPicPr>
          <p:cNvPr id="3" name="a_171" descr="/home/claude/docs-build/deck/flow.png">    </p:cNvPr>
          <p:cNvPicPr>
            <a:picLocks noChangeAspect="1"/>
          </p:cNvPicPr>
          <p:nvPr/>
        </p:nvPicPr>
        <p:blipFill>
          <a:blip r:embed="rId1"/>
          <a:stretch>
            <a:fillRect/>
          </a:stretch>
        </p:blipFill>
        <p:spPr>
          <a:xfrm>
            <a:off x="1706728" y="1280160"/>
            <a:ext cx="8778240" cy="4910328"/>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Verification: five automatic checks</a:t>
            </a:r>
            <a:endParaRPr lang="en-US" sz="3200" dirty="0"/>
          </a:p>
        </p:txBody>
      </p:sp>
      <p:sp>
        <p:nvSpPr>
          <p:cNvPr id="3" name="a_172"/>
          <p:cNvSpPr/>
          <p:nvPr/>
        </p:nvSpPr>
        <p:spPr>
          <a:xfrm>
            <a:off x="548640" y="1737360"/>
            <a:ext cx="2011680" cy="256032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173"/>
          <p:cNvSpPr/>
          <p:nvPr/>
        </p:nvSpPr>
        <p:spPr>
          <a:xfrm>
            <a:off x="1188720" y="1965960"/>
            <a:ext cx="731520" cy="731520"/>
          </a:xfrm>
          <a:prstGeom prst="ellipse">
            <a:avLst/>
          </a:prstGeom>
          <a:solidFill>
            <a:schemeClr val="accent1"/>
          </a:solidFill>
          <a:ln/>
        </p:spPr>
      </p:sp>
      <p:sp>
        <p:nvSpPr>
          <p:cNvPr id="5" name="o_174"/>
          <p:cNvSpPr txBox="1"/>
          <p:nvPr/>
        </p:nvSpPr>
        <p:spPr>
          <a:xfrm>
            <a:off x="1188720" y="1965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6" name="o_175"/>
          <p:cNvSpPr txBox="1"/>
          <p:nvPr/>
        </p:nvSpPr>
        <p:spPr>
          <a:xfrm>
            <a:off x="640080" y="2880360"/>
            <a:ext cx="1828800" cy="411480"/>
          </a:xfrm>
          <a:prstGeom prst="rect">
            <a:avLst/>
          </a:prstGeom>
          <a:noFill/>
          <a:ln/>
        </p:spPr>
        <p:txBody>
          <a:bodyPr wrap="square" lIns="0" tIns="0" rIns="0" bIns="0" rtlCol="0" anchor="t"/>
          <a:lstStyle/>
          <a:p>
            <a:pPr algn="ctr" indent="0" marL="0">
              <a:buNone/>
            </a:pPr>
            <a:r>
              <a:rPr lang="en-US" sz="1600" b="1" dirty="0">
                <a:solidFill>
                  <a:schemeClr val="tx1"/>
                </a:solidFill>
              </a:rPr>
              <a:t>Trusted issuer</a:t>
            </a:r>
            <a:endParaRPr lang="en-US" sz="1600" dirty="0"/>
          </a:p>
        </p:txBody>
      </p:sp>
      <p:sp>
        <p:nvSpPr>
          <p:cNvPr id="7" name="o_176"/>
          <p:cNvSpPr txBox="1"/>
          <p:nvPr/>
        </p:nvSpPr>
        <p:spPr>
          <a:xfrm>
            <a:off x="685800" y="3291840"/>
            <a:ext cx="1737360" cy="822960"/>
          </a:xfrm>
          <a:prstGeom prst="rect">
            <a:avLst/>
          </a:prstGeom>
          <a:noFill/>
          <a:ln/>
        </p:spPr>
        <p:txBody>
          <a:bodyPr wrap="square" lIns="0" tIns="0" rIns="0" bIns="0" rtlCol="0" anchor="t"/>
          <a:lstStyle/>
          <a:p>
            <a:pPr algn="ctr" indent="0" marL="0">
              <a:buNone/>
            </a:pPr>
            <a:r>
              <a:rPr lang="en-US" sz="1300" dirty="0">
                <a:solidFill>
                  <a:srgbClr val="5D647D"/>
                </a:solidFill>
              </a:rPr>
              <a:t>In the registry, not suspended</a:t>
            </a:r>
            <a:endParaRPr lang="en-US" sz="1300" dirty="0"/>
          </a:p>
        </p:txBody>
      </p:sp>
      <p:sp>
        <p:nvSpPr>
          <p:cNvPr id="8" name="a_177"/>
          <p:cNvSpPr/>
          <p:nvPr/>
        </p:nvSpPr>
        <p:spPr>
          <a:xfrm>
            <a:off x="2788920" y="1737360"/>
            <a:ext cx="2011680" cy="256032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9" name="o_178"/>
          <p:cNvSpPr/>
          <p:nvPr/>
        </p:nvSpPr>
        <p:spPr>
          <a:xfrm>
            <a:off x="3429000" y="1965960"/>
            <a:ext cx="731520" cy="731520"/>
          </a:xfrm>
          <a:prstGeom prst="ellipse">
            <a:avLst/>
          </a:prstGeom>
          <a:solidFill>
            <a:schemeClr val="accent1"/>
          </a:solidFill>
          <a:ln/>
        </p:spPr>
      </p:sp>
      <p:sp>
        <p:nvSpPr>
          <p:cNvPr id="10" name="o_179"/>
          <p:cNvSpPr txBox="1"/>
          <p:nvPr/>
        </p:nvSpPr>
        <p:spPr>
          <a:xfrm>
            <a:off x="3429000" y="1965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1" name="o_180"/>
          <p:cNvSpPr txBox="1"/>
          <p:nvPr/>
        </p:nvSpPr>
        <p:spPr>
          <a:xfrm>
            <a:off x="2880360" y="2880360"/>
            <a:ext cx="1828800" cy="411480"/>
          </a:xfrm>
          <a:prstGeom prst="rect">
            <a:avLst/>
          </a:prstGeom>
          <a:noFill/>
          <a:ln/>
        </p:spPr>
        <p:txBody>
          <a:bodyPr wrap="square" lIns="0" tIns="0" rIns="0" bIns="0" rtlCol="0" anchor="t"/>
          <a:lstStyle/>
          <a:p>
            <a:pPr algn="ctr" indent="0" marL="0">
              <a:buNone/>
            </a:pPr>
            <a:r>
              <a:rPr lang="en-US" sz="1600" b="1" dirty="0">
                <a:solidFill>
                  <a:schemeClr val="tx1"/>
                </a:solidFill>
              </a:rPr>
              <a:t>Issuer signature</a:t>
            </a:r>
            <a:endParaRPr lang="en-US" sz="1600" dirty="0"/>
          </a:p>
        </p:txBody>
      </p:sp>
      <p:sp>
        <p:nvSpPr>
          <p:cNvPr id="12" name="o_181"/>
          <p:cNvSpPr txBox="1"/>
          <p:nvPr/>
        </p:nvSpPr>
        <p:spPr>
          <a:xfrm>
            <a:off x="2926080" y="3291840"/>
            <a:ext cx="1737360" cy="822960"/>
          </a:xfrm>
          <a:prstGeom prst="rect">
            <a:avLst/>
          </a:prstGeom>
          <a:noFill/>
          <a:ln/>
        </p:spPr>
        <p:txBody>
          <a:bodyPr wrap="square" lIns="0" tIns="0" rIns="0" bIns="0" rtlCol="0" anchor="t"/>
          <a:lstStyle/>
          <a:p>
            <a:pPr algn="ctr" indent="0" marL="0">
              <a:buNone/>
            </a:pPr>
            <a:r>
              <a:rPr lang="en-US" sz="1300" dirty="0">
                <a:solidFill>
                  <a:srgbClr val="5D647D"/>
                </a:solidFill>
              </a:rPr>
              <a:t>ECDSA over the payload is valid</a:t>
            </a:r>
            <a:endParaRPr lang="en-US" sz="1300" dirty="0"/>
          </a:p>
        </p:txBody>
      </p:sp>
      <p:sp>
        <p:nvSpPr>
          <p:cNvPr id="13" name="a_182"/>
          <p:cNvSpPr/>
          <p:nvPr/>
        </p:nvSpPr>
        <p:spPr>
          <a:xfrm>
            <a:off x="5029200" y="1737360"/>
            <a:ext cx="2011680" cy="256032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4" name="o_183"/>
          <p:cNvSpPr/>
          <p:nvPr/>
        </p:nvSpPr>
        <p:spPr>
          <a:xfrm>
            <a:off x="5669280" y="1965960"/>
            <a:ext cx="731520" cy="731520"/>
          </a:xfrm>
          <a:prstGeom prst="ellipse">
            <a:avLst/>
          </a:prstGeom>
          <a:solidFill>
            <a:schemeClr val="accent2"/>
          </a:solidFill>
          <a:ln/>
        </p:spPr>
      </p:sp>
      <p:sp>
        <p:nvSpPr>
          <p:cNvPr id="15" name="o_184"/>
          <p:cNvSpPr txBox="1"/>
          <p:nvPr/>
        </p:nvSpPr>
        <p:spPr>
          <a:xfrm>
            <a:off x="5669280" y="1965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6" name="o_185"/>
          <p:cNvSpPr txBox="1"/>
          <p:nvPr/>
        </p:nvSpPr>
        <p:spPr>
          <a:xfrm>
            <a:off x="5120640" y="2880360"/>
            <a:ext cx="1828800" cy="411480"/>
          </a:xfrm>
          <a:prstGeom prst="rect">
            <a:avLst/>
          </a:prstGeom>
          <a:noFill/>
          <a:ln/>
        </p:spPr>
        <p:txBody>
          <a:bodyPr wrap="square" lIns="0" tIns="0" rIns="0" bIns="0" rtlCol="0" anchor="t"/>
          <a:lstStyle/>
          <a:p>
            <a:pPr algn="ctr" indent="0" marL="0">
              <a:buNone/>
            </a:pPr>
            <a:r>
              <a:rPr lang="en-US" sz="1600" b="1" dirty="0">
                <a:solidFill>
                  <a:schemeClr val="tx1"/>
                </a:solidFill>
              </a:rPr>
              <a:t>Revealed details</a:t>
            </a:r>
            <a:endParaRPr lang="en-US" sz="1600" dirty="0"/>
          </a:p>
        </p:txBody>
      </p:sp>
      <p:sp>
        <p:nvSpPr>
          <p:cNvPr id="17" name="o_186"/>
          <p:cNvSpPr txBox="1"/>
          <p:nvPr/>
        </p:nvSpPr>
        <p:spPr>
          <a:xfrm>
            <a:off x="5166360" y="3291840"/>
            <a:ext cx="1737360" cy="822960"/>
          </a:xfrm>
          <a:prstGeom prst="rect">
            <a:avLst/>
          </a:prstGeom>
          <a:noFill/>
          <a:ln/>
        </p:spPr>
        <p:txBody>
          <a:bodyPr wrap="square" lIns="0" tIns="0" rIns="0" bIns="0" rtlCol="0" anchor="t"/>
          <a:lstStyle/>
          <a:p>
            <a:pPr algn="ctr" indent="0" marL="0">
              <a:buNone/>
            </a:pPr>
            <a:r>
              <a:rPr lang="en-US" sz="1300" dirty="0">
                <a:solidFill>
                  <a:srgbClr val="5D647D"/>
                </a:solidFill>
              </a:rPr>
              <a:t>Each hash is in the signed list</a:t>
            </a:r>
            <a:endParaRPr lang="en-US" sz="1300" dirty="0"/>
          </a:p>
        </p:txBody>
      </p:sp>
      <p:sp>
        <p:nvSpPr>
          <p:cNvPr id="18" name="a_187"/>
          <p:cNvSpPr/>
          <p:nvPr/>
        </p:nvSpPr>
        <p:spPr>
          <a:xfrm>
            <a:off x="7269480" y="1737360"/>
            <a:ext cx="2011680" cy="256032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9" name="o_188"/>
          <p:cNvSpPr/>
          <p:nvPr/>
        </p:nvSpPr>
        <p:spPr>
          <a:xfrm>
            <a:off x="7909560" y="1965960"/>
            <a:ext cx="731520" cy="731520"/>
          </a:xfrm>
          <a:prstGeom prst="ellipse">
            <a:avLst/>
          </a:prstGeom>
          <a:solidFill>
            <a:schemeClr val="accent2"/>
          </a:solidFill>
          <a:ln/>
        </p:spPr>
      </p:sp>
      <p:sp>
        <p:nvSpPr>
          <p:cNvPr id="20" name="o_189"/>
          <p:cNvSpPr txBox="1"/>
          <p:nvPr/>
        </p:nvSpPr>
        <p:spPr>
          <a:xfrm>
            <a:off x="7909560" y="1965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21" name="o_190"/>
          <p:cNvSpPr txBox="1"/>
          <p:nvPr/>
        </p:nvSpPr>
        <p:spPr>
          <a:xfrm>
            <a:off x="7360920" y="2880360"/>
            <a:ext cx="1828800" cy="411480"/>
          </a:xfrm>
          <a:prstGeom prst="rect">
            <a:avLst/>
          </a:prstGeom>
          <a:noFill/>
          <a:ln/>
        </p:spPr>
        <p:txBody>
          <a:bodyPr wrap="square" lIns="0" tIns="0" rIns="0" bIns="0" rtlCol="0" anchor="t"/>
          <a:lstStyle/>
          <a:p>
            <a:pPr algn="ctr" indent="0" marL="0">
              <a:buNone/>
            </a:pPr>
            <a:r>
              <a:rPr lang="en-US" sz="1600" b="1" dirty="0">
                <a:solidFill>
                  <a:schemeClr val="tx1"/>
                </a:solidFill>
              </a:rPr>
              <a:t>Holder consent</a:t>
            </a:r>
            <a:endParaRPr lang="en-US" sz="1600" dirty="0"/>
          </a:p>
        </p:txBody>
      </p:sp>
      <p:sp>
        <p:nvSpPr>
          <p:cNvPr id="22" name="o_191"/>
          <p:cNvSpPr txBox="1"/>
          <p:nvPr/>
        </p:nvSpPr>
        <p:spPr>
          <a:xfrm>
            <a:off x="7406640" y="3291840"/>
            <a:ext cx="1737360" cy="822960"/>
          </a:xfrm>
          <a:prstGeom prst="rect">
            <a:avLst/>
          </a:prstGeom>
          <a:noFill/>
          <a:ln/>
        </p:spPr>
        <p:txBody>
          <a:bodyPr wrap="square" lIns="0" tIns="0" rIns="0" bIns="0" rtlCol="0" anchor="t"/>
          <a:lstStyle/>
          <a:p>
            <a:pPr algn="ctr" indent="0" marL="0">
              <a:buNone/>
            </a:pPr>
            <a:r>
              <a:rPr lang="en-US" sz="1300" dirty="0">
                <a:solidFill>
                  <a:srgbClr val="5D647D"/>
                </a:solidFill>
              </a:rPr>
              <a:t>Owner signed for this recipient</a:t>
            </a:r>
            <a:endParaRPr lang="en-US" sz="1300" dirty="0"/>
          </a:p>
        </p:txBody>
      </p:sp>
      <p:sp>
        <p:nvSpPr>
          <p:cNvPr id="23" name="a_192"/>
          <p:cNvSpPr/>
          <p:nvPr/>
        </p:nvSpPr>
        <p:spPr>
          <a:xfrm>
            <a:off x="9509760" y="1737360"/>
            <a:ext cx="2011680" cy="2560320"/>
          </a:xfrm>
          <a:prstGeom prst="roundRect">
            <a:avLst>
              <a:gd name="adj" fmla="val 5455"/>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24" name="o_193"/>
          <p:cNvSpPr/>
          <p:nvPr/>
        </p:nvSpPr>
        <p:spPr>
          <a:xfrm>
            <a:off x="10149840" y="1965960"/>
            <a:ext cx="731520" cy="731520"/>
          </a:xfrm>
          <a:prstGeom prst="ellipse">
            <a:avLst/>
          </a:prstGeom>
          <a:solidFill>
            <a:schemeClr val="accent3"/>
          </a:solidFill>
          <a:ln/>
        </p:spPr>
      </p:sp>
      <p:sp>
        <p:nvSpPr>
          <p:cNvPr id="25" name="o_194"/>
          <p:cNvSpPr txBox="1"/>
          <p:nvPr/>
        </p:nvSpPr>
        <p:spPr>
          <a:xfrm>
            <a:off x="10149840" y="1965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6" name="o_195"/>
          <p:cNvSpPr txBox="1"/>
          <p:nvPr/>
        </p:nvSpPr>
        <p:spPr>
          <a:xfrm>
            <a:off x="9601200" y="2880360"/>
            <a:ext cx="1828800" cy="411480"/>
          </a:xfrm>
          <a:prstGeom prst="rect">
            <a:avLst/>
          </a:prstGeom>
          <a:noFill/>
          <a:ln/>
        </p:spPr>
        <p:txBody>
          <a:bodyPr wrap="square" lIns="0" tIns="0" rIns="0" bIns="0" rtlCol="0" anchor="t"/>
          <a:lstStyle/>
          <a:p>
            <a:pPr algn="ctr" indent="0" marL="0">
              <a:buNone/>
            </a:pPr>
            <a:r>
              <a:rPr lang="en-US" sz="1600" b="1" dirty="0">
                <a:solidFill>
                  <a:schemeClr val="tx1"/>
                </a:solidFill>
              </a:rPr>
              <a:t>Time &amp; status</a:t>
            </a:r>
            <a:endParaRPr lang="en-US" sz="1600" dirty="0"/>
          </a:p>
        </p:txBody>
      </p:sp>
      <p:sp>
        <p:nvSpPr>
          <p:cNvPr id="27" name="o_196"/>
          <p:cNvSpPr txBox="1"/>
          <p:nvPr/>
        </p:nvSpPr>
        <p:spPr>
          <a:xfrm>
            <a:off x="9646920" y="3291840"/>
            <a:ext cx="1737360" cy="822960"/>
          </a:xfrm>
          <a:prstGeom prst="rect">
            <a:avLst/>
          </a:prstGeom>
          <a:noFill/>
          <a:ln/>
        </p:spPr>
        <p:txBody>
          <a:bodyPr wrap="square" lIns="0" tIns="0" rIns="0" bIns="0" rtlCol="0" anchor="t"/>
          <a:lstStyle/>
          <a:p>
            <a:pPr algn="ctr" indent="0" marL="0">
              <a:buNone/>
            </a:pPr>
            <a:r>
              <a:rPr lang="en-US" sz="1300" dirty="0">
                <a:solidFill>
                  <a:srgbClr val="5D647D"/>
                </a:solidFill>
              </a:rPr>
              <a:t>Not expired, not revoked</a:t>
            </a:r>
            <a:endParaRPr lang="en-US" sz="1300" dirty="0"/>
          </a:p>
        </p:txBody>
      </p:sp>
      <p:sp>
        <p:nvSpPr>
          <p:cNvPr id="28" name="a_197"/>
          <p:cNvSpPr/>
          <p:nvPr/>
        </p:nvSpPr>
        <p:spPr>
          <a:xfrm>
            <a:off x="3840480" y="4663440"/>
            <a:ext cx="4480560" cy="777240"/>
          </a:xfrm>
          <a:prstGeom prst="roundRect">
            <a:avLst>
              <a:gd name="adj" fmla="val 49412"/>
            </a:avLst>
          </a:prstGeom>
          <a:solidFill>
            <a:schemeClr val="accent4"/>
          </a:solidFill>
          <a:ln/>
        </p:spPr>
      </p:sp>
      <p:pic>
        <p:nvPicPr>
          <p:cNvPr id="29" name="o_198" descr="preencoded.png">    </p:cNvPr>
          <p:cNvPicPr>
            <a:picLocks noChangeAspect="1"/>
          </p:cNvPicPr>
          <p:nvPr/>
        </p:nvPicPr>
        <p:blipFill>
          <a:blip r:embed="rId1"/>
          <a:stretch>
            <a:fillRect/>
          </a:stretch>
        </p:blipFill>
        <p:spPr>
          <a:xfrm>
            <a:off x="4160520" y="4800600"/>
            <a:ext cx="502920" cy="502920"/>
          </a:xfrm>
          <a:prstGeom prst="rect">
            <a:avLst/>
          </a:prstGeom>
        </p:spPr>
      </p:pic>
      <p:sp>
        <p:nvSpPr>
          <p:cNvPr id="30" name="o_199"/>
          <p:cNvSpPr txBox="1"/>
          <p:nvPr/>
        </p:nvSpPr>
        <p:spPr>
          <a:xfrm>
            <a:off x="4754880" y="4663440"/>
            <a:ext cx="3474720" cy="777240"/>
          </a:xfrm>
          <a:prstGeom prst="rect">
            <a:avLst/>
          </a:prstGeom>
          <a:noFill/>
          <a:ln/>
        </p:spPr>
        <p:txBody>
          <a:bodyPr wrap="square" lIns="0" tIns="0" rIns="0" bIns="0" rtlCol="0" anchor="ctr"/>
          <a:lstStyle/>
          <a:p>
            <a:pPr indent="0" marL="0">
              <a:buNone/>
            </a:pPr>
            <a:r>
              <a:rPr lang="en-US" sz="2200" b="1" dirty="0">
                <a:solidFill>
                  <a:srgbClr val="FFFFFF"/>
                </a:solidFill>
              </a:rPr>
              <a:t>All pass → VERIFIED</a:t>
            </a:r>
            <a:endParaRPr lang="en-US" sz="2200" dirty="0"/>
          </a:p>
        </p:txBody>
      </p:sp>
      <p:sp>
        <p:nvSpPr>
          <p:cNvPr id="31" name="a_200"/>
          <p:cNvSpPr txBox="1"/>
          <p:nvPr/>
        </p:nvSpPr>
        <p:spPr>
          <a:xfrm>
            <a:off x="548640" y="5669280"/>
            <a:ext cx="11064240" cy="365760"/>
          </a:xfrm>
          <a:prstGeom prst="rect">
            <a:avLst/>
          </a:prstGeom>
          <a:noFill/>
          <a:ln/>
        </p:spPr>
        <p:txBody>
          <a:bodyPr wrap="square" lIns="0" tIns="0" rIns="0" bIns="0" rtlCol="0" anchor="t"/>
          <a:lstStyle/>
          <a:p>
            <a:pPr algn="ctr" indent="0" marL="0">
              <a:buNone/>
            </a:pPr>
            <a:r>
              <a:rPr lang="en-US" sz="1400" dirty="0">
                <a:solidFill>
                  <a:srgbClr val="5D647D"/>
                </a:solidFill>
              </a:rPr>
              <a:t>If any check fails the verifier sees NOT VERIFIED with the exact reason.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anim calcmode="lin" valueType="num">
                                      <p:cBhvr>
                                        <p:cTn id="49" dur="500" decel="100000" fill="hold"/>
                                        <p:tgtEl>
                                          <p:spTgt spid="11"/>
                                        </p:tgtEl>
                                        <p:attrNameLst>
                                          <p:attrName>ppt_x</p:attrName>
                                        </p:attrNameLst>
                                      </p:cBhvr>
                                      <p:tavLst>
                                        <p:tav tm="0">
                                          <p:val>
                                            <p:strVal val="#ppt_x"/>
                                          </p:val>
                                        </p:tav>
                                        <p:tav tm="100000">
                                          <p:val>
                                            <p:strVal val="#ppt_x"/>
                                          </p:val>
                                        </p:tav>
                                      </p:tavLst>
                                    </p:anim>
                                    <p:anim calcmode="lin" valueType="num">
                                      <p:cBhvr>
                                        <p:cTn id="50" dur="500" decel="100000" fill="hold"/>
                                        <p:tgtEl>
                                          <p:spTgt spid="11"/>
                                        </p:tgtEl>
                                        <p:attrNameLst>
                                          <p:attrName>ppt_y</p:attrName>
                                        </p:attrNameLst>
                                      </p:cBhvr>
                                      <p:tavLst>
                                        <p:tav tm="0">
                                          <p:val>
                                            <p:strVal val="#ppt_y+.04"/>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decel="100000" fill="hold"/>
                                        <p:tgtEl>
                                          <p:spTgt spid="12"/>
                                        </p:tgtEl>
                                        <p:attrNameLst>
                                          <p:attrName>ppt_x</p:attrName>
                                        </p:attrNameLst>
                                      </p:cBhvr>
                                      <p:tavLst>
                                        <p:tav tm="0">
                                          <p:val>
                                            <p:strVal val="#ppt_x"/>
                                          </p:val>
                                        </p:tav>
                                        <p:tav tm="100000">
                                          <p:val>
                                            <p:strVal val="#ppt_x"/>
                                          </p:val>
                                        </p:tav>
                                      </p:tavLst>
                                    </p:anim>
                                    <p:anim calcmode="lin" valueType="num">
                                      <p:cBhvr>
                                        <p:cTn id="55" dur="500" decel="100000" fill="hold"/>
                                        <p:tgtEl>
                                          <p:spTgt spid="12"/>
                                        </p:tgtEl>
                                        <p:attrNameLst>
                                          <p:attrName>ppt_y</p:attrName>
                                        </p:attrNameLst>
                                      </p:cBhvr>
                                      <p:tavLst>
                                        <p:tav tm="0">
                                          <p:val>
                                            <p:strVal val="#ppt_y+.04"/>
                                          </p:val>
                                        </p:tav>
                                        <p:tav tm="100000">
                                          <p:val>
                                            <p:strVal val="#ppt_y"/>
                                          </p:val>
                                        </p:tav>
                                      </p:tavLst>
                                    </p:anim>
                                  </p:childTnLst>
                                </p:cTn>
                              </p:par>
                            </p:childTnLst>
                          </p:cTn>
                        </p:par>
                        <p:par>
                          <p:cTn id="56" fill="hold">
                            <p:stCondLst>
                              <p:cond delay="700"/>
                            </p:stCondLst>
                            <p:childTnLst>
                              <p:par>
                                <p:cTn id="57" presetID="42" presetClass="entr" presetSubtype="0"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500"/>
                                        <p:tgtEl>
                                          <p:spTgt spid="17"/>
                                        </p:tgtEl>
                                      </p:cBhvr>
                                    </p:animEffect>
                                    <p:anim calcmode="lin" valueType="num">
                                      <p:cBhvr>
                                        <p:cTn id="80" dur="500" decel="100000" fill="hold"/>
                                        <p:tgtEl>
                                          <p:spTgt spid="17"/>
                                        </p:tgtEl>
                                        <p:attrNameLst>
                                          <p:attrName>ppt_x</p:attrName>
                                        </p:attrNameLst>
                                      </p:cBhvr>
                                      <p:tavLst>
                                        <p:tav tm="0">
                                          <p:val>
                                            <p:strVal val="#ppt_x"/>
                                          </p:val>
                                        </p:tav>
                                        <p:tav tm="100000">
                                          <p:val>
                                            <p:strVal val="#ppt_x"/>
                                          </p:val>
                                        </p:tav>
                                      </p:tavLst>
                                    </p:anim>
                                    <p:anim calcmode="lin" valueType="num">
                                      <p:cBhvr>
                                        <p:cTn id="81" dur="500" decel="100000" fill="hold"/>
                                        <p:tgtEl>
                                          <p:spTgt spid="17"/>
                                        </p:tgtEl>
                                        <p:attrNameLst>
                                          <p:attrName>ppt_y</p:attrName>
                                        </p:attrNameLst>
                                      </p:cBhvr>
                                      <p:tavLst>
                                        <p:tav tm="0">
                                          <p:val>
                                            <p:strVal val="#ppt_y+.04"/>
                                          </p:val>
                                        </p:tav>
                                        <p:tav tm="100000">
                                          <p:val>
                                            <p:strVal val="#ppt_y"/>
                                          </p:val>
                                        </p:tav>
                                      </p:tavLst>
                                    </p:anim>
                                  </p:childTnLst>
                                </p:cTn>
                              </p:par>
                            </p:childTnLst>
                          </p:cTn>
                        </p:par>
                        <p:par>
                          <p:cTn id="82" fill="hold">
                            <p:stCondLst>
                              <p:cond delay="1050"/>
                            </p:stCondLst>
                            <p:childTnLst>
                              <p:par>
                                <p:cTn id="83" presetID="42"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decel="100000" fill="hold"/>
                                        <p:tgtEl>
                                          <p:spTgt spid="18"/>
                                        </p:tgtEl>
                                        <p:attrNameLst>
                                          <p:attrName>ppt_x</p:attrName>
                                        </p:attrNameLst>
                                      </p:cBhvr>
                                      <p:tavLst>
                                        <p:tav tm="0">
                                          <p:val>
                                            <p:strVal val="#ppt_x"/>
                                          </p:val>
                                        </p:tav>
                                        <p:tav tm="100000">
                                          <p:val>
                                            <p:strVal val="#ppt_x"/>
                                          </p:val>
                                        </p:tav>
                                      </p:tavLst>
                                    </p:anim>
                                    <p:anim calcmode="lin" valueType="num">
                                      <p:cBhvr>
                                        <p:cTn id="87" dur="500" decel="100000" fill="hold"/>
                                        <p:tgtEl>
                                          <p:spTgt spid="18"/>
                                        </p:tgtEl>
                                        <p:attrNameLst>
                                          <p:attrName>ppt_y</p:attrName>
                                        </p:attrNameLst>
                                      </p:cBhvr>
                                      <p:tavLst>
                                        <p:tav tm="0">
                                          <p:val>
                                            <p:strVal val="#ppt_y+.04"/>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anim calcmode="lin" valueType="num">
                                      <p:cBhvr>
                                        <p:cTn id="91" dur="500" decel="100000" fill="hold"/>
                                        <p:tgtEl>
                                          <p:spTgt spid="19"/>
                                        </p:tgtEl>
                                        <p:attrNameLst>
                                          <p:attrName>ppt_x</p:attrName>
                                        </p:attrNameLst>
                                      </p:cBhvr>
                                      <p:tavLst>
                                        <p:tav tm="0">
                                          <p:val>
                                            <p:strVal val="#ppt_x"/>
                                          </p:val>
                                        </p:tav>
                                        <p:tav tm="100000">
                                          <p:val>
                                            <p:strVal val="#ppt_x"/>
                                          </p:val>
                                        </p:tav>
                                      </p:tavLst>
                                    </p:anim>
                                    <p:anim calcmode="lin" valueType="num">
                                      <p:cBhvr>
                                        <p:cTn id="92" dur="500" decel="100000" fill="hold"/>
                                        <p:tgtEl>
                                          <p:spTgt spid="19"/>
                                        </p:tgtEl>
                                        <p:attrNameLst>
                                          <p:attrName>ppt_y</p:attrName>
                                        </p:attrNameLst>
                                      </p:cBhvr>
                                      <p:tavLst>
                                        <p:tav tm="0">
                                          <p:val>
                                            <p:strVal val="#ppt_y+.04"/>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500"/>
                                        <p:tgtEl>
                                          <p:spTgt spid="20"/>
                                        </p:tgtEl>
                                      </p:cBhvr>
                                    </p:animEffect>
                                    <p:anim calcmode="lin" valueType="num">
                                      <p:cBhvr>
                                        <p:cTn id="96" dur="500" decel="100000" fill="hold"/>
                                        <p:tgtEl>
                                          <p:spTgt spid="20"/>
                                        </p:tgtEl>
                                        <p:attrNameLst>
                                          <p:attrName>ppt_x</p:attrName>
                                        </p:attrNameLst>
                                      </p:cBhvr>
                                      <p:tavLst>
                                        <p:tav tm="0">
                                          <p:val>
                                            <p:strVal val="#ppt_x"/>
                                          </p:val>
                                        </p:tav>
                                        <p:tav tm="100000">
                                          <p:val>
                                            <p:strVal val="#ppt_x"/>
                                          </p:val>
                                        </p:tav>
                                      </p:tavLst>
                                    </p:anim>
                                    <p:anim calcmode="lin" valueType="num">
                                      <p:cBhvr>
                                        <p:cTn id="97" dur="500" decel="100000" fill="hold"/>
                                        <p:tgtEl>
                                          <p:spTgt spid="20"/>
                                        </p:tgtEl>
                                        <p:attrNameLst>
                                          <p:attrName>ppt_y</p:attrName>
                                        </p:attrNameLst>
                                      </p:cBhvr>
                                      <p:tavLst>
                                        <p:tav tm="0">
                                          <p:val>
                                            <p:strVal val="#ppt_y+.04"/>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500"/>
                                        <p:tgtEl>
                                          <p:spTgt spid="21"/>
                                        </p:tgtEl>
                                      </p:cBhvr>
                                    </p:animEffect>
                                    <p:anim calcmode="lin" valueType="num">
                                      <p:cBhvr>
                                        <p:cTn id="101" dur="500" decel="100000" fill="hold"/>
                                        <p:tgtEl>
                                          <p:spTgt spid="21"/>
                                        </p:tgtEl>
                                        <p:attrNameLst>
                                          <p:attrName>ppt_x</p:attrName>
                                        </p:attrNameLst>
                                      </p:cBhvr>
                                      <p:tavLst>
                                        <p:tav tm="0">
                                          <p:val>
                                            <p:strVal val="#ppt_x"/>
                                          </p:val>
                                        </p:tav>
                                        <p:tav tm="100000">
                                          <p:val>
                                            <p:strVal val="#ppt_x"/>
                                          </p:val>
                                        </p:tav>
                                      </p:tavLst>
                                    </p:anim>
                                    <p:anim calcmode="lin" valueType="num">
                                      <p:cBhvr>
                                        <p:cTn id="102" dur="500" decel="100000" fill="hold"/>
                                        <p:tgtEl>
                                          <p:spTgt spid="21"/>
                                        </p:tgtEl>
                                        <p:attrNameLst>
                                          <p:attrName>ppt_y</p:attrName>
                                        </p:attrNameLst>
                                      </p:cBhvr>
                                      <p:tavLst>
                                        <p:tav tm="0">
                                          <p:val>
                                            <p:strVal val="#ppt_y+.04"/>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500"/>
                                        <p:tgtEl>
                                          <p:spTgt spid="22"/>
                                        </p:tgtEl>
                                      </p:cBhvr>
                                    </p:animEffect>
                                    <p:anim calcmode="lin" valueType="num">
                                      <p:cBhvr>
                                        <p:cTn id="106" dur="500" decel="100000" fill="hold"/>
                                        <p:tgtEl>
                                          <p:spTgt spid="22"/>
                                        </p:tgtEl>
                                        <p:attrNameLst>
                                          <p:attrName>ppt_x</p:attrName>
                                        </p:attrNameLst>
                                      </p:cBhvr>
                                      <p:tavLst>
                                        <p:tav tm="0">
                                          <p:val>
                                            <p:strVal val="#ppt_x"/>
                                          </p:val>
                                        </p:tav>
                                        <p:tav tm="100000">
                                          <p:val>
                                            <p:strVal val="#ppt_x"/>
                                          </p:val>
                                        </p:tav>
                                      </p:tavLst>
                                    </p:anim>
                                    <p:anim calcmode="lin" valueType="num">
                                      <p:cBhvr>
                                        <p:cTn id="107" dur="500" decel="100000" fill="hold"/>
                                        <p:tgtEl>
                                          <p:spTgt spid="22"/>
                                        </p:tgtEl>
                                        <p:attrNameLst>
                                          <p:attrName>ppt_y</p:attrName>
                                        </p:attrNameLst>
                                      </p:cBhvr>
                                      <p:tavLst>
                                        <p:tav tm="0">
                                          <p:val>
                                            <p:strVal val="#ppt_y+.04"/>
                                          </p:val>
                                        </p:tav>
                                        <p:tav tm="100000">
                                          <p:val>
                                            <p:strVal val="#ppt_y"/>
                                          </p:val>
                                        </p:tav>
                                      </p:tavLst>
                                    </p:anim>
                                  </p:childTnLst>
                                </p:cTn>
                              </p:par>
                            </p:childTnLst>
                          </p:cTn>
                        </p:par>
                        <p:par>
                          <p:cTn id="108" fill="hold">
                            <p:stCondLst>
                              <p:cond delay="1400"/>
                            </p:stCondLst>
                            <p:childTnLst>
                              <p:par>
                                <p:cTn id="109" presetID="42" presetClass="entr" presetSubtype="0" fill="hold" grpId="0" nodeType="after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500"/>
                                        <p:tgtEl>
                                          <p:spTgt spid="23"/>
                                        </p:tgtEl>
                                      </p:cBhvr>
                                    </p:animEffect>
                                    <p:anim calcmode="lin" valueType="num">
                                      <p:cBhvr>
                                        <p:cTn id="112" dur="500" decel="100000" fill="hold"/>
                                        <p:tgtEl>
                                          <p:spTgt spid="23"/>
                                        </p:tgtEl>
                                        <p:attrNameLst>
                                          <p:attrName>ppt_x</p:attrName>
                                        </p:attrNameLst>
                                      </p:cBhvr>
                                      <p:tavLst>
                                        <p:tav tm="0">
                                          <p:val>
                                            <p:strVal val="#ppt_x"/>
                                          </p:val>
                                        </p:tav>
                                        <p:tav tm="100000">
                                          <p:val>
                                            <p:strVal val="#ppt_x"/>
                                          </p:val>
                                        </p:tav>
                                      </p:tavLst>
                                    </p:anim>
                                    <p:anim calcmode="lin" valueType="num">
                                      <p:cBhvr>
                                        <p:cTn id="113" dur="500" decel="100000" fill="hold"/>
                                        <p:tgtEl>
                                          <p:spTgt spid="23"/>
                                        </p:tgtEl>
                                        <p:attrNameLst>
                                          <p:attrName>ppt_y</p:attrName>
                                        </p:attrNameLst>
                                      </p:cBhvr>
                                      <p:tavLst>
                                        <p:tav tm="0">
                                          <p:val>
                                            <p:strVal val="#ppt_y+.04"/>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500"/>
                                        <p:tgtEl>
                                          <p:spTgt spid="24"/>
                                        </p:tgtEl>
                                      </p:cBhvr>
                                    </p:animEffect>
                                    <p:anim calcmode="lin" valueType="num">
                                      <p:cBhvr>
                                        <p:cTn id="117" dur="500" decel="100000" fill="hold"/>
                                        <p:tgtEl>
                                          <p:spTgt spid="24"/>
                                        </p:tgtEl>
                                        <p:attrNameLst>
                                          <p:attrName>ppt_x</p:attrName>
                                        </p:attrNameLst>
                                      </p:cBhvr>
                                      <p:tavLst>
                                        <p:tav tm="0">
                                          <p:val>
                                            <p:strVal val="#ppt_x"/>
                                          </p:val>
                                        </p:tav>
                                        <p:tav tm="100000">
                                          <p:val>
                                            <p:strVal val="#ppt_x"/>
                                          </p:val>
                                        </p:tav>
                                      </p:tavLst>
                                    </p:anim>
                                    <p:anim calcmode="lin" valueType="num">
                                      <p:cBhvr>
                                        <p:cTn id="118" dur="500" decel="100000" fill="hold"/>
                                        <p:tgtEl>
                                          <p:spTgt spid="24"/>
                                        </p:tgtEl>
                                        <p:attrNameLst>
                                          <p:attrName>ppt_y</p:attrName>
                                        </p:attrNameLst>
                                      </p:cBhvr>
                                      <p:tavLst>
                                        <p:tav tm="0">
                                          <p:val>
                                            <p:strVal val="#ppt_y+.04"/>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500"/>
                                        <p:tgtEl>
                                          <p:spTgt spid="25"/>
                                        </p:tgtEl>
                                      </p:cBhvr>
                                    </p:animEffect>
                                    <p:anim calcmode="lin" valueType="num">
                                      <p:cBhvr>
                                        <p:cTn id="122" dur="500" decel="100000" fill="hold"/>
                                        <p:tgtEl>
                                          <p:spTgt spid="25"/>
                                        </p:tgtEl>
                                        <p:attrNameLst>
                                          <p:attrName>ppt_x</p:attrName>
                                        </p:attrNameLst>
                                      </p:cBhvr>
                                      <p:tavLst>
                                        <p:tav tm="0">
                                          <p:val>
                                            <p:strVal val="#ppt_x"/>
                                          </p:val>
                                        </p:tav>
                                        <p:tav tm="100000">
                                          <p:val>
                                            <p:strVal val="#ppt_x"/>
                                          </p:val>
                                        </p:tav>
                                      </p:tavLst>
                                    </p:anim>
                                    <p:anim calcmode="lin" valueType="num">
                                      <p:cBhvr>
                                        <p:cTn id="123" dur="500" decel="100000" fill="hold"/>
                                        <p:tgtEl>
                                          <p:spTgt spid="25"/>
                                        </p:tgtEl>
                                        <p:attrNameLst>
                                          <p:attrName>ppt_y</p:attrName>
                                        </p:attrNameLst>
                                      </p:cBhvr>
                                      <p:tavLst>
                                        <p:tav tm="0">
                                          <p:val>
                                            <p:strVal val="#ppt_y+.04"/>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fade">
                                      <p:cBhvr>
                                        <p:cTn id="126" dur="500"/>
                                        <p:tgtEl>
                                          <p:spTgt spid="26"/>
                                        </p:tgtEl>
                                      </p:cBhvr>
                                    </p:animEffect>
                                    <p:anim calcmode="lin" valueType="num">
                                      <p:cBhvr>
                                        <p:cTn id="127" dur="500" decel="100000" fill="hold"/>
                                        <p:tgtEl>
                                          <p:spTgt spid="26"/>
                                        </p:tgtEl>
                                        <p:attrNameLst>
                                          <p:attrName>ppt_x</p:attrName>
                                        </p:attrNameLst>
                                      </p:cBhvr>
                                      <p:tavLst>
                                        <p:tav tm="0">
                                          <p:val>
                                            <p:strVal val="#ppt_x"/>
                                          </p:val>
                                        </p:tav>
                                        <p:tav tm="100000">
                                          <p:val>
                                            <p:strVal val="#ppt_x"/>
                                          </p:val>
                                        </p:tav>
                                      </p:tavLst>
                                    </p:anim>
                                    <p:anim calcmode="lin" valueType="num">
                                      <p:cBhvr>
                                        <p:cTn id="128" dur="500" decel="100000" fill="hold"/>
                                        <p:tgtEl>
                                          <p:spTgt spid="26"/>
                                        </p:tgtEl>
                                        <p:attrNameLst>
                                          <p:attrName>ppt_y</p:attrName>
                                        </p:attrNameLst>
                                      </p:cBhvr>
                                      <p:tavLst>
                                        <p:tav tm="0">
                                          <p:val>
                                            <p:strVal val="#ppt_y+.04"/>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fade">
                                      <p:cBhvr>
                                        <p:cTn id="131" dur="500"/>
                                        <p:tgtEl>
                                          <p:spTgt spid="27"/>
                                        </p:tgtEl>
                                      </p:cBhvr>
                                    </p:animEffect>
                                    <p:anim calcmode="lin" valueType="num">
                                      <p:cBhvr>
                                        <p:cTn id="132" dur="500" decel="100000" fill="hold"/>
                                        <p:tgtEl>
                                          <p:spTgt spid="27"/>
                                        </p:tgtEl>
                                        <p:attrNameLst>
                                          <p:attrName>ppt_x</p:attrName>
                                        </p:attrNameLst>
                                      </p:cBhvr>
                                      <p:tavLst>
                                        <p:tav tm="0">
                                          <p:val>
                                            <p:strVal val="#ppt_x"/>
                                          </p:val>
                                        </p:tav>
                                        <p:tav tm="100000">
                                          <p:val>
                                            <p:strVal val="#ppt_x"/>
                                          </p:val>
                                        </p:tav>
                                      </p:tavLst>
                                    </p:anim>
                                    <p:anim calcmode="lin" valueType="num">
                                      <p:cBhvr>
                                        <p:cTn id="133" dur="500" decel="100000" fill="hold"/>
                                        <p:tgtEl>
                                          <p:spTgt spid="27"/>
                                        </p:tgtEl>
                                        <p:attrNameLst>
                                          <p:attrName>ppt_y</p:attrName>
                                        </p:attrNameLst>
                                      </p:cBhvr>
                                      <p:tavLst>
                                        <p:tav tm="0">
                                          <p:val>
                                            <p:strVal val="#ppt_y+.04"/>
                                          </p:val>
                                        </p:tav>
                                        <p:tav tm="100000">
                                          <p:val>
                                            <p:strVal val="#ppt_y"/>
                                          </p:val>
                                        </p:tav>
                                      </p:tavLst>
                                    </p:anim>
                                  </p:childTnLst>
                                </p:cTn>
                              </p:par>
                            </p:childTnLst>
                          </p:cTn>
                        </p:par>
                        <p:par>
                          <p:cTn id="134" fill="hold">
                            <p:stCondLst>
                              <p:cond delay="1750"/>
                            </p:stCondLst>
                            <p:childTnLst>
                              <p:par>
                                <p:cTn id="135" presetID="42" presetClass="entr" presetSubtype="0" fill="hold" grpId="0" nodeType="after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500"/>
                                        <p:tgtEl>
                                          <p:spTgt spid="28"/>
                                        </p:tgtEl>
                                      </p:cBhvr>
                                    </p:animEffect>
                                    <p:anim calcmode="lin" valueType="num">
                                      <p:cBhvr>
                                        <p:cTn id="138" dur="500" decel="100000" fill="hold"/>
                                        <p:tgtEl>
                                          <p:spTgt spid="28"/>
                                        </p:tgtEl>
                                        <p:attrNameLst>
                                          <p:attrName>ppt_x</p:attrName>
                                        </p:attrNameLst>
                                      </p:cBhvr>
                                      <p:tavLst>
                                        <p:tav tm="0">
                                          <p:val>
                                            <p:strVal val="#ppt_x"/>
                                          </p:val>
                                        </p:tav>
                                        <p:tav tm="100000">
                                          <p:val>
                                            <p:strVal val="#ppt_x"/>
                                          </p:val>
                                        </p:tav>
                                      </p:tavLst>
                                    </p:anim>
                                    <p:anim calcmode="lin" valueType="num">
                                      <p:cBhvr>
                                        <p:cTn id="139" dur="500" decel="100000" fill="hold"/>
                                        <p:tgtEl>
                                          <p:spTgt spid="28"/>
                                        </p:tgtEl>
                                        <p:attrNameLst>
                                          <p:attrName>ppt_y</p:attrName>
                                        </p:attrNameLst>
                                      </p:cBhvr>
                                      <p:tavLst>
                                        <p:tav tm="0">
                                          <p:val>
                                            <p:strVal val="#ppt_y+.04"/>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500"/>
                                        <p:tgtEl>
                                          <p:spTgt spid="29"/>
                                        </p:tgtEl>
                                      </p:cBhvr>
                                    </p:animEffect>
                                    <p:anim calcmode="lin" valueType="num">
                                      <p:cBhvr>
                                        <p:cTn id="143" dur="500" decel="100000" fill="hold"/>
                                        <p:tgtEl>
                                          <p:spTgt spid="29"/>
                                        </p:tgtEl>
                                        <p:attrNameLst>
                                          <p:attrName>ppt_x</p:attrName>
                                        </p:attrNameLst>
                                      </p:cBhvr>
                                      <p:tavLst>
                                        <p:tav tm="0">
                                          <p:val>
                                            <p:strVal val="#ppt_x"/>
                                          </p:val>
                                        </p:tav>
                                        <p:tav tm="100000">
                                          <p:val>
                                            <p:strVal val="#ppt_x"/>
                                          </p:val>
                                        </p:tav>
                                      </p:tavLst>
                                    </p:anim>
                                    <p:anim calcmode="lin" valueType="num">
                                      <p:cBhvr>
                                        <p:cTn id="144" dur="500" decel="100000" fill="hold"/>
                                        <p:tgtEl>
                                          <p:spTgt spid="29"/>
                                        </p:tgtEl>
                                        <p:attrNameLst>
                                          <p:attrName>ppt_y</p:attrName>
                                        </p:attrNameLst>
                                      </p:cBhvr>
                                      <p:tavLst>
                                        <p:tav tm="0">
                                          <p:val>
                                            <p:strVal val="#ppt_y+.04"/>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500"/>
                                        <p:tgtEl>
                                          <p:spTgt spid="30"/>
                                        </p:tgtEl>
                                      </p:cBhvr>
                                    </p:animEffect>
                                    <p:anim calcmode="lin" valueType="num">
                                      <p:cBhvr>
                                        <p:cTn id="148" dur="500" decel="100000" fill="hold"/>
                                        <p:tgtEl>
                                          <p:spTgt spid="30"/>
                                        </p:tgtEl>
                                        <p:attrNameLst>
                                          <p:attrName>ppt_x</p:attrName>
                                        </p:attrNameLst>
                                      </p:cBhvr>
                                      <p:tavLst>
                                        <p:tav tm="0">
                                          <p:val>
                                            <p:strVal val="#ppt_x"/>
                                          </p:val>
                                        </p:tav>
                                        <p:tav tm="100000">
                                          <p:val>
                                            <p:strVal val="#ppt_x"/>
                                          </p:val>
                                        </p:tav>
                                      </p:tavLst>
                                    </p:anim>
                                    <p:anim calcmode="lin" valueType="num">
                                      <p:cBhvr>
                                        <p:cTn id="149" dur="500" decel="100000" fill="hold"/>
                                        <p:tgtEl>
                                          <p:spTgt spid="30"/>
                                        </p:tgtEl>
                                        <p:attrNameLst>
                                          <p:attrName>ppt_y</p:attrName>
                                        </p:attrNameLst>
                                      </p:cBhvr>
                                      <p:tavLst>
                                        <p:tav tm="0">
                                          <p:val>
                                            <p:strVal val="#ppt_y+.04"/>
                                          </p:val>
                                        </p:tav>
                                        <p:tav tm="100000">
                                          <p:val>
                                            <p:strVal val="#ppt_y"/>
                                          </p:val>
                                        </p:tav>
                                      </p:tavLst>
                                    </p:anim>
                                  </p:childTnLst>
                                </p:cTn>
                              </p:par>
                            </p:childTnLst>
                          </p:cTn>
                        </p:par>
                        <p:par>
                          <p:cTn id="150" fill="hold">
                            <p:stCondLst>
                              <p:cond delay="2100"/>
                            </p:stCondLst>
                            <p:childTnLst>
                              <p:par>
                                <p:cTn id="151" presetID="42" presetClass="entr" presetSubtype="0" fill="hold" grpId="0" nodeType="afterEffect">
                                  <p:stCondLst>
                                    <p:cond delay="0"/>
                                  </p:stCondLst>
                                  <p:childTnLst>
                                    <p:set>
                                      <p:cBhvr>
                                        <p:cTn id="152" dur="1" fill="hold">
                                          <p:stCondLst>
                                            <p:cond delay="0"/>
                                          </p:stCondLst>
                                        </p:cTn>
                                        <p:tgtEl>
                                          <p:spTgt spid="31"/>
                                        </p:tgtEl>
                                        <p:attrNameLst>
                                          <p:attrName>style.visibility</p:attrName>
                                        </p:attrNameLst>
                                      </p:cBhvr>
                                      <p:to>
                                        <p:strVal val="visible"/>
                                      </p:to>
                                    </p:set>
                                    <p:animEffect transition="in" filter="fade">
                                      <p:cBhvr>
                                        <p:cTn id="153" dur="500"/>
                                        <p:tgtEl>
                                          <p:spTgt spid="31"/>
                                        </p:tgtEl>
                                      </p:cBhvr>
                                    </p:animEffect>
                                    <p:anim calcmode="lin" valueType="num">
                                      <p:cBhvr>
                                        <p:cTn id="154" dur="500" decel="100000" fill="hold"/>
                                        <p:tgtEl>
                                          <p:spTgt spid="31"/>
                                        </p:tgtEl>
                                        <p:attrNameLst>
                                          <p:attrName>ppt_x</p:attrName>
                                        </p:attrNameLst>
                                      </p:cBhvr>
                                      <p:tavLst>
                                        <p:tav tm="0">
                                          <p:val>
                                            <p:strVal val="#ppt_x"/>
                                          </p:val>
                                        </p:tav>
                                        <p:tav tm="100000">
                                          <p:val>
                                            <p:strVal val="#ppt_x"/>
                                          </p:val>
                                        </p:tav>
                                      </p:tavLst>
                                    </p:anim>
                                    <p:anim calcmode="lin" valueType="num">
                                      <p:cBhvr>
                                        <p:cTn id="155" dur="500" decel="100000" fill="hold"/>
                                        <p:tgtEl>
                                          <p:spTgt spid="3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Security in numbers</a:t>
            </a:r>
            <a:endParaRPr lang="en-US" sz="3200" dirty="0"/>
          </a:p>
        </p:txBody>
      </p:sp>
      <p:sp>
        <p:nvSpPr>
          <p:cNvPr id="3" name="a_201"/>
          <p:cNvSpPr/>
          <p:nvPr/>
        </p:nvSpPr>
        <p:spPr>
          <a:xfrm>
            <a:off x="548640" y="1463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4" name="o_202"/>
          <p:cNvSpPr txBox="1"/>
          <p:nvPr/>
        </p:nvSpPr>
        <p:spPr>
          <a:xfrm>
            <a:off x="868680" y="1737360"/>
            <a:ext cx="2926080" cy="868680"/>
          </a:xfrm>
          <a:prstGeom prst="rect">
            <a:avLst/>
          </a:prstGeom>
          <a:noFill/>
          <a:ln/>
        </p:spPr>
        <p:txBody>
          <a:bodyPr wrap="square" lIns="0" tIns="0" rIns="0" bIns="0" rtlCol="0" anchor="t"/>
          <a:lstStyle/>
          <a:p>
            <a:pPr indent="0" marL="0">
              <a:buNone/>
            </a:pPr>
            <a:r>
              <a:rPr lang="en-US" sz="4000" b="1" dirty="0">
                <a:solidFill>
                  <a:schemeClr val="accent1"/>
                </a:solidFill>
              </a:rPr>
              <a:t>AES-256</a:t>
            </a:r>
            <a:endParaRPr lang="en-US" sz="4000" dirty="0"/>
          </a:p>
        </p:txBody>
      </p:sp>
      <p:sp>
        <p:nvSpPr>
          <p:cNvPr id="5" name="o_203"/>
          <p:cNvSpPr txBox="1"/>
          <p:nvPr/>
        </p:nvSpPr>
        <p:spPr>
          <a:xfrm>
            <a:off x="868680" y="2651760"/>
            <a:ext cx="2926080" cy="731520"/>
          </a:xfrm>
          <a:prstGeom prst="rect">
            <a:avLst/>
          </a:prstGeom>
          <a:noFill/>
          <a:ln/>
        </p:spPr>
        <p:txBody>
          <a:bodyPr wrap="square" lIns="0" tIns="0" rIns="0" bIns="0" rtlCol="0" anchor="t"/>
          <a:lstStyle/>
          <a:p>
            <a:pPr indent="0" marL="0">
              <a:buNone/>
            </a:pPr>
            <a:r>
              <a:rPr lang="en-US" sz="1400" dirty="0">
                <a:solidFill>
                  <a:srgbClr val="5D647D"/>
                </a:solidFill>
              </a:rPr>
              <a:t>GCM encryption for vault, claims and keys</a:t>
            </a:r>
            <a:endParaRPr lang="en-US" sz="1400" dirty="0"/>
          </a:p>
        </p:txBody>
      </p:sp>
      <p:sp>
        <p:nvSpPr>
          <p:cNvPr id="6" name="a_204"/>
          <p:cNvSpPr/>
          <p:nvPr/>
        </p:nvSpPr>
        <p:spPr>
          <a:xfrm>
            <a:off x="4297680" y="1463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7" name="o_205"/>
          <p:cNvSpPr txBox="1"/>
          <p:nvPr/>
        </p:nvSpPr>
        <p:spPr>
          <a:xfrm>
            <a:off x="4617720" y="1737360"/>
            <a:ext cx="2926080" cy="868680"/>
          </a:xfrm>
          <a:prstGeom prst="rect">
            <a:avLst/>
          </a:prstGeom>
          <a:noFill/>
          <a:ln/>
        </p:spPr>
        <p:txBody>
          <a:bodyPr wrap="square" lIns="0" tIns="0" rIns="0" bIns="0" rtlCol="0" anchor="t"/>
          <a:lstStyle/>
          <a:p>
            <a:pPr indent="0" marL="0">
              <a:buNone/>
            </a:pPr>
            <a:r>
              <a:rPr lang="en-US" sz="4000" b="1" dirty="0">
                <a:solidFill>
                  <a:schemeClr val="accent2"/>
                </a:solidFill>
              </a:rPr>
              <a:t>P-256</a:t>
            </a:r>
            <a:endParaRPr lang="en-US" sz="4000" dirty="0"/>
          </a:p>
        </p:txBody>
      </p:sp>
      <p:sp>
        <p:nvSpPr>
          <p:cNvPr id="8" name="o_206"/>
          <p:cNvSpPr txBox="1"/>
          <p:nvPr/>
        </p:nvSpPr>
        <p:spPr>
          <a:xfrm>
            <a:off x="4617720" y="2651760"/>
            <a:ext cx="2926080" cy="731520"/>
          </a:xfrm>
          <a:prstGeom prst="rect">
            <a:avLst/>
          </a:prstGeom>
          <a:noFill/>
          <a:ln/>
        </p:spPr>
        <p:txBody>
          <a:bodyPr wrap="square" lIns="0" tIns="0" rIns="0" bIns="0" rtlCol="0" anchor="t"/>
          <a:lstStyle/>
          <a:p>
            <a:pPr indent="0" marL="0">
              <a:buNone/>
            </a:pPr>
            <a:r>
              <a:rPr lang="en-US" sz="1400" dirty="0">
                <a:solidFill>
                  <a:srgbClr val="5D647D"/>
                </a:solidFill>
              </a:rPr>
              <a:t>ECDSA keys for issuer and holder signatures</a:t>
            </a:r>
            <a:endParaRPr lang="en-US" sz="1400" dirty="0"/>
          </a:p>
        </p:txBody>
      </p:sp>
      <p:sp>
        <p:nvSpPr>
          <p:cNvPr id="9" name="a_207"/>
          <p:cNvSpPr/>
          <p:nvPr/>
        </p:nvSpPr>
        <p:spPr>
          <a:xfrm>
            <a:off x="8046720" y="1463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0" name="o_208"/>
          <p:cNvSpPr txBox="1"/>
          <p:nvPr/>
        </p:nvSpPr>
        <p:spPr>
          <a:xfrm>
            <a:off x="8366760" y="1737360"/>
            <a:ext cx="2926080" cy="868680"/>
          </a:xfrm>
          <a:prstGeom prst="rect">
            <a:avLst/>
          </a:prstGeom>
          <a:noFill/>
          <a:ln/>
        </p:spPr>
        <p:txBody>
          <a:bodyPr wrap="square" lIns="0" tIns="0" rIns="0" bIns="0" rtlCol="0" anchor="t"/>
          <a:lstStyle/>
          <a:p>
            <a:pPr indent="0" marL="0">
              <a:buNone/>
            </a:pPr>
            <a:r>
              <a:rPr lang="en-US" sz="4000" b="1" dirty="0">
                <a:solidFill>
                  <a:schemeClr val="accent3"/>
                </a:solidFill>
              </a:rPr>
              <a:t>210,000</a:t>
            </a:r>
            <a:endParaRPr lang="en-US" sz="4000" dirty="0"/>
          </a:p>
        </p:txBody>
      </p:sp>
      <p:sp>
        <p:nvSpPr>
          <p:cNvPr id="11" name="o_209"/>
          <p:cNvSpPr txBox="1"/>
          <p:nvPr/>
        </p:nvSpPr>
        <p:spPr>
          <a:xfrm>
            <a:off x="8366760" y="2651760"/>
            <a:ext cx="2926080" cy="731520"/>
          </a:xfrm>
          <a:prstGeom prst="rect">
            <a:avLst/>
          </a:prstGeom>
          <a:noFill/>
          <a:ln/>
        </p:spPr>
        <p:txBody>
          <a:bodyPr wrap="square" lIns="0" tIns="0" rIns="0" bIns="0" rtlCol="0" anchor="t"/>
          <a:lstStyle/>
          <a:p>
            <a:pPr indent="0" marL="0">
              <a:buNone/>
            </a:pPr>
            <a:r>
              <a:rPr lang="en-US" sz="1400" dirty="0">
                <a:solidFill>
                  <a:srgbClr val="5D647D"/>
                </a:solidFill>
              </a:rPr>
              <a:t>PBKDF2 iterations per password hash</a:t>
            </a:r>
            <a:endParaRPr lang="en-US" sz="1400" dirty="0"/>
          </a:p>
        </p:txBody>
      </p:sp>
      <p:sp>
        <p:nvSpPr>
          <p:cNvPr id="12" name="a_210"/>
          <p:cNvSpPr/>
          <p:nvPr/>
        </p:nvSpPr>
        <p:spPr>
          <a:xfrm>
            <a:off x="548640" y="3749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3" name="o_211"/>
          <p:cNvSpPr txBox="1"/>
          <p:nvPr/>
        </p:nvSpPr>
        <p:spPr>
          <a:xfrm>
            <a:off x="868680" y="4023360"/>
            <a:ext cx="2926080" cy="868680"/>
          </a:xfrm>
          <a:prstGeom prst="rect">
            <a:avLst/>
          </a:prstGeom>
          <a:noFill/>
          <a:ln/>
        </p:spPr>
        <p:txBody>
          <a:bodyPr wrap="square" lIns="0" tIns="0" rIns="0" bIns="0" rtlCol="0" anchor="t"/>
          <a:lstStyle/>
          <a:p>
            <a:pPr indent="0" marL="0">
              <a:buNone/>
            </a:pPr>
            <a:r>
              <a:rPr lang="en-US" sz="4000" b="1" dirty="0">
                <a:solidFill>
                  <a:schemeClr val="accent4"/>
                </a:solidFill>
              </a:rPr>
              <a:t>2FA</a:t>
            </a:r>
            <a:endParaRPr lang="en-US" sz="4000" dirty="0"/>
          </a:p>
        </p:txBody>
      </p:sp>
      <p:sp>
        <p:nvSpPr>
          <p:cNvPr id="14" name="o_212"/>
          <p:cNvSpPr txBox="1"/>
          <p:nvPr/>
        </p:nvSpPr>
        <p:spPr>
          <a:xfrm>
            <a:off x="868680" y="4937760"/>
            <a:ext cx="2926080" cy="731520"/>
          </a:xfrm>
          <a:prstGeom prst="rect">
            <a:avLst/>
          </a:prstGeom>
          <a:noFill/>
          <a:ln/>
        </p:spPr>
        <p:txBody>
          <a:bodyPr wrap="square" lIns="0" tIns="0" rIns="0" bIns="0" rtlCol="0" anchor="t"/>
          <a:lstStyle/>
          <a:p>
            <a:pPr indent="0" marL="0">
              <a:buNone/>
            </a:pPr>
            <a:r>
              <a:rPr lang="en-US" sz="1400" dirty="0">
                <a:solidFill>
                  <a:srgbClr val="5D647D"/>
                </a:solidFill>
              </a:rPr>
              <a:t>TOTP codes every 30 s (RFC 6238)</a:t>
            </a:r>
            <a:endParaRPr lang="en-US" sz="1400" dirty="0"/>
          </a:p>
        </p:txBody>
      </p:sp>
      <p:sp>
        <p:nvSpPr>
          <p:cNvPr id="15" name="a_213"/>
          <p:cNvSpPr/>
          <p:nvPr/>
        </p:nvSpPr>
        <p:spPr>
          <a:xfrm>
            <a:off x="4297680" y="3749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6" name="o_214"/>
          <p:cNvSpPr txBox="1"/>
          <p:nvPr/>
        </p:nvSpPr>
        <p:spPr>
          <a:xfrm>
            <a:off x="4617720" y="4023360"/>
            <a:ext cx="2926080" cy="868680"/>
          </a:xfrm>
          <a:prstGeom prst="rect">
            <a:avLst/>
          </a:prstGeom>
          <a:noFill/>
          <a:ln/>
        </p:spPr>
        <p:txBody>
          <a:bodyPr wrap="square" lIns="0" tIns="0" rIns="0" bIns="0" rtlCol="0" anchor="t"/>
          <a:lstStyle/>
          <a:p>
            <a:pPr indent="0" marL="0">
              <a:buNone/>
            </a:pPr>
            <a:r>
              <a:rPr lang="en-US" sz="4000" b="1" dirty="0">
                <a:solidFill>
                  <a:schemeClr val="accent5"/>
                </a:solidFill>
              </a:rPr>
              <a:t>5 → 5 min</a:t>
            </a:r>
            <a:endParaRPr lang="en-US" sz="4000" dirty="0"/>
          </a:p>
        </p:txBody>
      </p:sp>
      <p:sp>
        <p:nvSpPr>
          <p:cNvPr id="17" name="o_215"/>
          <p:cNvSpPr txBox="1"/>
          <p:nvPr/>
        </p:nvSpPr>
        <p:spPr>
          <a:xfrm>
            <a:off x="4617720" y="4937760"/>
            <a:ext cx="2926080" cy="731520"/>
          </a:xfrm>
          <a:prstGeom prst="rect">
            <a:avLst/>
          </a:prstGeom>
          <a:noFill/>
          <a:ln/>
        </p:spPr>
        <p:txBody>
          <a:bodyPr wrap="square" lIns="0" tIns="0" rIns="0" bIns="0" rtlCol="0" anchor="t"/>
          <a:lstStyle/>
          <a:p>
            <a:pPr indent="0" marL="0">
              <a:buNone/>
            </a:pPr>
            <a:r>
              <a:rPr lang="en-US" sz="1400" dirty="0">
                <a:solidFill>
                  <a:srgbClr val="5D647D"/>
                </a:solidFill>
              </a:rPr>
              <a:t>Wrong passwords before a 5-minute lockout</a:t>
            </a:r>
            <a:endParaRPr lang="en-US" sz="1400" dirty="0"/>
          </a:p>
        </p:txBody>
      </p:sp>
      <p:sp>
        <p:nvSpPr>
          <p:cNvPr id="18" name="a_216"/>
          <p:cNvSpPr/>
          <p:nvPr/>
        </p:nvSpPr>
        <p:spPr>
          <a:xfrm>
            <a:off x="8046720" y="3749040"/>
            <a:ext cx="3520440" cy="2057400"/>
          </a:xfrm>
          <a:prstGeom prst="roundRect">
            <a:avLst>
              <a:gd name="adj" fmla="val 5333"/>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19" name="o_217"/>
          <p:cNvSpPr txBox="1"/>
          <p:nvPr/>
        </p:nvSpPr>
        <p:spPr>
          <a:xfrm>
            <a:off x="8366760" y="4023360"/>
            <a:ext cx="2926080" cy="868680"/>
          </a:xfrm>
          <a:prstGeom prst="rect">
            <a:avLst/>
          </a:prstGeom>
          <a:noFill/>
          <a:ln/>
        </p:spPr>
        <p:txBody>
          <a:bodyPr wrap="square" lIns="0" tIns="0" rIns="0" bIns="0" rtlCol="0" anchor="t"/>
          <a:lstStyle/>
          <a:p>
            <a:pPr indent="0" marL="0">
              <a:buNone/>
            </a:pPr>
            <a:r>
              <a:rPr lang="en-US" sz="4000" b="1" dirty="0">
                <a:solidFill>
                  <a:schemeClr val="accent6"/>
                </a:solidFill>
              </a:rPr>
              <a:t>SHA-256</a:t>
            </a:r>
            <a:endParaRPr lang="en-US" sz="4000" dirty="0"/>
          </a:p>
        </p:txBody>
      </p:sp>
      <p:sp>
        <p:nvSpPr>
          <p:cNvPr id="20" name="o_218"/>
          <p:cNvSpPr txBox="1"/>
          <p:nvPr/>
        </p:nvSpPr>
        <p:spPr>
          <a:xfrm>
            <a:off x="8366760" y="4937760"/>
            <a:ext cx="2926080" cy="731520"/>
          </a:xfrm>
          <a:prstGeom prst="rect">
            <a:avLst/>
          </a:prstGeom>
          <a:noFill/>
          <a:ln/>
        </p:spPr>
        <p:txBody>
          <a:bodyPr wrap="square" lIns="0" tIns="0" rIns="0" bIns="0" rtlCol="0" anchor="t"/>
          <a:lstStyle/>
          <a:p>
            <a:pPr indent="0" marL="0">
              <a:buNone/>
            </a:pPr>
            <a:r>
              <a:rPr lang="en-US" sz="1400" dirty="0">
                <a:solidFill>
                  <a:srgbClr val="5D647D"/>
                </a:solidFill>
              </a:rPr>
              <a:t>Hash chain makes the audit log tamper-evident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childTnLst>
                          </p:cTn>
                        </p:par>
                        <p:par>
                          <p:cTn id="20" fill="hold">
                            <p:stCondLst>
                              <p:cond delay="35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p:cTn id="24" dur="500" decel="100000" fill="hold"/>
                                        <p:tgtEl>
                                          <p:spTgt spid="6"/>
                                        </p:tgtEl>
                                        <p:attrNameLst>
                                          <p:attrName>ppt_x</p:attrName>
                                        </p:attrNameLst>
                                      </p:cBhvr>
                                      <p:tavLst>
                                        <p:tav tm="0">
                                          <p:val>
                                            <p:strVal val="#ppt_x"/>
                                          </p:val>
                                        </p:tav>
                                        <p:tav tm="100000">
                                          <p:val>
                                            <p:strVal val="#ppt_x"/>
                                          </p:val>
                                        </p:tav>
                                      </p:tavLst>
                                    </p:anim>
                                    <p:anim calcmode="lin" valueType="num">
                                      <p:cBhvr>
                                        <p:cTn id="25" dur="500" decel="100000" fill="hold"/>
                                        <p:tgtEl>
                                          <p:spTgt spid="6"/>
                                        </p:tgtEl>
                                        <p:attrNameLst>
                                          <p:attrName>ppt_y</p:attrName>
                                        </p:attrNameLst>
                                      </p:cBhvr>
                                      <p:tavLst>
                                        <p:tav tm="0">
                                          <p:val>
                                            <p:strVal val="#ppt_y+.04"/>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decel="100000" fill="hold"/>
                                        <p:tgtEl>
                                          <p:spTgt spid="7"/>
                                        </p:tgtEl>
                                        <p:attrNameLst>
                                          <p:attrName>ppt_x</p:attrName>
                                        </p:attrNameLst>
                                      </p:cBhvr>
                                      <p:tavLst>
                                        <p:tav tm="0">
                                          <p:val>
                                            <p:strVal val="#ppt_x"/>
                                          </p:val>
                                        </p:tav>
                                        <p:tav tm="100000">
                                          <p:val>
                                            <p:strVal val="#ppt_x"/>
                                          </p:val>
                                        </p:tav>
                                      </p:tavLst>
                                    </p:anim>
                                    <p:anim calcmode="lin" valueType="num">
                                      <p:cBhvr>
                                        <p:cTn id="30" dur="500" decel="100000" fill="hold"/>
                                        <p:tgtEl>
                                          <p:spTgt spid="7"/>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childTnLst>
                          </p:cTn>
                        </p:par>
                        <p:par>
                          <p:cTn id="36" fill="hold">
                            <p:stCondLst>
                              <p:cond delay="700"/>
                            </p:stCondLst>
                            <p:childTnLst>
                              <p:par>
                                <p:cTn id="37" presetID="42"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childTnLst>
                          </p:cTn>
                        </p:par>
                        <p:par>
                          <p:cTn id="52" fill="hold">
                            <p:stCondLst>
                              <p:cond delay="1050"/>
                            </p:stCondLst>
                            <p:childTnLst>
                              <p:par>
                                <p:cTn id="53" presetID="42" presetClass="entr" presetSubtype="0"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anim calcmode="lin" valueType="num">
                                      <p:cBhvr>
                                        <p:cTn id="56" dur="500" decel="100000" fill="hold"/>
                                        <p:tgtEl>
                                          <p:spTgt spid="12"/>
                                        </p:tgtEl>
                                        <p:attrNameLst>
                                          <p:attrName>ppt_x</p:attrName>
                                        </p:attrNameLst>
                                      </p:cBhvr>
                                      <p:tavLst>
                                        <p:tav tm="0">
                                          <p:val>
                                            <p:strVal val="#ppt_x"/>
                                          </p:val>
                                        </p:tav>
                                        <p:tav tm="100000">
                                          <p:val>
                                            <p:strVal val="#ppt_x"/>
                                          </p:val>
                                        </p:tav>
                                      </p:tavLst>
                                    </p:anim>
                                    <p:anim calcmode="lin" valueType="num">
                                      <p:cBhvr>
                                        <p:cTn id="57" dur="500" decel="100000" fill="hold"/>
                                        <p:tgtEl>
                                          <p:spTgt spid="12"/>
                                        </p:tgtEl>
                                        <p:attrNameLst>
                                          <p:attrName>ppt_y</p:attrName>
                                        </p:attrNameLst>
                                      </p:cBhvr>
                                      <p:tavLst>
                                        <p:tav tm="0">
                                          <p:val>
                                            <p:strVal val="#ppt_y+.04"/>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anim calcmode="lin" valueType="num">
                                      <p:cBhvr>
                                        <p:cTn id="61" dur="500" decel="100000" fill="hold"/>
                                        <p:tgtEl>
                                          <p:spTgt spid="13"/>
                                        </p:tgtEl>
                                        <p:attrNameLst>
                                          <p:attrName>ppt_x</p:attrName>
                                        </p:attrNameLst>
                                      </p:cBhvr>
                                      <p:tavLst>
                                        <p:tav tm="0">
                                          <p:val>
                                            <p:strVal val="#ppt_x"/>
                                          </p:val>
                                        </p:tav>
                                        <p:tav tm="100000">
                                          <p:val>
                                            <p:strVal val="#ppt_x"/>
                                          </p:val>
                                        </p:tav>
                                      </p:tavLst>
                                    </p:anim>
                                    <p:anim calcmode="lin" valueType="num">
                                      <p:cBhvr>
                                        <p:cTn id="62" dur="500" decel="100000" fill="hold"/>
                                        <p:tgtEl>
                                          <p:spTgt spid="13"/>
                                        </p:tgtEl>
                                        <p:attrNameLst>
                                          <p:attrName>ppt_y</p:attrName>
                                        </p:attrNameLst>
                                      </p:cBhvr>
                                      <p:tavLst>
                                        <p:tav tm="0">
                                          <p:val>
                                            <p:strVal val="#ppt_y+.04"/>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anim calcmode="lin" valueType="num">
                                      <p:cBhvr>
                                        <p:cTn id="66" dur="500" decel="100000" fill="hold"/>
                                        <p:tgtEl>
                                          <p:spTgt spid="14"/>
                                        </p:tgtEl>
                                        <p:attrNameLst>
                                          <p:attrName>ppt_x</p:attrName>
                                        </p:attrNameLst>
                                      </p:cBhvr>
                                      <p:tavLst>
                                        <p:tav tm="0">
                                          <p:val>
                                            <p:strVal val="#ppt_x"/>
                                          </p:val>
                                        </p:tav>
                                        <p:tav tm="100000">
                                          <p:val>
                                            <p:strVal val="#ppt_x"/>
                                          </p:val>
                                        </p:tav>
                                      </p:tavLst>
                                    </p:anim>
                                    <p:anim calcmode="lin" valueType="num">
                                      <p:cBhvr>
                                        <p:cTn id="67" dur="500" decel="100000" fill="hold"/>
                                        <p:tgtEl>
                                          <p:spTgt spid="14"/>
                                        </p:tgtEl>
                                        <p:attrNameLst>
                                          <p:attrName>ppt_y</p:attrName>
                                        </p:attrNameLst>
                                      </p:cBhvr>
                                      <p:tavLst>
                                        <p:tav tm="0">
                                          <p:val>
                                            <p:strVal val="#ppt_y+.04"/>
                                          </p:val>
                                        </p:tav>
                                        <p:tav tm="100000">
                                          <p:val>
                                            <p:strVal val="#ppt_y"/>
                                          </p:val>
                                        </p:tav>
                                      </p:tavLst>
                                    </p:anim>
                                  </p:childTnLst>
                                </p:cTn>
                              </p:par>
                            </p:childTnLst>
                          </p:cTn>
                        </p:par>
                        <p:par>
                          <p:cTn id="68" fill="hold">
                            <p:stCondLst>
                              <p:cond delay="140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4"/>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4"/>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4"/>
                                          </p:val>
                                        </p:tav>
                                        <p:tav tm="100000">
                                          <p:val>
                                            <p:strVal val="#ppt_y"/>
                                          </p:val>
                                        </p:tav>
                                      </p:tavLst>
                                    </p:anim>
                                  </p:childTnLst>
                                </p:cTn>
                              </p:par>
                            </p:childTnLst>
                          </p:cTn>
                        </p:par>
                        <p:par>
                          <p:cTn id="84" fill="hold">
                            <p:stCondLst>
                              <p:cond delay="1750"/>
                            </p:stCondLst>
                            <p:childTnLst>
                              <p:par>
                                <p:cTn id="85" presetID="42" presetClass="entr" presetSubtype="0" fill="hold" grpId="0" nodeType="after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anim calcmode="lin" valueType="num">
                                      <p:cBhvr>
                                        <p:cTn id="88" dur="500" decel="100000" fill="hold"/>
                                        <p:tgtEl>
                                          <p:spTgt spid="18"/>
                                        </p:tgtEl>
                                        <p:attrNameLst>
                                          <p:attrName>ppt_x</p:attrName>
                                        </p:attrNameLst>
                                      </p:cBhvr>
                                      <p:tavLst>
                                        <p:tav tm="0">
                                          <p:val>
                                            <p:strVal val="#ppt_x"/>
                                          </p:val>
                                        </p:tav>
                                        <p:tav tm="100000">
                                          <p:val>
                                            <p:strVal val="#ppt_x"/>
                                          </p:val>
                                        </p:tav>
                                      </p:tavLst>
                                    </p:anim>
                                    <p:anim calcmode="lin" valueType="num">
                                      <p:cBhvr>
                                        <p:cTn id="89" dur="500" decel="100000" fill="hold"/>
                                        <p:tgtEl>
                                          <p:spTgt spid="18"/>
                                        </p:tgtEl>
                                        <p:attrNameLst>
                                          <p:attrName>ppt_y</p:attrName>
                                        </p:attrNameLst>
                                      </p:cBhvr>
                                      <p:tavLst>
                                        <p:tav tm="0">
                                          <p:val>
                                            <p:strVal val="#ppt_y+.04"/>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anim calcmode="lin" valueType="num">
                                      <p:cBhvr>
                                        <p:cTn id="93" dur="500" decel="100000" fill="hold"/>
                                        <p:tgtEl>
                                          <p:spTgt spid="19"/>
                                        </p:tgtEl>
                                        <p:attrNameLst>
                                          <p:attrName>ppt_x</p:attrName>
                                        </p:attrNameLst>
                                      </p:cBhvr>
                                      <p:tavLst>
                                        <p:tav tm="0">
                                          <p:val>
                                            <p:strVal val="#ppt_x"/>
                                          </p:val>
                                        </p:tav>
                                        <p:tav tm="100000">
                                          <p:val>
                                            <p:strVal val="#ppt_x"/>
                                          </p:val>
                                        </p:tav>
                                      </p:tavLst>
                                    </p:anim>
                                    <p:anim calcmode="lin" valueType="num">
                                      <p:cBhvr>
                                        <p:cTn id="94" dur="500" decel="100000" fill="hold"/>
                                        <p:tgtEl>
                                          <p:spTgt spid="19"/>
                                        </p:tgtEl>
                                        <p:attrNameLst>
                                          <p:attrName>ppt_y</p:attrName>
                                        </p:attrNameLst>
                                      </p:cBhvr>
                                      <p:tavLst>
                                        <p:tav tm="0">
                                          <p:val>
                                            <p:strVal val="#ppt_y+.04"/>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500"/>
                                        <p:tgtEl>
                                          <p:spTgt spid="20"/>
                                        </p:tgtEl>
                                      </p:cBhvr>
                                    </p:animEffect>
                                    <p:anim calcmode="lin" valueType="num">
                                      <p:cBhvr>
                                        <p:cTn id="98" dur="500" decel="100000" fill="hold"/>
                                        <p:tgtEl>
                                          <p:spTgt spid="20"/>
                                        </p:tgtEl>
                                        <p:attrNameLst>
                                          <p:attrName>ppt_x</p:attrName>
                                        </p:attrNameLst>
                                      </p:cBhvr>
                                      <p:tavLst>
                                        <p:tav tm="0">
                                          <p:val>
                                            <p:strVal val="#ppt_x"/>
                                          </p:val>
                                        </p:tav>
                                        <p:tav tm="100000">
                                          <p:val>
                                            <p:strVal val="#ppt_x"/>
                                          </p:val>
                                        </p:tav>
                                      </p:tavLst>
                                    </p:anim>
                                    <p:anim calcmode="lin" valueType="num">
                                      <p:cBhvr>
                                        <p:cTn id="99" dur="500" decel="100000" fill="hold"/>
                                        <p:tgtEl>
                                          <p:spTgt spid="2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If the database is stolen…</a:t>
            </a:r>
            <a:endParaRPr lang="en-US" sz="3200" dirty="0"/>
          </a:p>
        </p:txBody>
      </p:sp>
      <p:pic>
        <p:nvPicPr>
          <p:cNvPr id="3" name="a_219" descr="/home/claude/docs-build/deck/envelope.png">    </p:cNvPr>
          <p:cNvPicPr>
            <a:picLocks noChangeAspect="1"/>
          </p:cNvPicPr>
          <p:nvPr/>
        </p:nvPicPr>
        <p:blipFill>
          <a:blip r:embed="rId1"/>
          <a:stretch>
            <a:fillRect/>
          </a:stretch>
        </p:blipFill>
        <p:spPr>
          <a:xfrm>
            <a:off x="548640" y="1417320"/>
            <a:ext cx="6766560" cy="2723974"/>
          </a:xfrm>
          <a:prstGeom prst="rect">
            <a:avLst/>
          </a:prstGeom>
        </p:spPr>
      </p:pic>
      <p:sp>
        <p:nvSpPr>
          <p:cNvPr id="4" name="a_220"/>
          <p:cNvSpPr/>
          <p:nvPr/>
        </p:nvSpPr>
        <p:spPr>
          <a:xfrm>
            <a:off x="7680960" y="1417320"/>
            <a:ext cx="3959352" cy="4160520"/>
          </a:xfrm>
          <a:prstGeom prst="roundRect">
            <a:avLst>
              <a:gd name="adj" fmla="val 2771"/>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sp>
        <p:nvSpPr>
          <p:cNvPr id="5" name="o_221"/>
          <p:cNvSpPr txBox="1"/>
          <p:nvPr/>
        </p:nvSpPr>
        <p:spPr>
          <a:xfrm>
            <a:off x="7955280" y="1600200"/>
            <a:ext cx="3474720" cy="411480"/>
          </a:xfrm>
          <a:prstGeom prst="rect">
            <a:avLst/>
          </a:prstGeom>
          <a:noFill/>
          <a:ln/>
        </p:spPr>
        <p:txBody>
          <a:bodyPr wrap="square" lIns="0" tIns="0" rIns="0" bIns="0" rtlCol="0" anchor="t"/>
          <a:lstStyle/>
          <a:p>
            <a:pPr indent="0" marL="0">
              <a:buNone/>
            </a:pPr>
            <a:r>
              <a:rPr lang="en-US" sz="1800" b="1" dirty="0">
                <a:solidFill>
                  <a:schemeClr val="tx1"/>
                </a:solidFill>
              </a:rPr>
              <a:t>Attacker gets…</a:t>
            </a:r>
            <a:endParaRPr lang="en-US" sz="1800" dirty="0"/>
          </a:p>
        </p:txBody>
      </p:sp>
      <p:sp>
        <p:nvSpPr>
          <p:cNvPr id="6" name="a_222"/>
          <p:cNvSpPr txBox="1"/>
          <p:nvPr/>
        </p:nvSpPr>
        <p:spPr>
          <a:xfrm>
            <a:off x="8366760" y="2148840"/>
            <a:ext cx="3108960" cy="640080"/>
          </a:xfrm>
          <a:prstGeom prst="rect">
            <a:avLst/>
          </a:prstGeom>
          <a:noFill/>
          <a:ln/>
        </p:spPr>
        <p:txBody>
          <a:bodyPr wrap="square" lIns="0" tIns="0" rIns="0" bIns="0" rtlCol="0" anchor="t"/>
          <a:lstStyle/>
          <a:p>
            <a:pPr indent="0" marL="0">
              <a:buNone/>
            </a:pPr>
            <a:r>
              <a:rPr lang="en-US" sz="1300" b="1" dirty="0">
                <a:solidFill>
                  <a:schemeClr val="tx1"/>
                </a:solidFill>
              </a:rPr>
              <a:t>Passwords</a:t>
            </a:r>
            <a:endParaRPr lang="en-US" sz="1300" dirty="0"/>
          </a:p>
          <a:p>
            <a:pPr indent="0" marL="0">
              <a:buNone/>
            </a:pPr>
            <a:r>
              <a:rPr lang="en-US" sz="1300" dirty="0">
                <a:solidFill>
                  <a:srgbClr val="5D647D"/>
                </a:solidFill>
              </a:rPr>
              <a:t>PBKDF2 hashes only</a:t>
            </a:r>
            <a:endParaRPr lang="en-US" sz="1300" dirty="0"/>
          </a:p>
        </p:txBody>
      </p:sp>
      <p:pic>
        <p:nvPicPr>
          <p:cNvPr id="7" name="o_223" descr="preencoded.png">    </p:cNvPr>
          <p:cNvPicPr>
            <a:picLocks noChangeAspect="1"/>
          </p:cNvPicPr>
          <p:nvPr/>
        </p:nvPicPr>
        <p:blipFill>
          <a:blip r:embed="rId2"/>
          <a:stretch>
            <a:fillRect/>
          </a:stretch>
        </p:blipFill>
        <p:spPr>
          <a:xfrm>
            <a:off x="7955280" y="2194560"/>
            <a:ext cx="292608" cy="292608"/>
          </a:xfrm>
          <a:prstGeom prst="rect">
            <a:avLst/>
          </a:prstGeom>
        </p:spPr>
      </p:pic>
      <p:sp>
        <p:nvSpPr>
          <p:cNvPr id="8" name="a_224"/>
          <p:cNvSpPr txBox="1"/>
          <p:nvPr/>
        </p:nvSpPr>
        <p:spPr>
          <a:xfrm>
            <a:off x="8366760" y="2807208"/>
            <a:ext cx="3108960" cy="640080"/>
          </a:xfrm>
          <a:prstGeom prst="rect">
            <a:avLst/>
          </a:prstGeom>
          <a:noFill/>
          <a:ln/>
        </p:spPr>
        <p:txBody>
          <a:bodyPr wrap="square" lIns="0" tIns="0" rIns="0" bIns="0" rtlCol="0" anchor="t"/>
          <a:lstStyle/>
          <a:p>
            <a:pPr indent="0" marL="0">
              <a:buNone/>
            </a:pPr>
            <a:r>
              <a:rPr lang="en-US" sz="1300" b="1" dirty="0">
                <a:solidFill>
                  <a:schemeClr val="tx1"/>
                </a:solidFill>
              </a:rPr>
              <a:t>Keys &amp; 2FA secrets</a:t>
            </a:r>
            <a:endParaRPr lang="en-US" sz="1300" dirty="0"/>
          </a:p>
          <a:p>
            <a:pPr indent="0" marL="0">
              <a:buNone/>
            </a:pPr>
            <a:r>
              <a:rPr lang="en-US" sz="1300" dirty="0">
                <a:solidFill>
                  <a:srgbClr val="5D647D"/>
                </a:solidFill>
              </a:rPr>
              <a:t>Encrypted with master key</a:t>
            </a:r>
            <a:endParaRPr lang="en-US" sz="1300" dirty="0"/>
          </a:p>
        </p:txBody>
      </p:sp>
      <p:pic>
        <p:nvPicPr>
          <p:cNvPr id="9" name="o_225" descr="preencoded.png">    </p:cNvPr>
          <p:cNvPicPr>
            <a:picLocks noChangeAspect="1"/>
          </p:cNvPicPr>
          <p:nvPr/>
        </p:nvPicPr>
        <p:blipFill>
          <a:blip r:embed="rId3"/>
          <a:stretch>
            <a:fillRect/>
          </a:stretch>
        </p:blipFill>
        <p:spPr>
          <a:xfrm>
            <a:off x="7955280" y="2852928"/>
            <a:ext cx="292608" cy="292608"/>
          </a:xfrm>
          <a:prstGeom prst="rect">
            <a:avLst/>
          </a:prstGeom>
        </p:spPr>
      </p:pic>
      <p:sp>
        <p:nvSpPr>
          <p:cNvPr id="10" name="a_226"/>
          <p:cNvSpPr txBox="1"/>
          <p:nvPr/>
        </p:nvSpPr>
        <p:spPr>
          <a:xfrm>
            <a:off x="8366760" y="3465576"/>
            <a:ext cx="3108960" cy="640080"/>
          </a:xfrm>
          <a:prstGeom prst="rect">
            <a:avLst/>
          </a:prstGeom>
          <a:noFill/>
          <a:ln/>
        </p:spPr>
        <p:txBody>
          <a:bodyPr wrap="square" lIns="0" tIns="0" rIns="0" bIns="0" rtlCol="0" anchor="t"/>
          <a:lstStyle/>
          <a:p>
            <a:pPr indent="0" marL="0">
              <a:buNone/>
            </a:pPr>
            <a:r>
              <a:rPr lang="en-US" sz="1300" b="1" dirty="0">
                <a:solidFill>
                  <a:schemeClr val="tx1"/>
                </a:solidFill>
              </a:rPr>
              <a:t>Vault &amp; claims</a:t>
            </a:r>
            <a:endParaRPr lang="en-US" sz="1300" dirty="0"/>
          </a:p>
          <a:p>
            <a:pPr indent="0" marL="0">
              <a:buNone/>
            </a:pPr>
            <a:r>
              <a:rPr lang="en-US" sz="1300" dirty="0">
                <a:solidFill>
                  <a:srgbClr val="5D647D"/>
                </a:solidFill>
              </a:rPr>
              <a:t>AES-256-GCM ciphertext</a:t>
            </a:r>
            <a:endParaRPr lang="en-US" sz="1300" dirty="0"/>
          </a:p>
        </p:txBody>
      </p:sp>
      <p:pic>
        <p:nvPicPr>
          <p:cNvPr id="11" name="o_227" descr="preencoded.png">    </p:cNvPr>
          <p:cNvPicPr>
            <a:picLocks noChangeAspect="1"/>
          </p:cNvPicPr>
          <p:nvPr/>
        </p:nvPicPr>
        <p:blipFill>
          <a:blip r:embed="rId4"/>
          <a:stretch>
            <a:fillRect/>
          </a:stretch>
        </p:blipFill>
        <p:spPr>
          <a:xfrm>
            <a:off x="7955280" y="3511296"/>
            <a:ext cx="292608" cy="292608"/>
          </a:xfrm>
          <a:prstGeom prst="rect">
            <a:avLst/>
          </a:prstGeom>
        </p:spPr>
      </p:pic>
      <p:sp>
        <p:nvSpPr>
          <p:cNvPr id="12" name="a_228"/>
          <p:cNvSpPr txBox="1"/>
          <p:nvPr/>
        </p:nvSpPr>
        <p:spPr>
          <a:xfrm>
            <a:off x="8366760" y="4123944"/>
            <a:ext cx="3108960" cy="640080"/>
          </a:xfrm>
          <a:prstGeom prst="rect">
            <a:avLst/>
          </a:prstGeom>
          <a:noFill/>
          <a:ln/>
        </p:spPr>
        <p:txBody>
          <a:bodyPr wrap="square" lIns="0" tIns="0" rIns="0" bIns="0" rtlCol="0" anchor="t"/>
          <a:lstStyle/>
          <a:p>
            <a:pPr indent="0" marL="0">
              <a:buNone/>
            </a:pPr>
            <a:r>
              <a:rPr lang="en-US" sz="1300" b="1" dirty="0">
                <a:solidFill>
                  <a:schemeClr val="tx1"/>
                </a:solidFill>
              </a:rPr>
              <a:t>Share links</a:t>
            </a:r>
            <a:endParaRPr lang="en-US" sz="1300" dirty="0"/>
          </a:p>
          <a:p>
            <a:pPr indent="0" marL="0">
              <a:buNone/>
            </a:pPr>
            <a:r>
              <a:rPr lang="en-US" sz="1300" dirty="0">
                <a:solidFill>
                  <a:srgbClr val="5D647D"/>
                </a:solidFill>
              </a:rPr>
              <a:t>Only SHA-256 of tokens</a:t>
            </a:r>
            <a:endParaRPr lang="en-US" sz="1300" dirty="0"/>
          </a:p>
        </p:txBody>
      </p:sp>
      <p:pic>
        <p:nvPicPr>
          <p:cNvPr id="13" name="o_229" descr="preencoded.png">    </p:cNvPr>
          <p:cNvPicPr>
            <a:picLocks noChangeAspect="1"/>
          </p:cNvPicPr>
          <p:nvPr/>
        </p:nvPicPr>
        <p:blipFill>
          <a:blip r:embed="rId5"/>
          <a:stretch>
            <a:fillRect/>
          </a:stretch>
        </p:blipFill>
        <p:spPr>
          <a:xfrm>
            <a:off x="7955280" y="4169664"/>
            <a:ext cx="292608" cy="292608"/>
          </a:xfrm>
          <a:prstGeom prst="rect">
            <a:avLst/>
          </a:prstGeom>
        </p:spPr>
      </p:pic>
      <p:sp>
        <p:nvSpPr>
          <p:cNvPr id="14" name="a_230"/>
          <p:cNvSpPr txBox="1"/>
          <p:nvPr/>
        </p:nvSpPr>
        <p:spPr>
          <a:xfrm>
            <a:off x="8366760" y="4782312"/>
            <a:ext cx="3108960" cy="640080"/>
          </a:xfrm>
          <a:prstGeom prst="rect">
            <a:avLst/>
          </a:prstGeom>
          <a:noFill/>
          <a:ln/>
        </p:spPr>
        <p:txBody>
          <a:bodyPr wrap="square" lIns="0" tIns="0" rIns="0" bIns="0" rtlCol="0" anchor="t"/>
          <a:lstStyle/>
          <a:p>
            <a:pPr indent="0" marL="0">
              <a:buNone/>
            </a:pPr>
            <a:r>
              <a:rPr lang="en-US" sz="1300" b="1" dirty="0">
                <a:solidFill>
                  <a:schemeClr val="tx1"/>
                </a:solidFill>
              </a:rPr>
              <a:t>Credentials</a:t>
            </a:r>
            <a:endParaRPr lang="en-US" sz="1300" dirty="0"/>
          </a:p>
          <a:p>
            <a:pPr indent="0" marL="0">
              <a:buNone/>
            </a:pPr>
            <a:r>
              <a:rPr lang="en-US" sz="1300" dirty="0">
                <a:solidFill>
                  <a:srgbClr val="5D647D"/>
                </a:solidFill>
              </a:rPr>
              <a:t>Signed hashes, no values</a:t>
            </a:r>
            <a:endParaRPr lang="en-US" sz="1300" dirty="0"/>
          </a:p>
        </p:txBody>
      </p:sp>
      <p:pic>
        <p:nvPicPr>
          <p:cNvPr id="15" name="o_231" descr="preencoded.png">    </p:cNvPr>
          <p:cNvPicPr>
            <a:picLocks noChangeAspect="1"/>
          </p:cNvPicPr>
          <p:nvPr/>
        </p:nvPicPr>
        <p:blipFill>
          <a:blip r:embed="rId6"/>
          <a:stretch>
            <a:fillRect/>
          </a:stretch>
        </p:blipFill>
        <p:spPr>
          <a:xfrm>
            <a:off x="7955280" y="4828032"/>
            <a:ext cx="292608" cy="292608"/>
          </a:xfrm>
          <a:prstGeom prst="rect">
            <a:avLst/>
          </a:prstGeom>
        </p:spPr>
      </p:pic>
      <p:sp>
        <p:nvSpPr>
          <p:cNvPr id="16" name="a_232"/>
          <p:cNvSpPr/>
          <p:nvPr/>
        </p:nvSpPr>
        <p:spPr>
          <a:xfrm>
            <a:off x="548640" y="4434840"/>
            <a:ext cx="6766560" cy="1143000"/>
          </a:xfrm>
          <a:prstGeom prst="roundRect">
            <a:avLst>
              <a:gd name="adj" fmla="val 9600"/>
            </a:avLst>
          </a:prstGeom>
          <a:solidFill>
            <a:srgbClr val="FFF1DF"/>
          </a:solidFill>
          <a:ln/>
        </p:spPr>
      </p:sp>
      <p:sp>
        <p:nvSpPr>
          <p:cNvPr id="17" name="o_233"/>
          <p:cNvSpPr txBox="1"/>
          <p:nvPr/>
        </p:nvSpPr>
        <p:spPr>
          <a:xfrm>
            <a:off x="777240" y="4434840"/>
            <a:ext cx="6309360" cy="1143000"/>
          </a:xfrm>
          <a:prstGeom prst="rect">
            <a:avLst/>
          </a:prstGeom>
          <a:noFill/>
          <a:ln/>
        </p:spPr>
        <p:txBody>
          <a:bodyPr wrap="square" lIns="0" tIns="0" rIns="0" bIns="0" rtlCol="0" anchor="ctr"/>
          <a:lstStyle/>
          <a:p>
            <a:pPr indent="0" marL="0">
              <a:buNone/>
            </a:pPr>
            <a:r>
              <a:rPr lang="en-US" sz="1300" b="1" dirty="0">
                <a:solidFill>
                  <a:schemeClr val="tx1"/>
                </a:solidFill>
              </a:rPr>
              <a:t>Also handled: </a:t>
            </a:r>
            <a:pPr indent="0" marL="0">
              <a:buNone/>
            </a:pPr>
            <a:r>
              <a:rPr lang="en-US" sz="1300" dirty="0">
                <a:solidFill>
                  <a:schemeClr val="tx1"/>
                </a:solidFill>
              </a:rPr>
              <a:t>IDOR (404 for others' records), brute force (lockout + rate limits), account enumeration (same error + dummy hash), fake uploads (magic-byte check), replay (holder proof).</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ppt_x</p:attrName>
                                        </p:attrNameLst>
                                      </p:cBhvr>
                                      <p:tavLst>
                                        <p:tav tm="0">
                                          <p:val>
                                            <p:strVal val="#ppt_x"/>
                                          </p:val>
                                        </p:tav>
                                        <p:tav tm="100000">
                                          <p:val>
                                            <p:strVal val="#ppt_x"/>
                                          </p:val>
                                        </p:tav>
                                      </p:tavLst>
                                    </p:anim>
                                    <p:anim calcmode="lin" valueType="num">
                                      <p:cBhvr>
                                        <p:cTn id="15" dur="500" decel="100000" fill="hold"/>
                                        <p:tgtEl>
                                          <p:spTgt spid="4"/>
                                        </p:tgtEl>
                                        <p:attrNameLst>
                                          <p:attrName>ppt_y</p:attrName>
                                        </p:attrNameLst>
                                      </p:cBhvr>
                                      <p:tavLst>
                                        <p:tav tm="0">
                                          <p:val>
                                            <p:strVal val="#ppt_y+.04"/>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p:cTn id="19" dur="500" decel="100000" fill="hold"/>
                                        <p:tgtEl>
                                          <p:spTgt spid="5"/>
                                        </p:tgtEl>
                                        <p:attrNameLst>
                                          <p:attrName>ppt_x</p:attrName>
                                        </p:attrNameLst>
                                      </p:cBhvr>
                                      <p:tavLst>
                                        <p:tav tm="0">
                                          <p:val>
                                            <p:strVal val="#ppt_x"/>
                                          </p:val>
                                        </p:tav>
                                        <p:tav tm="100000">
                                          <p:val>
                                            <p:strVal val="#ppt_x"/>
                                          </p:val>
                                        </p:tav>
                                      </p:tavLst>
                                    </p:anim>
                                    <p:anim calcmode="lin" valueType="num">
                                      <p:cBhvr>
                                        <p:cTn id="20" dur="500" decel="100000" fill="hold"/>
                                        <p:tgtEl>
                                          <p:spTgt spid="5"/>
                                        </p:tgtEl>
                                        <p:attrNameLst>
                                          <p:attrName>ppt_y</p:attrName>
                                        </p:attrNameLst>
                                      </p:cBhvr>
                                      <p:tavLst>
                                        <p:tav tm="0">
                                          <p:val>
                                            <p:strVal val="#ppt_y+.04"/>
                                          </p:val>
                                        </p:tav>
                                        <p:tav tm="100000">
                                          <p:val>
                                            <p:strVal val="#ppt_y"/>
                                          </p:val>
                                        </p:tav>
                                      </p:tavLst>
                                    </p:anim>
                                  </p:childTnLst>
                                </p:cTn>
                              </p:par>
                            </p:childTnLst>
                          </p:cTn>
                        </p:par>
                        <p:par>
                          <p:cTn id="21" fill="hold">
                            <p:stCondLst>
                              <p:cond delay="700"/>
                            </p:stCondLst>
                            <p:childTnLst>
                              <p:par>
                                <p:cTn id="22" presetID="42"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2" fill="hold">
                            <p:stCondLst>
                              <p:cond delay="1050"/>
                            </p:stCondLst>
                            <p:childTnLst>
                              <p:par>
                                <p:cTn id="33" presetID="42"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anim calcmode="lin" valueType="num">
                                      <p:cBhvr>
                                        <p:cTn id="36" dur="500" decel="100000" fill="hold"/>
                                        <p:tgtEl>
                                          <p:spTgt spid="8"/>
                                        </p:tgtEl>
                                        <p:attrNameLst>
                                          <p:attrName>ppt_x</p:attrName>
                                        </p:attrNameLst>
                                      </p:cBhvr>
                                      <p:tavLst>
                                        <p:tav tm="0">
                                          <p:val>
                                            <p:strVal val="#ppt_x"/>
                                          </p:val>
                                        </p:tav>
                                        <p:tav tm="100000">
                                          <p:val>
                                            <p:strVal val="#ppt_x"/>
                                          </p:val>
                                        </p:tav>
                                      </p:tavLst>
                                    </p:anim>
                                    <p:anim calcmode="lin" valueType="num">
                                      <p:cBhvr>
                                        <p:cTn id="37" dur="500" decel="100000" fill="hold"/>
                                        <p:tgtEl>
                                          <p:spTgt spid="8"/>
                                        </p:tgtEl>
                                        <p:attrNameLst>
                                          <p:attrName>ppt_y</p:attrName>
                                        </p:attrNameLst>
                                      </p:cBhvr>
                                      <p:tavLst>
                                        <p:tav tm="0">
                                          <p:val>
                                            <p:strVal val="#ppt_y+.04"/>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anim calcmode="lin" valueType="num">
                                      <p:cBhvr>
                                        <p:cTn id="41" dur="500" decel="100000" fill="hold"/>
                                        <p:tgtEl>
                                          <p:spTgt spid="9"/>
                                        </p:tgtEl>
                                        <p:attrNameLst>
                                          <p:attrName>ppt_x</p:attrName>
                                        </p:attrNameLst>
                                      </p:cBhvr>
                                      <p:tavLst>
                                        <p:tav tm="0">
                                          <p:val>
                                            <p:strVal val="#ppt_x"/>
                                          </p:val>
                                        </p:tav>
                                        <p:tav tm="100000">
                                          <p:val>
                                            <p:strVal val="#ppt_x"/>
                                          </p:val>
                                        </p:tav>
                                      </p:tavLst>
                                    </p:anim>
                                    <p:anim calcmode="lin" valueType="num">
                                      <p:cBhvr>
                                        <p:cTn id="42" dur="500" decel="100000" fill="hold"/>
                                        <p:tgtEl>
                                          <p:spTgt spid="9"/>
                                        </p:tgtEl>
                                        <p:attrNameLst>
                                          <p:attrName>ppt_y</p:attrName>
                                        </p:attrNameLst>
                                      </p:cBhvr>
                                      <p:tavLst>
                                        <p:tav tm="0">
                                          <p:val>
                                            <p:strVal val="#ppt_y+.04"/>
                                          </p:val>
                                        </p:tav>
                                        <p:tav tm="100000">
                                          <p:val>
                                            <p:strVal val="#ppt_y"/>
                                          </p:val>
                                        </p:tav>
                                      </p:tavLst>
                                    </p:anim>
                                  </p:childTnLst>
                                </p:cTn>
                              </p:par>
                            </p:childTnLst>
                          </p:cTn>
                        </p:par>
                        <p:par>
                          <p:cTn id="43" fill="hold">
                            <p:stCondLst>
                              <p:cond delay="140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4"/>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4"/>
                                          </p:val>
                                        </p:tav>
                                        <p:tav tm="100000">
                                          <p:val>
                                            <p:strVal val="#ppt_y"/>
                                          </p:val>
                                        </p:tav>
                                      </p:tavLst>
                                    </p:anim>
                                  </p:childTnLst>
                                </p:cTn>
                              </p:par>
                            </p:childTnLst>
                          </p:cTn>
                        </p:par>
                        <p:par>
                          <p:cTn id="54" fill="hold">
                            <p:stCondLst>
                              <p:cond delay="1750"/>
                            </p:stCondLst>
                            <p:childTnLst>
                              <p:par>
                                <p:cTn id="55" presetID="42" presetClass="entr" presetSubtype="0"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anim calcmode="lin" valueType="num">
                                      <p:cBhvr>
                                        <p:cTn id="58" dur="500" decel="100000" fill="hold"/>
                                        <p:tgtEl>
                                          <p:spTgt spid="12"/>
                                        </p:tgtEl>
                                        <p:attrNameLst>
                                          <p:attrName>ppt_x</p:attrName>
                                        </p:attrNameLst>
                                      </p:cBhvr>
                                      <p:tavLst>
                                        <p:tav tm="0">
                                          <p:val>
                                            <p:strVal val="#ppt_x"/>
                                          </p:val>
                                        </p:tav>
                                        <p:tav tm="100000">
                                          <p:val>
                                            <p:strVal val="#ppt_x"/>
                                          </p:val>
                                        </p:tav>
                                      </p:tavLst>
                                    </p:anim>
                                    <p:anim calcmode="lin" valueType="num">
                                      <p:cBhvr>
                                        <p:cTn id="59" dur="500" decel="100000" fill="hold"/>
                                        <p:tgtEl>
                                          <p:spTgt spid="12"/>
                                        </p:tgtEl>
                                        <p:attrNameLst>
                                          <p:attrName>ppt_y</p:attrName>
                                        </p:attrNameLst>
                                      </p:cBhvr>
                                      <p:tavLst>
                                        <p:tav tm="0">
                                          <p:val>
                                            <p:strVal val="#ppt_y+.04"/>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anim calcmode="lin" valueType="num">
                                      <p:cBhvr>
                                        <p:cTn id="63" dur="500" decel="100000" fill="hold"/>
                                        <p:tgtEl>
                                          <p:spTgt spid="13"/>
                                        </p:tgtEl>
                                        <p:attrNameLst>
                                          <p:attrName>ppt_x</p:attrName>
                                        </p:attrNameLst>
                                      </p:cBhvr>
                                      <p:tavLst>
                                        <p:tav tm="0">
                                          <p:val>
                                            <p:strVal val="#ppt_x"/>
                                          </p:val>
                                        </p:tav>
                                        <p:tav tm="100000">
                                          <p:val>
                                            <p:strVal val="#ppt_x"/>
                                          </p:val>
                                        </p:tav>
                                      </p:tavLst>
                                    </p:anim>
                                    <p:anim calcmode="lin" valueType="num">
                                      <p:cBhvr>
                                        <p:cTn id="64" dur="500" decel="100000" fill="hold"/>
                                        <p:tgtEl>
                                          <p:spTgt spid="13"/>
                                        </p:tgtEl>
                                        <p:attrNameLst>
                                          <p:attrName>ppt_y</p:attrName>
                                        </p:attrNameLst>
                                      </p:cBhvr>
                                      <p:tavLst>
                                        <p:tav tm="0">
                                          <p:val>
                                            <p:strVal val="#ppt_y+.04"/>
                                          </p:val>
                                        </p:tav>
                                        <p:tav tm="100000">
                                          <p:val>
                                            <p:strVal val="#ppt_y"/>
                                          </p:val>
                                        </p:tav>
                                      </p:tavLst>
                                    </p:anim>
                                  </p:childTnLst>
                                </p:cTn>
                              </p:par>
                            </p:childTnLst>
                          </p:cTn>
                        </p:par>
                        <p:par>
                          <p:cTn id="65" fill="hold">
                            <p:stCondLst>
                              <p:cond delay="2100"/>
                            </p:stCondLst>
                            <p:childTnLst>
                              <p:par>
                                <p:cTn id="66" presetID="42" presetClass="entr" presetSubtype="0"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4"/>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4"/>
                                          </p:val>
                                        </p:tav>
                                        <p:tav tm="100000">
                                          <p:val>
                                            <p:strVal val="#ppt_y"/>
                                          </p:val>
                                        </p:tav>
                                      </p:tavLst>
                                    </p:anim>
                                  </p:childTnLst>
                                </p:cTn>
                              </p:par>
                            </p:childTnLst>
                          </p:cTn>
                        </p:par>
                        <p:par>
                          <p:cTn id="76" fill="hold">
                            <p:stCondLst>
                              <p:cond delay="2450"/>
                            </p:stCondLst>
                            <p:childTnLst>
                              <p:par>
                                <p:cTn id="77" presetID="42" presetClass="entr" presetSubtype="0"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anim calcmode="lin" valueType="num">
                                      <p:cBhvr>
                                        <p:cTn id="80" dur="500" decel="100000" fill="hold"/>
                                        <p:tgtEl>
                                          <p:spTgt spid="16"/>
                                        </p:tgtEl>
                                        <p:attrNameLst>
                                          <p:attrName>ppt_x</p:attrName>
                                        </p:attrNameLst>
                                      </p:cBhvr>
                                      <p:tavLst>
                                        <p:tav tm="0">
                                          <p:val>
                                            <p:strVal val="#ppt_x"/>
                                          </p:val>
                                        </p:tav>
                                        <p:tav tm="100000">
                                          <p:val>
                                            <p:strVal val="#ppt_x"/>
                                          </p:val>
                                        </p:tav>
                                      </p:tavLst>
                                    </p:anim>
                                    <p:anim calcmode="lin" valueType="num">
                                      <p:cBhvr>
                                        <p:cTn id="81" dur="500" decel="100000" fill="hold"/>
                                        <p:tgtEl>
                                          <p:spTgt spid="16"/>
                                        </p:tgtEl>
                                        <p:attrNameLst>
                                          <p:attrName>ppt_y</p:attrName>
                                        </p:attrNameLst>
                                      </p:cBhvr>
                                      <p:tavLst>
                                        <p:tav tm="0">
                                          <p:val>
                                            <p:strVal val="#ppt_y+.04"/>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anim calcmode="lin" valueType="num">
                                      <p:cBhvr>
                                        <p:cTn id="85" dur="500" decel="100000" fill="hold"/>
                                        <p:tgtEl>
                                          <p:spTgt spid="17"/>
                                        </p:tgtEl>
                                        <p:attrNameLst>
                                          <p:attrName>ppt_x</p:attrName>
                                        </p:attrNameLst>
                                      </p:cBhvr>
                                      <p:tavLst>
                                        <p:tav tm="0">
                                          <p:val>
                                            <p:strVal val="#ppt_x"/>
                                          </p:val>
                                        </p:tav>
                                        <p:tav tm="100000">
                                          <p:val>
                                            <p:strVal val="#ppt_x"/>
                                          </p:val>
                                        </p:tav>
                                      </p:tavLst>
                                    </p:anim>
                                    <p:anim calcmode="lin" valueType="num">
                                      <p:cBhvr>
                                        <p:cTn id="86" dur="500" decel="100000" fill="hold"/>
                                        <p:tgtEl>
                                          <p:spTgt spid="1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2" grpId="0" animBg="1"/>
      <p:bldP spid="14"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Database design</a:t>
            </a:r>
            <a:endParaRPr lang="en-US" sz="3200" dirty="0"/>
          </a:p>
        </p:txBody>
      </p:sp>
      <p:pic>
        <p:nvPicPr>
          <p:cNvPr id="3" name="a_234" descr="/home/claude/docs-build/deck/er.png">    </p:cNvPr>
          <p:cNvPicPr>
            <a:picLocks noChangeAspect="1"/>
          </p:cNvPicPr>
          <p:nvPr/>
        </p:nvPicPr>
        <p:blipFill>
          <a:blip r:embed="rId1"/>
          <a:stretch>
            <a:fillRect/>
          </a:stretch>
        </p:blipFill>
        <p:spPr>
          <a:xfrm>
            <a:off x="548640" y="1325880"/>
            <a:ext cx="8503920" cy="4331775"/>
          </a:xfrm>
          <a:prstGeom prst="rect">
            <a:avLst/>
          </a:prstGeom>
        </p:spPr>
      </p:pic>
      <p:sp>
        <p:nvSpPr>
          <p:cNvPr id="4" name="a_235"/>
          <p:cNvSpPr txBox="1"/>
          <p:nvPr/>
        </p:nvSpPr>
        <p:spPr>
          <a:xfrm>
            <a:off x="9326880" y="1554480"/>
            <a:ext cx="2377440" cy="2377440"/>
          </a:xfrm>
          <a:prstGeom prst="rect">
            <a:avLst/>
          </a:prstGeom>
          <a:noFill/>
          <a:ln/>
        </p:spPr>
        <p:txBody>
          <a:bodyPr wrap="square" lIns="0" tIns="0" rIns="0" bIns="0" rtlCol="0" anchor="t"/>
          <a:lstStyle/>
          <a:p>
            <a:pPr indent="0" marL="0">
              <a:buNone/>
            </a:pPr>
            <a:r>
              <a:rPr lang="en-US" sz="2400" b="1" dirty="0">
                <a:solidFill>
                  <a:srgbClr val="5B5BF6"/>
                </a:solidFill>
              </a:rPr>
              <a:t>7 tables</a:t>
            </a:r>
            <a:endParaRPr lang="en-US" sz="1400" dirty="0"/>
          </a:p>
          <a:p>
            <a:pPr indent="0" marL="0">
              <a:buNone/>
            </a:pPr>
            <a:r>
              <a:rPr lang="en-US" sz="1400" dirty="0">
                <a:solidFill>
                  <a:srgbClr val="5D647D"/>
                </a:solidFill>
              </a:rPr>
              <a:t>Spring Data JPA + Hibernate. Sensitive columns hold only ciphertext or hashes (…_enc, …_hash).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childTnLst>
                          </p:cTn>
                        </p:par>
                        <p:par>
                          <p:cTn id="10" fill="hold">
                            <p:stCondLst>
                              <p:cond delay="35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decel="100000" fill="hold"/>
                                        <p:tgtEl>
                                          <p:spTgt spid="4"/>
                                        </p:tgtEl>
                                        <p:attrNameLst>
                                          <p:attrName>ppt_x</p:attrName>
                                        </p:attrNameLst>
                                      </p:cBhvr>
                                      <p:tavLst>
                                        <p:tav tm="0">
                                          <p:val>
                                            <p:strVal val="#ppt_x"/>
                                          </p:val>
                                        </p:tav>
                                        <p:tav tm="100000">
                                          <p:val>
                                            <p:strVal val="#ppt_x"/>
                                          </p:val>
                                        </p:tav>
                                      </p:tavLst>
                                    </p:anim>
                                    <p:anim calcmode="lin" valueType="num">
                                      <p:cBhvr>
                                        <p:cTn id="15" dur="500" decel="100000" fill="hold"/>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App walkthrough: hold → share → verify</a:t>
            </a:r>
            <a:endParaRPr lang="en-US" sz="3200" dirty="0"/>
          </a:p>
        </p:txBody>
      </p:sp>
      <p:sp>
        <p:nvSpPr>
          <p:cNvPr id="3" name="a_236"/>
          <p:cNvSpPr/>
          <p:nvPr/>
        </p:nvSpPr>
        <p:spPr>
          <a:xfrm>
            <a:off x="548640" y="1463040"/>
            <a:ext cx="3520440" cy="365760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pic>
        <p:nvPicPr>
          <p:cNvPr id="4" name="o_237" descr="/home/claude/docs-build/assets/dashboard.png">    </p:cNvPr>
          <p:cNvPicPr>
            <a:picLocks noChangeAspect="1"/>
          </p:cNvPicPr>
          <p:nvPr/>
        </p:nvPicPr>
        <p:blipFill>
          <a:blip r:embed="rId1"/>
          <a:stretch>
            <a:fillRect/>
          </a:stretch>
        </p:blipFill>
        <p:spPr>
          <a:xfrm>
            <a:off x="685800" y="1600200"/>
            <a:ext cx="3246120" cy="2028825"/>
          </a:xfrm>
          <a:prstGeom prst="rect">
            <a:avLst/>
          </a:prstGeom>
        </p:spPr>
      </p:pic>
      <p:sp>
        <p:nvSpPr>
          <p:cNvPr id="5" name="o_238"/>
          <p:cNvSpPr txBox="1"/>
          <p:nvPr/>
        </p:nvSpPr>
        <p:spPr>
          <a:xfrm>
            <a:off x="822960" y="384048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1  Hold</a:t>
            </a:r>
            <a:endParaRPr lang="en-US" sz="2000" dirty="0"/>
          </a:p>
        </p:txBody>
      </p:sp>
      <p:sp>
        <p:nvSpPr>
          <p:cNvPr id="6" name="o_239"/>
          <p:cNvSpPr txBox="1"/>
          <p:nvPr/>
        </p:nvSpPr>
        <p:spPr>
          <a:xfrm>
            <a:off x="822960" y="4297680"/>
            <a:ext cx="3017520" cy="731520"/>
          </a:xfrm>
          <a:prstGeom prst="rect">
            <a:avLst/>
          </a:prstGeom>
          <a:noFill/>
          <a:ln/>
        </p:spPr>
        <p:txBody>
          <a:bodyPr wrap="square" lIns="0" tIns="0" rIns="0" bIns="0" rtlCol="0" anchor="t"/>
          <a:lstStyle/>
          <a:p>
            <a:pPr indent="0" marL="0">
              <a:buNone/>
            </a:pPr>
            <a:r>
              <a:rPr lang="en-US" sz="1400" dirty="0">
                <a:solidFill>
                  <a:srgbClr val="5D647D"/>
                </a:solidFill>
              </a:rPr>
              <a:t>Dashboard with DID, credentials and security score</a:t>
            </a:r>
            <a:endParaRPr lang="en-US" sz="1400" dirty="0"/>
          </a:p>
        </p:txBody>
      </p:sp>
      <p:sp>
        <p:nvSpPr>
          <p:cNvPr id="7" name="a_240"/>
          <p:cNvSpPr/>
          <p:nvPr/>
        </p:nvSpPr>
        <p:spPr>
          <a:xfrm>
            <a:off x="4297680" y="1463040"/>
            <a:ext cx="3520440" cy="365760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pic>
        <p:nvPicPr>
          <p:cNvPr id="8" name="o_241" descr="/home/claude/docs-build/assets/share-dialog.png">    </p:cNvPr>
          <p:cNvPicPr>
            <a:picLocks noChangeAspect="1"/>
          </p:cNvPicPr>
          <p:nvPr/>
        </p:nvPicPr>
        <p:blipFill>
          <a:blip r:embed="rId2"/>
          <a:stretch>
            <a:fillRect/>
          </a:stretch>
        </p:blipFill>
        <p:spPr>
          <a:xfrm>
            <a:off x="4434840" y="1600200"/>
            <a:ext cx="3246120" cy="2028825"/>
          </a:xfrm>
          <a:prstGeom prst="rect">
            <a:avLst/>
          </a:prstGeom>
        </p:spPr>
      </p:pic>
      <p:sp>
        <p:nvSpPr>
          <p:cNvPr id="9" name="o_242"/>
          <p:cNvSpPr txBox="1"/>
          <p:nvPr/>
        </p:nvSpPr>
        <p:spPr>
          <a:xfrm>
            <a:off x="4572000" y="384048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2  Share</a:t>
            </a:r>
            <a:endParaRPr lang="en-US" sz="2000" dirty="0"/>
          </a:p>
        </p:txBody>
      </p:sp>
      <p:sp>
        <p:nvSpPr>
          <p:cNvPr id="10" name="o_243"/>
          <p:cNvSpPr txBox="1"/>
          <p:nvPr/>
        </p:nvSpPr>
        <p:spPr>
          <a:xfrm>
            <a:off x="4572000" y="4297680"/>
            <a:ext cx="3017520" cy="731520"/>
          </a:xfrm>
          <a:prstGeom prst="rect">
            <a:avLst/>
          </a:prstGeom>
          <a:noFill/>
          <a:ln/>
        </p:spPr>
        <p:txBody>
          <a:bodyPr wrap="square" lIns="0" tIns="0" rIns="0" bIns="0" rtlCol="0" anchor="t"/>
          <a:lstStyle/>
          <a:p>
            <a:pPr indent="0" marL="0">
              <a:buNone/>
            </a:pPr>
            <a:r>
              <a:rPr lang="en-US" sz="1400" dirty="0">
                <a:solidFill>
                  <a:srgbClr val="5D647D"/>
                </a:solidFill>
              </a:rPr>
              <a:t>Pick details, recipient, expiry and view limit</a:t>
            </a:r>
            <a:endParaRPr lang="en-US" sz="1400" dirty="0"/>
          </a:p>
        </p:txBody>
      </p:sp>
      <p:sp>
        <p:nvSpPr>
          <p:cNvPr id="11" name="a_244"/>
          <p:cNvSpPr/>
          <p:nvPr/>
        </p:nvSpPr>
        <p:spPr>
          <a:xfrm>
            <a:off x="8046720" y="1463040"/>
            <a:ext cx="3520440" cy="3657600"/>
          </a:xfrm>
          <a:prstGeom prst="roundRect">
            <a:avLst>
              <a:gd name="adj" fmla="val 3117"/>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pic>
        <p:nvPicPr>
          <p:cNvPr id="12" name="o_245" descr="/home/claude/docs-build/deck/verify-ok-169.png">    </p:cNvPr>
          <p:cNvPicPr>
            <a:picLocks noChangeAspect="1"/>
          </p:cNvPicPr>
          <p:nvPr/>
        </p:nvPicPr>
        <p:blipFill>
          <a:blip r:embed="rId3"/>
          <a:stretch>
            <a:fillRect/>
          </a:stretch>
        </p:blipFill>
        <p:spPr>
          <a:xfrm>
            <a:off x="8183880" y="1600200"/>
            <a:ext cx="3246120" cy="2028825"/>
          </a:xfrm>
          <a:prstGeom prst="rect">
            <a:avLst/>
          </a:prstGeom>
        </p:spPr>
      </p:pic>
      <p:sp>
        <p:nvSpPr>
          <p:cNvPr id="13" name="o_246"/>
          <p:cNvSpPr txBox="1"/>
          <p:nvPr/>
        </p:nvSpPr>
        <p:spPr>
          <a:xfrm>
            <a:off x="8321040" y="384048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3  Verify</a:t>
            </a:r>
            <a:endParaRPr lang="en-US" sz="2000" dirty="0"/>
          </a:p>
        </p:txBody>
      </p:sp>
      <p:sp>
        <p:nvSpPr>
          <p:cNvPr id="14" name="o_247"/>
          <p:cNvSpPr txBox="1"/>
          <p:nvPr/>
        </p:nvSpPr>
        <p:spPr>
          <a:xfrm>
            <a:off x="8321040" y="4297680"/>
            <a:ext cx="3017520" cy="731520"/>
          </a:xfrm>
          <a:prstGeom prst="rect">
            <a:avLst/>
          </a:prstGeom>
          <a:noFill/>
          <a:ln/>
        </p:spPr>
        <p:txBody>
          <a:bodyPr wrap="square" lIns="0" tIns="0" rIns="0" bIns="0" rtlCol="0" anchor="t"/>
          <a:lstStyle/>
          <a:p>
            <a:pPr indent="0" marL="0">
              <a:buNone/>
            </a:pPr>
            <a:r>
              <a:rPr lang="en-US" sz="1400" dirty="0">
                <a:solidFill>
                  <a:srgbClr val="5D647D"/>
                </a:solidFill>
              </a:rPr>
              <a:t>Verifier sees only "Age over 18" — all checks pass</a:t>
            </a:r>
            <a:endParaRPr lang="en-US" sz="1400" dirty="0"/>
          </a:p>
        </p:txBody>
      </p:sp>
      <p:sp>
        <p:nvSpPr>
          <p:cNvPr id="15" name="a_248"/>
          <p:cNvSpPr/>
          <p:nvPr/>
        </p:nvSpPr>
        <p:spPr>
          <a:xfrm>
            <a:off x="548640" y="5394960"/>
            <a:ext cx="11018520" cy="640080"/>
          </a:xfrm>
          <a:prstGeom prst="roundRect">
            <a:avLst>
              <a:gd name="adj" fmla="val 17143"/>
            </a:avLst>
          </a:prstGeom>
          <a:solidFill>
            <a:srgbClr val="E3F6EE"/>
          </a:solidFill>
          <a:ln/>
        </p:spPr>
      </p:sp>
      <p:sp>
        <p:nvSpPr>
          <p:cNvPr id="16" name="o_249"/>
          <p:cNvSpPr txBox="1"/>
          <p:nvPr/>
        </p:nvSpPr>
        <p:spPr>
          <a:xfrm>
            <a:off x="822960" y="5394960"/>
            <a:ext cx="10515600" cy="640080"/>
          </a:xfrm>
          <a:prstGeom prst="rect">
            <a:avLst/>
          </a:prstGeom>
          <a:noFill/>
          <a:ln/>
        </p:spPr>
        <p:txBody>
          <a:bodyPr wrap="square" lIns="0" tIns="0" rIns="0" bIns="0" rtlCol="0" anchor="ctr"/>
          <a:lstStyle/>
          <a:p>
            <a:pPr indent="0" marL="0">
              <a:buNone/>
            </a:pPr>
            <a:r>
              <a:rPr lang="en-US" sz="1500" b="1" dirty="0">
                <a:solidFill>
                  <a:srgbClr val="0B6B45"/>
                </a:solidFill>
              </a:rPr>
              <a:t>Live demo: </a:t>
            </a:r>
            <a:pPr indent="0" marL="0">
              <a:buNone/>
            </a:pPr>
            <a:r>
              <a:rPr lang="en-US" sz="1500" dirty="0">
                <a:solidFill>
                  <a:schemeClr val="tx1"/>
                </a:solidFill>
              </a:rPr>
              <a:t>Aarav shares "Age check only" with City Cinema → the link shows Verified with 7 details kept private.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childTnLst>
                          </p:cTn>
                        </p:par>
                        <p:par>
                          <p:cTn id="25" fill="hold">
                            <p:stCondLst>
                              <p:cond delay="350"/>
                            </p:stCondLst>
                            <p:childTnLst>
                              <p:par>
                                <p:cTn id="26" presetID="42"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decel="100000" fill="hold"/>
                                        <p:tgtEl>
                                          <p:spTgt spid="7"/>
                                        </p:tgtEl>
                                        <p:attrNameLst>
                                          <p:attrName>ppt_x</p:attrName>
                                        </p:attrNameLst>
                                      </p:cBhvr>
                                      <p:tavLst>
                                        <p:tav tm="0">
                                          <p:val>
                                            <p:strVal val="#ppt_x"/>
                                          </p:val>
                                        </p:tav>
                                        <p:tav tm="100000">
                                          <p:val>
                                            <p:strVal val="#ppt_x"/>
                                          </p:val>
                                        </p:tav>
                                      </p:tavLst>
                                    </p:anim>
                                    <p:anim calcmode="lin" valueType="num">
                                      <p:cBhvr>
                                        <p:cTn id="30" dur="500" decel="100000" fill="hold"/>
                                        <p:tgtEl>
                                          <p:spTgt spid="7"/>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childTnLst>
                          </p:cTn>
                        </p:par>
                        <p:par>
                          <p:cTn id="46" fill="hold">
                            <p:stCondLst>
                              <p:cond delay="700"/>
                            </p:stCondLst>
                            <p:childTnLst>
                              <p:par>
                                <p:cTn id="47" presetID="42"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4"/>
                                          </p:val>
                                        </p:tav>
                                        <p:tav tm="100000">
                                          <p:val>
                                            <p:strVal val="#ppt_y"/>
                                          </p:val>
                                        </p:tav>
                                      </p:tavLst>
                                    </p:anim>
                                  </p:childTnLst>
                                </p:cTn>
                              </p:par>
                            </p:childTnLst>
                          </p:cTn>
                        </p:par>
                        <p:par>
                          <p:cTn id="67" fill="hold">
                            <p:stCondLst>
                              <p:cond delay="1050"/>
                            </p:stCondLst>
                            <p:childTnLst>
                              <p:par>
                                <p:cTn id="68" presetID="42" presetClass="entr" presetSubtype="0" fill="hold" grpId="0" nodeType="after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anim calcmode="lin" valueType="num">
                                      <p:cBhvr>
                                        <p:cTn id="71" dur="500" decel="100000" fill="hold"/>
                                        <p:tgtEl>
                                          <p:spTgt spid="15"/>
                                        </p:tgtEl>
                                        <p:attrNameLst>
                                          <p:attrName>ppt_x</p:attrName>
                                        </p:attrNameLst>
                                      </p:cBhvr>
                                      <p:tavLst>
                                        <p:tav tm="0">
                                          <p:val>
                                            <p:strVal val="#ppt_x"/>
                                          </p:val>
                                        </p:tav>
                                        <p:tav tm="100000">
                                          <p:val>
                                            <p:strVal val="#ppt_x"/>
                                          </p:val>
                                        </p:tav>
                                      </p:tavLst>
                                    </p:anim>
                                    <p:anim calcmode="lin" valueType="num">
                                      <p:cBhvr>
                                        <p:cTn id="72" dur="500" decel="100000" fill="hold"/>
                                        <p:tgtEl>
                                          <p:spTgt spid="15"/>
                                        </p:tgtEl>
                                        <p:attrNameLst>
                                          <p:attrName>ppt_y</p:attrName>
                                        </p:attrNameLst>
                                      </p:cBhvr>
                                      <p:tavLst>
                                        <p:tav tm="0">
                                          <p:val>
                                            <p:strVal val="#ppt_y+.04"/>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anim calcmode="lin" valueType="num">
                                      <p:cBhvr>
                                        <p:cTn id="76" dur="500" decel="100000" fill="hold"/>
                                        <p:tgtEl>
                                          <p:spTgt spid="16"/>
                                        </p:tgtEl>
                                        <p:attrNameLst>
                                          <p:attrName>ppt_x</p:attrName>
                                        </p:attrNameLst>
                                      </p:cBhvr>
                                      <p:tavLst>
                                        <p:tav tm="0">
                                          <p:val>
                                            <p:strVal val="#ppt_x"/>
                                          </p:val>
                                        </p:tav>
                                        <p:tav tm="100000">
                                          <p:val>
                                            <p:strVal val="#ppt_x"/>
                                          </p:val>
                                        </p:tav>
                                      </p:tavLst>
                                    </p:anim>
                                    <p:anim calcmode="lin" valueType="num">
                                      <p:cBhvr>
                                        <p:cTn id="77" dur="500" decel="100000" fill="hold"/>
                                        <p:tgtEl>
                                          <p:spTgt spid="1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Tampering is caught instantly</a:t>
            </a:r>
            <a:endParaRPr lang="en-US" sz="3200" dirty="0"/>
          </a:p>
        </p:txBody>
      </p:sp>
      <p:sp>
        <p:nvSpPr>
          <p:cNvPr id="3" name="a_250"/>
          <p:cNvSpPr/>
          <p:nvPr/>
        </p:nvSpPr>
        <p:spPr>
          <a:xfrm>
            <a:off x="548640" y="1417320"/>
            <a:ext cx="5394960" cy="4754880"/>
          </a:xfrm>
          <a:prstGeom prst="roundRect">
            <a:avLst>
              <a:gd name="adj" fmla="val 2308"/>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pic>
        <p:nvPicPr>
          <p:cNvPr id="4" name="o_251" descr="/home/claude/docs-build/deck/verify-ok-crop.png">    </p:cNvPr>
          <p:cNvPicPr>
            <a:picLocks noChangeAspect="1"/>
          </p:cNvPicPr>
          <p:nvPr/>
        </p:nvPicPr>
        <p:blipFill>
          <a:blip r:embed="rId1"/>
          <a:stretch>
            <a:fillRect/>
          </a:stretch>
        </p:blipFill>
        <p:spPr>
          <a:xfrm>
            <a:off x="731520" y="1600200"/>
            <a:ext cx="5029200" cy="3886200"/>
          </a:xfrm>
          <a:prstGeom prst="rect">
            <a:avLst/>
          </a:prstGeom>
        </p:spPr>
      </p:pic>
      <p:sp>
        <p:nvSpPr>
          <p:cNvPr id="5" name="o_252"/>
          <p:cNvSpPr/>
          <p:nvPr/>
        </p:nvSpPr>
        <p:spPr>
          <a:xfrm>
            <a:off x="777240" y="5532120"/>
            <a:ext cx="457200" cy="457200"/>
          </a:xfrm>
          <a:prstGeom prst="ellipse">
            <a:avLst/>
          </a:prstGeom>
          <a:solidFill>
            <a:schemeClr val="accent4"/>
          </a:solidFill>
          <a:ln/>
        </p:spPr>
      </p:sp>
      <p:pic>
        <p:nvPicPr>
          <p:cNvPr id="6" name="o_253_in" descr="preencoded.png">    </p:cNvPr>
          <p:cNvPicPr>
            <a:picLocks noChangeAspect="1"/>
          </p:cNvPicPr>
          <p:nvPr/>
        </p:nvPicPr>
        <p:blipFill>
          <a:blip r:embed="rId2"/>
          <a:stretch>
            <a:fillRect/>
          </a:stretch>
        </p:blipFill>
        <p:spPr>
          <a:xfrm>
            <a:off x="886968" y="5641848"/>
            <a:ext cx="237744" cy="237744"/>
          </a:xfrm>
          <a:prstGeom prst="rect">
            <a:avLst/>
          </a:prstGeom>
        </p:spPr>
      </p:pic>
      <p:sp>
        <p:nvSpPr>
          <p:cNvPr id="7" name="o_254"/>
          <p:cNvSpPr txBox="1"/>
          <p:nvPr/>
        </p:nvSpPr>
        <p:spPr>
          <a:xfrm>
            <a:off x="1371600" y="5532120"/>
            <a:ext cx="4389120" cy="457200"/>
          </a:xfrm>
          <a:prstGeom prst="rect">
            <a:avLst/>
          </a:prstGeom>
          <a:noFill/>
          <a:ln/>
        </p:spPr>
        <p:txBody>
          <a:bodyPr wrap="square" lIns="0" tIns="0" rIns="0" bIns="0" rtlCol="0" anchor="ctr"/>
          <a:lstStyle/>
          <a:p>
            <a:pPr indent="0" marL="0">
              <a:buNone/>
            </a:pPr>
            <a:r>
              <a:rPr lang="en-US" sz="1700" b="1" dirty="0">
                <a:solidFill>
                  <a:schemeClr val="tx1"/>
                </a:solidFill>
              </a:rPr>
              <a:t>Genuine share</a:t>
            </a:r>
            <a:endParaRPr lang="en-US" sz="1700" dirty="0"/>
          </a:p>
        </p:txBody>
      </p:sp>
      <p:sp>
        <p:nvSpPr>
          <p:cNvPr id="8" name="a_255"/>
          <p:cNvSpPr/>
          <p:nvPr/>
        </p:nvSpPr>
        <p:spPr>
          <a:xfrm>
            <a:off x="6172200" y="1417320"/>
            <a:ext cx="5394960" cy="4754880"/>
          </a:xfrm>
          <a:prstGeom prst="roundRect">
            <a:avLst>
              <a:gd name="adj" fmla="val 2308"/>
            </a:avLst>
          </a:prstGeom>
          <a:solidFill>
            <a:srgbClr val="FFFFFF"/>
          </a:solidFill>
          <a:ln w="9525">
            <a:solidFill>
              <a:srgbClr val="E3E6EF"/>
            </a:solidFill>
            <a:prstDash val="solid"/>
          </a:ln>
          <a:effectLst>
            <a:outerShdw sx="100000" sy="100000" kx="0" ky="0" algn="bl" rotWithShape="0" blurRad="101600" dist="25400" dir="5400000">
              <a:srgbClr val="1E2050">
                <a:alpha val="8000"/>
              </a:srgbClr>
            </a:outerShdw>
          </a:effectLst>
        </p:spPr>
      </p:sp>
      <p:pic>
        <p:nvPicPr>
          <p:cNvPr id="9" name="o_256" descr="/home/claude/docs-build/deck/verify-fail-crop.png">    </p:cNvPr>
          <p:cNvPicPr>
            <a:picLocks noChangeAspect="1"/>
          </p:cNvPicPr>
          <p:nvPr/>
        </p:nvPicPr>
        <p:blipFill>
          <a:blip r:embed="rId3"/>
          <a:stretch>
            <a:fillRect/>
          </a:stretch>
        </p:blipFill>
        <p:spPr>
          <a:xfrm>
            <a:off x="6355080" y="1600200"/>
            <a:ext cx="5029200" cy="3886200"/>
          </a:xfrm>
          <a:prstGeom prst="rect">
            <a:avLst/>
          </a:prstGeom>
        </p:spPr>
      </p:pic>
      <p:sp>
        <p:nvSpPr>
          <p:cNvPr id="10" name="o_257"/>
          <p:cNvSpPr/>
          <p:nvPr/>
        </p:nvSpPr>
        <p:spPr>
          <a:xfrm>
            <a:off x="6400800" y="5532120"/>
            <a:ext cx="457200" cy="457200"/>
          </a:xfrm>
          <a:prstGeom prst="ellipse">
            <a:avLst/>
          </a:prstGeom>
          <a:solidFill>
            <a:schemeClr val="accent6"/>
          </a:solidFill>
          <a:ln/>
        </p:spPr>
      </p:sp>
      <p:pic>
        <p:nvPicPr>
          <p:cNvPr id="11" name="o_258_in" descr="preencoded.png">    </p:cNvPr>
          <p:cNvPicPr>
            <a:picLocks noChangeAspect="1"/>
          </p:cNvPicPr>
          <p:nvPr/>
        </p:nvPicPr>
        <p:blipFill>
          <a:blip r:embed="rId4"/>
          <a:stretch>
            <a:fillRect/>
          </a:stretch>
        </p:blipFill>
        <p:spPr>
          <a:xfrm>
            <a:off x="6510528" y="5641848"/>
            <a:ext cx="237744" cy="237744"/>
          </a:xfrm>
          <a:prstGeom prst="rect">
            <a:avLst/>
          </a:prstGeom>
        </p:spPr>
      </p:pic>
      <p:sp>
        <p:nvSpPr>
          <p:cNvPr id="12" name="o_259"/>
          <p:cNvSpPr txBox="1"/>
          <p:nvPr/>
        </p:nvSpPr>
        <p:spPr>
          <a:xfrm>
            <a:off x="6995160" y="5532120"/>
            <a:ext cx="4389120" cy="457200"/>
          </a:xfrm>
          <a:prstGeom prst="rect">
            <a:avLst/>
          </a:prstGeom>
          <a:noFill/>
          <a:ln/>
        </p:spPr>
        <p:txBody>
          <a:bodyPr wrap="square" lIns="0" tIns="0" rIns="0" bIns="0" rtlCol="0" anchor="ctr"/>
          <a:lstStyle/>
          <a:p>
            <a:pPr indent="0" marL="0">
              <a:buNone/>
            </a:pPr>
            <a:r>
              <a:rPr lang="en-US" sz="1700" b="1" dirty="0">
                <a:solidFill>
                  <a:schemeClr val="tx1"/>
                </a:solidFill>
              </a:rPr>
              <a:t>Name changed by an attacker</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anim calcmode="lin" valueType="num">
                                      <p:cBhvr>
                                        <p:cTn id="49" dur="500" decel="100000" fill="hold"/>
                                        <p:tgtEl>
                                          <p:spTgt spid="11"/>
                                        </p:tgtEl>
                                        <p:attrNameLst>
                                          <p:attrName>ppt_x</p:attrName>
                                        </p:attrNameLst>
                                      </p:cBhvr>
                                      <p:tavLst>
                                        <p:tav tm="0">
                                          <p:val>
                                            <p:strVal val="#ppt_x"/>
                                          </p:val>
                                        </p:tav>
                                        <p:tav tm="100000">
                                          <p:val>
                                            <p:strVal val="#ppt_x"/>
                                          </p:val>
                                        </p:tav>
                                      </p:tavLst>
                                    </p:anim>
                                    <p:anim calcmode="lin" valueType="num">
                                      <p:cBhvr>
                                        <p:cTn id="50" dur="500" decel="100000" fill="hold"/>
                                        <p:tgtEl>
                                          <p:spTgt spid="11"/>
                                        </p:tgtEl>
                                        <p:attrNameLst>
                                          <p:attrName>ppt_y</p:attrName>
                                        </p:attrNameLst>
                                      </p:cBhvr>
                                      <p:tavLst>
                                        <p:tav tm="0">
                                          <p:val>
                                            <p:strVal val="#ppt_y+.04"/>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decel="100000" fill="hold"/>
                                        <p:tgtEl>
                                          <p:spTgt spid="12"/>
                                        </p:tgtEl>
                                        <p:attrNameLst>
                                          <p:attrName>ppt_x</p:attrName>
                                        </p:attrNameLst>
                                      </p:cBhvr>
                                      <p:tavLst>
                                        <p:tav tm="0">
                                          <p:val>
                                            <p:strVal val="#ppt_x"/>
                                          </p:val>
                                        </p:tav>
                                        <p:tav tm="100000">
                                          <p:val>
                                            <p:strVal val="#ppt_x"/>
                                          </p:val>
                                        </p:tav>
                                      </p:tavLst>
                                    </p:anim>
                                    <p:anim calcmode="lin" valueType="num">
                                      <p:cBhvr>
                                        <p:cTn id="55" dur="500" decel="100000" fill="hold"/>
                                        <p:tgtEl>
                                          <p:spTgt spid="1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10"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Testing results</a:t>
            </a:r>
            <a:endParaRPr lang="en-US" sz="3200" dirty="0"/>
          </a:p>
        </p:txBody>
      </p:sp>
      <p:sp>
        <p:nvSpPr>
          <p:cNvPr id="3" name="a_260"/>
          <p:cNvSpPr/>
          <p:nvPr/>
        </p:nvSpPr>
        <p:spPr>
          <a:xfrm>
            <a:off x="548640" y="1463040"/>
            <a:ext cx="3657600" cy="4480560"/>
          </a:xfrm>
          <a:prstGeom prst="roundRect">
            <a:avLst>
              <a:gd name="adj" fmla="val 3000"/>
            </a:avLst>
          </a:prstGeom>
          <a:solidFill>
            <a:srgbClr val="12133A"/>
          </a:solidFill>
          <a:ln w="9525">
            <a:solidFill>
              <a:srgbClr val="12133A"/>
            </a:solidFill>
            <a:prstDash val="solid"/>
          </a:ln>
          <a:effectLst>
            <a:outerShdw sx="100000" sy="100000" kx="0" ky="0" algn="bl" rotWithShape="0" blurRad="101600" dist="25400" dir="5400000">
              <a:srgbClr val="1E2050">
                <a:alpha val="8000"/>
              </a:srgbClr>
            </a:outerShdw>
          </a:effectLst>
        </p:spPr>
      </p:sp>
      <p:sp>
        <p:nvSpPr>
          <p:cNvPr id="4" name="o_261"/>
          <p:cNvSpPr txBox="1"/>
          <p:nvPr/>
        </p:nvSpPr>
        <p:spPr>
          <a:xfrm>
            <a:off x="868680" y="1828800"/>
            <a:ext cx="3017520" cy="1280160"/>
          </a:xfrm>
          <a:prstGeom prst="rect">
            <a:avLst/>
          </a:prstGeom>
          <a:noFill/>
          <a:ln/>
        </p:spPr>
        <p:txBody>
          <a:bodyPr wrap="square" lIns="0" tIns="0" rIns="0" bIns="0" rtlCol="0" anchor="t"/>
          <a:lstStyle/>
          <a:p>
            <a:pPr indent="0" marL="0">
              <a:buNone/>
            </a:pPr>
            <a:r>
              <a:rPr lang="en-US" sz="7200" b="1" dirty="0">
                <a:solidFill>
                  <a:srgbClr val="FFFFFF"/>
                </a:solidFill>
              </a:rPr>
              <a:t>8 / 8</a:t>
            </a:r>
            <a:endParaRPr lang="en-US" sz="7200" dirty="0"/>
          </a:p>
        </p:txBody>
      </p:sp>
      <p:sp>
        <p:nvSpPr>
          <p:cNvPr id="5" name="o_262"/>
          <p:cNvSpPr txBox="1"/>
          <p:nvPr/>
        </p:nvSpPr>
        <p:spPr>
          <a:xfrm>
            <a:off x="868680" y="3154680"/>
            <a:ext cx="3017520" cy="411480"/>
          </a:xfrm>
          <a:prstGeom prst="rect">
            <a:avLst/>
          </a:prstGeom>
          <a:noFill/>
          <a:ln/>
        </p:spPr>
        <p:txBody>
          <a:bodyPr wrap="square" lIns="0" tIns="0" rIns="0" bIns="0" rtlCol="0" anchor="t"/>
          <a:lstStyle/>
          <a:p>
            <a:pPr indent="0" marL="0">
              <a:buNone/>
            </a:pPr>
            <a:r>
              <a:rPr lang="en-US" sz="1800" dirty="0">
                <a:solidFill>
                  <a:srgbClr val="C9CBF2"/>
                </a:solidFill>
              </a:rPr>
              <a:t>automated tests passed</a:t>
            </a:r>
            <a:endParaRPr lang="en-US" sz="1800" dirty="0"/>
          </a:p>
        </p:txBody>
      </p:sp>
      <p:sp>
        <p:nvSpPr>
          <p:cNvPr id="6" name="o_263"/>
          <p:cNvSpPr txBox="1"/>
          <p:nvPr/>
        </p:nvSpPr>
        <p:spPr>
          <a:xfrm>
            <a:off x="868680" y="3840480"/>
            <a:ext cx="3017520" cy="411480"/>
          </a:xfrm>
          <a:prstGeom prst="rect">
            <a:avLst/>
          </a:prstGeom>
          <a:noFill/>
          <a:ln/>
        </p:spPr>
        <p:txBody>
          <a:bodyPr wrap="square" lIns="0" tIns="0" rIns="0" bIns="0" rtlCol="0" anchor="t"/>
          <a:lstStyle/>
          <a:p>
            <a:pPr indent="0" marL="0">
              <a:buNone/>
            </a:pPr>
            <a:r>
              <a:rPr lang="en-US" sz="1600" b="1" dirty="0">
                <a:solidFill>
                  <a:srgbClr val="34D399"/>
                </a:solidFill>
              </a:rPr>
              <a:t>BUILD SUCCESS</a:t>
            </a:r>
            <a:endParaRPr lang="en-US" sz="1600" dirty="0"/>
          </a:p>
        </p:txBody>
      </p:sp>
      <p:sp>
        <p:nvSpPr>
          <p:cNvPr id="7" name="o_264"/>
          <p:cNvSpPr txBox="1"/>
          <p:nvPr/>
        </p:nvSpPr>
        <p:spPr>
          <a:xfrm>
            <a:off x="868680" y="4389120"/>
            <a:ext cx="3108960" cy="1097280"/>
          </a:xfrm>
          <a:prstGeom prst="rect">
            <a:avLst/>
          </a:prstGeom>
          <a:noFill/>
          <a:ln/>
        </p:spPr>
        <p:txBody>
          <a:bodyPr wrap="square" lIns="0" tIns="0" rIns="0" bIns="0" rtlCol="0" anchor="t"/>
          <a:lstStyle/>
          <a:p>
            <a:pPr indent="0" marL="0">
              <a:buNone/>
            </a:pPr>
            <a:r>
              <a:rPr lang="en-US" sz="1300" dirty="0">
                <a:solidFill>
                  <a:srgbClr val="C9CBF2"/>
                </a:solidFill>
              </a:rPr>
              <a:t>5 cryptography unit tests</a:t>
            </a:r>
            <a:endParaRPr lang="en-US" sz="1300" dirty="0"/>
          </a:p>
          <a:p>
            <a:pPr indent="0" marL="0">
              <a:buNone/>
            </a:pPr>
            <a:r>
              <a:rPr lang="en-US" sz="1300" dirty="0">
                <a:solidFill>
                  <a:srgbClr val="C9CBF2"/>
                </a:solidFill>
              </a:rPr>
              <a:t>3 full-flow integration tests (MockMvc)</a:t>
            </a:r>
            <a:endParaRPr lang="en-US" sz="1300" dirty="0"/>
          </a:p>
        </p:txBody>
      </p:sp>
      <p:sp>
        <p:nvSpPr>
          <p:cNvPr id="8" name="a_265"/>
          <p:cNvSpPr txBox="1"/>
          <p:nvPr/>
        </p:nvSpPr>
        <p:spPr>
          <a:xfrm>
            <a:off x="5074920" y="1600200"/>
            <a:ext cx="3017520" cy="731520"/>
          </a:xfrm>
          <a:prstGeom prst="rect">
            <a:avLst/>
          </a:prstGeom>
          <a:noFill/>
          <a:ln/>
        </p:spPr>
        <p:txBody>
          <a:bodyPr wrap="square" lIns="0" tIns="0" rIns="0" bIns="0" rtlCol="0" anchor="t"/>
          <a:lstStyle/>
          <a:p>
            <a:pPr indent="0" marL="0">
              <a:buNone/>
            </a:pPr>
            <a:r>
              <a:rPr lang="en-US" sz="1400" dirty="0">
                <a:solidFill>
                  <a:schemeClr val="tx1"/>
                </a:solidFill>
              </a:rPr>
              <a:t>TOTP matches the RFC 6238 test vector</a:t>
            </a:r>
            <a:endParaRPr lang="en-US" sz="1400" dirty="0"/>
          </a:p>
        </p:txBody>
      </p:sp>
      <p:pic>
        <p:nvPicPr>
          <p:cNvPr id="9" name="o_266" descr="preencoded.png">    </p:cNvPr>
          <p:cNvPicPr>
            <a:picLocks noChangeAspect="1"/>
          </p:cNvPicPr>
          <p:nvPr/>
        </p:nvPicPr>
        <p:blipFill>
          <a:blip r:embed="rId1"/>
          <a:stretch>
            <a:fillRect/>
          </a:stretch>
        </p:blipFill>
        <p:spPr>
          <a:xfrm>
            <a:off x="4617720" y="1636776"/>
            <a:ext cx="329184" cy="329184"/>
          </a:xfrm>
          <a:prstGeom prst="rect">
            <a:avLst/>
          </a:prstGeom>
        </p:spPr>
      </p:pic>
      <p:sp>
        <p:nvSpPr>
          <p:cNvPr id="10" name="a_267"/>
          <p:cNvSpPr txBox="1"/>
          <p:nvPr/>
        </p:nvSpPr>
        <p:spPr>
          <a:xfrm>
            <a:off x="5074920" y="2468880"/>
            <a:ext cx="3017520" cy="731520"/>
          </a:xfrm>
          <a:prstGeom prst="rect">
            <a:avLst/>
          </a:prstGeom>
          <a:noFill/>
          <a:ln/>
        </p:spPr>
        <p:txBody>
          <a:bodyPr wrap="square" lIns="0" tIns="0" rIns="0" bIns="0" rtlCol="0" anchor="t"/>
          <a:lstStyle/>
          <a:p>
            <a:pPr indent="0" marL="0">
              <a:buNone/>
            </a:pPr>
            <a:r>
              <a:rPr lang="en-US" sz="1400" dirty="0">
                <a:solidFill>
                  <a:schemeClr val="tx1"/>
                </a:solidFill>
              </a:rPr>
              <a:t>AES-GCM detects tampering and wrong context</a:t>
            </a:r>
            <a:endParaRPr lang="en-US" sz="1400" dirty="0"/>
          </a:p>
        </p:txBody>
      </p:sp>
      <p:pic>
        <p:nvPicPr>
          <p:cNvPr id="11" name="o_268" descr="preencoded.png">    </p:cNvPr>
          <p:cNvPicPr>
            <a:picLocks noChangeAspect="1"/>
          </p:cNvPicPr>
          <p:nvPr/>
        </p:nvPicPr>
        <p:blipFill>
          <a:blip r:embed="rId2"/>
          <a:stretch>
            <a:fillRect/>
          </a:stretch>
        </p:blipFill>
        <p:spPr>
          <a:xfrm>
            <a:off x="4617720" y="2505456"/>
            <a:ext cx="329184" cy="329184"/>
          </a:xfrm>
          <a:prstGeom prst="rect">
            <a:avLst/>
          </a:prstGeom>
        </p:spPr>
      </p:pic>
      <p:sp>
        <p:nvSpPr>
          <p:cNvPr id="12" name="a_269"/>
          <p:cNvSpPr txBox="1"/>
          <p:nvPr/>
        </p:nvSpPr>
        <p:spPr>
          <a:xfrm>
            <a:off x="5074920" y="3337560"/>
            <a:ext cx="3017520" cy="731520"/>
          </a:xfrm>
          <a:prstGeom prst="rect">
            <a:avLst/>
          </a:prstGeom>
          <a:noFill/>
          <a:ln/>
        </p:spPr>
        <p:txBody>
          <a:bodyPr wrap="square" lIns="0" tIns="0" rIns="0" bIns="0" rtlCol="0" anchor="t"/>
          <a:lstStyle/>
          <a:p>
            <a:pPr indent="0" marL="0">
              <a:buNone/>
            </a:pPr>
            <a:r>
              <a:rPr lang="en-US" sz="1400" dirty="0">
                <a:solidFill>
                  <a:schemeClr val="tx1"/>
                </a:solidFill>
              </a:rPr>
              <a:t>ECDSA rejects modified messages</a:t>
            </a:r>
            <a:endParaRPr lang="en-US" sz="1400" dirty="0"/>
          </a:p>
        </p:txBody>
      </p:sp>
      <p:pic>
        <p:nvPicPr>
          <p:cNvPr id="13" name="o_270" descr="preencoded.png">    </p:cNvPr>
          <p:cNvPicPr>
            <a:picLocks noChangeAspect="1"/>
          </p:cNvPicPr>
          <p:nvPr/>
        </p:nvPicPr>
        <p:blipFill>
          <a:blip r:embed="rId3"/>
          <a:stretch>
            <a:fillRect/>
          </a:stretch>
        </p:blipFill>
        <p:spPr>
          <a:xfrm>
            <a:off x="4617720" y="3374136"/>
            <a:ext cx="329184" cy="329184"/>
          </a:xfrm>
          <a:prstGeom prst="rect">
            <a:avLst/>
          </a:prstGeom>
        </p:spPr>
      </p:pic>
      <p:sp>
        <p:nvSpPr>
          <p:cNvPr id="14" name="a_271"/>
          <p:cNvSpPr txBox="1"/>
          <p:nvPr/>
        </p:nvSpPr>
        <p:spPr>
          <a:xfrm>
            <a:off x="5074920" y="4206240"/>
            <a:ext cx="3017520" cy="731520"/>
          </a:xfrm>
          <a:prstGeom prst="rect">
            <a:avLst/>
          </a:prstGeom>
          <a:noFill/>
          <a:ln/>
        </p:spPr>
        <p:txBody>
          <a:bodyPr wrap="square" lIns="0" tIns="0" rIns="0" bIns="0" rtlCol="0" anchor="t"/>
          <a:lstStyle/>
          <a:p>
            <a:pPr indent="0" marL="0">
              <a:buNone/>
            </a:pPr>
            <a:r>
              <a:rPr lang="en-US" sz="1400" dirty="0">
                <a:solidFill>
                  <a:schemeClr val="tx1"/>
                </a:solidFill>
              </a:rPr>
              <a:t>Forged claim → verification fails</a:t>
            </a:r>
            <a:endParaRPr lang="en-US" sz="1400" dirty="0"/>
          </a:p>
        </p:txBody>
      </p:sp>
      <p:pic>
        <p:nvPicPr>
          <p:cNvPr id="15" name="o_272" descr="preencoded.png">    </p:cNvPr>
          <p:cNvPicPr>
            <a:picLocks noChangeAspect="1"/>
          </p:cNvPicPr>
          <p:nvPr/>
        </p:nvPicPr>
        <p:blipFill>
          <a:blip r:embed="rId4"/>
          <a:stretch>
            <a:fillRect/>
          </a:stretch>
        </p:blipFill>
        <p:spPr>
          <a:xfrm>
            <a:off x="4617720" y="4242816"/>
            <a:ext cx="329184" cy="329184"/>
          </a:xfrm>
          <a:prstGeom prst="rect">
            <a:avLst/>
          </a:prstGeom>
        </p:spPr>
      </p:pic>
      <p:sp>
        <p:nvSpPr>
          <p:cNvPr id="16" name="a_273"/>
          <p:cNvSpPr txBox="1"/>
          <p:nvPr/>
        </p:nvSpPr>
        <p:spPr>
          <a:xfrm>
            <a:off x="5074920" y="5074920"/>
            <a:ext cx="3017520" cy="731520"/>
          </a:xfrm>
          <a:prstGeom prst="rect">
            <a:avLst/>
          </a:prstGeom>
          <a:noFill/>
          <a:ln/>
        </p:spPr>
        <p:txBody>
          <a:bodyPr wrap="square" lIns="0" tIns="0" rIns="0" bIns="0" rtlCol="0" anchor="t"/>
          <a:lstStyle/>
          <a:p>
            <a:pPr indent="0" marL="0">
              <a:buNone/>
            </a:pPr>
            <a:r>
              <a:rPr lang="en-US" sz="1400" dirty="0">
                <a:solidFill>
                  <a:schemeClr val="tx1"/>
                </a:solidFill>
              </a:rPr>
              <a:t>View limit enforced (3rd view refused)</a:t>
            </a:r>
            <a:endParaRPr lang="en-US" sz="1400" dirty="0"/>
          </a:p>
        </p:txBody>
      </p:sp>
      <p:pic>
        <p:nvPicPr>
          <p:cNvPr id="17" name="o_274" descr="preencoded.png">    </p:cNvPr>
          <p:cNvPicPr>
            <a:picLocks noChangeAspect="1"/>
          </p:cNvPicPr>
          <p:nvPr/>
        </p:nvPicPr>
        <p:blipFill>
          <a:blip r:embed="rId5"/>
          <a:stretch>
            <a:fillRect/>
          </a:stretch>
        </p:blipFill>
        <p:spPr>
          <a:xfrm>
            <a:off x="4617720" y="5111496"/>
            <a:ext cx="329184" cy="329184"/>
          </a:xfrm>
          <a:prstGeom prst="rect">
            <a:avLst/>
          </a:prstGeom>
        </p:spPr>
      </p:pic>
      <p:sp>
        <p:nvSpPr>
          <p:cNvPr id="18" name="a_275"/>
          <p:cNvSpPr txBox="1"/>
          <p:nvPr/>
        </p:nvSpPr>
        <p:spPr>
          <a:xfrm>
            <a:off x="8686800" y="1600200"/>
            <a:ext cx="3017520" cy="731520"/>
          </a:xfrm>
          <a:prstGeom prst="rect">
            <a:avLst/>
          </a:prstGeom>
          <a:noFill/>
          <a:ln/>
        </p:spPr>
        <p:txBody>
          <a:bodyPr wrap="square" lIns="0" tIns="0" rIns="0" bIns="0" rtlCol="0" anchor="t"/>
          <a:lstStyle/>
          <a:p>
            <a:pPr indent="0" marL="0">
              <a:buNone/>
            </a:pPr>
            <a:r>
              <a:rPr lang="en-US" sz="1400" dirty="0">
                <a:solidFill>
                  <a:schemeClr val="tx1"/>
                </a:solidFill>
              </a:rPr>
              <a:t>Revoked credential fails status check</a:t>
            </a:r>
            <a:endParaRPr lang="en-US" sz="1400" dirty="0"/>
          </a:p>
        </p:txBody>
      </p:sp>
      <p:pic>
        <p:nvPicPr>
          <p:cNvPr id="19" name="o_276" descr="preencoded.png">    </p:cNvPr>
          <p:cNvPicPr>
            <a:picLocks noChangeAspect="1"/>
          </p:cNvPicPr>
          <p:nvPr/>
        </p:nvPicPr>
        <p:blipFill>
          <a:blip r:embed="rId6"/>
          <a:stretch>
            <a:fillRect/>
          </a:stretch>
        </p:blipFill>
        <p:spPr>
          <a:xfrm>
            <a:off x="8229600" y="1636776"/>
            <a:ext cx="329184" cy="329184"/>
          </a:xfrm>
          <a:prstGeom prst="rect">
            <a:avLst/>
          </a:prstGeom>
        </p:spPr>
      </p:pic>
      <p:sp>
        <p:nvSpPr>
          <p:cNvPr id="20" name="a_277"/>
          <p:cNvSpPr txBox="1"/>
          <p:nvPr/>
        </p:nvSpPr>
        <p:spPr>
          <a:xfrm>
            <a:off x="8686800" y="2468880"/>
            <a:ext cx="3017520" cy="731520"/>
          </a:xfrm>
          <a:prstGeom prst="rect">
            <a:avLst/>
          </a:prstGeom>
          <a:noFill/>
          <a:ln/>
        </p:spPr>
        <p:txBody>
          <a:bodyPr wrap="square" lIns="0" tIns="0" rIns="0" bIns="0" rtlCol="0" anchor="t"/>
          <a:lstStyle/>
          <a:p>
            <a:pPr indent="0" marL="0">
              <a:buNone/>
            </a:pPr>
            <a:r>
              <a:rPr lang="en-US" sz="1400" dirty="0">
                <a:solidFill>
                  <a:schemeClr val="tx1"/>
                </a:solidFill>
              </a:rPr>
              <a:t>401 / 403 / 404 for missing token, wrong role, others' data</a:t>
            </a:r>
            <a:endParaRPr lang="en-US" sz="1400" dirty="0"/>
          </a:p>
        </p:txBody>
      </p:sp>
      <p:pic>
        <p:nvPicPr>
          <p:cNvPr id="21" name="o_278" descr="preencoded.png">    </p:cNvPr>
          <p:cNvPicPr>
            <a:picLocks noChangeAspect="1"/>
          </p:cNvPicPr>
          <p:nvPr/>
        </p:nvPicPr>
        <p:blipFill>
          <a:blip r:embed="rId7"/>
          <a:stretch>
            <a:fillRect/>
          </a:stretch>
        </p:blipFill>
        <p:spPr>
          <a:xfrm>
            <a:off x="8229600" y="2505456"/>
            <a:ext cx="329184" cy="329184"/>
          </a:xfrm>
          <a:prstGeom prst="rect">
            <a:avLst/>
          </a:prstGeom>
        </p:spPr>
      </p:pic>
      <p:sp>
        <p:nvSpPr>
          <p:cNvPr id="22" name="a_279"/>
          <p:cNvSpPr txBox="1"/>
          <p:nvPr/>
        </p:nvSpPr>
        <p:spPr>
          <a:xfrm>
            <a:off x="8686800" y="3337560"/>
            <a:ext cx="3017520" cy="731520"/>
          </a:xfrm>
          <a:prstGeom prst="rect">
            <a:avLst/>
          </a:prstGeom>
          <a:noFill/>
          <a:ln/>
        </p:spPr>
        <p:txBody>
          <a:bodyPr wrap="square" lIns="0" tIns="0" rIns="0" bIns="0" rtlCol="0" anchor="t"/>
          <a:lstStyle/>
          <a:p>
            <a:pPr indent="0" marL="0">
              <a:buNone/>
            </a:pPr>
            <a:r>
              <a:rPr lang="en-US" sz="1400" dirty="0">
                <a:solidFill>
                  <a:schemeClr val="tx1"/>
                </a:solidFill>
              </a:rPr>
              <a:t>Fake PDF upload rejected</a:t>
            </a:r>
            <a:endParaRPr lang="en-US" sz="1400" dirty="0"/>
          </a:p>
        </p:txBody>
      </p:sp>
      <p:pic>
        <p:nvPicPr>
          <p:cNvPr id="23" name="o_280" descr="preencoded.png">    </p:cNvPr>
          <p:cNvPicPr>
            <a:picLocks noChangeAspect="1"/>
          </p:cNvPicPr>
          <p:nvPr/>
        </p:nvPicPr>
        <p:blipFill>
          <a:blip r:embed="rId8"/>
          <a:stretch>
            <a:fillRect/>
          </a:stretch>
        </p:blipFill>
        <p:spPr>
          <a:xfrm>
            <a:off x="8229600" y="3374136"/>
            <a:ext cx="329184" cy="329184"/>
          </a:xfrm>
          <a:prstGeom prst="rect">
            <a:avLst/>
          </a:prstGeom>
        </p:spPr>
      </p:pic>
      <p:sp>
        <p:nvSpPr>
          <p:cNvPr id="24" name="a_281"/>
          <p:cNvSpPr txBox="1"/>
          <p:nvPr/>
        </p:nvSpPr>
        <p:spPr>
          <a:xfrm>
            <a:off x="8686800" y="4206240"/>
            <a:ext cx="3017520" cy="731520"/>
          </a:xfrm>
          <a:prstGeom prst="rect">
            <a:avLst/>
          </a:prstGeom>
          <a:noFill/>
          <a:ln/>
        </p:spPr>
        <p:txBody>
          <a:bodyPr wrap="square" lIns="0" tIns="0" rIns="0" bIns="0" rtlCol="0" anchor="t"/>
          <a:lstStyle/>
          <a:p>
            <a:pPr indent="0" marL="0">
              <a:buNone/>
            </a:pPr>
            <a:r>
              <a:rPr lang="en-US" sz="1400" dirty="0">
                <a:solidFill>
                  <a:schemeClr val="tx1"/>
                </a:solidFill>
              </a:rPr>
              <a:t>2FA wrong code rejected; lockout after 5 tries</a:t>
            </a:r>
            <a:endParaRPr lang="en-US" sz="1400" dirty="0"/>
          </a:p>
        </p:txBody>
      </p:sp>
      <p:pic>
        <p:nvPicPr>
          <p:cNvPr id="25" name="o_282" descr="preencoded.png">    </p:cNvPr>
          <p:cNvPicPr>
            <a:picLocks noChangeAspect="1"/>
          </p:cNvPicPr>
          <p:nvPr/>
        </p:nvPicPr>
        <p:blipFill>
          <a:blip r:embed="rId9"/>
          <a:stretch>
            <a:fillRect/>
          </a:stretch>
        </p:blipFill>
        <p:spPr>
          <a:xfrm>
            <a:off x="8229600" y="4242816"/>
            <a:ext cx="329184" cy="329184"/>
          </a:xfrm>
          <a:prstGeom prst="rect">
            <a:avLst/>
          </a:prstGeom>
        </p:spPr>
      </p:pic>
      <p:sp>
        <p:nvSpPr>
          <p:cNvPr id="26" name="a_283"/>
          <p:cNvSpPr txBox="1"/>
          <p:nvPr/>
        </p:nvSpPr>
        <p:spPr>
          <a:xfrm>
            <a:off x="8686800" y="5074920"/>
            <a:ext cx="3017520" cy="731520"/>
          </a:xfrm>
          <a:prstGeom prst="rect">
            <a:avLst/>
          </a:prstGeom>
          <a:noFill/>
          <a:ln/>
        </p:spPr>
        <p:txBody>
          <a:bodyPr wrap="square" lIns="0" tIns="0" rIns="0" bIns="0" rtlCol="0" anchor="t"/>
          <a:lstStyle/>
          <a:p>
            <a:pPr indent="0" marL="0">
              <a:buNone/>
            </a:pPr>
            <a:r>
              <a:rPr lang="en-US" sz="1400" dirty="0">
                <a:solidFill>
                  <a:schemeClr val="tx1"/>
                </a:solidFill>
              </a:rPr>
              <a:t>Audit hash chain intact</a:t>
            </a:r>
            <a:endParaRPr lang="en-US" sz="1400" dirty="0"/>
          </a:p>
        </p:txBody>
      </p:sp>
      <p:pic>
        <p:nvPicPr>
          <p:cNvPr id="27" name="o_284" descr="preencoded.png">    </p:cNvPr>
          <p:cNvPicPr>
            <a:picLocks noChangeAspect="1"/>
          </p:cNvPicPr>
          <p:nvPr/>
        </p:nvPicPr>
        <p:blipFill>
          <a:blip r:embed="rId10"/>
          <a:stretch>
            <a:fillRect/>
          </a:stretch>
        </p:blipFill>
        <p:spPr>
          <a:xfrm>
            <a:off x="8229600" y="5111496"/>
            <a:ext cx="329184" cy="329184"/>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childTnLst>
                          </p:cTn>
                        </p:par>
                        <p:par>
                          <p:cTn id="41" fill="hold">
                            <p:stCondLst>
                              <p:cond delay="700"/>
                            </p:stCondLst>
                            <p:childTnLst>
                              <p:par>
                                <p:cTn id="42" presetID="42"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4"/>
                                          </p:val>
                                        </p:tav>
                                        <p:tav tm="100000">
                                          <p:val>
                                            <p:strVal val="#ppt_y"/>
                                          </p:val>
                                        </p:tav>
                                      </p:tavLst>
                                    </p:anim>
                                  </p:childTnLst>
                                </p:cTn>
                              </p:par>
                            </p:childTnLst>
                          </p:cTn>
                        </p:par>
                        <p:par>
                          <p:cTn id="52" fill="hold">
                            <p:stCondLst>
                              <p:cond delay="1050"/>
                            </p:stCondLst>
                            <p:childTnLst>
                              <p:par>
                                <p:cTn id="53" presetID="42" presetClass="entr" presetSubtype="0"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anim calcmode="lin" valueType="num">
                                      <p:cBhvr>
                                        <p:cTn id="56" dur="500" decel="100000" fill="hold"/>
                                        <p:tgtEl>
                                          <p:spTgt spid="12"/>
                                        </p:tgtEl>
                                        <p:attrNameLst>
                                          <p:attrName>ppt_x</p:attrName>
                                        </p:attrNameLst>
                                      </p:cBhvr>
                                      <p:tavLst>
                                        <p:tav tm="0">
                                          <p:val>
                                            <p:strVal val="#ppt_x"/>
                                          </p:val>
                                        </p:tav>
                                        <p:tav tm="100000">
                                          <p:val>
                                            <p:strVal val="#ppt_x"/>
                                          </p:val>
                                        </p:tav>
                                      </p:tavLst>
                                    </p:anim>
                                    <p:anim calcmode="lin" valueType="num">
                                      <p:cBhvr>
                                        <p:cTn id="57" dur="500" decel="100000" fill="hold"/>
                                        <p:tgtEl>
                                          <p:spTgt spid="12"/>
                                        </p:tgtEl>
                                        <p:attrNameLst>
                                          <p:attrName>ppt_y</p:attrName>
                                        </p:attrNameLst>
                                      </p:cBhvr>
                                      <p:tavLst>
                                        <p:tav tm="0">
                                          <p:val>
                                            <p:strVal val="#ppt_y+.04"/>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anim calcmode="lin" valueType="num">
                                      <p:cBhvr>
                                        <p:cTn id="61" dur="500" decel="100000" fill="hold"/>
                                        <p:tgtEl>
                                          <p:spTgt spid="13"/>
                                        </p:tgtEl>
                                        <p:attrNameLst>
                                          <p:attrName>ppt_x</p:attrName>
                                        </p:attrNameLst>
                                      </p:cBhvr>
                                      <p:tavLst>
                                        <p:tav tm="0">
                                          <p:val>
                                            <p:strVal val="#ppt_x"/>
                                          </p:val>
                                        </p:tav>
                                        <p:tav tm="100000">
                                          <p:val>
                                            <p:strVal val="#ppt_x"/>
                                          </p:val>
                                        </p:tav>
                                      </p:tavLst>
                                    </p:anim>
                                    <p:anim calcmode="lin" valueType="num">
                                      <p:cBhvr>
                                        <p:cTn id="62" dur="500" decel="100000" fill="hold"/>
                                        <p:tgtEl>
                                          <p:spTgt spid="13"/>
                                        </p:tgtEl>
                                        <p:attrNameLst>
                                          <p:attrName>ppt_y</p:attrName>
                                        </p:attrNameLst>
                                      </p:cBhvr>
                                      <p:tavLst>
                                        <p:tav tm="0">
                                          <p:val>
                                            <p:strVal val="#ppt_y+.04"/>
                                          </p:val>
                                        </p:tav>
                                        <p:tav tm="100000">
                                          <p:val>
                                            <p:strVal val="#ppt_y"/>
                                          </p:val>
                                        </p:tav>
                                      </p:tavLst>
                                    </p:anim>
                                  </p:childTnLst>
                                </p:cTn>
                              </p:par>
                            </p:childTnLst>
                          </p:cTn>
                        </p:par>
                        <p:par>
                          <p:cTn id="63" fill="hold">
                            <p:stCondLst>
                              <p:cond delay="1400"/>
                            </p:stCondLst>
                            <p:childTnLst>
                              <p:par>
                                <p:cTn id="64" presetID="42" presetClass="entr" presetSubtype="0"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4"/>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4"/>
                                          </p:val>
                                        </p:tav>
                                        <p:tav tm="100000">
                                          <p:val>
                                            <p:strVal val="#ppt_y"/>
                                          </p:val>
                                        </p:tav>
                                      </p:tavLst>
                                    </p:anim>
                                  </p:childTnLst>
                                </p:cTn>
                              </p:par>
                            </p:childTnLst>
                          </p:cTn>
                        </p:par>
                        <p:par>
                          <p:cTn id="74" fill="hold">
                            <p:stCondLst>
                              <p:cond delay="1750"/>
                            </p:stCondLst>
                            <p:childTnLst>
                              <p:par>
                                <p:cTn id="75" presetID="42" presetClass="entr" presetSubtype="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anim calcmode="lin" valueType="num">
                                      <p:cBhvr>
                                        <p:cTn id="78" dur="500" decel="100000" fill="hold"/>
                                        <p:tgtEl>
                                          <p:spTgt spid="16"/>
                                        </p:tgtEl>
                                        <p:attrNameLst>
                                          <p:attrName>ppt_x</p:attrName>
                                        </p:attrNameLst>
                                      </p:cBhvr>
                                      <p:tavLst>
                                        <p:tav tm="0">
                                          <p:val>
                                            <p:strVal val="#ppt_x"/>
                                          </p:val>
                                        </p:tav>
                                        <p:tav tm="100000">
                                          <p:val>
                                            <p:strVal val="#ppt_x"/>
                                          </p:val>
                                        </p:tav>
                                      </p:tavLst>
                                    </p:anim>
                                    <p:anim calcmode="lin" valueType="num">
                                      <p:cBhvr>
                                        <p:cTn id="79" dur="500" decel="100000" fill="hold"/>
                                        <p:tgtEl>
                                          <p:spTgt spid="16"/>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anim calcmode="lin" valueType="num">
                                      <p:cBhvr>
                                        <p:cTn id="83" dur="500" decel="100000" fill="hold"/>
                                        <p:tgtEl>
                                          <p:spTgt spid="17"/>
                                        </p:tgtEl>
                                        <p:attrNameLst>
                                          <p:attrName>ppt_x</p:attrName>
                                        </p:attrNameLst>
                                      </p:cBhvr>
                                      <p:tavLst>
                                        <p:tav tm="0">
                                          <p:val>
                                            <p:strVal val="#ppt_x"/>
                                          </p:val>
                                        </p:tav>
                                        <p:tav tm="100000">
                                          <p:val>
                                            <p:strVal val="#ppt_x"/>
                                          </p:val>
                                        </p:tav>
                                      </p:tavLst>
                                    </p:anim>
                                    <p:anim calcmode="lin" valueType="num">
                                      <p:cBhvr>
                                        <p:cTn id="84" dur="500" decel="100000" fill="hold"/>
                                        <p:tgtEl>
                                          <p:spTgt spid="17"/>
                                        </p:tgtEl>
                                        <p:attrNameLst>
                                          <p:attrName>ppt_y</p:attrName>
                                        </p:attrNameLst>
                                      </p:cBhvr>
                                      <p:tavLst>
                                        <p:tav tm="0">
                                          <p:val>
                                            <p:strVal val="#ppt_y+.04"/>
                                          </p:val>
                                        </p:tav>
                                        <p:tav tm="100000">
                                          <p:val>
                                            <p:strVal val="#ppt_y"/>
                                          </p:val>
                                        </p:tav>
                                      </p:tavLst>
                                    </p:anim>
                                  </p:childTnLst>
                                </p:cTn>
                              </p:par>
                            </p:childTnLst>
                          </p:cTn>
                        </p:par>
                        <p:par>
                          <p:cTn id="85" fill="hold">
                            <p:stCondLst>
                              <p:cond delay="2100"/>
                            </p:stCondLst>
                            <p:childTnLst>
                              <p:par>
                                <p:cTn id="86" presetID="42"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4"/>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500"/>
                                        <p:tgtEl>
                                          <p:spTgt spid="19"/>
                                        </p:tgtEl>
                                      </p:cBhvr>
                                    </p:animEffect>
                                    <p:anim calcmode="lin" valueType="num">
                                      <p:cBhvr>
                                        <p:cTn id="94" dur="500" decel="100000" fill="hold"/>
                                        <p:tgtEl>
                                          <p:spTgt spid="19"/>
                                        </p:tgtEl>
                                        <p:attrNameLst>
                                          <p:attrName>ppt_x</p:attrName>
                                        </p:attrNameLst>
                                      </p:cBhvr>
                                      <p:tavLst>
                                        <p:tav tm="0">
                                          <p:val>
                                            <p:strVal val="#ppt_x"/>
                                          </p:val>
                                        </p:tav>
                                        <p:tav tm="100000">
                                          <p:val>
                                            <p:strVal val="#ppt_x"/>
                                          </p:val>
                                        </p:tav>
                                      </p:tavLst>
                                    </p:anim>
                                    <p:anim calcmode="lin" valueType="num">
                                      <p:cBhvr>
                                        <p:cTn id="95" dur="500" decel="100000" fill="hold"/>
                                        <p:tgtEl>
                                          <p:spTgt spid="19"/>
                                        </p:tgtEl>
                                        <p:attrNameLst>
                                          <p:attrName>ppt_y</p:attrName>
                                        </p:attrNameLst>
                                      </p:cBhvr>
                                      <p:tavLst>
                                        <p:tav tm="0">
                                          <p:val>
                                            <p:strVal val="#ppt_y+.04"/>
                                          </p:val>
                                        </p:tav>
                                        <p:tav tm="100000">
                                          <p:val>
                                            <p:strVal val="#ppt_y"/>
                                          </p:val>
                                        </p:tav>
                                      </p:tavLst>
                                    </p:anim>
                                  </p:childTnLst>
                                </p:cTn>
                              </p:par>
                            </p:childTnLst>
                          </p:cTn>
                        </p:par>
                        <p:par>
                          <p:cTn id="96" fill="hold">
                            <p:stCondLst>
                              <p:cond delay="2450"/>
                            </p:stCondLst>
                            <p:childTnLst>
                              <p:par>
                                <p:cTn id="97" presetID="42" presetClass="entr" presetSubtype="0" fill="hold" grpId="0"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500"/>
                                        <p:tgtEl>
                                          <p:spTgt spid="20"/>
                                        </p:tgtEl>
                                      </p:cBhvr>
                                    </p:animEffect>
                                    <p:anim calcmode="lin" valueType="num">
                                      <p:cBhvr>
                                        <p:cTn id="100" dur="500" decel="100000" fill="hold"/>
                                        <p:tgtEl>
                                          <p:spTgt spid="20"/>
                                        </p:tgtEl>
                                        <p:attrNameLst>
                                          <p:attrName>ppt_x</p:attrName>
                                        </p:attrNameLst>
                                      </p:cBhvr>
                                      <p:tavLst>
                                        <p:tav tm="0">
                                          <p:val>
                                            <p:strVal val="#ppt_x"/>
                                          </p:val>
                                        </p:tav>
                                        <p:tav tm="100000">
                                          <p:val>
                                            <p:strVal val="#ppt_x"/>
                                          </p:val>
                                        </p:tav>
                                      </p:tavLst>
                                    </p:anim>
                                    <p:anim calcmode="lin" valueType="num">
                                      <p:cBhvr>
                                        <p:cTn id="101" dur="500" decel="100000" fill="hold"/>
                                        <p:tgtEl>
                                          <p:spTgt spid="20"/>
                                        </p:tgtEl>
                                        <p:attrNameLst>
                                          <p:attrName>ppt_y</p:attrName>
                                        </p:attrNameLst>
                                      </p:cBhvr>
                                      <p:tavLst>
                                        <p:tav tm="0">
                                          <p:val>
                                            <p:strVal val="#ppt_y+.04"/>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fade">
                                      <p:cBhvr>
                                        <p:cTn id="104" dur="500"/>
                                        <p:tgtEl>
                                          <p:spTgt spid="21"/>
                                        </p:tgtEl>
                                      </p:cBhvr>
                                    </p:animEffect>
                                    <p:anim calcmode="lin" valueType="num">
                                      <p:cBhvr>
                                        <p:cTn id="105" dur="500" decel="100000" fill="hold"/>
                                        <p:tgtEl>
                                          <p:spTgt spid="21"/>
                                        </p:tgtEl>
                                        <p:attrNameLst>
                                          <p:attrName>ppt_x</p:attrName>
                                        </p:attrNameLst>
                                      </p:cBhvr>
                                      <p:tavLst>
                                        <p:tav tm="0">
                                          <p:val>
                                            <p:strVal val="#ppt_x"/>
                                          </p:val>
                                        </p:tav>
                                        <p:tav tm="100000">
                                          <p:val>
                                            <p:strVal val="#ppt_x"/>
                                          </p:val>
                                        </p:tav>
                                      </p:tavLst>
                                    </p:anim>
                                    <p:anim calcmode="lin" valueType="num">
                                      <p:cBhvr>
                                        <p:cTn id="106" dur="500" decel="100000" fill="hold"/>
                                        <p:tgtEl>
                                          <p:spTgt spid="21"/>
                                        </p:tgtEl>
                                        <p:attrNameLst>
                                          <p:attrName>ppt_y</p:attrName>
                                        </p:attrNameLst>
                                      </p:cBhvr>
                                      <p:tavLst>
                                        <p:tav tm="0">
                                          <p:val>
                                            <p:strVal val="#ppt_y+.04"/>
                                          </p:val>
                                        </p:tav>
                                        <p:tav tm="100000">
                                          <p:val>
                                            <p:strVal val="#ppt_y"/>
                                          </p:val>
                                        </p:tav>
                                      </p:tavLst>
                                    </p:anim>
                                  </p:childTnLst>
                                </p:cTn>
                              </p:par>
                            </p:childTnLst>
                          </p:cTn>
                        </p:par>
                        <p:par>
                          <p:cTn id="107" fill="hold">
                            <p:stCondLst>
                              <p:cond delay="2800"/>
                            </p:stCondLst>
                            <p:childTnLst>
                              <p:par>
                                <p:cTn id="108" presetID="42" presetClass="entr" presetSubtype="0" fill="hold" grpId="0" nodeType="after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anim calcmode="lin" valueType="num">
                                      <p:cBhvr>
                                        <p:cTn id="111" dur="500" decel="100000" fill="hold"/>
                                        <p:tgtEl>
                                          <p:spTgt spid="22"/>
                                        </p:tgtEl>
                                        <p:attrNameLst>
                                          <p:attrName>ppt_x</p:attrName>
                                        </p:attrNameLst>
                                      </p:cBhvr>
                                      <p:tavLst>
                                        <p:tav tm="0">
                                          <p:val>
                                            <p:strVal val="#ppt_x"/>
                                          </p:val>
                                        </p:tav>
                                        <p:tav tm="100000">
                                          <p:val>
                                            <p:strVal val="#ppt_x"/>
                                          </p:val>
                                        </p:tav>
                                      </p:tavLst>
                                    </p:anim>
                                    <p:anim calcmode="lin" valueType="num">
                                      <p:cBhvr>
                                        <p:cTn id="112" dur="500" decel="100000" fill="hold"/>
                                        <p:tgtEl>
                                          <p:spTgt spid="22"/>
                                        </p:tgtEl>
                                        <p:attrNameLst>
                                          <p:attrName>ppt_y</p:attrName>
                                        </p:attrNameLst>
                                      </p:cBhvr>
                                      <p:tavLst>
                                        <p:tav tm="0">
                                          <p:val>
                                            <p:strVal val="#ppt_y+.04"/>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500"/>
                                        <p:tgtEl>
                                          <p:spTgt spid="23"/>
                                        </p:tgtEl>
                                      </p:cBhvr>
                                    </p:animEffect>
                                    <p:anim calcmode="lin" valueType="num">
                                      <p:cBhvr>
                                        <p:cTn id="116" dur="500" decel="100000" fill="hold"/>
                                        <p:tgtEl>
                                          <p:spTgt spid="23"/>
                                        </p:tgtEl>
                                        <p:attrNameLst>
                                          <p:attrName>ppt_x</p:attrName>
                                        </p:attrNameLst>
                                      </p:cBhvr>
                                      <p:tavLst>
                                        <p:tav tm="0">
                                          <p:val>
                                            <p:strVal val="#ppt_x"/>
                                          </p:val>
                                        </p:tav>
                                        <p:tav tm="100000">
                                          <p:val>
                                            <p:strVal val="#ppt_x"/>
                                          </p:val>
                                        </p:tav>
                                      </p:tavLst>
                                    </p:anim>
                                    <p:anim calcmode="lin" valueType="num">
                                      <p:cBhvr>
                                        <p:cTn id="117" dur="500" decel="100000" fill="hold"/>
                                        <p:tgtEl>
                                          <p:spTgt spid="23"/>
                                        </p:tgtEl>
                                        <p:attrNameLst>
                                          <p:attrName>ppt_y</p:attrName>
                                        </p:attrNameLst>
                                      </p:cBhvr>
                                      <p:tavLst>
                                        <p:tav tm="0">
                                          <p:val>
                                            <p:strVal val="#ppt_y+.04"/>
                                          </p:val>
                                        </p:tav>
                                        <p:tav tm="100000">
                                          <p:val>
                                            <p:strVal val="#ppt_y"/>
                                          </p:val>
                                        </p:tav>
                                      </p:tavLst>
                                    </p:anim>
                                  </p:childTnLst>
                                </p:cTn>
                              </p:par>
                            </p:childTnLst>
                          </p:cTn>
                        </p:par>
                        <p:par>
                          <p:cTn id="118" fill="hold">
                            <p:stCondLst>
                              <p:cond delay="3150"/>
                            </p:stCondLst>
                            <p:childTnLst>
                              <p:par>
                                <p:cTn id="119" presetID="42" presetClass="entr" presetSubtype="0" fill="hold" grpId="0" nodeType="after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500"/>
                                        <p:tgtEl>
                                          <p:spTgt spid="24"/>
                                        </p:tgtEl>
                                      </p:cBhvr>
                                    </p:animEffect>
                                    <p:anim calcmode="lin" valueType="num">
                                      <p:cBhvr>
                                        <p:cTn id="122" dur="500" decel="100000" fill="hold"/>
                                        <p:tgtEl>
                                          <p:spTgt spid="24"/>
                                        </p:tgtEl>
                                        <p:attrNameLst>
                                          <p:attrName>ppt_x</p:attrName>
                                        </p:attrNameLst>
                                      </p:cBhvr>
                                      <p:tavLst>
                                        <p:tav tm="0">
                                          <p:val>
                                            <p:strVal val="#ppt_x"/>
                                          </p:val>
                                        </p:tav>
                                        <p:tav tm="100000">
                                          <p:val>
                                            <p:strVal val="#ppt_x"/>
                                          </p:val>
                                        </p:tav>
                                      </p:tavLst>
                                    </p:anim>
                                    <p:anim calcmode="lin" valueType="num">
                                      <p:cBhvr>
                                        <p:cTn id="123" dur="500" decel="100000" fill="hold"/>
                                        <p:tgtEl>
                                          <p:spTgt spid="24"/>
                                        </p:tgtEl>
                                        <p:attrNameLst>
                                          <p:attrName>ppt_y</p:attrName>
                                        </p:attrNameLst>
                                      </p:cBhvr>
                                      <p:tavLst>
                                        <p:tav tm="0">
                                          <p:val>
                                            <p:strVal val="#ppt_y+.04"/>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500"/>
                                        <p:tgtEl>
                                          <p:spTgt spid="25"/>
                                        </p:tgtEl>
                                      </p:cBhvr>
                                    </p:animEffect>
                                    <p:anim calcmode="lin" valueType="num">
                                      <p:cBhvr>
                                        <p:cTn id="127" dur="500" decel="100000" fill="hold"/>
                                        <p:tgtEl>
                                          <p:spTgt spid="25"/>
                                        </p:tgtEl>
                                        <p:attrNameLst>
                                          <p:attrName>ppt_x</p:attrName>
                                        </p:attrNameLst>
                                      </p:cBhvr>
                                      <p:tavLst>
                                        <p:tav tm="0">
                                          <p:val>
                                            <p:strVal val="#ppt_x"/>
                                          </p:val>
                                        </p:tav>
                                        <p:tav tm="100000">
                                          <p:val>
                                            <p:strVal val="#ppt_x"/>
                                          </p:val>
                                        </p:tav>
                                      </p:tavLst>
                                    </p:anim>
                                    <p:anim calcmode="lin" valueType="num">
                                      <p:cBhvr>
                                        <p:cTn id="128" dur="500" decel="100000" fill="hold"/>
                                        <p:tgtEl>
                                          <p:spTgt spid="25"/>
                                        </p:tgtEl>
                                        <p:attrNameLst>
                                          <p:attrName>ppt_y</p:attrName>
                                        </p:attrNameLst>
                                      </p:cBhvr>
                                      <p:tavLst>
                                        <p:tav tm="0">
                                          <p:val>
                                            <p:strVal val="#ppt_y+.04"/>
                                          </p:val>
                                        </p:tav>
                                        <p:tav tm="100000">
                                          <p:val>
                                            <p:strVal val="#ppt_y"/>
                                          </p:val>
                                        </p:tav>
                                      </p:tavLst>
                                    </p:anim>
                                  </p:childTnLst>
                                </p:cTn>
                              </p:par>
                            </p:childTnLst>
                          </p:cTn>
                        </p:par>
                        <p:par>
                          <p:cTn id="129" fill="hold">
                            <p:stCondLst>
                              <p:cond delay="3500"/>
                            </p:stCondLst>
                            <p:childTnLst>
                              <p:par>
                                <p:cTn id="130" presetID="42" presetClass="entr" presetSubtype="0" fill="hold" grpId="0" nodeType="afterEffect">
                                  <p:stCondLst>
                                    <p:cond delay="0"/>
                                  </p:stCondLst>
                                  <p:childTnLst>
                                    <p:set>
                                      <p:cBhvr>
                                        <p:cTn id="131" dur="1" fill="hold">
                                          <p:stCondLst>
                                            <p:cond delay="0"/>
                                          </p:stCondLst>
                                        </p:cTn>
                                        <p:tgtEl>
                                          <p:spTgt spid="26"/>
                                        </p:tgtEl>
                                        <p:attrNameLst>
                                          <p:attrName>style.visibility</p:attrName>
                                        </p:attrNameLst>
                                      </p:cBhvr>
                                      <p:to>
                                        <p:strVal val="visible"/>
                                      </p:to>
                                    </p:set>
                                    <p:animEffect transition="in" filter="fade">
                                      <p:cBhvr>
                                        <p:cTn id="132" dur="500"/>
                                        <p:tgtEl>
                                          <p:spTgt spid="26"/>
                                        </p:tgtEl>
                                      </p:cBhvr>
                                    </p:animEffect>
                                    <p:anim calcmode="lin" valueType="num">
                                      <p:cBhvr>
                                        <p:cTn id="133" dur="500" decel="100000" fill="hold"/>
                                        <p:tgtEl>
                                          <p:spTgt spid="26"/>
                                        </p:tgtEl>
                                        <p:attrNameLst>
                                          <p:attrName>ppt_x</p:attrName>
                                        </p:attrNameLst>
                                      </p:cBhvr>
                                      <p:tavLst>
                                        <p:tav tm="0">
                                          <p:val>
                                            <p:strVal val="#ppt_x"/>
                                          </p:val>
                                        </p:tav>
                                        <p:tav tm="100000">
                                          <p:val>
                                            <p:strVal val="#ppt_x"/>
                                          </p:val>
                                        </p:tav>
                                      </p:tavLst>
                                    </p:anim>
                                    <p:anim calcmode="lin" valueType="num">
                                      <p:cBhvr>
                                        <p:cTn id="134" dur="500" decel="100000" fill="hold"/>
                                        <p:tgtEl>
                                          <p:spTgt spid="26"/>
                                        </p:tgtEl>
                                        <p:attrNameLst>
                                          <p:attrName>ppt_y</p:attrName>
                                        </p:attrNameLst>
                                      </p:cBhvr>
                                      <p:tavLst>
                                        <p:tav tm="0">
                                          <p:val>
                                            <p:strVal val="#ppt_y+.04"/>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7"/>
                                        </p:tgtEl>
                                        <p:attrNameLst>
                                          <p:attrName>style.visibility</p:attrName>
                                        </p:attrNameLst>
                                      </p:cBhvr>
                                      <p:to>
                                        <p:strVal val="visible"/>
                                      </p:to>
                                    </p:set>
                                    <p:animEffect transition="in" filter="fade">
                                      <p:cBhvr>
                                        <p:cTn id="137" dur="500"/>
                                        <p:tgtEl>
                                          <p:spTgt spid="27"/>
                                        </p:tgtEl>
                                      </p:cBhvr>
                                    </p:animEffect>
                                    <p:anim calcmode="lin" valueType="num">
                                      <p:cBhvr>
                                        <p:cTn id="138" dur="500" decel="100000" fill="hold"/>
                                        <p:tgtEl>
                                          <p:spTgt spid="27"/>
                                        </p:tgtEl>
                                        <p:attrNameLst>
                                          <p:attrName>ppt_x</p:attrName>
                                        </p:attrNameLst>
                                      </p:cBhvr>
                                      <p:tavLst>
                                        <p:tav tm="0">
                                          <p:val>
                                            <p:strVal val="#ppt_x"/>
                                          </p:val>
                                        </p:tav>
                                        <p:tav tm="100000">
                                          <p:val>
                                            <p:strVal val="#ppt_x"/>
                                          </p:val>
                                        </p:tav>
                                      </p:tavLst>
                                    </p:anim>
                                    <p:anim calcmode="lin" valueType="num">
                                      <p:cBhvr>
                                        <p:cTn id="139" dur="500" decel="100000" fill="hold"/>
                                        <p:tgtEl>
                                          <p:spTgt spid="2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2" grpId="0" animBg="1"/>
      <p:bldP spid="14" grpId="0" animBg="1"/>
      <p:bldP spid="16" grpId="0" animBg="1"/>
      <p:bldP spid="18" grpId="0" animBg="1"/>
      <p:bldP spid="20" grpId="0" animBg="1"/>
      <p:bldP spid="22" grpId="0" animBg="1"/>
      <p:bldP spid="24" grpId="0" animBg="1"/>
      <p:bldP spid="25" grpId="0" animBg="1"/>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Limitations and future scope</a:t>
            </a:r>
            <a:endParaRPr lang="en-US" sz="3200" dirty="0"/>
          </a:p>
        </p:txBody>
      </p:sp>
      <p:sp>
        <p:nvSpPr>
          <p:cNvPr id="3" name="a_285"/>
          <p:cNvSpPr/>
          <p:nvPr/>
        </p:nvSpPr>
        <p:spPr>
          <a:xfrm>
            <a:off x="548640" y="1463040"/>
            <a:ext cx="4572000" cy="4023360"/>
          </a:xfrm>
          <a:prstGeom prst="roundRect">
            <a:avLst>
              <a:gd name="adj" fmla="val 2727"/>
            </a:avLst>
          </a:prstGeom>
          <a:solidFill>
            <a:srgbClr val="FFF1DF"/>
          </a:solidFill>
          <a:ln w="9525">
            <a:solidFill>
              <a:srgbClr val="F2CF9B"/>
            </a:solidFill>
            <a:prstDash val="solid"/>
          </a:ln>
          <a:effectLst>
            <a:outerShdw sx="100000" sy="100000" kx="0" ky="0" algn="bl" rotWithShape="0" blurRad="101600" dist="25400" dir="5400000">
              <a:srgbClr val="1E2050">
                <a:alpha val="8000"/>
              </a:srgbClr>
            </a:outerShdw>
          </a:effectLst>
        </p:spPr>
      </p:sp>
      <p:sp>
        <p:nvSpPr>
          <p:cNvPr id="4" name="o_286"/>
          <p:cNvSpPr/>
          <p:nvPr/>
        </p:nvSpPr>
        <p:spPr>
          <a:xfrm>
            <a:off x="868680" y="1737360"/>
            <a:ext cx="594360" cy="594360"/>
          </a:xfrm>
          <a:prstGeom prst="ellipse">
            <a:avLst/>
          </a:prstGeom>
          <a:solidFill>
            <a:schemeClr val="accent5"/>
          </a:solidFill>
          <a:ln/>
        </p:spPr>
      </p:sp>
      <p:pic>
        <p:nvPicPr>
          <p:cNvPr id="5" name="o_287_in" descr="preencoded.png">    </p:cNvPr>
          <p:cNvPicPr>
            <a:picLocks noChangeAspect="1"/>
          </p:cNvPicPr>
          <p:nvPr/>
        </p:nvPicPr>
        <p:blipFill>
          <a:blip r:embed="rId1"/>
          <a:stretch>
            <a:fillRect/>
          </a:stretch>
        </p:blipFill>
        <p:spPr>
          <a:xfrm>
            <a:off x="1011326" y="1880006"/>
            <a:ext cx="309067" cy="309067"/>
          </a:xfrm>
          <a:prstGeom prst="rect">
            <a:avLst/>
          </a:prstGeom>
        </p:spPr>
      </p:pic>
      <p:sp>
        <p:nvSpPr>
          <p:cNvPr id="6" name="o_288"/>
          <p:cNvSpPr txBox="1"/>
          <p:nvPr/>
        </p:nvSpPr>
        <p:spPr>
          <a:xfrm>
            <a:off x="1600200" y="1783080"/>
            <a:ext cx="3383280" cy="502920"/>
          </a:xfrm>
          <a:prstGeom prst="rect">
            <a:avLst/>
          </a:prstGeom>
          <a:noFill/>
          <a:ln/>
        </p:spPr>
        <p:txBody>
          <a:bodyPr wrap="square" lIns="0" tIns="0" rIns="0" bIns="0" rtlCol="0" anchor="ctr"/>
          <a:lstStyle/>
          <a:p>
            <a:pPr indent="0" marL="0">
              <a:buNone/>
            </a:pPr>
            <a:r>
              <a:rPr lang="en-US" sz="1900" b="1" dirty="0">
                <a:solidFill>
                  <a:schemeClr val="tx1"/>
                </a:solidFill>
              </a:rPr>
              <a:t>Current limitations</a:t>
            </a:r>
            <a:endParaRPr lang="en-US" sz="1900" dirty="0"/>
          </a:p>
        </p:txBody>
      </p:sp>
      <p:sp>
        <p:nvSpPr>
          <p:cNvPr id="7" name="o_289"/>
          <p:cNvSpPr txBox="1"/>
          <p:nvPr/>
        </p:nvSpPr>
        <p:spPr>
          <a:xfrm>
            <a:off x="868680" y="2560320"/>
            <a:ext cx="402336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Keys held (encrypted) on the server</a:t>
            </a:r>
            <a:endParaRPr lang="en-US" sz="1600" dirty="0"/>
          </a:p>
          <a:p>
            <a:pPr marL="342900" indent="-342900">
              <a:spcAft>
                <a:spcPts val="1200"/>
              </a:spcAft>
              <a:buSzPct val="100000"/>
              <a:buChar char="•"/>
            </a:pPr>
            <a:r>
              <a:rPr lang="en-US" sz="1600" dirty="0">
                <a:solidFill>
                  <a:schemeClr val="tx1"/>
                </a:solidFill>
              </a:rPr>
              <a:t>SD-JWT-style format, not yet interoperable</a:t>
            </a:r>
            <a:endParaRPr lang="en-US" sz="1600" dirty="0"/>
          </a:p>
          <a:p>
            <a:pPr marL="342900" indent="-342900">
              <a:spcAft>
                <a:spcPts val="1200"/>
              </a:spcAft>
              <a:buSzPct val="100000"/>
              <a:buChar char="•"/>
            </a:pPr>
            <a:r>
              <a:rPr lang="en-US" sz="1600" dirty="0">
                <a:solidFill>
                  <a:schemeClr val="tx1"/>
                </a:solidFill>
              </a:rPr>
              <a:t>Revocation needs an online check</a:t>
            </a:r>
            <a:endParaRPr lang="en-US" sz="1600" dirty="0"/>
          </a:p>
          <a:p>
            <a:pPr marL="342900" indent="-342900">
              <a:spcAft>
                <a:spcPts val="1200"/>
              </a:spcAft>
              <a:buSzPct val="100000"/>
              <a:buChar char="•"/>
            </a:pPr>
            <a:r>
              <a:rPr lang="en-US" sz="1600" dirty="0">
                <a:solidFill>
                  <a:schemeClr val="tx1"/>
                </a:solidFill>
              </a:rPr>
              <a:t>In-memory rate limits (single server)</a:t>
            </a:r>
            <a:endParaRPr lang="en-US" sz="1600" dirty="0"/>
          </a:p>
        </p:txBody>
      </p:sp>
      <p:sp>
        <p:nvSpPr>
          <p:cNvPr id="8" name="a_290"/>
          <p:cNvSpPr/>
          <p:nvPr/>
        </p:nvSpPr>
        <p:spPr>
          <a:xfrm>
            <a:off x="5486400" y="1463040"/>
            <a:ext cx="6153912" cy="4023360"/>
          </a:xfrm>
          <a:prstGeom prst="roundRect">
            <a:avLst>
              <a:gd name="adj" fmla="val 2727"/>
            </a:avLst>
          </a:prstGeom>
          <a:solidFill>
            <a:srgbClr val="ECEBFF"/>
          </a:solidFill>
          <a:ln w="9525">
            <a:solidFill>
              <a:srgbClr val="C9CCFB"/>
            </a:solidFill>
            <a:prstDash val="solid"/>
          </a:ln>
          <a:effectLst>
            <a:outerShdw sx="100000" sy="100000" kx="0" ky="0" algn="bl" rotWithShape="0" blurRad="101600" dist="25400" dir="5400000">
              <a:srgbClr val="1E2050">
                <a:alpha val="8000"/>
              </a:srgbClr>
            </a:outerShdw>
          </a:effectLst>
        </p:spPr>
      </p:sp>
      <p:sp>
        <p:nvSpPr>
          <p:cNvPr id="9" name="o_291"/>
          <p:cNvSpPr/>
          <p:nvPr/>
        </p:nvSpPr>
        <p:spPr>
          <a:xfrm>
            <a:off x="5806440" y="1737360"/>
            <a:ext cx="594360" cy="594360"/>
          </a:xfrm>
          <a:prstGeom prst="ellipse">
            <a:avLst/>
          </a:prstGeom>
          <a:solidFill>
            <a:schemeClr val="accent1"/>
          </a:solidFill>
          <a:ln/>
        </p:spPr>
      </p:sp>
      <p:pic>
        <p:nvPicPr>
          <p:cNvPr id="10" name="o_292_in" descr="preencoded.png">    </p:cNvPr>
          <p:cNvPicPr>
            <a:picLocks noChangeAspect="1"/>
          </p:cNvPicPr>
          <p:nvPr/>
        </p:nvPicPr>
        <p:blipFill>
          <a:blip r:embed="rId2"/>
          <a:stretch>
            <a:fillRect/>
          </a:stretch>
        </p:blipFill>
        <p:spPr>
          <a:xfrm>
            <a:off x="5949086" y="1880006"/>
            <a:ext cx="309067" cy="309067"/>
          </a:xfrm>
          <a:prstGeom prst="rect">
            <a:avLst/>
          </a:prstGeom>
        </p:spPr>
      </p:pic>
      <p:sp>
        <p:nvSpPr>
          <p:cNvPr id="11" name="o_293"/>
          <p:cNvSpPr txBox="1"/>
          <p:nvPr/>
        </p:nvSpPr>
        <p:spPr>
          <a:xfrm>
            <a:off x="6537960" y="1783080"/>
            <a:ext cx="4572000" cy="502920"/>
          </a:xfrm>
          <a:prstGeom prst="rect">
            <a:avLst/>
          </a:prstGeom>
          <a:noFill/>
          <a:ln/>
        </p:spPr>
        <p:txBody>
          <a:bodyPr wrap="square" lIns="0" tIns="0" rIns="0" bIns="0" rtlCol="0" anchor="ctr"/>
          <a:lstStyle/>
          <a:p>
            <a:pPr indent="0" marL="0">
              <a:buNone/>
            </a:pPr>
            <a:r>
              <a:rPr lang="en-US" sz="1900" b="1" dirty="0">
                <a:solidFill>
                  <a:schemeClr val="tx1"/>
                </a:solidFill>
              </a:rPr>
              <a:t>Future scope</a:t>
            </a:r>
            <a:endParaRPr lang="en-US" sz="1900" dirty="0"/>
          </a:p>
        </p:txBody>
      </p:sp>
      <p:sp>
        <p:nvSpPr>
          <p:cNvPr id="12" name="o_294"/>
          <p:cNvSpPr txBox="1"/>
          <p:nvPr/>
        </p:nvSpPr>
        <p:spPr>
          <a:xfrm>
            <a:off x="5806440" y="2560320"/>
            <a:ext cx="55778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Mobile wallet with keys in the phone's secure enclave + biometrics</a:t>
            </a:r>
            <a:endParaRPr lang="en-US" sz="1600" dirty="0"/>
          </a:p>
          <a:p>
            <a:pPr marL="342900" indent="-342900">
              <a:spcAft>
                <a:spcPts val="800"/>
              </a:spcAft>
              <a:buSzPct val="100000"/>
              <a:buChar char="•"/>
            </a:pPr>
            <a:r>
              <a:rPr lang="en-US" sz="1600" dirty="0">
                <a:solidFill>
                  <a:schemeClr val="tx1"/>
                </a:solidFill>
              </a:rPr>
              <a:t>Passkeys (WebAuthn) for passwordless login</a:t>
            </a:r>
            <a:endParaRPr lang="en-US" sz="1600" dirty="0"/>
          </a:p>
          <a:p>
            <a:pPr marL="342900" indent="-342900">
              <a:spcAft>
                <a:spcPts val="800"/>
              </a:spcAft>
              <a:buSzPct val="100000"/>
              <a:buChar char="•"/>
            </a:pPr>
            <a:r>
              <a:rPr lang="en-US" sz="1600" dirty="0">
                <a:solidFill>
                  <a:schemeClr val="tx1"/>
                </a:solidFill>
              </a:rPr>
              <a:t>Standard SD-JWT VC / W3C VC 2.0 and OpenID4VP</a:t>
            </a:r>
            <a:endParaRPr lang="en-US" sz="1600" dirty="0"/>
          </a:p>
          <a:p>
            <a:pPr marL="342900" indent="-342900">
              <a:spcAft>
                <a:spcPts val="800"/>
              </a:spcAft>
              <a:buSzPct val="100000"/>
              <a:buChar char="•"/>
            </a:pPr>
            <a:r>
              <a:rPr lang="en-US" sz="1600" dirty="0">
                <a:solidFill>
                  <a:schemeClr val="tx1"/>
                </a:solidFill>
              </a:rPr>
              <a:t>Privacy-preserving revocation with status lists</a:t>
            </a:r>
            <a:endParaRPr lang="en-US" sz="1600" dirty="0"/>
          </a:p>
          <a:p>
            <a:pPr marL="342900" indent="-342900">
              <a:spcAft>
                <a:spcPts val="800"/>
              </a:spcAft>
              <a:buSzPct val="100000"/>
              <a:buChar char="•"/>
            </a:pPr>
            <a:r>
              <a:rPr lang="en-US" sz="1600" dirty="0">
                <a:solidFill>
                  <a:schemeClr val="tx1"/>
                </a:solidFill>
              </a:rPr>
              <a:t>Zero-knowledge proofs (BBS+) for unlinkable sharing</a:t>
            </a:r>
            <a:endParaRPr lang="en-US" sz="1600" dirty="0"/>
          </a:p>
          <a:p>
            <a:pPr marL="342900" indent="-342900">
              <a:spcAft>
                <a:spcPts val="800"/>
              </a:spcAft>
              <a:buSzPct val="100000"/>
              <a:buChar char="•"/>
            </a:pPr>
            <a:r>
              <a:rPr lang="en-US" sz="1600" dirty="0">
                <a:solidFill>
                  <a:schemeClr val="tx1"/>
                </a:solidFill>
              </a:rPr>
              <a:t>Docker deployment with HTTPS and Redis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47D"/>
                </a:solidFill>
              </a:defRPr>
            </a:lvl1pPr>
          </a:lstStyle>
          <a:p>
            <a:pPr algn="r"/>
            <a:fld id="{F7021451-1387-4CA6-816F-3879F97B5CBC}" type="slidenum">
              <a:rPr b="0" lang="en-US"/>
              <a:t>17</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anim calcmode="lin" valueType="num">
                                      <p:cBhvr>
                                        <p:cTn id="18" dur="500" decel="100000" fill="hold"/>
                                        <p:tgtEl>
                                          <p:spTgt spid="5"/>
                                        </p:tgtEl>
                                        <p:attrNameLst>
                                          <p:attrName>ppt_x</p:attrName>
                                        </p:attrNameLst>
                                      </p:cBhvr>
                                      <p:tavLst>
                                        <p:tav tm="0">
                                          <p:val>
                                            <p:strVal val="#ppt_x"/>
                                          </p:val>
                                        </p:tav>
                                        <p:tav tm="100000">
                                          <p:val>
                                            <p:strVal val="#ppt_x"/>
                                          </p:val>
                                        </p:tav>
                                      </p:tavLst>
                                    </p:anim>
                                    <p:anim calcmode="lin" valueType="num">
                                      <p:cBhvr>
                                        <p:cTn id="19" dur="500" decel="100000" fill="hold"/>
                                        <p:tgtEl>
                                          <p:spTgt spid="5"/>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decel="100000" fill="hold"/>
                                        <p:tgtEl>
                                          <p:spTgt spid="6"/>
                                        </p:tgtEl>
                                        <p:attrNameLst>
                                          <p:attrName>ppt_x</p:attrName>
                                        </p:attrNameLst>
                                      </p:cBhvr>
                                      <p:tavLst>
                                        <p:tav tm="0">
                                          <p:val>
                                            <p:strVal val="#ppt_x"/>
                                          </p:val>
                                        </p:tav>
                                        <p:tav tm="100000">
                                          <p:val>
                                            <p:strVal val="#ppt_x"/>
                                          </p:val>
                                        </p:tav>
                                      </p:tavLst>
                                    </p:anim>
                                    <p:anim calcmode="lin" valueType="num">
                                      <p:cBhvr>
                                        <p:cTn id="24" dur="500" decel="100000" fill="hold"/>
                                        <p:tgtEl>
                                          <p:spTgt spid="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p:cTn id="28" dur="500" decel="100000" fill="hold"/>
                                        <p:tgtEl>
                                          <p:spTgt spid="7"/>
                                        </p:tgtEl>
                                        <p:attrNameLst>
                                          <p:attrName>ppt_x</p:attrName>
                                        </p:attrNameLst>
                                      </p:cBhvr>
                                      <p:tavLst>
                                        <p:tav tm="0">
                                          <p:val>
                                            <p:strVal val="#ppt_x"/>
                                          </p:val>
                                        </p:tav>
                                        <p:tav tm="100000">
                                          <p:val>
                                            <p:strVal val="#ppt_x"/>
                                          </p:val>
                                        </p:tav>
                                      </p:tavLst>
                                    </p:anim>
                                    <p:anim calcmode="lin" valueType="num">
                                      <p:cBhvr>
                                        <p:cTn id="29"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30" fill="hold">
                            <p:stCondLst>
                              <p:cond delay="35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decel="100000" fill="hold"/>
                                        <p:tgtEl>
                                          <p:spTgt spid="8"/>
                                        </p:tgtEl>
                                        <p:attrNameLst>
                                          <p:attrName>ppt_x</p:attrName>
                                        </p:attrNameLst>
                                      </p:cBhvr>
                                      <p:tavLst>
                                        <p:tav tm="0">
                                          <p:val>
                                            <p:strVal val="#ppt_x"/>
                                          </p:val>
                                        </p:tav>
                                        <p:tav tm="100000">
                                          <p:val>
                                            <p:strVal val="#ppt_x"/>
                                          </p:val>
                                        </p:tav>
                                      </p:tavLst>
                                    </p:anim>
                                    <p:anim calcmode="lin" valueType="num">
                                      <p:cBhvr>
                                        <p:cTn id="35" dur="500" decel="100000" fill="hold"/>
                                        <p:tgtEl>
                                          <p:spTgt spid="8"/>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decel="100000" fill="hold"/>
                                        <p:tgtEl>
                                          <p:spTgt spid="9"/>
                                        </p:tgtEl>
                                        <p:attrNameLst>
                                          <p:attrName>ppt_x</p:attrName>
                                        </p:attrNameLst>
                                      </p:cBhvr>
                                      <p:tavLst>
                                        <p:tav tm="0">
                                          <p:val>
                                            <p:strVal val="#ppt_x"/>
                                          </p:val>
                                        </p:tav>
                                        <p:tav tm="100000">
                                          <p:val>
                                            <p:strVal val="#ppt_x"/>
                                          </p:val>
                                        </p:tav>
                                      </p:tavLst>
                                    </p:anim>
                                    <p:anim calcmode="lin" valueType="num">
                                      <p:cBhvr>
                                        <p:cTn id="40" dur="500" decel="100000" fill="hold"/>
                                        <p:tgtEl>
                                          <p:spTgt spid="9"/>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decel="100000" fill="hold"/>
                                        <p:tgtEl>
                                          <p:spTgt spid="10"/>
                                        </p:tgtEl>
                                        <p:attrNameLst>
                                          <p:attrName>ppt_x</p:attrName>
                                        </p:attrNameLst>
                                      </p:cBhvr>
                                      <p:tavLst>
                                        <p:tav tm="0">
                                          <p:val>
                                            <p:strVal val="#ppt_x"/>
                                          </p:val>
                                        </p:tav>
                                        <p:tav tm="100000">
                                          <p:val>
                                            <p:strVal val="#ppt_x"/>
                                          </p:val>
                                        </p:tav>
                                      </p:tavLst>
                                    </p:anim>
                                    <p:anim calcmode="lin" valueType="num">
                                      <p:cBhvr>
                                        <p:cTn id="45" dur="500" decel="100000" fill="hold"/>
                                        <p:tgtEl>
                                          <p:spTgt spid="10"/>
                                        </p:tgtEl>
                                        <p:attrNameLst>
                                          <p:attrName>ppt_y</p:attrName>
                                        </p:attrNameLst>
                                      </p:cBhvr>
                                      <p:tavLst>
                                        <p:tav tm="0">
                                          <p:val>
                                            <p:strVal val="#ppt_y+.04"/>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anim calcmode="lin" valueType="num">
                                      <p:cBhvr>
                                        <p:cTn id="49" dur="500" decel="100000" fill="hold"/>
                                        <p:tgtEl>
                                          <p:spTgt spid="11"/>
                                        </p:tgtEl>
                                        <p:attrNameLst>
                                          <p:attrName>ppt_x</p:attrName>
                                        </p:attrNameLst>
                                      </p:cBhvr>
                                      <p:tavLst>
                                        <p:tav tm="0">
                                          <p:val>
                                            <p:strVal val="#ppt_x"/>
                                          </p:val>
                                        </p:tav>
                                        <p:tav tm="100000">
                                          <p:val>
                                            <p:strVal val="#ppt_x"/>
                                          </p:val>
                                        </p:tav>
                                      </p:tavLst>
                                    </p:anim>
                                    <p:anim calcmode="lin" valueType="num">
                                      <p:cBhvr>
                                        <p:cTn id="50" dur="500" decel="100000" fill="hold"/>
                                        <p:tgtEl>
                                          <p:spTgt spid="11"/>
                                        </p:tgtEl>
                                        <p:attrNameLst>
                                          <p:attrName>ppt_y</p:attrName>
                                        </p:attrNameLst>
                                      </p:cBhvr>
                                      <p:tavLst>
                                        <p:tav tm="0">
                                          <p:val>
                                            <p:strVal val="#ppt_y+.04"/>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decel="100000" fill="hold"/>
                                        <p:tgtEl>
                                          <p:spTgt spid="12"/>
                                        </p:tgtEl>
                                        <p:attrNameLst>
                                          <p:attrName>ppt_x</p:attrName>
                                        </p:attrNameLst>
                                      </p:cBhvr>
                                      <p:tavLst>
                                        <p:tav tm="0">
                                          <p:val>
                                            <p:strVal val="#ppt_x"/>
                                          </p:val>
                                        </p:tav>
                                        <p:tav tm="100000">
                                          <p:val>
                                            <p:strVal val="#ppt_x"/>
                                          </p:val>
                                        </p:tav>
                                      </p:tavLst>
                                    </p:anim>
                                    <p:anim calcmode="lin" valueType="num">
                                      <p:cBhvr>
                                        <p:cTn id="55" dur="500" decel="100000" fill="hold"/>
                                        <p:tgtEl>
                                          <p:spTgt spid="1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_295"/>
          <p:cNvSpPr txBox="1"/>
          <p:nvPr/>
        </p:nvSpPr>
        <p:spPr>
          <a:xfrm>
            <a:off x="731520" y="822960"/>
            <a:ext cx="5486400" cy="365760"/>
          </a:xfrm>
          <a:prstGeom prst="rect">
            <a:avLst/>
          </a:prstGeom>
          <a:noFill/>
          <a:ln/>
        </p:spPr>
        <p:txBody>
          <a:bodyPr wrap="square" lIns="0" tIns="0" rIns="0" bIns="0" rtlCol="0" anchor="t"/>
          <a:lstStyle/>
          <a:p>
            <a:pPr indent="0" marL="0">
              <a:buNone/>
            </a:pPr>
            <a:r>
              <a:rPr lang="en-US" sz="1300" b="1" spc="400" kern="0" dirty="0">
                <a:solidFill>
                  <a:srgbClr val="A5B4FC"/>
                </a:solidFill>
              </a:rPr>
              <a:t>CONCLUSION</a:t>
            </a:r>
            <a:endParaRPr lang="en-US" sz="1300" dirty="0"/>
          </a:p>
        </p:txBody>
      </p:sp>
      <p:sp>
        <p:nvSpPr>
          <p:cNvPr id="3" name="o_296"/>
          <p:cNvSpPr txBox="1"/>
          <p:nvPr/>
        </p:nvSpPr>
        <p:spPr>
          <a:xfrm>
            <a:off x="731520" y="1188720"/>
            <a:ext cx="10058400" cy="822960"/>
          </a:xfrm>
          <a:prstGeom prst="rect">
            <a:avLst/>
          </a:prstGeom>
          <a:noFill/>
          <a:ln/>
        </p:spPr>
        <p:txBody>
          <a:bodyPr wrap="square" lIns="0" tIns="0" rIns="0" bIns="0" rtlCol="0" anchor="t"/>
          <a:lstStyle/>
          <a:p>
            <a:pPr indent="0" marL="0">
              <a:buNone/>
            </a:pPr>
            <a:r>
              <a:rPr lang="en-US" sz="3600" b="1" dirty="0">
                <a:solidFill>
                  <a:srgbClr val="FFFFFF"/>
                </a:solidFill>
              </a:rPr>
              <a:t>Verifiable and private, at the same time</a:t>
            </a:r>
            <a:endParaRPr lang="en-US" sz="3600" dirty="0"/>
          </a:p>
        </p:txBody>
      </p:sp>
      <p:sp>
        <p:nvSpPr>
          <p:cNvPr id="4" name="a_297"/>
          <p:cNvSpPr/>
          <p:nvPr/>
        </p:nvSpPr>
        <p:spPr>
          <a:xfrm>
            <a:off x="731520" y="2423160"/>
            <a:ext cx="3429000" cy="1920240"/>
          </a:xfrm>
          <a:prstGeom prst="roundRect">
            <a:avLst>
              <a:gd name="adj" fmla="val 7143"/>
            </a:avLst>
          </a:prstGeom>
          <a:solidFill>
            <a:srgbClr val="FFFFFF">
              <a:alpha val="10000"/>
            </a:srgbClr>
          </a:solidFill>
          <a:ln w="9525">
            <a:solidFill>
              <a:srgbClr val="6B6FD8"/>
            </a:solidFill>
            <a:prstDash val="solid"/>
          </a:ln>
        </p:spPr>
      </p:sp>
      <p:pic>
        <p:nvPicPr>
          <p:cNvPr id="5" name="o_298" descr="preencoded.png">    </p:cNvPr>
          <p:cNvPicPr>
            <a:picLocks noChangeAspect="1"/>
          </p:cNvPicPr>
          <p:nvPr/>
        </p:nvPicPr>
        <p:blipFill>
          <a:blip r:embed="rId1"/>
          <a:stretch>
            <a:fillRect/>
          </a:stretch>
        </p:blipFill>
        <p:spPr>
          <a:xfrm>
            <a:off x="1005840" y="2651760"/>
            <a:ext cx="502920" cy="502920"/>
          </a:xfrm>
          <a:prstGeom prst="rect">
            <a:avLst/>
          </a:prstGeom>
        </p:spPr>
      </p:pic>
      <p:sp>
        <p:nvSpPr>
          <p:cNvPr id="6" name="o_299"/>
          <p:cNvSpPr txBox="1"/>
          <p:nvPr/>
        </p:nvSpPr>
        <p:spPr>
          <a:xfrm>
            <a:off x="1005840" y="3291840"/>
            <a:ext cx="2926080" cy="411480"/>
          </a:xfrm>
          <a:prstGeom prst="rect">
            <a:avLst/>
          </a:prstGeom>
          <a:noFill/>
          <a:ln/>
        </p:spPr>
        <p:txBody>
          <a:bodyPr wrap="square" lIns="0" tIns="0" rIns="0" bIns="0" rtlCol="0" anchor="t"/>
          <a:lstStyle/>
          <a:p>
            <a:pPr indent="0" marL="0">
              <a:buNone/>
            </a:pPr>
            <a:r>
              <a:rPr lang="en-US" sz="1800" b="1" dirty="0">
                <a:solidFill>
                  <a:srgbClr val="FFFFFF"/>
                </a:solidFill>
              </a:rPr>
              <a:t>Can't be forged</a:t>
            </a:r>
            <a:endParaRPr lang="en-US" sz="1800" dirty="0"/>
          </a:p>
        </p:txBody>
      </p:sp>
      <p:sp>
        <p:nvSpPr>
          <p:cNvPr id="7" name="o_300"/>
          <p:cNvSpPr txBox="1"/>
          <p:nvPr/>
        </p:nvSpPr>
        <p:spPr>
          <a:xfrm>
            <a:off x="1005840" y="3703320"/>
            <a:ext cx="2926080" cy="548640"/>
          </a:xfrm>
          <a:prstGeom prst="rect">
            <a:avLst/>
          </a:prstGeom>
          <a:noFill/>
          <a:ln/>
        </p:spPr>
        <p:txBody>
          <a:bodyPr wrap="square" lIns="0" tIns="0" rIns="0" bIns="0" rtlCol="0" anchor="t"/>
          <a:lstStyle/>
          <a:p>
            <a:pPr indent="0" marL="0">
              <a:buNone/>
            </a:pPr>
            <a:r>
              <a:rPr lang="en-US" sz="1400" dirty="0">
                <a:solidFill>
                  <a:srgbClr val="C9CBF2"/>
                </a:solidFill>
              </a:rPr>
              <a:t>Issuer signatures + trust registry</a:t>
            </a:r>
            <a:endParaRPr lang="en-US" sz="1400" dirty="0"/>
          </a:p>
        </p:txBody>
      </p:sp>
      <p:sp>
        <p:nvSpPr>
          <p:cNvPr id="8" name="a_301"/>
          <p:cNvSpPr/>
          <p:nvPr/>
        </p:nvSpPr>
        <p:spPr>
          <a:xfrm>
            <a:off x="4434840" y="2423160"/>
            <a:ext cx="3429000" cy="1920240"/>
          </a:xfrm>
          <a:prstGeom prst="roundRect">
            <a:avLst>
              <a:gd name="adj" fmla="val 7143"/>
            </a:avLst>
          </a:prstGeom>
          <a:solidFill>
            <a:srgbClr val="FFFFFF">
              <a:alpha val="10000"/>
            </a:srgbClr>
          </a:solidFill>
          <a:ln w="9525">
            <a:solidFill>
              <a:srgbClr val="6B6FD8"/>
            </a:solidFill>
            <a:prstDash val="solid"/>
          </a:ln>
        </p:spPr>
      </p:sp>
      <p:pic>
        <p:nvPicPr>
          <p:cNvPr id="9" name="o_302" descr="preencoded.png">    </p:cNvPr>
          <p:cNvPicPr>
            <a:picLocks noChangeAspect="1"/>
          </p:cNvPicPr>
          <p:nvPr/>
        </p:nvPicPr>
        <p:blipFill>
          <a:blip r:embed="rId2"/>
          <a:stretch>
            <a:fillRect/>
          </a:stretch>
        </p:blipFill>
        <p:spPr>
          <a:xfrm>
            <a:off x="4709160" y="2651760"/>
            <a:ext cx="502920" cy="502920"/>
          </a:xfrm>
          <a:prstGeom prst="rect">
            <a:avLst/>
          </a:prstGeom>
        </p:spPr>
      </p:pic>
      <p:sp>
        <p:nvSpPr>
          <p:cNvPr id="10" name="o_303"/>
          <p:cNvSpPr txBox="1"/>
          <p:nvPr/>
        </p:nvSpPr>
        <p:spPr>
          <a:xfrm>
            <a:off x="4709160" y="3291840"/>
            <a:ext cx="2926080" cy="411480"/>
          </a:xfrm>
          <a:prstGeom prst="rect">
            <a:avLst/>
          </a:prstGeom>
          <a:noFill/>
          <a:ln/>
        </p:spPr>
        <p:txBody>
          <a:bodyPr wrap="square" lIns="0" tIns="0" rIns="0" bIns="0" rtlCol="0" anchor="t"/>
          <a:lstStyle/>
          <a:p>
            <a:pPr indent="0" marL="0">
              <a:buNone/>
            </a:pPr>
            <a:r>
              <a:rPr lang="en-US" sz="1800" b="1" dirty="0">
                <a:solidFill>
                  <a:srgbClr val="FFFFFF"/>
                </a:solidFill>
              </a:rPr>
              <a:t>Shares only what's needed</a:t>
            </a:r>
            <a:endParaRPr lang="en-US" sz="1800" dirty="0"/>
          </a:p>
        </p:txBody>
      </p:sp>
      <p:sp>
        <p:nvSpPr>
          <p:cNvPr id="11" name="o_304"/>
          <p:cNvSpPr txBox="1"/>
          <p:nvPr/>
        </p:nvSpPr>
        <p:spPr>
          <a:xfrm>
            <a:off x="4709160" y="3703320"/>
            <a:ext cx="2926080" cy="548640"/>
          </a:xfrm>
          <a:prstGeom prst="rect">
            <a:avLst/>
          </a:prstGeom>
          <a:noFill/>
          <a:ln/>
        </p:spPr>
        <p:txBody>
          <a:bodyPr wrap="square" lIns="0" tIns="0" rIns="0" bIns="0" rtlCol="0" anchor="t"/>
          <a:lstStyle/>
          <a:p>
            <a:pPr indent="0" marL="0">
              <a:buNone/>
            </a:pPr>
            <a:r>
              <a:rPr lang="en-US" sz="1400" dirty="0">
                <a:solidFill>
                  <a:srgbClr val="C9CBF2"/>
                </a:solidFill>
              </a:rPr>
              <a:t>Selective disclosure and derived claims</a:t>
            </a:r>
            <a:endParaRPr lang="en-US" sz="1400" dirty="0"/>
          </a:p>
        </p:txBody>
      </p:sp>
      <p:sp>
        <p:nvSpPr>
          <p:cNvPr id="12" name="a_305"/>
          <p:cNvSpPr/>
          <p:nvPr/>
        </p:nvSpPr>
        <p:spPr>
          <a:xfrm>
            <a:off x="8138160" y="2423160"/>
            <a:ext cx="3429000" cy="1920240"/>
          </a:xfrm>
          <a:prstGeom prst="roundRect">
            <a:avLst>
              <a:gd name="adj" fmla="val 7143"/>
            </a:avLst>
          </a:prstGeom>
          <a:solidFill>
            <a:srgbClr val="FFFFFF">
              <a:alpha val="10000"/>
            </a:srgbClr>
          </a:solidFill>
          <a:ln w="9525">
            <a:solidFill>
              <a:srgbClr val="6B6FD8"/>
            </a:solidFill>
            <a:prstDash val="solid"/>
          </a:ln>
        </p:spPr>
      </p:sp>
      <p:pic>
        <p:nvPicPr>
          <p:cNvPr id="13" name="o_306" descr="preencoded.png">    </p:cNvPr>
          <p:cNvPicPr>
            <a:picLocks noChangeAspect="1"/>
          </p:cNvPicPr>
          <p:nvPr/>
        </p:nvPicPr>
        <p:blipFill>
          <a:blip r:embed="rId3"/>
          <a:stretch>
            <a:fillRect/>
          </a:stretch>
        </p:blipFill>
        <p:spPr>
          <a:xfrm>
            <a:off x="8412480" y="2651760"/>
            <a:ext cx="502920" cy="502920"/>
          </a:xfrm>
          <a:prstGeom prst="rect">
            <a:avLst/>
          </a:prstGeom>
        </p:spPr>
      </p:pic>
      <p:sp>
        <p:nvSpPr>
          <p:cNvPr id="14" name="o_307"/>
          <p:cNvSpPr txBox="1"/>
          <p:nvPr/>
        </p:nvSpPr>
        <p:spPr>
          <a:xfrm>
            <a:off x="8412480" y="3291840"/>
            <a:ext cx="2926080" cy="411480"/>
          </a:xfrm>
          <a:prstGeom prst="rect">
            <a:avLst/>
          </a:prstGeom>
          <a:noFill/>
          <a:ln/>
        </p:spPr>
        <p:txBody>
          <a:bodyPr wrap="square" lIns="0" tIns="0" rIns="0" bIns="0" rtlCol="0" anchor="t"/>
          <a:lstStyle/>
          <a:p>
            <a:pPr indent="0" marL="0">
              <a:buNone/>
            </a:pPr>
            <a:r>
              <a:rPr lang="en-US" sz="1800" b="1" dirty="0">
                <a:solidFill>
                  <a:srgbClr val="FFFFFF"/>
                </a:solidFill>
              </a:rPr>
              <a:t>Owner stays in control</a:t>
            </a:r>
            <a:endParaRPr lang="en-US" sz="1800" dirty="0"/>
          </a:p>
        </p:txBody>
      </p:sp>
      <p:sp>
        <p:nvSpPr>
          <p:cNvPr id="15" name="o_308"/>
          <p:cNvSpPr txBox="1"/>
          <p:nvPr/>
        </p:nvSpPr>
        <p:spPr>
          <a:xfrm>
            <a:off x="8412480" y="3703320"/>
            <a:ext cx="2926080" cy="548640"/>
          </a:xfrm>
          <a:prstGeom prst="rect">
            <a:avLst/>
          </a:prstGeom>
          <a:noFill/>
          <a:ln/>
        </p:spPr>
        <p:txBody>
          <a:bodyPr wrap="square" lIns="0" tIns="0" rIns="0" bIns="0" rtlCol="0" anchor="t"/>
          <a:lstStyle/>
          <a:p>
            <a:pPr indent="0" marL="0">
              <a:buNone/>
            </a:pPr>
            <a:r>
              <a:rPr lang="en-US" sz="1400" dirty="0">
                <a:solidFill>
                  <a:srgbClr val="C9CBF2"/>
                </a:solidFill>
              </a:rPr>
              <a:t>Consent, expiry, view limits, access log</a:t>
            </a:r>
            <a:endParaRPr lang="en-US" sz="1400" dirty="0"/>
          </a:p>
        </p:txBody>
      </p:sp>
      <p:sp>
        <p:nvSpPr>
          <p:cNvPr id="16" name="a_309"/>
          <p:cNvSpPr txBox="1"/>
          <p:nvPr/>
        </p:nvSpPr>
        <p:spPr>
          <a:xfrm>
            <a:off x="731520" y="4846320"/>
            <a:ext cx="5486400" cy="822960"/>
          </a:xfrm>
          <a:prstGeom prst="rect">
            <a:avLst/>
          </a:prstGeom>
          <a:noFill/>
          <a:ln/>
        </p:spPr>
        <p:txBody>
          <a:bodyPr wrap="square" lIns="0" tIns="0" rIns="0" bIns="0" rtlCol="0" anchor="t"/>
          <a:lstStyle/>
          <a:p>
            <a:pPr indent="0" marL="0">
              <a:buNone/>
            </a:pPr>
            <a:r>
              <a:rPr lang="en-US" sz="4400" b="1" dirty="0">
                <a:solidFill>
                  <a:srgbClr val="FFFFFF"/>
                </a:solidFill>
              </a:rPr>
              <a:t>Thank you</a:t>
            </a:r>
            <a:endParaRPr lang="en-US" sz="4400" dirty="0"/>
          </a:p>
        </p:txBody>
      </p:sp>
      <p:sp>
        <p:nvSpPr>
          <p:cNvPr id="17" name="a_310"/>
          <p:cNvSpPr txBox="1"/>
          <p:nvPr/>
        </p:nvSpPr>
        <p:spPr>
          <a:xfrm>
            <a:off x="731520" y="5669280"/>
            <a:ext cx="8229600" cy="411480"/>
          </a:xfrm>
          <a:prstGeom prst="rect">
            <a:avLst/>
          </a:prstGeom>
          <a:noFill/>
          <a:ln/>
        </p:spPr>
        <p:txBody>
          <a:bodyPr wrap="square" lIns="0" tIns="0" rIns="0" bIns="0" rtlCol="0" anchor="t"/>
          <a:lstStyle/>
          <a:p>
            <a:pPr indent="0" marL="0">
              <a:buNone/>
            </a:pPr>
            <a:r>
              <a:rPr lang="en-US" sz="1600" dirty="0">
                <a:solidFill>
                  <a:srgbClr val="C9CBF2"/>
                </a:solidFill>
              </a:rPr>
              <a:t>Questions?  ·  Cecil Baraik  ·  2025-BSCIT/004A</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decel="100000" fill="hold"/>
                                        <p:tgtEl>
                                          <p:spTgt spid="5"/>
                                        </p:tgtEl>
                                        <p:attrNameLst>
                                          <p:attrName>ppt_x</p:attrName>
                                        </p:attrNameLst>
                                      </p:cBhvr>
                                      <p:tavLst>
                                        <p:tav tm="0">
                                          <p:val>
                                            <p:strVal val="#ppt_x"/>
                                          </p:val>
                                        </p:tav>
                                        <p:tav tm="100000">
                                          <p:val>
                                            <p:strVal val="#ppt_x"/>
                                          </p:val>
                                        </p:tav>
                                      </p:tavLst>
                                    </p:anim>
                                    <p:anim calcmode="lin" valueType="num">
                                      <p:cBhvr>
                                        <p:cTn id="14" dur="500" decel="100000" fill="hold"/>
                                        <p:tgtEl>
                                          <p:spTgt spid="5"/>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decel="100000" fill="hold"/>
                                        <p:tgtEl>
                                          <p:spTgt spid="6"/>
                                        </p:tgtEl>
                                        <p:attrNameLst>
                                          <p:attrName>ppt_x</p:attrName>
                                        </p:attrNameLst>
                                      </p:cBhvr>
                                      <p:tavLst>
                                        <p:tav tm="0">
                                          <p:val>
                                            <p:strVal val="#ppt_x"/>
                                          </p:val>
                                        </p:tav>
                                        <p:tav tm="100000">
                                          <p:val>
                                            <p:strVal val="#ppt_x"/>
                                          </p:val>
                                        </p:tav>
                                      </p:tavLst>
                                    </p:anim>
                                    <p:anim calcmode="lin" valueType="num">
                                      <p:cBhvr>
                                        <p:cTn id="19" dur="500" decel="100000" fill="hold"/>
                                        <p:tgtEl>
                                          <p:spTgt spid="6"/>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decel="100000" fill="hold"/>
                                        <p:tgtEl>
                                          <p:spTgt spid="7"/>
                                        </p:tgtEl>
                                        <p:attrNameLst>
                                          <p:attrName>ppt_x</p:attrName>
                                        </p:attrNameLst>
                                      </p:cBhvr>
                                      <p:tavLst>
                                        <p:tav tm="0">
                                          <p:val>
                                            <p:strVal val="#ppt_x"/>
                                          </p:val>
                                        </p:tav>
                                        <p:tav tm="100000">
                                          <p:val>
                                            <p:strVal val="#ppt_x"/>
                                          </p:val>
                                        </p:tav>
                                      </p:tavLst>
                                    </p:anim>
                                    <p:anim calcmode="lin" valueType="num">
                                      <p:cBhvr>
                                        <p:cTn id="24" dur="500" decel="100000" fill="hold"/>
                                        <p:tgtEl>
                                          <p:spTgt spid="7"/>
                                        </p:tgtEl>
                                        <p:attrNameLst>
                                          <p:attrName>ppt_y</p:attrName>
                                        </p:attrNameLst>
                                      </p:cBhvr>
                                      <p:tavLst>
                                        <p:tav tm="0">
                                          <p:val>
                                            <p:strVal val="#ppt_y+.04"/>
                                          </p:val>
                                        </p:tav>
                                        <p:tav tm="100000">
                                          <p:val>
                                            <p:strVal val="#ppt_y"/>
                                          </p:val>
                                        </p:tav>
                                      </p:tavLst>
                                    </p:anim>
                                  </p:childTnLst>
                                </p:cTn>
                              </p:par>
                            </p:childTnLst>
                          </p:cTn>
                        </p:par>
                        <p:par>
                          <p:cTn id="25" fill="hold">
                            <p:stCondLst>
                              <p:cond delay="350"/>
                            </p:stCondLst>
                            <p:childTnLst>
                              <p:par>
                                <p:cTn id="26" presetID="42"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decel="100000" fill="hold"/>
                                        <p:tgtEl>
                                          <p:spTgt spid="8"/>
                                        </p:tgtEl>
                                        <p:attrNameLst>
                                          <p:attrName>ppt_x</p:attrName>
                                        </p:attrNameLst>
                                      </p:cBhvr>
                                      <p:tavLst>
                                        <p:tav tm="0">
                                          <p:val>
                                            <p:strVal val="#ppt_x"/>
                                          </p:val>
                                        </p:tav>
                                        <p:tav tm="100000">
                                          <p:val>
                                            <p:strVal val="#ppt_x"/>
                                          </p:val>
                                        </p:tav>
                                      </p:tavLst>
                                    </p:anim>
                                    <p:anim calcmode="lin" valueType="num">
                                      <p:cBhvr>
                                        <p:cTn id="30" dur="500" decel="100000" fill="hold"/>
                                        <p:tgtEl>
                                          <p:spTgt spid="8"/>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decel="100000" fill="hold"/>
                                        <p:tgtEl>
                                          <p:spTgt spid="9"/>
                                        </p:tgtEl>
                                        <p:attrNameLst>
                                          <p:attrName>ppt_x</p:attrName>
                                        </p:attrNameLst>
                                      </p:cBhvr>
                                      <p:tavLst>
                                        <p:tav tm="0">
                                          <p:val>
                                            <p:strVal val="#ppt_x"/>
                                          </p:val>
                                        </p:tav>
                                        <p:tav tm="100000">
                                          <p:val>
                                            <p:strVal val="#ppt_x"/>
                                          </p:val>
                                        </p:tav>
                                      </p:tavLst>
                                    </p:anim>
                                    <p:anim calcmode="lin" valueType="num">
                                      <p:cBhvr>
                                        <p:cTn id="35" dur="500" decel="100000" fill="hold"/>
                                        <p:tgtEl>
                                          <p:spTgt spid="9"/>
                                        </p:tgtEl>
                                        <p:attrNameLst>
                                          <p:attrName>ppt_y</p:attrName>
                                        </p:attrNameLst>
                                      </p:cBhvr>
                                      <p:tavLst>
                                        <p:tav tm="0">
                                          <p:val>
                                            <p:strVal val="#ppt_y+.04"/>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anim calcmode="lin" valueType="num">
                                      <p:cBhvr>
                                        <p:cTn id="39" dur="500" decel="100000" fill="hold"/>
                                        <p:tgtEl>
                                          <p:spTgt spid="10"/>
                                        </p:tgtEl>
                                        <p:attrNameLst>
                                          <p:attrName>ppt_x</p:attrName>
                                        </p:attrNameLst>
                                      </p:cBhvr>
                                      <p:tavLst>
                                        <p:tav tm="0">
                                          <p:val>
                                            <p:strVal val="#ppt_x"/>
                                          </p:val>
                                        </p:tav>
                                        <p:tav tm="100000">
                                          <p:val>
                                            <p:strVal val="#ppt_x"/>
                                          </p:val>
                                        </p:tav>
                                      </p:tavLst>
                                    </p:anim>
                                    <p:anim calcmode="lin" valueType="num">
                                      <p:cBhvr>
                                        <p:cTn id="40" dur="500" decel="100000" fill="hold"/>
                                        <p:tgtEl>
                                          <p:spTgt spid="10"/>
                                        </p:tgtEl>
                                        <p:attrNameLst>
                                          <p:attrName>ppt_y</p:attrName>
                                        </p:attrNameLst>
                                      </p:cBhvr>
                                      <p:tavLst>
                                        <p:tav tm="0">
                                          <p:val>
                                            <p:strVal val="#ppt_y+.04"/>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p:cTn id="44" dur="500" decel="100000" fill="hold"/>
                                        <p:tgtEl>
                                          <p:spTgt spid="11"/>
                                        </p:tgtEl>
                                        <p:attrNameLst>
                                          <p:attrName>ppt_x</p:attrName>
                                        </p:attrNameLst>
                                      </p:cBhvr>
                                      <p:tavLst>
                                        <p:tav tm="0">
                                          <p:val>
                                            <p:strVal val="#ppt_x"/>
                                          </p:val>
                                        </p:tav>
                                        <p:tav tm="100000">
                                          <p:val>
                                            <p:strVal val="#ppt_x"/>
                                          </p:val>
                                        </p:tav>
                                      </p:tavLst>
                                    </p:anim>
                                    <p:anim calcmode="lin" valueType="num">
                                      <p:cBhvr>
                                        <p:cTn id="45" dur="500" decel="100000" fill="hold"/>
                                        <p:tgtEl>
                                          <p:spTgt spid="11"/>
                                        </p:tgtEl>
                                        <p:attrNameLst>
                                          <p:attrName>ppt_y</p:attrName>
                                        </p:attrNameLst>
                                      </p:cBhvr>
                                      <p:tavLst>
                                        <p:tav tm="0">
                                          <p:val>
                                            <p:strVal val="#ppt_y+.04"/>
                                          </p:val>
                                        </p:tav>
                                        <p:tav tm="100000">
                                          <p:val>
                                            <p:strVal val="#ppt_y"/>
                                          </p:val>
                                        </p:tav>
                                      </p:tavLst>
                                    </p:anim>
                                  </p:childTnLst>
                                </p:cTn>
                              </p:par>
                            </p:childTnLst>
                          </p:cTn>
                        </p:par>
                        <p:par>
                          <p:cTn id="46" fill="hold">
                            <p:stCondLst>
                              <p:cond delay="700"/>
                            </p:stCondLst>
                            <p:childTnLst>
                              <p:par>
                                <p:cTn id="47" presetID="42" presetClass="entr" presetSubtype="0"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anim calcmode="lin" valueType="num">
                                      <p:cBhvr>
                                        <p:cTn id="50" dur="500" decel="100000" fill="hold"/>
                                        <p:tgtEl>
                                          <p:spTgt spid="12"/>
                                        </p:tgtEl>
                                        <p:attrNameLst>
                                          <p:attrName>ppt_x</p:attrName>
                                        </p:attrNameLst>
                                      </p:cBhvr>
                                      <p:tavLst>
                                        <p:tav tm="0">
                                          <p:val>
                                            <p:strVal val="#ppt_x"/>
                                          </p:val>
                                        </p:tav>
                                        <p:tav tm="100000">
                                          <p:val>
                                            <p:strVal val="#ppt_x"/>
                                          </p:val>
                                        </p:tav>
                                      </p:tavLst>
                                    </p:anim>
                                    <p:anim calcmode="lin" valueType="num">
                                      <p:cBhvr>
                                        <p:cTn id="51" dur="500" decel="100000" fill="hold"/>
                                        <p:tgtEl>
                                          <p:spTgt spid="12"/>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anim calcmode="lin" valueType="num">
                                      <p:cBhvr>
                                        <p:cTn id="55" dur="500" decel="100000" fill="hold"/>
                                        <p:tgtEl>
                                          <p:spTgt spid="13"/>
                                        </p:tgtEl>
                                        <p:attrNameLst>
                                          <p:attrName>ppt_x</p:attrName>
                                        </p:attrNameLst>
                                      </p:cBhvr>
                                      <p:tavLst>
                                        <p:tav tm="0">
                                          <p:val>
                                            <p:strVal val="#ppt_x"/>
                                          </p:val>
                                        </p:tav>
                                        <p:tav tm="100000">
                                          <p:val>
                                            <p:strVal val="#ppt_x"/>
                                          </p:val>
                                        </p:tav>
                                      </p:tavLst>
                                    </p:anim>
                                    <p:anim calcmode="lin" valueType="num">
                                      <p:cBhvr>
                                        <p:cTn id="56" dur="500" decel="100000" fill="hold"/>
                                        <p:tgtEl>
                                          <p:spTgt spid="13"/>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anim calcmode="lin" valueType="num">
                                      <p:cBhvr>
                                        <p:cTn id="60" dur="500" decel="100000" fill="hold"/>
                                        <p:tgtEl>
                                          <p:spTgt spid="14"/>
                                        </p:tgtEl>
                                        <p:attrNameLst>
                                          <p:attrName>ppt_x</p:attrName>
                                        </p:attrNameLst>
                                      </p:cBhvr>
                                      <p:tavLst>
                                        <p:tav tm="0">
                                          <p:val>
                                            <p:strVal val="#ppt_x"/>
                                          </p:val>
                                        </p:tav>
                                        <p:tav tm="100000">
                                          <p:val>
                                            <p:strVal val="#ppt_x"/>
                                          </p:val>
                                        </p:tav>
                                      </p:tavLst>
                                    </p:anim>
                                    <p:anim calcmode="lin" valueType="num">
                                      <p:cBhvr>
                                        <p:cTn id="61" dur="500" decel="100000" fill="hold"/>
                                        <p:tgtEl>
                                          <p:spTgt spid="14"/>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anim calcmode="lin" valueType="num">
                                      <p:cBhvr>
                                        <p:cTn id="65" dur="500" decel="100000" fill="hold"/>
                                        <p:tgtEl>
                                          <p:spTgt spid="15"/>
                                        </p:tgtEl>
                                        <p:attrNameLst>
                                          <p:attrName>ppt_x</p:attrName>
                                        </p:attrNameLst>
                                      </p:cBhvr>
                                      <p:tavLst>
                                        <p:tav tm="0">
                                          <p:val>
                                            <p:strVal val="#ppt_x"/>
                                          </p:val>
                                        </p:tav>
                                        <p:tav tm="100000">
                                          <p:val>
                                            <p:strVal val="#ppt_x"/>
                                          </p:val>
                                        </p:tav>
                                      </p:tavLst>
                                    </p:anim>
                                    <p:anim calcmode="lin" valueType="num">
                                      <p:cBhvr>
                                        <p:cTn id="66" dur="500" decel="100000" fill="hold"/>
                                        <p:tgtEl>
                                          <p:spTgt spid="15"/>
                                        </p:tgtEl>
                                        <p:attrNameLst>
                                          <p:attrName>ppt_y</p:attrName>
                                        </p:attrNameLst>
                                      </p:cBhvr>
                                      <p:tavLst>
                                        <p:tav tm="0">
                                          <p:val>
                                            <p:strVal val="#ppt_y+.04"/>
                                          </p:val>
                                        </p:tav>
                                        <p:tav tm="100000">
                                          <p:val>
                                            <p:strVal val="#ppt_y"/>
                                          </p:val>
                                        </p:tav>
                                      </p:tavLst>
                                    </p:anim>
                                  </p:childTnLst>
                                </p:cTn>
                              </p:par>
                            </p:childTnLst>
                          </p:cTn>
                        </p:par>
                        <p:par>
                          <p:cTn id="67" fill="hold">
                            <p:stCondLst>
                              <p:cond delay="1050"/>
                            </p:stCondLst>
                            <p:childTnLst>
                              <p:par>
                                <p:cTn id="68" presetID="42" presetClass="entr" presetSubtype="0" fill="hold" grpId="0" nodeType="after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decel="100000" fill="hold"/>
                                        <p:tgtEl>
                                          <p:spTgt spid="16"/>
                                        </p:tgtEl>
                                        <p:attrNameLst>
                                          <p:attrName>ppt_x</p:attrName>
                                        </p:attrNameLst>
                                      </p:cBhvr>
                                      <p:tavLst>
                                        <p:tav tm="0">
                                          <p:val>
                                            <p:strVal val="#ppt_x"/>
                                          </p:val>
                                        </p:tav>
                                        <p:tav tm="100000">
                                          <p:val>
                                            <p:strVal val="#ppt_x"/>
                                          </p:val>
                                        </p:tav>
                                      </p:tavLst>
                                    </p:anim>
                                    <p:anim calcmode="lin" valueType="num">
                                      <p:cBhvr>
                                        <p:cTn id="72" dur="500" decel="100000" fill="hold"/>
                                        <p:tgtEl>
                                          <p:spTgt spid="16"/>
                                        </p:tgtEl>
                                        <p:attrNameLst>
                                          <p:attrName>ppt_y</p:attrName>
                                        </p:attrNameLst>
                                      </p:cBhvr>
                                      <p:tavLst>
                                        <p:tav tm="0">
                                          <p:val>
                                            <p:strVal val="#ppt_y+.04"/>
                                          </p:val>
                                        </p:tav>
                                        <p:tav tm="100000">
                                          <p:val>
                                            <p:strVal val="#ppt_y"/>
                                          </p:val>
                                        </p:tav>
                                      </p:tavLst>
                                    </p:anim>
                                  </p:childTnLst>
                                </p:cTn>
                              </p:par>
                            </p:childTnLst>
                          </p:cTn>
                        </p:par>
                        <p:par>
                          <p:cTn id="73" fill="hold">
                            <p:stCondLst>
                              <p:cond delay="1400"/>
                            </p:stCondLst>
                            <p:childTnLst>
                              <p:par>
                                <p:cTn id="74" presetID="42" presetClass="entr" presetSubtype="0" fill="hold" grpId="0" nodeType="after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anim calcmode="lin" valueType="num">
                                      <p:cBhvr>
                                        <p:cTn id="77" dur="500" decel="100000" fill="hold"/>
                                        <p:tgtEl>
                                          <p:spTgt spid="17"/>
                                        </p:tgtEl>
                                        <p:attrNameLst>
                                          <p:attrName>ppt_x</p:attrName>
                                        </p:attrNameLst>
                                      </p:cBhvr>
                                      <p:tavLst>
                                        <p:tav tm="0">
                                          <p:val>
                                            <p:strVal val="#ppt_x"/>
                                          </p:val>
                                        </p:tav>
                                        <p:tav tm="100000">
                                          <p:val>
                                            <p:strVal val="#ppt_x"/>
                                          </p:val>
                                        </p:tav>
                                      </p:tavLst>
                                    </p:anim>
                                    <p:anim calcmode="lin" valueType="num">
                                      <p:cBhvr>
                                        <p:cTn id="78" dur="500" decel="100000" fill="hold"/>
                                        <p:tgtEl>
                                          <p:spTgt spid="1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7" grpId="0" animBg="1"/>
    </p:bldLst>
  </p:timing>
</p:sld>
</file>

<file path=ppt/theme/theme1.xml><?xml version="1.0" encoding="utf-8"?>
<a:theme xmlns:a="http://schemas.openxmlformats.org/drawingml/2006/main" name="IdentityWallet">
  <a:themeElements>
    <a:clrScheme name="IdentityWallet">
      <a:dk1>
        <a:srgbClr val="161A2B"/>
      </a:dk1>
      <a:lt1>
        <a:srgbClr val="FFFFFF"/>
      </a:lt1>
      <a:dk2>
        <a:srgbClr val="12133A"/>
      </a:dk2>
      <a:lt2>
        <a:srgbClr val="F3F4FA"/>
      </a:lt2>
      <a:accent1>
        <a:srgbClr val="5B5BF6"/>
      </a:accent1>
      <a:accent2>
        <a:srgbClr val="7C4DFF"/>
      </a:accent2>
      <a:accent3>
        <a:srgbClr val="0E7490"/>
      </a:accent3>
      <a:accent4>
        <a:srgbClr val="10915D"/>
      </a:accent4>
      <a:accent5>
        <a:srgbClr val="B45309"/>
      </a:accent5>
      <a:accent6>
        <a:srgbClr val="C62A43"/>
      </a:accent6>
      <a:hlink>
        <a:srgbClr val="5B5BF6"/>
      </a:hlink>
      <a:folHlink>
        <a:srgbClr val="7C4DFF"/>
      </a:folHlink>
    </a:clrScheme>
    <a:fontScheme name="IdentityWall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Amity University Jharkhand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Identity Wallet</dc:title>
  <dc:subject>PptxGenJS Presentation</dc:subject>
  <dc:creator>Cecil Baraik</dc:creator>
  <cp:lastModifiedBy>Cecil Baraik</cp:lastModifiedBy>
  <cp:revision>1</cp:revision>
  <dcterms:created xsi:type="dcterms:W3CDTF">2026-10-04T12:26:33Z</dcterms:created>
  <dcterms:modified xsi:type="dcterms:W3CDTF">2026-10-04T12:26:33Z</dcterms:modified>
</cp:coreProperties>
</file>