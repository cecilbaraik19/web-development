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27f1fe8-59bf-53dd-3fbe-dec0e03d1a44}">
          <p14:sldIdLst>
            <p14:sldId id="256"/>
            <p14:sldId id="257"/>
            <p14:sldId id="258"/>
          </p14:sldIdLst>
        </p14:section>
        <p14:section name="How it works" id="{f63c8f11-d94b-88bb-56c7-03ed3c4ef42f}">
          <p14:sldIdLst>
            <p14:sldId id="259"/>
            <p14:sldId id="260"/>
            <p14:sldId id="261"/>
            <p14:sldId id="262"/>
          </p14:sldIdLst>
        </p14:section>
        <p14:section name="System" id="{233f816c-c738-d1b8-ef40-36191e68ac02}">
          <p14:sldIdLst>
            <p14:sldId id="263"/>
            <p14:sldId id="264"/>
            <p14:sldId id="265"/>
          </p14:sldIdLst>
        </p14:section>
        <p14:section name="Results" id="{dd61c61a-d116-b7d7-268d-fe94e8bea09f}">
          <p14:sldIdLst>
            <p14:sldId id="266"/>
            <p14:sldId id="267"/>
            <p14:sldId id="268"/>
          </p14:sldIdLst>
        </p14:section>
        <p14:section name="Conclusion" id="{3fbba3e9-396a-b23d-56e3-ef0e06563e5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My project is CredentialChain, a blockchain-based system that lets colleges issue digital certificates that anyone can verify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 certificates are common. Verifying them is slow, and even the college database can be changed by an insider. Our goal is instant, tamper-evident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idea: the college stores a SHA-256 fingerprint of each certificate on a blockchain. To verify, we recompute the fingerprint and compare. Three people use the system: college, student and employer.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The key point: only the hash goes on the chain, so no personal data is ever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block is linked to the one before by its hash. If anyone changes an old block, its hash changes and every link after it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building blocks: SHA-256 for fingerprints, ECDSA signatures to prove which college issued it, proof-of-work and Merkle trees to protect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runs six independent checks. All six must pass for VALID. The result can also be PENDING, REVOKED or INVALID.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tiers: a React frontend, a Spring Boot REST API with auth, credential, blockchain and crypto modules, and an H2 or MySQL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issue and verify: PDF certificates with QR codes, bulk upload from Excel, revocation, a live dashboard, and phone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is protected with salted PBKDF2 hashes, signed JWT tokens, roles and lockout. The MySQL user can only access its own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attacked my own system three ways: editing the downloaded file, editing the database, and editing a mined block. All three were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dashboard and a PDF certificate. Now I will show a short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twenty test cases passed, including the security tests for roles, lockout and forged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limitations: it is a single node and keys are server-side for the demo. Next steps are multiple nodes and real wallets.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CredentialChain makes certificates verifiable in seconds and tamper-evident. Thank you,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CredentialChain · Cecil Baraik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CredentialChain</a:t>
            </a:r>
            <a:endParaRPr lang="en-US" sz="4800" dirty="0"/>
          </a:p>
        </p:txBody>
      </p:sp>
      <p:sp>
        <p:nvSpPr>
          <p:cNvPr id="4" name="a2_sub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Academic Credential System with Verifiable Credentials</a:t>
            </a:r>
            <a:endParaRPr lang="en-US" sz="2200" dirty="0"/>
          </a:p>
        </p:txBody>
      </p:sp>
      <p:sp>
        <p:nvSpPr>
          <p:cNvPr id="5" name="a3_who"/>
          <p:cNvSpPr txBox="1"/>
          <p:nvPr/>
        </p:nvSpPr>
        <p:spPr>
          <a:xfrm>
            <a:off x="73152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Cecil Baraik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Information Technology · Batch 2025 · Amity University Jharkhand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fake certificates</a:t>
            </a:r>
            <a:endParaRPr lang="en-US" sz="3400" dirty="0"/>
          </a:p>
        </p:txBody>
      </p:sp>
      <p:sp>
        <p:nvSpPr>
          <p:cNvPr id="3" name="a1_c"/>
          <p:cNvSpPr/>
          <p:nvPr/>
        </p:nvSpPr>
        <p:spPr>
          <a:xfrm>
            <a:off x="54864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4" name="a1_i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6" name="a1_h"/>
          <p:cNvSpPr txBox="1"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</a:t>
            </a:r>
            <a:endParaRPr lang="en-US" sz="1900" dirty="0"/>
          </a:p>
        </p:txBody>
      </p:sp>
      <p:sp>
        <p:nvSpPr>
          <p:cNvPr id="7" name="a1_d"/>
          <p:cNvSpPr txBox="1"/>
          <p:nvPr/>
        </p:nvSpPr>
        <p:spPr>
          <a:xfrm>
            <a:off x="82296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and PDF certificates can be edited with ordinary software in minutes.</a:t>
            </a:r>
            <a:endParaRPr lang="en-US" sz="1500" dirty="0"/>
          </a:p>
        </p:txBody>
      </p:sp>
      <p:sp>
        <p:nvSpPr>
          <p:cNvPr id="8" name="a2_c"/>
          <p:cNvSpPr/>
          <p:nvPr/>
        </p:nvSpPr>
        <p:spPr>
          <a:xfrm>
            <a:off x="338328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9" name="a2_i"/>
          <p:cNvSpPr/>
          <p:nvPr/>
        </p:nvSpPr>
        <p:spPr>
          <a:xfrm>
            <a:off x="365760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40" y="2034540"/>
            <a:ext cx="411480" cy="411480"/>
          </a:xfrm>
          <a:prstGeom prst="rect">
            <a:avLst/>
          </a:prstGeom>
        </p:spPr>
      </p:pic>
      <p:sp>
        <p:nvSpPr>
          <p:cNvPr id="11" name="a2_h"/>
          <p:cNvSpPr txBox="1"/>
          <p:nvPr/>
        </p:nvSpPr>
        <p:spPr>
          <a:xfrm>
            <a:off x="365760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verify</a:t>
            </a:r>
            <a:endParaRPr lang="en-US" sz="1900" dirty="0"/>
          </a:p>
        </p:txBody>
      </p:sp>
      <p:sp>
        <p:nvSpPr>
          <p:cNvPr id="12" name="a2_d"/>
          <p:cNvSpPr txBox="1"/>
          <p:nvPr/>
        </p:nvSpPr>
        <p:spPr>
          <a:xfrm>
            <a:off x="365760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email or phone the college and wait days for an answer.</a:t>
            </a:r>
            <a:endParaRPr lang="en-US" sz="1500" dirty="0"/>
          </a:p>
        </p:txBody>
      </p:sp>
      <p:sp>
        <p:nvSpPr>
          <p:cNvPr id="13" name="a3_c"/>
          <p:cNvSpPr/>
          <p:nvPr/>
        </p:nvSpPr>
        <p:spPr>
          <a:xfrm>
            <a:off x="621792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4" name="a3_i"/>
          <p:cNvSpPr/>
          <p:nvPr/>
        </p:nvSpPr>
        <p:spPr>
          <a:xfrm>
            <a:off x="649224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034540"/>
            <a:ext cx="411480" cy="411480"/>
          </a:xfrm>
          <a:prstGeom prst="rect">
            <a:avLst/>
          </a:prstGeom>
        </p:spPr>
      </p:pic>
      <p:sp>
        <p:nvSpPr>
          <p:cNvPr id="16" name="a3_h"/>
          <p:cNvSpPr txBox="1"/>
          <p:nvPr/>
        </p:nvSpPr>
        <p:spPr>
          <a:xfrm>
            <a:off x="6492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risk</a:t>
            </a:r>
            <a:endParaRPr lang="en-US" sz="1900" dirty="0"/>
          </a:p>
        </p:txBody>
      </p:sp>
      <p:sp>
        <p:nvSpPr>
          <p:cNvPr id="17" name="a3_d"/>
          <p:cNvSpPr txBox="1"/>
          <p:nvPr/>
        </p:nvSpPr>
        <p:spPr>
          <a:xfrm>
            <a:off x="649224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can quietly change a grade in a central database.</a:t>
            </a:r>
            <a:endParaRPr lang="en-US" sz="1500" dirty="0"/>
          </a:p>
        </p:txBody>
      </p:sp>
      <p:sp>
        <p:nvSpPr>
          <p:cNvPr id="18" name="a4_c"/>
          <p:cNvSpPr/>
          <p:nvPr/>
        </p:nvSpPr>
        <p:spPr>
          <a:xfrm>
            <a:off x="905256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9" name="a4_i"/>
          <p:cNvSpPr/>
          <p:nvPr/>
        </p:nvSpPr>
        <p:spPr>
          <a:xfrm>
            <a:off x="932688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034540"/>
            <a:ext cx="411480" cy="411480"/>
          </a:xfrm>
          <a:prstGeom prst="rect">
            <a:avLst/>
          </a:prstGeom>
        </p:spPr>
      </p:pic>
      <p:sp>
        <p:nvSpPr>
          <p:cNvPr id="21" name="a4_h"/>
          <p:cNvSpPr txBox="1"/>
          <p:nvPr/>
        </p:nvSpPr>
        <p:spPr>
          <a:xfrm>
            <a:off x="932688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proof</a:t>
            </a:r>
            <a:endParaRPr lang="en-US" sz="1900" dirty="0"/>
          </a:p>
        </p:txBody>
      </p:sp>
      <p:sp>
        <p:nvSpPr>
          <p:cNvPr id="22" name="a4_d"/>
          <p:cNvSpPr txBox="1"/>
          <p:nvPr/>
        </p:nvSpPr>
        <p:spPr>
          <a:xfrm>
            <a:off x="9326880" y="36118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share a certificate that anyone can check on their own.</a:t>
            </a:r>
            <a:endParaRPr lang="en-US" sz="1500" dirty="0"/>
          </a:p>
        </p:txBody>
      </p:sp>
      <p:sp>
        <p:nvSpPr>
          <p:cNvPr id="23" name="a5_goal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any certificate verifiable in seconds — and impossible to change without being caught.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in one line</a:t>
            </a:r>
            <a:endParaRPr lang="en-US" sz="3400" dirty="0"/>
          </a:p>
        </p:txBody>
      </p:sp>
      <p:sp>
        <p:nvSpPr>
          <p:cNvPr id="3" name="a1_box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4" name="a1_txt"/>
          <p:cNvSpPr txBox="1"/>
          <p:nvPr/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fingerprint of every certificate on a blockchain that cannot be changed — and compare fingerprints to verify.</a:t>
            </a:r>
            <a:endParaRPr lang="en-US" sz="2200" dirty="0"/>
          </a:p>
        </p:txBody>
      </p:sp>
      <p:sp>
        <p:nvSpPr>
          <p:cNvPr id="5" name="a2_c"/>
          <p:cNvSpPr/>
          <p:nvPr/>
        </p:nvSpPr>
        <p:spPr>
          <a:xfrm>
            <a:off x="548640" y="30175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6" name="a2_i"/>
          <p:cNvSpPr/>
          <p:nvPr/>
        </p:nvSpPr>
        <p:spPr>
          <a:xfrm>
            <a:off x="822960" y="32918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a2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3486150"/>
            <a:ext cx="388620" cy="388620"/>
          </a:xfrm>
          <a:prstGeom prst="rect">
            <a:avLst/>
          </a:prstGeom>
        </p:spPr>
      </p:pic>
      <p:sp>
        <p:nvSpPr>
          <p:cNvPr id="8" name="a2_h"/>
          <p:cNvSpPr txBox="1"/>
          <p:nvPr/>
        </p:nvSpPr>
        <p:spPr>
          <a:xfrm>
            <a:off x="178308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2200" dirty="0"/>
          </a:p>
        </p:txBody>
      </p:sp>
      <p:sp>
        <p:nvSpPr>
          <p:cNvPr id="9" name="a2_d"/>
          <p:cNvSpPr txBox="1"/>
          <p:nvPr/>
        </p:nvSpPr>
        <p:spPr>
          <a:xfrm>
            <a:off x="82296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signs certificates, can revoke them</a:t>
            </a:r>
            <a:endParaRPr lang="en-US" sz="1600" dirty="0"/>
          </a:p>
        </p:txBody>
      </p:sp>
      <p:sp>
        <p:nvSpPr>
          <p:cNvPr id="10" name="a3_c"/>
          <p:cNvSpPr/>
          <p:nvPr/>
        </p:nvSpPr>
        <p:spPr>
          <a:xfrm>
            <a:off x="4297680" y="30175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1" name="a3_i"/>
          <p:cNvSpPr/>
          <p:nvPr/>
        </p:nvSpPr>
        <p:spPr>
          <a:xfrm>
            <a:off x="4572000" y="32918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a3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3486150"/>
            <a:ext cx="388620" cy="388620"/>
          </a:xfrm>
          <a:prstGeom prst="rect">
            <a:avLst/>
          </a:prstGeom>
        </p:spPr>
      </p:pic>
      <p:sp>
        <p:nvSpPr>
          <p:cNvPr id="13" name="a3_h"/>
          <p:cNvSpPr txBox="1"/>
          <p:nvPr/>
        </p:nvSpPr>
        <p:spPr>
          <a:xfrm>
            <a:off x="553212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2200" dirty="0"/>
          </a:p>
        </p:txBody>
      </p:sp>
      <p:sp>
        <p:nvSpPr>
          <p:cNvPr id="14" name="a3_d"/>
          <p:cNvSpPr txBox="1"/>
          <p:nvPr/>
        </p:nvSpPr>
        <p:spPr>
          <a:xfrm>
            <a:off x="457200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PDF with a QR code and a signed file</a:t>
            </a:r>
            <a:endParaRPr lang="en-US" sz="1600" dirty="0"/>
          </a:p>
        </p:txBody>
      </p:sp>
      <p:sp>
        <p:nvSpPr>
          <p:cNvPr id="15" name="a4_c"/>
          <p:cNvSpPr/>
          <p:nvPr/>
        </p:nvSpPr>
        <p:spPr>
          <a:xfrm>
            <a:off x="8046720" y="30175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6" name="a4_i"/>
          <p:cNvSpPr/>
          <p:nvPr/>
        </p:nvSpPr>
        <p:spPr>
          <a:xfrm>
            <a:off x="8321040" y="32918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a4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3486150"/>
            <a:ext cx="388620" cy="388620"/>
          </a:xfrm>
          <a:prstGeom prst="rect">
            <a:avLst/>
          </a:prstGeom>
        </p:spPr>
      </p:pic>
      <p:sp>
        <p:nvSpPr>
          <p:cNvPr id="18" name="a4_h"/>
          <p:cNvSpPr txBox="1"/>
          <p:nvPr/>
        </p:nvSpPr>
        <p:spPr>
          <a:xfrm>
            <a:off x="928116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2200" dirty="0"/>
          </a:p>
        </p:txBody>
      </p:sp>
      <p:sp>
        <p:nvSpPr>
          <p:cNvPr id="19" name="a4_d"/>
          <p:cNvSpPr txBox="1"/>
          <p:nvPr/>
        </p:nvSpPr>
        <p:spPr>
          <a:xfrm>
            <a:off x="832104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QR code — answer in seconds, no login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certificate is issued</a:t>
            </a:r>
            <a:endParaRPr lang="en-US" sz="3400" dirty="0"/>
          </a:p>
        </p:txBody>
      </p:sp>
      <p:sp>
        <p:nvSpPr>
          <p:cNvPr id="3" name="a1_c"/>
          <p:cNvSpPr/>
          <p:nvPr/>
        </p:nvSpPr>
        <p:spPr>
          <a:xfrm>
            <a:off x="548640" y="173736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4" name="a1_n"/>
          <p:cNvSpPr/>
          <p:nvPr/>
        </p:nvSpPr>
        <p:spPr>
          <a:xfrm>
            <a:off x="1234440" y="19659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a1_nt"/>
          <p:cNvSpPr txBox="1"/>
          <p:nvPr/>
        </p:nvSpPr>
        <p:spPr>
          <a:xfrm>
            <a:off x="12344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a1_h"/>
          <p:cNvSpPr txBox="1"/>
          <p:nvPr/>
        </p:nvSpPr>
        <p:spPr>
          <a:xfrm>
            <a:off x="685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</a:t>
            </a:r>
            <a:endParaRPr lang="en-US" sz="1800" dirty="0"/>
          </a:p>
        </p:txBody>
      </p:sp>
      <p:sp>
        <p:nvSpPr>
          <p:cNvPr id="7" name="a1_d"/>
          <p:cNvSpPr txBox="1"/>
          <p:nvPr/>
        </p:nvSpPr>
        <p:spPr>
          <a:xfrm>
            <a:off x="68580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name, roll no., program, grade</a:t>
            </a:r>
            <a:endParaRPr lang="en-US" sz="1400" dirty="0"/>
          </a:p>
        </p:txBody>
      </p:sp>
      <p:sp>
        <p:nvSpPr>
          <p:cNvPr id="8" name="a1_ar"/>
          <p:cNvSpPr/>
          <p:nvPr/>
        </p:nvSpPr>
        <p:spPr>
          <a:xfrm>
            <a:off x="2578608" y="2971800"/>
            <a:ext cx="219456" cy="36576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a2_c"/>
          <p:cNvSpPr/>
          <p:nvPr/>
        </p:nvSpPr>
        <p:spPr>
          <a:xfrm>
            <a:off x="2816352" y="173736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0" name="a2_n"/>
          <p:cNvSpPr/>
          <p:nvPr/>
        </p:nvSpPr>
        <p:spPr>
          <a:xfrm>
            <a:off x="3502152" y="19659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a2_nt"/>
          <p:cNvSpPr txBox="1"/>
          <p:nvPr/>
        </p:nvSpPr>
        <p:spPr>
          <a:xfrm>
            <a:off x="350215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a2_h"/>
          <p:cNvSpPr txBox="1"/>
          <p:nvPr/>
        </p:nvSpPr>
        <p:spPr>
          <a:xfrm>
            <a:off x="295351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800" dirty="0"/>
          </a:p>
        </p:txBody>
      </p:sp>
      <p:sp>
        <p:nvSpPr>
          <p:cNvPr id="13" name="a2_d"/>
          <p:cNvSpPr txBox="1"/>
          <p:nvPr/>
        </p:nvSpPr>
        <p:spPr>
          <a:xfrm>
            <a:off x="2953512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64-character fingerprint</a:t>
            </a:r>
            <a:endParaRPr lang="en-US" sz="1400" dirty="0"/>
          </a:p>
        </p:txBody>
      </p:sp>
      <p:sp>
        <p:nvSpPr>
          <p:cNvPr id="14" name="a2_ar"/>
          <p:cNvSpPr/>
          <p:nvPr/>
        </p:nvSpPr>
        <p:spPr>
          <a:xfrm>
            <a:off x="4846320" y="2971800"/>
            <a:ext cx="219456" cy="36576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a3_c"/>
          <p:cNvSpPr/>
          <p:nvPr/>
        </p:nvSpPr>
        <p:spPr>
          <a:xfrm>
            <a:off x="5084064" y="173736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6" name="a3_n"/>
          <p:cNvSpPr/>
          <p:nvPr/>
        </p:nvSpPr>
        <p:spPr>
          <a:xfrm>
            <a:off x="5769864" y="19659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a3_nt"/>
          <p:cNvSpPr txBox="1"/>
          <p:nvPr/>
        </p:nvSpPr>
        <p:spPr>
          <a:xfrm>
            <a:off x="576986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a3_h"/>
          <p:cNvSpPr txBox="1"/>
          <p:nvPr/>
        </p:nvSpPr>
        <p:spPr>
          <a:xfrm>
            <a:off x="5221224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signature</a:t>
            </a:r>
            <a:endParaRPr lang="en-US" sz="1800" dirty="0"/>
          </a:p>
        </p:txBody>
      </p:sp>
      <p:sp>
        <p:nvSpPr>
          <p:cNvPr id="19" name="a3_d"/>
          <p:cNvSpPr txBox="1"/>
          <p:nvPr/>
        </p:nvSpPr>
        <p:spPr>
          <a:xfrm>
            <a:off x="5221224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the college's private key</a:t>
            </a:r>
            <a:endParaRPr lang="en-US" sz="1400" dirty="0"/>
          </a:p>
        </p:txBody>
      </p:sp>
      <p:sp>
        <p:nvSpPr>
          <p:cNvPr id="20" name="a3_ar"/>
          <p:cNvSpPr/>
          <p:nvPr/>
        </p:nvSpPr>
        <p:spPr>
          <a:xfrm>
            <a:off x="7114032" y="2971800"/>
            <a:ext cx="219456" cy="36576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a4_c"/>
          <p:cNvSpPr/>
          <p:nvPr/>
        </p:nvSpPr>
        <p:spPr>
          <a:xfrm>
            <a:off x="7351776" y="173736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22" name="a4_n"/>
          <p:cNvSpPr/>
          <p:nvPr/>
        </p:nvSpPr>
        <p:spPr>
          <a:xfrm>
            <a:off x="8037576" y="19659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a4_nt"/>
          <p:cNvSpPr txBox="1"/>
          <p:nvPr/>
        </p:nvSpPr>
        <p:spPr>
          <a:xfrm>
            <a:off x="803757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a4_h"/>
          <p:cNvSpPr txBox="1"/>
          <p:nvPr/>
        </p:nvSpPr>
        <p:spPr>
          <a:xfrm>
            <a:off x="7488936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pool</a:t>
            </a:r>
            <a:endParaRPr lang="en-US" sz="1800" dirty="0"/>
          </a:p>
        </p:txBody>
      </p:sp>
      <p:sp>
        <p:nvSpPr>
          <p:cNvPr id="25" name="a4_d"/>
          <p:cNvSpPr txBox="1"/>
          <p:nvPr/>
        </p:nvSpPr>
        <p:spPr>
          <a:xfrm>
            <a:off x="7488936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transaction holds only the hash</a:t>
            </a:r>
            <a:endParaRPr lang="en-US" sz="1400" dirty="0"/>
          </a:p>
        </p:txBody>
      </p:sp>
      <p:sp>
        <p:nvSpPr>
          <p:cNvPr id="26" name="a4_ar"/>
          <p:cNvSpPr/>
          <p:nvPr/>
        </p:nvSpPr>
        <p:spPr>
          <a:xfrm>
            <a:off x="9381744" y="2971800"/>
            <a:ext cx="219456" cy="36576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a5_c"/>
          <p:cNvSpPr/>
          <p:nvPr/>
        </p:nvSpPr>
        <p:spPr>
          <a:xfrm>
            <a:off x="9619488" y="173736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28" name="a5_n"/>
          <p:cNvSpPr/>
          <p:nvPr/>
        </p:nvSpPr>
        <p:spPr>
          <a:xfrm>
            <a:off x="10305288" y="19659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a5_nt"/>
          <p:cNvSpPr txBox="1"/>
          <p:nvPr/>
        </p:nvSpPr>
        <p:spPr>
          <a:xfrm>
            <a:off x="1030528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a5_h"/>
          <p:cNvSpPr txBox="1"/>
          <p:nvPr/>
        </p:nvSpPr>
        <p:spPr>
          <a:xfrm>
            <a:off x="9756648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a block</a:t>
            </a:r>
            <a:endParaRPr lang="en-US" sz="1800" dirty="0"/>
          </a:p>
        </p:txBody>
      </p:sp>
      <p:sp>
        <p:nvSpPr>
          <p:cNvPr id="31" name="a5_d"/>
          <p:cNvSpPr txBox="1"/>
          <p:nvPr/>
        </p:nvSpPr>
        <p:spPr>
          <a:xfrm>
            <a:off x="9756648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Proof-of-work: hash must start with 0000</a:t>
            </a:r>
            <a:endParaRPr lang="en-US" sz="1400" dirty="0"/>
          </a:p>
        </p:txBody>
      </p:sp>
      <p:sp>
        <p:nvSpPr>
          <p:cNvPr id="32" name="a6_note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33" name="a6_txt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the full record stays in the database — only the fingerprint goes on the blockchain.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7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blockchain</a:t>
            </a:r>
            <a:endParaRPr lang="en-US" sz="3400" dirty="0"/>
          </a:p>
        </p:txBody>
      </p:sp>
      <p:pic>
        <p:nvPicPr>
          <p:cNvPr id="3" name="a1_chain" descr="/tmp/claude-0/docs/chain_hi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81313"/>
          </a:xfrm>
          <a:prstGeom prst="rect">
            <a:avLst/>
          </a:prstGeom>
        </p:spPr>
      </p:pic>
      <p:sp>
        <p:nvSpPr>
          <p:cNvPr id="4" name="a2_c"/>
          <p:cNvSpPr/>
          <p:nvPr/>
        </p:nvSpPr>
        <p:spPr>
          <a:xfrm>
            <a:off x="548640" y="45720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5" name="a2_h"/>
          <p:cNvSpPr txBox="1"/>
          <p:nvPr/>
        </p:nvSpPr>
        <p:spPr>
          <a:xfrm>
            <a:off x="77724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link</a:t>
            </a:r>
            <a:endParaRPr lang="en-US" sz="1800" dirty="0"/>
          </a:p>
        </p:txBody>
      </p:sp>
      <p:sp>
        <p:nvSpPr>
          <p:cNvPr id="6" name="a2_d"/>
          <p:cNvSpPr txBox="1"/>
          <p:nvPr/>
        </p:nvSpPr>
        <p:spPr>
          <a:xfrm>
            <a:off x="77724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stores the previous block's hash</a:t>
            </a:r>
            <a:endParaRPr lang="en-US" sz="1400" dirty="0"/>
          </a:p>
        </p:txBody>
      </p:sp>
      <p:sp>
        <p:nvSpPr>
          <p:cNvPr id="7" name="a3_c"/>
          <p:cNvSpPr/>
          <p:nvPr/>
        </p:nvSpPr>
        <p:spPr>
          <a:xfrm>
            <a:off x="3383280" y="45720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8" name="a3_h"/>
          <p:cNvSpPr txBox="1"/>
          <p:nvPr/>
        </p:nvSpPr>
        <p:spPr>
          <a:xfrm>
            <a:off x="361188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</a:t>
            </a:r>
            <a:endParaRPr lang="en-US" sz="1800" dirty="0"/>
          </a:p>
        </p:txBody>
      </p:sp>
      <p:sp>
        <p:nvSpPr>
          <p:cNvPr id="9" name="a3_d"/>
          <p:cNvSpPr txBox="1"/>
          <p:nvPr/>
        </p:nvSpPr>
        <p:spPr>
          <a:xfrm>
            <a:off x="361188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hash that represents all transactions</a:t>
            </a:r>
            <a:endParaRPr lang="en-US" sz="1400" dirty="0"/>
          </a:p>
        </p:txBody>
      </p:sp>
      <p:sp>
        <p:nvSpPr>
          <p:cNvPr id="10" name="a4_c"/>
          <p:cNvSpPr/>
          <p:nvPr/>
        </p:nvSpPr>
        <p:spPr>
          <a:xfrm>
            <a:off x="6217920" y="45720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1" name="a4_h"/>
          <p:cNvSpPr txBox="1"/>
          <p:nvPr/>
        </p:nvSpPr>
        <p:spPr>
          <a:xfrm>
            <a:off x="644652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1800" dirty="0"/>
          </a:p>
        </p:txBody>
      </p:sp>
      <p:sp>
        <p:nvSpPr>
          <p:cNvPr id="12" name="a4_d"/>
          <p:cNvSpPr txBox="1"/>
          <p:nvPr/>
        </p:nvSpPr>
        <p:spPr>
          <a:xfrm>
            <a:off x="644652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 miner changes until the hash starts with 0000</a:t>
            </a:r>
            <a:endParaRPr lang="en-US" sz="1400" dirty="0"/>
          </a:p>
        </p:txBody>
      </p:sp>
      <p:sp>
        <p:nvSpPr>
          <p:cNvPr id="13" name="a5_c"/>
          <p:cNvSpPr/>
          <p:nvPr/>
        </p:nvSpPr>
        <p:spPr>
          <a:xfrm>
            <a:off x="9052560" y="45720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4" name="a5_h"/>
          <p:cNvSpPr txBox="1"/>
          <p:nvPr/>
        </p:nvSpPr>
        <p:spPr>
          <a:xfrm>
            <a:off x="928116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</a:t>
            </a:r>
            <a:endParaRPr lang="en-US" sz="1800" dirty="0"/>
          </a:p>
        </p:txBody>
      </p:sp>
      <p:sp>
        <p:nvSpPr>
          <p:cNvPr id="15" name="a5_d"/>
          <p:cNvSpPr txBox="1"/>
          <p:nvPr/>
        </p:nvSpPr>
        <p:spPr>
          <a:xfrm>
            <a:off x="928116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#0 — the start of every chain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that makes it trustworthy</a:t>
            </a:r>
            <a:endParaRPr lang="en-US" sz="3400" dirty="0"/>
          </a:p>
        </p:txBody>
      </p:sp>
      <p:sp>
        <p:nvSpPr>
          <p:cNvPr id="3" name="a1_c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4" name="a1_i"/>
          <p:cNvSpPr/>
          <p:nvPr/>
        </p:nvSpPr>
        <p:spPr>
          <a:xfrm>
            <a:off x="868680" y="1874520"/>
            <a:ext cx="1188720" cy="11887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5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71700"/>
            <a:ext cx="594360" cy="594360"/>
          </a:xfrm>
          <a:prstGeom prst="rect">
            <a:avLst/>
          </a:prstGeom>
        </p:spPr>
      </p:pic>
      <p:sp>
        <p:nvSpPr>
          <p:cNvPr id="6" name="a1_h"/>
          <p:cNvSpPr txBox="1"/>
          <p:nvPr/>
        </p:nvSpPr>
        <p:spPr>
          <a:xfrm>
            <a:off x="2331720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2400" dirty="0"/>
          </a:p>
        </p:txBody>
      </p:sp>
      <p:sp>
        <p:nvSpPr>
          <p:cNvPr id="7" name="a1_d"/>
          <p:cNvSpPr txBox="1"/>
          <p:nvPr/>
        </p:nvSpPr>
        <p:spPr>
          <a:xfrm>
            <a:off x="233172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 → a completely different fingerprint</a:t>
            </a:r>
            <a:endParaRPr lang="en-US" sz="1600" dirty="0"/>
          </a:p>
        </p:txBody>
      </p:sp>
      <p:sp>
        <p:nvSpPr>
          <p:cNvPr id="8" name="a2_c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9" name="a2_i"/>
          <p:cNvSpPr/>
          <p:nvPr/>
        </p:nvSpPr>
        <p:spPr>
          <a:xfrm>
            <a:off x="6492240" y="1874520"/>
            <a:ext cx="1188720" cy="11887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71700"/>
            <a:ext cx="594360" cy="594360"/>
          </a:xfrm>
          <a:prstGeom prst="rect">
            <a:avLst/>
          </a:prstGeom>
        </p:spPr>
      </p:pic>
      <p:sp>
        <p:nvSpPr>
          <p:cNvPr id="11" name="a2_h"/>
          <p:cNvSpPr txBox="1"/>
          <p:nvPr/>
        </p:nvSpPr>
        <p:spPr>
          <a:xfrm>
            <a:off x="7955280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</a:t>
            </a:r>
            <a:endParaRPr lang="en-US" sz="2400" dirty="0"/>
          </a:p>
        </p:txBody>
      </p:sp>
      <p:sp>
        <p:nvSpPr>
          <p:cNvPr id="12" name="a2_d"/>
          <p:cNvSpPr txBox="1"/>
          <p:nvPr/>
        </p:nvSpPr>
        <p:spPr>
          <a:xfrm>
            <a:off x="795528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signs; anyone checks with the public key</a:t>
            </a:r>
            <a:endParaRPr lang="en-US" sz="1600" dirty="0"/>
          </a:p>
        </p:txBody>
      </p:sp>
      <p:sp>
        <p:nvSpPr>
          <p:cNvPr id="13" name="a3_c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4" name="a3_i"/>
          <p:cNvSpPr/>
          <p:nvPr/>
        </p:nvSpPr>
        <p:spPr>
          <a:xfrm>
            <a:off x="868680" y="4251960"/>
            <a:ext cx="1188720" cy="11887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5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4549140"/>
            <a:ext cx="594360" cy="594360"/>
          </a:xfrm>
          <a:prstGeom prst="rect">
            <a:avLst/>
          </a:prstGeom>
        </p:spPr>
      </p:pic>
      <p:sp>
        <p:nvSpPr>
          <p:cNvPr id="16" name="a3_h"/>
          <p:cNvSpPr txBox="1"/>
          <p:nvPr/>
        </p:nvSpPr>
        <p:spPr>
          <a:xfrm>
            <a:off x="233172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</a:t>
            </a:r>
            <a:endParaRPr lang="en-US" sz="2400" dirty="0"/>
          </a:p>
        </p:txBody>
      </p:sp>
      <p:sp>
        <p:nvSpPr>
          <p:cNvPr id="17" name="a3_d"/>
          <p:cNvSpPr txBox="1"/>
          <p:nvPr/>
        </p:nvSpPr>
        <p:spPr>
          <a:xfrm>
            <a:off x="2331720" y="4800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history means redoing the mining work</a:t>
            </a:r>
            <a:endParaRPr lang="en-US" sz="1600" dirty="0"/>
          </a:p>
        </p:txBody>
      </p:sp>
      <p:sp>
        <p:nvSpPr>
          <p:cNvPr id="18" name="a4_c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9" name="a4_i"/>
          <p:cNvSpPr/>
          <p:nvPr/>
        </p:nvSpPr>
        <p:spPr>
          <a:xfrm>
            <a:off x="6492240" y="4251960"/>
            <a:ext cx="1188720" cy="11887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0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549140"/>
            <a:ext cx="594360" cy="594360"/>
          </a:xfrm>
          <a:prstGeom prst="rect">
            <a:avLst/>
          </a:prstGeom>
        </p:spPr>
      </p:pic>
      <p:sp>
        <p:nvSpPr>
          <p:cNvPr id="21" name="a4_h"/>
          <p:cNvSpPr txBox="1"/>
          <p:nvPr/>
        </p:nvSpPr>
        <p:spPr>
          <a:xfrm>
            <a:off x="795528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</a:t>
            </a:r>
            <a:endParaRPr lang="en-US" sz="2400" dirty="0"/>
          </a:p>
        </p:txBody>
      </p:sp>
      <p:sp>
        <p:nvSpPr>
          <p:cNvPr id="22" name="a4_d"/>
          <p:cNvSpPr txBox="1"/>
          <p:nvPr/>
        </p:nvSpPr>
        <p:spPr>
          <a:xfrm>
            <a:off x="7955280" y="4800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edited transaction changes the block’s root hash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checks on every verification</a:t>
            </a:r>
            <a:endParaRPr lang="en-US" sz="3400" dirty="0"/>
          </a:p>
        </p:txBody>
      </p:sp>
      <p:pic>
        <p:nvPicPr>
          <p:cNvPr id="3" name="a1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84048" cy="384048"/>
          </a:xfrm>
          <a:prstGeom prst="rect">
            <a:avLst/>
          </a:prstGeom>
        </p:spPr>
      </p:pic>
      <p:sp>
        <p:nvSpPr>
          <p:cNvPr id="4" name="a1_t"/>
          <p:cNvSpPr txBox="1"/>
          <p:nvPr/>
        </p:nvSpPr>
        <p:spPr>
          <a:xfrm>
            <a:off x="118872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Record exists</a:t>
            </a:r>
            <a:endParaRPr lang="en-US" sz="2000" dirty="0"/>
          </a:p>
        </p:txBody>
      </p:sp>
      <p:pic>
        <p:nvPicPr>
          <p:cNvPr id="5" name="a2_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3704"/>
            <a:ext cx="384048" cy="384048"/>
          </a:xfrm>
          <a:prstGeom prst="rect">
            <a:avLst/>
          </a:prstGeom>
        </p:spPr>
      </p:pic>
      <p:sp>
        <p:nvSpPr>
          <p:cNvPr id="6" name="a2_t"/>
          <p:cNvSpPr txBox="1"/>
          <p:nvPr/>
        </p:nvSpPr>
        <p:spPr>
          <a:xfrm>
            <a:off x="1188720" y="21305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Anchored on the blockchain</a:t>
            </a:r>
            <a:endParaRPr lang="en-US" sz="2000" dirty="0"/>
          </a:p>
        </p:txBody>
      </p:sp>
      <p:pic>
        <p:nvPicPr>
          <p:cNvPr id="7" name="a3_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384048" cy="384048"/>
          </a:xfrm>
          <a:prstGeom prst="rect">
            <a:avLst/>
          </a:prstGeom>
        </p:spPr>
      </p:pic>
      <p:sp>
        <p:nvSpPr>
          <p:cNvPr id="8" name="a3_t"/>
          <p:cNvSpPr txBox="1"/>
          <p:nvPr/>
        </p:nvSpPr>
        <p:spPr>
          <a:xfrm>
            <a:off x="1188720" y="2843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matches the on-chain hash</a:t>
            </a:r>
            <a:endParaRPr lang="en-US" sz="2000" dirty="0"/>
          </a:p>
        </p:txBody>
      </p:sp>
      <p:pic>
        <p:nvPicPr>
          <p:cNvPr id="9" name="a4_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384048" cy="384048"/>
          </a:xfrm>
          <a:prstGeom prst="rect">
            <a:avLst/>
          </a:prstGeom>
        </p:spPr>
      </p:pic>
      <p:sp>
        <p:nvSpPr>
          <p:cNvPr id="10" name="a4_t"/>
          <p:cNvSpPr txBox="1"/>
          <p:nvPr/>
        </p:nvSpPr>
        <p:spPr>
          <a:xfrm>
            <a:off x="1188720" y="35570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Issuer signature is valid</a:t>
            </a:r>
            <a:endParaRPr lang="en-US" sz="2000" dirty="0"/>
          </a:p>
        </p:txBody>
      </p:sp>
      <p:pic>
        <p:nvPicPr>
          <p:cNvPr id="11" name="a5_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384048" cy="384048"/>
          </a:xfrm>
          <a:prstGeom prst="rect">
            <a:avLst/>
          </a:prstGeom>
        </p:spPr>
      </p:pic>
      <p:sp>
        <p:nvSpPr>
          <p:cNvPr id="12" name="a5_t"/>
          <p:cNvSpPr txBox="1"/>
          <p:nvPr/>
        </p:nvSpPr>
        <p:spPr>
          <a:xfrm>
            <a:off x="1188720" y="42702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Not revoked</a:t>
            </a:r>
            <a:endParaRPr lang="en-US" sz="2000" dirty="0"/>
          </a:p>
        </p:txBody>
      </p:sp>
      <p:pic>
        <p:nvPicPr>
          <p:cNvPr id="13" name="a6_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56632"/>
            <a:ext cx="384048" cy="384048"/>
          </a:xfrm>
          <a:prstGeom prst="rect">
            <a:avLst/>
          </a:prstGeom>
        </p:spPr>
      </p:pic>
      <p:sp>
        <p:nvSpPr>
          <p:cNvPr id="14" name="a6_t"/>
          <p:cNvSpPr txBox="1"/>
          <p:nvPr/>
        </p:nvSpPr>
        <p:spPr>
          <a:xfrm>
            <a:off x="1188720" y="4983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Whole ledger is intact</a:t>
            </a:r>
            <a:endParaRPr lang="en-US" sz="2000" dirty="0"/>
          </a:p>
        </p:txBody>
      </p:sp>
      <p:pic>
        <p:nvPicPr>
          <p:cNvPr id="15" name="a7_shot" descr="/tmp/claude-0/docs/shots/verify_vali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17920" y="1371600"/>
            <a:ext cx="5394960" cy="349300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6" name="a8_o0"/>
          <p:cNvSpPr/>
          <p:nvPr/>
        </p:nvSpPr>
        <p:spPr>
          <a:xfrm>
            <a:off x="6217920" y="5166360"/>
            <a:ext cx="12618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a8_t0"/>
          <p:cNvSpPr txBox="1"/>
          <p:nvPr/>
        </p:nvSpPr>
        <p:spPr>
          <a:xfrm>
            <a:off x="6217920" y="51663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400" dirty="0"/>
          </a:p>
        </p:txBody>
      </p:sp>
      <p:sp>
        <p:nvSpPr>
          <p:cNvPr id="18" name="a8_o1"/>
          <p:cNvSpPr/>
          <p:nvPr/>
        </p:nvSpPr>
        <p:spPr>
          <a:xfrm>
            <a:off x="7589520" y="5166360"/>
            <a:ext cx="12618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a8_t1"/>
          <p:cNvSpPr txBox="1"/>
          <p:nvPr/>
        </p:nvSpPr>
        <p:spPr>
          <a:xfrm>
            <a:off x="7589520" y="51663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20" name="a8_o2"/>
          <p:cNvSpPr/>
          <p:nvPr/>
        </p:nvSpPr>
        <p:spPr>
          <a:xfrm>
            <a:off x="8961120" y="5166360"/>
            <a:ext cx="12618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a8_t2"/>
          <p:cNvSpPr txBox="1"/>
          <p:nvPr/>
        </p:nvSpPr>
        <p:spPr>
          <a:xfrm>
            <a:off x="8961120" y="51663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</a:t>
            </a:r>
            <a:endParaRPr lang="en-US" sz="1400" dirty="0"/>
          </a:p>
        </p:txBody>
      </p:sp>
      <p:sp>
        <p:nvSpPr>
          <p:cNvPr id="22" name="a8_o3"/>
          <p:cNvSpPr/>
          <p:nvPr/>
        </p:nvSpPr>
        <p:spPr>
          <a:xfrm>
            <a:off x="10332720" y="5166360"/>
            <a:ext cx="12618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a8_t3"/>
          <p:cNvSpPr txBox="1"/>
          <p:nvPr/>
        </p:nvSpPr>
        <p:spPr>
          <a:xfrm>
            <a:off x="10332720" y="51663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1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pic>
        <p:nvPicPr>
          <p:cNvPr id="3" name="a1_arch" descr="/tmp/claude-0/docs/arch_hi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583680" cy="4732020"/>
          </a:xfrm>
          <a:prstGeom prst="rect">
            <a:avLst/>
          </a:prstGeom>
        </p:spPr>
      </p:pic>
      <p:sp>
        <p:nvSpPr>
          <p:cNvPr id="4" name="a2_c"/>
          <p:cNvSpPr/>
          <p:nvPr/>
        </p:nvSpPr>
        <p:spPr>
          <a:xfrm>
            <a:off x="7498080" y="137160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5" name="a2_h"/>
          <p:cNvSpPr txBox="1"/>
          <p:nvPr/>
        </p:nvSpPr>
        <p:spPr>
          <a:xfrm>
            <a:off x="772668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a2_d"/>
          <p:cNvSpPr txBox="1"/>
          <p:nvPr/>
        </p:nvSpPr>
        <p:spPr>
          <a:xfrm>
            <a:off x="91440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600" dirty="0"/>
          </a:p>
        </p:txBody>
      </p:sp>
      <p:sp>
        <p:nvSpPr>
          <p:cNvPr id="7" name="a3_c"/>
          <p:cNvSpPr/>
          <p:nvPr/>
        </p:nvSpPr>
        <p:spPr>
          <a:xfrm>
            <a:off x="7498080" y="2359152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8" name="a3_h"/>
          <p:cNvSpPr txBox="1"/>
          <p:nvPr/>
        </p:nvSpPr>
        <p:spPr>
          <a:xfrm>
            <a:off x="772668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a3_d"/>
          <p:cNvSpPr txBox="1"/>
          <p:nvPr/>
        </p:nvSpPr>
        <p:spPr>
          <a:xfrm>
            <a:off x="9144000" y="23591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3</a:t>
            </a:r>
            <a:endParaRPr lang="en-US" sz="1600" dirty="0"/>
          </a:p>
        </p:txBody>
      </p:sp>
      <p:sp>
        <p:nvSpPr>
          <p:cNvPr id="10" name="a4_c"/>
          <p:cNvSpPr/>
          <p:nvPr/>
        </p:nvSpPr>
        <p:spPr>
          <a:xfrm>
            <a:off x="7498080" y="3346704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1" name="a4_h"/>
          <p:cNvSpPr txBox="1"/>
          <p:nvPr/>
        </p:nvSpPr>
        <p:spPr>
          <a:xfrm>
            <a:off x="7726680" y="334670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2" name="a4_d"/>
          <p:cNvSpPr txBox="1"/>
          <p:nvPr/>
        </p:nvSpPr>
        <p:spPr>
          <a:xfrm>
            <a:off x="9144000" y="33467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or MySQL 8</a:t>
            </a:r>
            <a:endParaRPr lang="en-US" sz="1600" dirty="0"/>
          </a:p>
        </p:txBody>
      </p:sp>
      <p:sp>
        <p:nvSpPr>
          <p:cNvPr id="13" name="a5_c"/>
          <p:cNvSpPr/>
          <p:nvPr/>
        </p:nvSpPr>
        <p:spPr>
          <a:xfrm>
            <a:off x="7498080" y="4334256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4" name="a5_h"/>
          <p:cNvSpPr txBox="1"/>
          <p:nvPr/>
        </p:nvSpPr>
        <p:spPr>
          <a:xfrm>
            <a:off x="7726680" y="43342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QR</a:t>
            </a:r>
            <a:endParaRPr lang="en-US" sz="1600" dirty="0"/>
          </a:p>
        </p:txBody>
      </p:sp>
      <p:sp>
        <p:nvSpPr>
          <p:cNvPr id="15" name="a5_d"/>
          <p:cNvSpPr txBox="1"/>
          <p:nvPr/>
        </p:nvSpPr>
        <p:spPr>
          <a:xfrm>
            <a:off x="9144000" y="433425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· qrcode</a:t>
            </a:r>
            <a:endParaRPr lang="en-US" sz="1600" dirty="0"/>
          </a:p>
        </p:txBody>
      </p:sp>
      <p:sp>
        <p:nvSpPr>
          <p:cNvPr id="16" name="a6_c"/>
          <p:cNvSpPr/>
          <p:nvPr/>
        </p:nvSpPr>
        <p:spPr>
          <a:xfrm>
            <a:off x="7498080" y="5321808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7" name="a6_h"/>
          <p:cNvSpPr txBox="1"/>
          <p:nvPr/>
        </p:nvSpPr>
        <p:spPr>
          <a:xfrm>
            <a:off x="7726680" y="53218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8" name="a6_d"/>
          <p:cNvSpPr txBox="1"/>
          <p:nvPr/>
        </p:nvSpPr>
        <p:spPr>
          <a:xfrm>
            <a:off x="9144000" y="53218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MockMvc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a1_c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pic>
        <p:nvPicPr>
          <p:cNvPr id="4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48640" cy="548640"/>
          </a:xfrm>
          <a:prstGeom prst="rect">
            <a:avLst/>
          </a:prstGeom>
        </p:spPr>
      </p:pic>
      <p:sp>
        <p:nvSpPr>
          <p:cNvPr id="5" name="a1_h"/>
          <p:cNvSpPr txBox="1"/>
          <p:nvPr/>
        </p:nvSpPr>
        <p:spPr>
          <a:xfrm>
            <a:off x="1554480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3 ways</a:t>
            </a:r>
            <a:endParaRPr lang="en-US" sz="2000" dirty="0"/>
          </a:p>
        </p:txBody>
      </p:sp>
      <p:sp>
        <p:nvSpPr>
          <p:cNvPr id="6" name="a1_d"/>
          <p:cNvSpPr txBox="1"/>
          <p:nvPr/>
        </p:nvSpPr>
        <p:spPr>
          <a:xfrm>
            <a:off x="82296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ID, QR scan or signed JSON file</a:t>
            </a:r>
            <a:endParaRPr lang="en-US" sz="1500" dirty="0"/>
          </a:p>
        </p:txBody>
      </p:sp>
      <p:sp>
        <p:nvSpPr>
          <p:cNvPr id="7" name="a2_c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pic>
        <p:nvPicPr>
          <p:cNvPr id="8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548640" cy="548640"/>
          </a:xfrm>
          <a:prstGeom prst="rect">
            <a:avLst/>
          </a:prstGeom>
        </p:spPr>
      </p:pic>
      <p:sp>
        <p:nvSpPr>
          <p:cNvPr id="9" name="a2_h"/>
          <p:cNvSpPr txBox="1"/>
          <p:nvPr/>
        </p:nvSpPr>
        <p:spPr>
          <a:xfrm>
            <a:off x="5303520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</a:t>
            </a:r>
            <a:endParaRPr lang="en-US" sz="2000" dirty="0"/>
          </a:p>
        </p:txBody>
      </p:sp>
      <p:sp>
        <p:nvSpPr>
          <p:cNvPr id="10" name="a2_d"/>
          <p:cNvSpPr txBox="1"/>
          <p:nvPr/>
        </p:nvSpPr>
        <p:spPr>
          <a:xfrm>
            <a:off x="457200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Printable, with QR code and REVOKED stamp</a:t>
            </a:r>
            <a:endParaRPr lang="en-US" sz="1500" dirty="0"/>
          </a:p>
        </p:txBody>
      </p:sp>
      <p:sp>
        <p:nvSpPr>
          <p:cNvPr id="11" name="a3_c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pic>
        <p:nvPicPr>
          <p:cNvPr id="12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37360"/>
            <a:ext cx="548640" cy="548640"/>
          </a:xfrm>
          <a:prstGeom prst="rect">
            <a:avLst/>
          </a:prstGeom>
        </p:spPr>
      </p:pic>
      <p:sp>
        <p:nvSpPr>
          <p:cNvPr id="13" name="a3_h"/>
          <p:cNvSpPr txBox="1"/>
          <p:nvPr/>
        </p:nvSpPr>
        <p:spPr>
          <a:xfrm>
            <a:off x="9052560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issue</a:t>
            </a:r>
            <a:endParaRPr lang="en-US" sz="2000" dirty="0"/>
          </a:p>
        </p:txBody>
      </p:sp>
      <p:sp>
        <p:nvSpPr>
          <p:cNvPr id="14" name="a3_d"/>
          <p:cNvSpPr txBox="1"/>
          <p:nvPr/>
        </p:nvSpPr>
        <p:spPr>
          <a:xfrm>
            <a:off x="832104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class at once, every row checked</a:t>
            </a:r>
            <a:endParaRPr lang="en-US" sz="1500" dirty="0"/>
          </a:p>
        </p:txBody>
      </p:sp>
      <p:sp>
        <p:nvSpPr>
          <p:cNvPr id="15" name="a4_c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pic>
        <p:nvPicPr>
          <p:cNvPr id="16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548640" cy="548640"/>
          </a:xfrm>
          <a:prstGeom prst="rect">
            <a:avLst/>
          </a:prstGeom>
        </p:spPr>
      </p:pic>
      <p:sp>
        <p:nvSpPr>
          <p:cNvPr id="17" name="a4_h"/>
          <p:cNvSpPr txBox="1"/>
          <p:nvPr/>
        </p:nvSpPr>
        <p:spPr>
          <a:xfrm>
            <a:off x="155448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2000" dirty="0"/>
          </a:p>
        </p:txBody>
      </p:sp>
      <p:sp>
        <p:nvSpPr>
          <p:cNvPr id="18" name="a4_d"/>
          <p:cNvSpPr txBox="1"/>
          <p:nvPr/>
        </p:nvSpPr>
        <p:spPr>
          <a:xfrm>
            <a:off x="822960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with a reason; history is kept</a:t>
            </a:r>
            <a:endParaRPr lang="en-US" sz="1500" dirty="0"/>
          </a:p>
        </p:txBody>
      </p:sp>
      <p:sp>
        <p:nvSpPr>
          <p:cNvPr id="19" name="a5_c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pic>
        <p:nvPicPr>
          <p:cNvPr id="20" name="a5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14800"/>
            <a:ext cx="548640" cy="548640"/>
          </a:xfrm>
          <a:prstGeom prst="rect">
            <a:avLst/>
          </a:prstGeom>
        </p:spPr>
      </p:pic>
      <p:sp>
        <p:nvSpPr>
          <p:cNvPr id="21" name="a5_h"/>
          <p:cNvSpPr txBox="1"/>
          <p:nvPr/>
        </p:nvSpPr>
        <p:spPr>
          <a:xfrm>
            <a:off x="530352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2000" dirty="0"/>
          </a:p>
        </p:txBody>
      </p:sp>
      <p:sp>
        <p:nvSpPr>
          <p:cNvPr id="22" name="a5_d"/>
          <p:cNvSpPr txBox="1"/>
          <p:nvPr/>
        </p:nvSpPr>
        <p:spPr>
          <a:xfrm>
            <a:off x="4572000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blocks, status and mining effort</a:t>
            </a:r>
            <a:endParaRPr lang="en-US" sz="1500" dirty="0"/>
          </a:p>
        </p:txBody>
      </p:sp>
      <p:sp>
        <p:nvSpPr>
          <p:cNvPr id="23" name="a6_c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pic>
        <p:nvPicPr>
          <p:cNvPr id="24" name="a6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114800"/>
            <a:ext cx="548640" cy="548640"/>
          </a:xfrm>
          <a:prstGeom prst="rect">
            <a:avLst/>
          </a:prstGeom>
        </p:spPr>
      </p:pic>
      <p:sp>
        <p:nvSpPr>
          <p:cNvPr id="25" name="a6_h"/>
          <p:cNvSpPr txBox="1"/>
          <p:nvPr/>
        </p:nvSpPr>
        <p:spPr>
          <a:xfrm>
            <a:off x="905256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</a:t>
            </a:r>
            <a:endParaRPr lang="en-US" sz="2000" dirty="0"/>
          </a:p>
        </p:txBody>
      </p:sp>
      <p:sp>
        <p:nvSpPr>
          <p:cNvPr id="26" name="a6_d"/>
          <p:cNvSpPr txBox="1"/>
          <p:nvPr/>
        </p:nvSpPr>
        <p:spPr>
          <a:xfrm>
            <a:off x="8321040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over Wi-Fi or a free public tunnel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of the application</a:t>
            </a:r>
            <a:endParaRPr lang="en-US" sz="3400" dirty="0"/>
          </a:p>
        </p:txBody>
      </p:sp>
      <p:pic>
        <p:nvPicPr>
          <p:cNvPr id="3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457200" cy="457200"/>
          </a:xfrm>
          <a:prstGeom prst="rect">
            <a:avLst/>
          </a:prstGeom>
        </p:spPr>
      </p:pic>
      <p:sp>
        <p:nvSpPr>
          <p:cNvPr id="4" name="a1_h"/>
          <p:cNvSpPr txBox="1"/>
          <p:nvPr/>
        </p:nvSpPr>
        <p:spPr>
          <a:xfrm>
            <a:off x="137160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 hashing</a:t>
            </a:r>
            <a:endParaRPr lang="en-US" sz="1900" dirty="0"/>
          </a:p>
        </p:txBody>
      </p:sp>
      <p:sp>
        <p:nvSpPr>
          <p:cNvPr id="5" name="a1_d"/>
          <p:cNvSpPr txBox="1"/>
          <p:nvPr/>
        </p:nvSpPr>
        <p:spPr>
          <a:xfrm>
            <a:off x="137160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salt, 210,000 iterations — no plain-text passwords</a:t>
            </a:r>
            <a:endParaRPr lang="en-US" sz="1400" dirty="0"/>
          </a:p>
        </p:txBody>
      </p:sp>
      <p:pic>
        <p:nvPicPr>
          <p:cNvPr id="6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05456"/>
            <a:ext cx="457200" cy="457200"/>
          </a:xfrm>
          <a:prstGeom prst="rect">
            <a:avLst/>
          </a:prstGeom>
        </p:spPr>
      </p:pic>
      <p:sp>
        <p:nvSpPr>
          <p:cNvPr id="7" name="a2_h"/>
          <p:cNvSpPr txBox="1"/>
          <p:nvPr/>
        </p:nvSpPr>
        <p:spPr>
          <a:xfrm>
            <a:off x="1371600" y="23865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login tokens</a:t>
            </a:r>
            <a:endParaRPr lang="en-US" sz="1900" dirty="0"/>
          </a:p>
        </p:txBody>
      </p:sp>
      <p:sp>
        <p:nvSpPr>
          <p:cNvPr id="8" name="a2_d"/>
          <p:cNvSpPr txBox="1"/>
          <p:nvPr/>
        </p:nvSpPr>
        <p:spPr>
          <a:xfrm>
            <a:off x="1371600" y="2798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role inside the token breaks its signature</a:t>
            </a:r>
            <a:endParaRPr lang="en-US" sz="1400" dirty="0"/>
          </a:p>
        </p:txBody>
      </p:sp>
      <p:pic>
        <p:nvPicPr>
          <p:cNvPr id="9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74720"/>
            <a:ext cx="457200" cy="457200"/>
          </a:xfrm>
          <a:prstGeom prst="rect">
            <a:avLst/>
          </a:prstGeom>
        </p:spPr>
      </p:pic>
      <p:sp>
        <p:nvSpPr>
          <p:cNvPr id="10" name="a3_h"/>
          <p:cNvSpPr txBox="1"/>
          <p:nvPr/>
        </p:nvSpPr>
        <p:spPr>
          <a:xfrm>
            <a:off x="1371600" y="3355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900" dirty="0"/>
          </a:p>
        </p:txBody>
      </p:sp>
      <p:sp>
        <p:nvSpPr>
          <p:cNvPr id="11" name="a3_d"/>
          <p:cNvSpPr txBox="1"/>
          <p:nvPr/>
        </p:nvSpPr>
        <p:spPr>
          <a:xfrm>
            <a:off x="1371600" y="37673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registers colleges · staff issue · anyone verifies</a:t>
            </a:r>
            <a:endParaRPr lang="en-US" sz="1400" dirty="0"/>
          </a:p>
        </p:txBody>
      </p:sp>
      <p:pic>
        <p:nvPicPr>
          <p:cNvPr id="12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43984"/>
            <a:ext cx="457200" cy="457200"/>
          </a:xfrm>
          <a:prstGeom prst="rect">
            <a:avLst/>
          </a:prstGeom>
        </p:spPr>
      </p:pic>
      <p:sp>
        <p:nvSpPr>
          <p:cNvPr id="13" name="a4_h"/>
          <p:cNvSpPr txBox="1"/>
          <p:nvPr/>
        </p:nvSpPr>
        <p:spPr>
          <a:xfrm>
            <a:off x="1371600" y="43251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lockout</a:t>
            </a:r>
            <a:endParaRPr lang="en-US" sz="1900" dirty="0"/>
          </a:p>
        </p:txBody>
      </p:sp>
      <p:sp>
        <p:nvSpPr>
          <p:cNvPr id="14" name="a4_d"/>
          <p:cNvSpPr txBox="1"/>
          <p:nvPr/>
        </p:nvSpPr>
        <p:spPr>
          <a:xfrm>
            <a:off x="1371600" y="4736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wrong passwords → locked 5 minutes, same error message</a:t>
            </a:r>
            <a:endParaRPr lang="en-US" sz="1400" dirty="0"/>
          </a:p>
        </p:txBody>
      </p:sp>
      <p:pic>
        <p:nvPicPr>
          <p:cNvPr id="15" name="a5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13248"/>
            <a:ext cx="457200" cy="457200"/>
          </a:xfrm>
          <a:prstGeom prst="rect">
            <a:avLst/>
          </a:prstGeom>
        </p:spPr>
      </p:pic>
      <p:sp>
        <p:nvSpPr>
          <p:cNvPr id="16" name="a5_h"/>
          <p:cNvSpPr txBox="1"/>
          <p:nvPr/>
        </p:nvSpPr>
        <p:spPr>
          <a:xfrm>
            <a:off x="1371600" y="52943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database user</a:t>
            </a:r>
            <a:endParaRPr lang="en-US" sz="1900" dirty="0"/>
          </a:p>
        </p:txBody>
      </p:sp>
      <p:sp>
        <p:nvSpPr>
          <p:cNvPr id="17" name="a5_d"/>
          <p:cNvSpPr txBox="1"/>
          <p:nvPr/>
        </p:nvSpPr>
        <p:spPr>
          <a:xfrm>
            <a:off x="1371600" y="57058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 can only touch the credchain database</a:t>
            </a:r>
            <a:endParaRPr lang="en-US" sz="1400" dirty="0"/>
          </a:p>
        </p:txBody>
      </p:sp>
      <p:pic>
        <p:nvPicPr>
          <p:cNvPr id="18" name="a6_shot" descr="/tmp/claude-0/docs/shots/logi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75120" y="1463040"/>
            <a:ext cx="4937760" cy="25540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tests: every tampering is caught</a:t>
            </a:r>
            <a:endParaRPr lang="en-US" sz="3400" dirty="0"/>
          </a:p>
        </p:txBody>
      </p:sp>
      <p:pic>
        <p:nvPicPr>
          <p:cNvPr id="3" name="a1_s" descr="/tmp/claude-0/docs/shots/verify_forg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3520440" cy="227685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4" name="a1_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384048" cy="384048"/>
          </a:xfrm>
          <a:prstGeom prst="rect">
            <a:avLst/>
          </a:prstGeom>
        </p:spPr>
      </p:pic>
      <p:sp>
        <p:nvSpPr>
          <p:cNvPr id="5" name="a1_h"/>
          <p:cNvSpPr txBox="1"/>
          <p:nvPr/>
        </p:nvSpPr>
        <p:spPr>
          <a:xfrm>
            <a:off x="1051560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downloaded file</a:t>
            </a:r>
            <a:endParaRPr lang="en-US" sz="1900" dirty="0"/>
          </a:p>
        </p:txBody>
      </p:sp>
      <p:sp>
        <p:nvSpPr>
          <p:cNvPr id="6" name="a1_d"/>
          <p:cNvSpPr txBox="1"/>
          <p:nvPr/>
        </p:nvSpPr>
        <p:spPr>
          <a:xfrm>
            <a:off x="548640" y="4526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9.0 → 10.0: hash and signature mismatch</a:t>
            </a:r>
            <a:endParaRPr lang="en-US" sz="1500" dirty="0"/>
          </a:p>
        </p:txBody>
      </p:sp>
      <p:pic>
        <p:nvPicPr>
          <p:cNvPr id="7" name="a2_s" descr="/tmp/claude-0/docs/shots/db_tamp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1463040"/>
            <a:ext cx="3520440" cy="227685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8" name="a2_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977640"/>
            <a:ext cx="384048" cy="384048"/>
          </a:xfrm>
          <a:prstGeom prst="rect">
            <a:avLst/>
          </a:prstGeom>
        </p:spPr>
      </p:pic>
      <p:sp>
        <p:nvSpPr>
          <p:cNvPr id="9" name="a2_h"/>
          <p:cNvSpPr txBox="1"/>
          <p:nvPr/>
        </p:nvSpPr>
        <p:spPr>
          <a:xfrm>
            <a:off x="4800600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edits database</a:t>
            </a:r>
            <a:endParaRPr lang="en-US" sz="1900" dirty="0"/>
          </a:p>
        </p:txBody>
      </p:sp>
      <p:sp>
        <p:nvSpPr>
          <p:cNvPr id="10" name="a2_d"/>
          <p:cNvSpPr txBox="1"/>
          <p:nvPr/>
        </p:nvSpPr>
        <p:spPr>
          <a:xfrm>
            <a:off x="4297680" y="4526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no longer matches its on-chain hash</a:t>
            </a:r>
            <a:endParaRPr lang="en-US" sz="1500" dirty="0"/>
          </a:p>
        </p:txBody>
      </p:sp>
      <p:pic>
        <p:nvPicPr>
          <p:cNvPr id="11" name="a3_s" descr="/tmp/claude-0/docs/shots/chain_tamper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46720" y="1463040"/>
            <a:ext cx="3520440" cy="227685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12" name="a3_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977640"/>
            <a:ext cx="384048" cy="384048"/>
          </a:xfrm>
          <a:prstGeom prst="rect">
            <a:avLst/>
          </a:prstGeom>
        </p:spPr>
      </p:pic>
      <p:sp>
        <p:nvSpPr>
          <p:cNvPr id="13" name="a3_h"/>
          <p:cNvSpPr txBox="1"/>
          <p:nvPr/>
        </p:nvSpPr>
        <p:spPr>
          <a:xfrm>
            <a:off x="8549640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edits a block</a:t>
            </a:r>
            <a:endParaRPr lang="en-US" sz="1900" dirty="0"/>
          </a:p>
        </p:txBody>
      </p:sp>
      <p:sp>
        <p:nvSpPr>
          <p:cNvPr id="14" name="a3_d"/>
          <p:cNvSpPr txBox="1"/>
          <p:nvPr/>
        </p:nvSpPr>
        <p:spPr>
          <a:xfrm>
            <a:off x="8046720" y="4526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validation flags the block in red</a:t>
            </a:r>
            <a:endParaRPr lang="en-US" sz="1500" dirty="0"/>
          </a:p>
        </p:txBody>
      </p:sp>
      <p:sp>
        <p:nvSpPr>
          <p:cNvPr id="15" name="a4_c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0FDF4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6" name="a4_t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“Restore everything” brings the chain back to valid — proving the checks, not luck, caught the attacks.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</a:t>
            </a:r>
            <a:endParaRPr lang="en-US" sz="3400" dirty="0"/>
          </a:p>
        </p:txBody>
      </p:sp>
      <p:pic>
        <p:nvPicPr>
          <p:cNvPr id="3" name="a1_s" descr="/tmp/claude-0/docs/shots/dashboard_min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5478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4" name="a2_s" descr="/tmp/claude-0/docs/shots/pdf_ce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71600"/>
            <a:ext cx="5303520" cy="3374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a1_c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blocks, stats and pending pool</a:t>
            </a:r>
            <a:endParaRPr lang="en-US" sz="1500" dirty="0"/>
          </a:p>
        </p:txBody>
      </p:sp>
      <p:sp>
        <p:nvSpPr>
          <p:cNvPr id="6" name="a2_c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 with QR code (revoked example)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400" dirty="0"/>
          </a:p>
        </p:txBody>
      </p:sp>
      <p:sp>
        <p:nvSpPr>
          <p:cNvPr id="3" name="a1_c"/>
          <p:cNvSpPr/>
          <p:nvPr/>
        </p:nvSpPr>
        <p:spPr>
          <a:xfrm>
            <a:off x="54864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4" name="a1_n"/>
          <p:cNvSpPr txBox="1"/>
          <p:nvPr/>
        </p:nvSpPr>
        <p:spPr>
          <a:xfrm>
            <a:off x="548640" y="1691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5" name="a1_l"/>
          <p:cNvSpPr txBox="1"/>
          <p:nvPr/>
        </p:nvSpPr>
        <p:spPr>
          <a:xfrm>
            <a:off x="7315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600" dirty="0"/>
          </a:p>
        </p:txBody>
      </p:sp>
      <p:sp>
        <p:nvSpPr>
          <p:cNvPr id="6" name="a2_c"/>
          <p:cNvSpPr/>
          <p:nvPr/>
        </p:nvSpPr>
        <p:spPr>
          <a:xfrm>
            <a:off x="338328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7" name="a2_n"/>
          <p:cNvSpPr txBox="1"/>
          <p:nvPr/>
        </p:nvSpPr>
        <p:spPr>
          <a:xfrm>
            <a:off x="3383280" y="1691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8" name="a2_l"/>
          <p:cNvSpPr txBox="1"/>
          <p:nvPr/>
        </p:nvSpPr>
        <p:spPr>
          <a:xfrm>
            <a:off x="356616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logic checks</a:t>
            </a:r>
            <a:endParaRPr lang="en-US" sz="1600" dirty="0"/>
          </a:p>
        </p:txBody>
      </p:sp>
      <p:sp>
        <p:nvSpPr>
          <p:cNvPr id="9" name="a3_c"/>
          <p:cNvSpPr/>
          <p:nvPr/>
        </p:nvSpPr>
        <p:spPr>
          <a:xfrm>
            <a:off x="621792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0" name="a3_n"/>
          <p:cNvSpPr txBox="1"/>
          <p:nvPr/>
        </p:nvSpPr>
        <p:spPr>
          <a:xfrm>
            <a:off x="6217920" y="1691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6000" dirty="0"/>
          </a:p>
        </p:txBody>
      </p:sp>
      <p:sp>
        <p:nvSpPr>
          <p:cNvPr id="11" name="a3_l"/>
          <p:cNvSpPr txBox="1"/>
          <p:nvPr/>
        </p:nvSpPr>
        <p:spPr>
          <a:xfrm>
            <a:off x="640080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detected</a:t>
            </a:r>
            <a:endParaRPr lang="en-US" sz="1600" dirty="0"/>
          </a:p>
        </p:txBody>
      </p:sp>
      <p:sp>
        <p:nvSpPr>
          <p:cNvPr id="12" name="a4_c"/>
          <p:cNvSpPr/>
          <p:nvPr/>
        </p:nvSpPr>
        <p:spPr>
          <a:xfrm>
            <a:off x="905256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13" name="a4_n"/>
          <p:cNvSpPr txBox="1"/>
          <p:nvPr/>
        </p:nvSpPr>
        <p:spPr>
          <a:xfrm>
            <a:off x="9052560" y="1691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4" name="a4_l"/>
          <p:cNvSpPr txBox="1"/>
          <p:nvPr/>
        </p:nvSpPr>
        <p:spPr>
          <a:xfrm>
            <a:off x="923544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 verification</a:t>
            </a:r>
            <a:endParaRPr lang="en-US" sz="1600" dirty="0"/>
          </a:p>
        </p:txBody>
      </p:sp>
      <p:sp>
        <p:nvSpPr>
          <p:cNvPr id="15" name="a5_list"/>
          <p:cNvSpPr txBox="1"/>
          <p:nvPr/>
        </p:nvSpPr>
        <p:spPr>
          <a:xfrm>
            <a:off x="548640" y="4114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— SHA-256, ECDSA, mining, Merkle root, tamper detection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— login → issue → mine → verify → forge → tamper → restore → revoke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browser tests of every page, on H2 and MySQL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3400" dirty="0"/>
          </a:p>
        </p:txBody>
      </p:sp>
      <p:sp>
        <p:nvSpPr>
          <p:cNvPr id="3" name="a1_c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EF2F2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4" name="a1_h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today</a:t>
            </a:r>
            <a:endParaRPr lang="en-US" sz="2200" dirty="0"/>
          </a:p>
        </p:txBody>
      </p:sp>
      <p:sp>
        <p:nvSpPr>
          <p:cNvPr id="5" name="a1_l"/>
          <p:cNvSpPr txBox="1"/>
          <p:nvPr/>
        </p:nvSpPr>
        <p:spPr>
          <a:xfrm>
            <a:off x="822960" y="2286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 — tamper-evident, not yet decentralised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private keys kept on the server for the demo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works on phones only when the app is reachable</a:t>
            </a:r>
            <a:endParaRPr lang="en-US" sz="1700" dirty="0"/>
          </a:p>
        </p:txBody>
      </p:sp>
      <p:sp>
        <p:nvSpPr>
          <p:cNvPr id="6" name="a2_c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0FDF4"/>
          </a:solidFill>
          <a:ln w="9525">
            <a:solidFill>
              <a:srgbClr val="D8DCEF"/>
            </a:solidFill>
            <a:prstDash val="solid"/>
          </a:ln>
        </p:spPr>
      </p:sp>
      <p:sp>
        <p:nvSpPr>
          <p:cNvPr id="7" name="a2_h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8" name="a2_l"/>
          <p:cNvSpPr txBox="1"/>
          <p:nvPr/>
        </p:nvSpPr>
        <p:spPr>
          <a:xfrm>
            <a:off x="6492240" y="2286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consensus, or Ethereum / Hyperledger Fabric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sign with their own hardware wallet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Decentralized Identifiers (DIDs)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login and email delivery to students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a1_t"/>
          <p:cNvSpPr txBox="1"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certificates are caught in seconds — because a fingerprint on the blockchain cannot lie.</a:t>
            </a:r>
            <a:endParaRPr lang="en-US" sz="2200" dirty="0"/>
          </a:p>
        </p:txBody>
      </p:sp>
      <p:sp>
        <p:nvSpPr>
          <p:cNvPr id="4" name="a2_q"/>
          <p:cNvSpPr txBox="1"/>
          <p:nvPr/>
        </p:nvSpPr>
        <p:spPr>
          <a:xfrm>
            <a:off x="731520" y="4754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a3_c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Cecil Baraik · github.com/cecilbaraik19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CredentialChain">
  <a:themeElements>
    <a:clrScheme name="CredentialChain">
      <a:dk1>
        <a:srgbClr val="1E1B4B"/>
      </a:dk1>
      <a:lt1>
        <a:srgbClr val="FFFFFF"/>
      </a:lt1>
      <a:dk2>
        <a:srgbClr val="0B1020"/>
      </a:dk2>
      <a:lt2>
        <a:srgbClr val="F3F4FB"/>
      </a:lt2>
      <a:accent1>
        <a:srgbClr val="4F46E5"/>
      </a:accent1>
      <a:accent2>
        <a:srgbClr val="22D3EE"/>
      </a:accent2>
      <a:accent3>
        <a:srgbClr val="16A34A"/>
      </a:accent3>
      <a:accent4>
        <a:srgbClr val="F59E0B"/>
      </a:accent4>
      <a:accent5>
        <a:srgbClr val="DC2626"/>
      </a:accent5>
      <a:accent6>
        <a:srgbClr val="8B95B3"/>
      </a:accent6>
      <a:hlink>
        <a:srgbClr val="4F46E5"/>
      </a:hlink>
      <a:folHlink>
        <a:srgbClr val="7C3AED"/>
      </a:folHlink>
    </a:clrScheme>
    <a:fontScheme name="CredentialCh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CredentialChain – Blockchain-Based Academic Credential System</dc:title>
  <dc:subject>PptxGenJS Presentation</dc:subject>
  <dc:creator>Cecil Baraik</dc:creator>
  <cp:lastModifiedBy>Cecil Baraik</cp:lastModifiedBy>
  <cp:revision>1</cp:revision>
  <dcterms:created xsi:type="dcterms:W3CDTF">2026-10-03T07:49:26Z</dcterms:created>
  <dcterms:modified xsi:type="dcterms:W3CDTF">2026-10-03T07:49:26Z</dcterms:modified>
</cp:coreProperties>
</file>